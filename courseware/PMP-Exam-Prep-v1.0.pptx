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Project Management Professional (PMP) Exam Prep</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C523</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20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4 Days,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Business Environment &amp; Starting the Project</a:t>
            </a:r>
          </a:p>
          <a:p>
            <a:pPr>
              <a:spcAft>
                <a:spcPts val="1000"/>
              </a:spcAft>
            </a:pPr>
            <a:r>
              <a:rPr sz="1400" b="0">
                <a:solidFill>
                  <a:srgbClr val="5B6372"/>
                </a:solidFill>
                <a:latin typeface="Arial"/>
              </a:rPr>
              <a:t>–  Topic 1: Business Environment (Labs 1–4)</a:t>
            </a:r>
          </a:p>
          <a:p>
            <a:pPr>
              <a:spcAft>
                <a:spcPts val="1000"/>
              </a:spcAft>
            </a:pPr>
            <a:r>
              <a:rPr sz="1400" b="0">
                <a:solidFill>
                  <a:srgbClr val="5B6372"/>
                </a:solidFill>
                <a:latin typeface="Arial"/>
              </a:rPr>
              <a:t>–  Topic 2: Start the Project (Labs 5–8)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Planning the Project</a:t>
            </a:r>
          </a:p>
          <a:p>
            <a:pPr>
              <a:spcAft>
                <a:spcPts val="1000"/>
              </a:spcAft>
            </a:pPr>
            <a:r>
              <a:rPr sz="1400" b="0">
                <a:solidFill>
                  <a:srgbClr val="5B6372"/>
                </a:solidFill>
                <a:latin typeface="Arial"/>
              </a:rPr>
              <a:t>–  Topic 3: Plan the Project (Labs 9–14)</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Scope &amp; Authorise</a:t>
            </a:r>
          </a:p>
          <a:p>
            <a:pPr algn="l">
              <a:spcAft>
                <a:spcPts val="300"/>
              </a:spcAft>
            </a:pPr>
            <a:r>
              <a:rPr sz="1300" b="0">
                <a:solidFill>
                  <a:srgbClr val="5B6372"/>
                </a:solidFill>
                <a:latin typeface="Arial"/>
              </a:rPr>
              <a:t>Scope project requirements and build a business case, charter and traceable scope baseline that authorise delivery.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Plan &amp; Baseline</a:t>
            </a:r>
          </a:p>
          <a:p>
            <a:pPr algn="l">
              <a:spcAft>
                <a:spcPts val="300"/>
              </a:spcAft>
            </a:pPr>
            <a:r>
              <a:rPr sz="1300" b="0">
                <a:solidFill>
                  <a:srgbClr val="5B6372"/>
                </a:solidFill>
                <a:latin typeface="Arial"/>
              </a:rPr>
              <a:t>Develop an integrated project plan with realistic schedule, cost and resource baselines using PERT, critical path and reserve analysis.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Lead the Team</a:t>
            </a:r>
          </a:p>
          <a:p>
            <a:pPr algn="l">
              <a:spcAft>
                <a:spcPts val="300"/>
              </a:spcAft>
            </a:pPr>
            <a:r>
              <a:rPr sz="1300" b="0">
                <a:solidFill>
                  <a:srgbClr val="5B6372"/>
                </a:solidFill>
                <a:latin typeface="Arial"/>
              </a:rPr>
              <a:t>Lead a project team through its development stages, applying leadership style, motivation theory and structured conflict resolution.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Risk &amp; Stakeholders</a:t>
            </a:r>
          </a:p>
          <a:p>
            <a:pPr algn="l">
              <a:spcAft>
                <a:spcPts val="300"/>
              </a:spcAft>
            </a:pPr>
            <a:r>
              <a:rPr sz="1300" b="0">
                <a:solidFill>
                  <a:srgbClr val="5B6372"/>
                </a:solidFill>
                <a:latin typeface="Arial"/>
              </a:rPr>
              <a:t>Analyse project risk quantitatively and engage stakeholders through a planned communication and escalation cadence.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Control &amp; Close</a:t>
            </a:r>
          </a:p>
          <a:p>
            <a:pPr algn="l">
              <a:spcAft>
                <a:spcPts val="300"/>
              </a:spcAft>
            </a:pPr>
            <a:r>
              <a:rPr sz="1300" b="0">
                <a:solidFill>
                  <a:srgbClr val="5B6372"/>
                </a:solidFill>
                <a:latin typeface="Arial"/>
              </a:rPr>
              <a:t>Control delivery against baselines with earned value, flow metrics and statistical process control, then close the project and realise benefits.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Exam Readiness</a:t>
            </a:r>
          </a:p>
          <a:p>
            <a:pPr algn="l">
              <a:spcAft>
                <a:spcPts val="300"/>
              </a:spcAft>
            </a:pPr>
            <a:r>
              <a:rPr sz="1300" b="0">
                <a:solidFill>
                  <a:srgbClr val="5B6372"/>
                </a:solidFill>
                <a:latin typeface="Arial"/>
              </a:rPr>
              <a:t>Apply the PMI PMP Examination Content Outline (ECO 2026) across all three domains and sit a full-format mock exam with domain score analysis.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PMP Exam at a Glance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180 questions, 230 minutes</a:t>
            </a:r>
          </a:p>
          <a:p>
            <a:pPr algn="l">
              <a:spcAft>
                <a:spcPts val="300"/>
              </a:spcAft>
            </a:pPr>
            <a:r>
              <a:rPr sz="1300" b="0">
                <a:solidFill>
                  <a:srgbClr val="5B6372"/>
                </a:solidFill>
                <a:latin typeface="Arial"/>
              </a:rPr>
              <a:t>170 scored plus 10 unscored pretest items, with two 10-minute breaks.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Three domains</a:t>
            </a:r>
          </a:p>
          <a:p>
            <a:pPr algn="l">
              <a:spcAft>
                <a:spcPts val="300"/>
              </a:spcAft>
            </a:pPr>
            <a:r>
              <a:rPr sz="1300" b="0">
                <a:solidFill>
                  <a:srgbClr val="5B6372"/>
                </a:solidFill>
                <a:latin typeface="Arial"/>
              </a:rPr>
              <a:t>People 33%, Process 41%, Business Environment 26% — weighted by the ECO 2026.</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Predictive, agile and hybrid</a:t>
            </a:r>
          </a:p>
          <a:p>
            <a:pPr algn="l">
              <a:spcAft>
                <a:spcPts val="300"/>
              </a:spcAft>
            </a:pPr>
            <a:r>
              <a:rPr sz="1300" b="0">
                <a:solidFill>
                  <a:srgbClr val="5B6372"/>
                </a:solidFill>
                <a:latin typeface="Arial"/>
              </a:rPr>
              <a:t>About 40% predictive; the other 60% splits between adaptive/agile and hybrid.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Six question formats</a:t>
            </a:r>
          </a:p>
          <a:p>
            <a:pPr algn="l">
              <a:spcAft>
                <a:spcPts val="300"/>
              </a:spcAft>
            </a:pPr>
            <a:r>
              <a:rPr sz="1300" b="0">
                <a:solidFill>
                  <a:srgbClr val="5B6372"/>
                </a:solidFill>
                <a:latin typeface="Arial"/>
              </a:rPr>
              <a:t>Multiple choice and response, matching, enhanced matching, graphic-based and case study.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Scenario-driven, not recall</a:t>
            </a:r>
          </a:p>
          <a:p>
            <a:pPr algn="l">
              <a:spcAft>
                <a:spcPts val="300"/>
              </a:spcAft>
            </a:pPr>
            <a:r>
              <a:rPr sz="1300" b="0">
                <a:solidFill>
                  <a:srgbClr val="5B6372"/>
                </a:solidFill>
                <a:latin typeface="Arial"/>
              </a:rPr>
              <a:t>Almost every item is a situation asking what you do next, not a definition.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35 contact hours</a:t>
            </a:r>
          </a:p>
          <a:p>
            <a:pPr algn="l">
              <a:spcAft>
                <a:spcPts val="300"/>
              </a:spcAft>
            </a:pPr>
            <a:r>
              <a:rPr sz="1300" b="0">
                <a:solidFill>
                  <a:srgbClr val="5B6372"/>
                </a:solidFill>
                <a:latin typeface="Arial"/>
              </a:rPr>
              <a:t>This course delivers the 35 hours of project management education PMI requires.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ECO 2026 Domains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People — 33%</a:t>
            </a:r>
          </a:p>
          <a:p>
            <a:pPr algn="l">
              <a:spcAft>
                <a:spcPts val="300"/>
              </a:spcAft>
            </a:pPr>
            <a:r>
              <a:rPr sz="1200" b="0">
                <a:solidFill>
                  <a:srgbClr val="5B6372"/>
                </a:solidFill>
                <a:latin typeface="Arial"/>
              </a:rPr>
              <a:t>Lead, align and communicate with the humans on and around the project.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Process — 41%</a:t>
            </a:r>
          </a:p>
          <a:p>
            <a:pPr algn="l">
              <a:spcAft>
                <a:spcPts val="300"/>
              </a:spcAft>
            </a:pPr>
            <a:r>
              <a:rPr sz="1200" b="0">
                <a:solidFill>
                  <a:srgbClr val="5B6372"/>
                </a:solidFill>
                <a:latin typeface="Arial"/>
              </a:rPr>
              <a:t>Plan, deliver, measure and close the work itself.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Business Environment — 26%</a:t>
            </a:r>
          </a:p>
          <a:p>
            <a:pPr algn="l">
              <a:spcAft>
                <a:spcPts val="300"/>
              </a:spcAft>
            </a:pPr>
            <a:r>
              <a:rPr sz="1200" b="0">
                <a:solidFill>
                  <a:srgbClr val="5B6372"/>
                </a:solidFill>
                <a:latin typeface="Arial"/>
              </a:rPr>
              <a:t>Connect the project to governance, compliance, risk and change.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HOW THIS COURSE WORKS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exam does not ask what you know. It asks what you would do.</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lab in this course puts you in a scenario, makes you choose, and then shows you why the exam would score that choice the way it does.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An authorised project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Environment scan and governance model</a:t>
            </a:r>
          </a:p>
          <a:p>
            <a:pPr>
              <a:spcAft>
                <a:spcPts val="900"/>
              </a:spcAft>
            </a:pPr>
            <a:r>
              <a:rPr sz="1400" b="0">
                <a:solidFill>
                  <a:srgbClr val="161B26"/>
                </a:solidFill>
                <a:latin typeface="Arial"/>
              </a:rPr>
              <a:t>•  Compliance register</a:t>
            </a:r>
          </a:p>
          <a:p>
            <a:pPr>
              <a:spcAft>
                <a:spcPts val="900"/>
              </a:spcAft>
            </a:pPr>
            <a:r>
              <a:rPr sz="1400" b="0">
                <a:solidFill>
                  <a:srgbClr val="161B26"/>
                </a:solidFill>
                <a:latin typeface="Arial"/>
              </a:rPr>
              <a:t>•  Business case with NPV and BCR</a:t>
            </a:r>
          </a:p>
          <a:p>
            <a:pPr>
              <a:spcAft>
                <a:spcPts val="900"/>
              </a:spcAft>
            </a:pPr>
            <a:r>
              <a:rPr sz="1400" b="0">
                <a:solidFill>
                  <a:srgbClr val="161B26"/>
                </a:solidFill>
                <a:latin typeface="Arial"/>
              </a:rPr>
              <a:t>•  Project charter and stakeholder analysis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An integrated plan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Requirements traceability matrix</a:t>
            </a:r>
          </a:p>
          <a:p>
            <a:pPr>
              <a:spcAft>
                <a:spcPts val="900"/>
              </a:spcAft>
            </a:pPr>
            <a:r>
              <a:rPr sz="1400" b="0">
                <a:solidFill>
                  <a:srgbClr val="161B26"/>
                </a:solidFill>
                <a:latin typeface="Arial"/>
              </a:rPr>
              <a:t>•  Prioritised backlog and WBS</a:t>
            </a:r>
          </a:p>
          <a:p>
            <a:pPr>
              <a:spcAft>
                <a:spcPts val="900"/>
              </a:spcAft>
            </a:pPr>
            <a:r>
              <a:rPr sz="1400" b="0">
                <a:solidFill>
                  <a:srgbClr val="161B26"/>
                </a:solidFill>
                <a:latin typeface="Arial"/>
              </a:rPr>
              <a:t>•  Critical path with PERT estimates</a:t>
            </a:r>
          </a:p>
          <a:p>
            <a:pPr>
              <a:spcAft>
                <a:spcPts val="900"/>
              </a:spcAft>
            </a:pPr>
            <a:r>
              <a:rPr sz="1400" b="0">
                <a:solidFill>
                  <a:srgbClr val="161B26"/>
                </a:solidFill>
                <a:latin typeface="Arial"/>
              </a:rPr>
              <a:t>•  Cost baseline with reserves and a risk register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 controlled delivery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RACI and communication plan</a:t>
            </a:r>
          </a:p>
          <a:p>
            <a:pPr>
              <a:spcAft>
                <a:spcPts val="900"/>
              </a:spcAft>
            </a:pPr>
            <a:r>
              <a:rPr sz="1400" b="0">
                <a:solidFill>
                  <a:srgbClr val="161B26"/>
                </a:solidFill>
                <a:latin typeface="Arial"/>
              </a:rPr>
              <a:t>•  Kanban flow metrics</a:t>
            </a:r>
          </a:p>
          <a:p>
            <a:pPr>
              <a:spcAft>
                <a:spcPts val="900"/>
              </a:spcAft>
            </a:pPr>
            <a:r>
              <a:rPr sz="1400" b="0">
                <a:solidFill>
                  <a:srgbClr val="161B26"/>
                </a:solidFill>
                <a:latin typeface="Arial"/>
              </a:rPr>
              <a:t>•  Earned value analysis and forecasts</a:t>
            </a:r>
          </a:p>
          <a:p>
            <a:pPr>
              <a:spcAft>
                <a:spcPts val="900"/>
              </a:spcAft>
            </a:pPr>
            <a:r>
              <a:rPr sz="1400" b="0">
                <a:solidFill>
                  <a:srgbClr val="161B26"/>
                </a:solidFill>
                <a:latin typeface="Arial"/>
              </a:rPr>
              <a:t>•  Root cause analysis and control charts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Read the scenario and identify which development approach is in play.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Work the technique by hand — the exam gives you no spreadsheet.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Produce the artifact the next lab will consume.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Verify your result against the stated success test.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Connect it to the exam: what would the item stem look like, and what is the tell?</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Business Environment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Foundations · governance · compliance · change · development approaches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Business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project is a temporary endeavour creating a unique product, service or result — it is bounded in time and delivers change, unlike operations.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12 PMI principles and the triple constraint frame every tailoring decision you make on the exam and on the job.</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Two life cycles, five approaches: the project life cycle is the phases; the development life cycle is predictive, iterative, incremental, agile or hybrid.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EEFs constrain you and OPAs are reusable assets — you conform to EEFs, you apply and then update OPAs.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Governance sets escalation thresholds: escalate outside tolerance with options, resolve inside tolerance with the team; phase gates decide go, change, hold or kill.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Compliance, sustainability and the responsible use of AI are the project manager's own obligations, not someone else's department.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Business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PMP Exam Orientation and 35 PDU Study Plan</a:t>
            </a:r>
          </a:p>
          <a:p>
            <a:pPr>
              <a:spcAft>
                <a:spcPts val="900"/>
              </a:spcAft>
            </a:pPr>
            <a:r>
              <a:rPr sz="1400" b="0">
                <a:solidFill>
                  <a:srgbClr val="161B26"/>
                </a:solidFill>
                <a:latin typeface="Arial"/>
              </a:rPr>
              <a:t>•  PESTLE and TECOP External Environment Scan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EEF/OPA Inventory, Governance and Escalation Thresholds</a:t>
            </a:r>
          </a:p>
          <a:p>
            <a:pPr>
              <a:spcAft>
                <a:spcPts val="900"/>
              </a:spcAft>
            </a:pPr>
            <a:r>
              <a:rPr sz="1400" b="0">
                <a:solidFill>
                  <a:srgbClr val="161B26"/>
                </a:solidFill>
                <a:latin typeface="Arial"/>
              </a:rPr>
              <a:t>•  Compliance, Sustainability and AI-Governance Register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PMP Exam Orientation and 35 PDU Study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Reconstruct the ECO (July 2026) blueprint from its totals - 180 questions, 170 scored, 240 minutes - deriving the per-domain scored counts and the 80-second pacing rule by hand. Catalogue all six question types including graphic-based items, record the 35 contact-hour evidence, and build a six-week study plan weighted to the domain percentages. Test answer-selection heuristics on three Contoso case scenarios.</a:t>
            </a:r>
          </a:p>
        </p:txBody>
      </p:sp>
      <p:sp>
        <p:nvSpPr>
          <p:cNvPr id="10" name="Rectangle 9"/>
          <p:cNvSpPr/>
          <p:nvPr/>
        </p:nvSpPr>
        <p:spPr>
          <a:xfrm>
            <a:off x="777240" y="3931920"/>
            <a:ext cx="10698480" cy="19446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83920"/>
          </a:xfrm>
          <a:prstGeom prst="rect">
            <a:avLst/>
          </a:prstGeom>
          <a:noFill/>
        </p:spPr>
        <p:txBody>
          <a:bodyPr wrap="square" anchor="t">
            <a:spAutoFit/>
          </a:bodyPr>
          <a:lstStyle/>
          <a:p>
            <a:pPr algn="l">
              <a:spcAft>
                <a:spcPts val="400"/>
              </a:spcAft>
            </a:pPr>
            <a:r>
              <a:rPr sz="1600" b="1">
                <a:solidFill>
                  <a:srgbClr val="161B26"/>
                </a:solidFill>
                <a:latin typeface="Arial"/>
              </a:rPr>
              <a:t>An exam blueprint with derived question counts and pacing figure (artifacts/01-exam-blueprint.md), a 35 contact-hour record (artifacts/01-pdu-log.md), a six-week weighted study plan (artifacts/01-study-plan.md), answer-selection heuristics and a baseline score.</a:t>
            </a:r>
          </a:p>
        </p:txBody>
      </p:sp>
      <p:sp>
        <p:nvSpPr>
          <p:cNvPr id="13" name="TextBox 12"/>
          <p:cNvSpPr txBox="1"/>
          <p:nvPr/>
        </p:nvSpPr>
        <p:spPr>
          <a:xfrm>
            <a:off x="1005840" y="5346191"/>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Spreadsheet, Markdown editor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PMP Exam Orientation and 35 PDU Study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exam blueprint from the ECO 2026 numbers and derive the per-domain scored-question counts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PMP Exam Orientation and 35 PDU Study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Log the six question types and write an approach for each under time pressure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PMP Exam Orientation and 35 PDU Study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Record your 35 contact-hour evidence against the PMP eligibility rule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PMP Exam Orientation and 35 PDU Study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a six-week study plan weighted to the blueprint domain percentages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PMP Exam Orientation and 35 PDU Study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Write your answer-selection heuristics: what to eliminate and what to prefer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PMP Exam Orientation and 35 PDU Study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Apply the heuristics to three scenarios, naming the heuristic that decided each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PMP Exam Orientation and 35 PDU Study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Set your baseline score over 20 timed practice questions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PMP Exam Orientation and 35 PDU Study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The per-domain counts read 56 / 70 / 44 and sum to exactly 170; the pacing figure is 80 seconds per question derived from 240 / 180; the study plan gives Process the largest single hour allocation and contains two full-length timed mocks in the final week; and each scenario answer names a heuristic rather than only a letter.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PESTLE and TECOP External Environment 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From the Contoso briefing pack, run a PESTLE scan across all six categories, scoring every factor for impact and likelihood. Run a TECOP scan over the five risk dimensions to surface the operational and political exposure PESTLE misses. Combine and rank both tables, take the vital few scoring 16 or above, and translate each into a scope, backlog or cost consequence with a named destination artifact.</a:t>
            </a:r>
          </a:p>
        </p:txBody>
      </p:sp>
      <p:sp>
        <p:nvSpPr>
          <p:cNvPr id="10" name="Rectangle 9"/>
          <p:cNvSpPr/>
          <p:nvPr/>
        </p:nvSpPr>
        <p:spPr>
          <a:xfrm>
            <a:off x="777240" y="3931920"/>
            <a:ext cx="10698480" cy="19446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83920"/>
          </a:xfrm>
          <a:prstGeom prst="rect">
            <a:avLst/>
          </a:prstGeom>
          <a:noFill/>
        </p:spPr>
        <p:txBody>
          <a:bodyPr wrap="square" anchor="t">
            <a:spAutoFit/>
          </a:bodyPr>
          <a:lstStyle/>
          <a:p>
            <a:pPr algn="l">
              <a:spcAft>
                <a:spcPts val="400"/>
              </a:spcAft>
            </a:pPr>
            <a:r>
              <a:rPr sz="1600" b="1">
                <a:solidFill>
                  <a:srgbClr val="161B26"/>
                </a:solidFill>
                <a:latin typeface="Arial"/>
              </a:rPr>
              <a:t>A scored six-category PESTLE scan (artifacts/02-pestle-scan.md), a scored five-dimension TECOP scan (artifacts/02-tecop-scan.md), a combined ranked factor table, and a backlog-impact table mapping each top factor to its destination artifact (artifacts/02-backlog-impacts.md).</a:t>
            </a:r>
          </a:p>
        </p:txBody>
      </p:sp>
      <p:sp>
        <p:nvSpPr>
          <p:cNvPr id="13" name="TextBox 12"/>
          <p:cNvSpPr txBox="1"/>
          <p:nvPr/>
        </p:nvSpPr>
        <p:spPr>
          <a:xfrm>
            <a:off x="1005840" y="5346191"/>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PESTLE, TECOP, Mind Mapping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PESTLE and TECOP External Environment 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Read the Contoso operating-environment briefing pack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PESTLE and TECOP External Environment 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and score the PESTLE table, adding at least two factors of your own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PESTLE and TECOP External Environment 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Run the TECOP scan across the technical, environmental, commercial, operational and political dimensions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PESTLE and TECOP External Environment 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Rank the combined factors and take the vital few scoring 16 or above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PESTLE and TECOP External Environment 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Translate each ranked factor into a scope and backlog consequence with a destination artifact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PESTLE and TECOP External Environment 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Set the review cadence, owner and out-of-cycle triggers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PESTLE and TECOP External Environment 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responding to external change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PESTLE and TECOP External Environment 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Every PESTLE letter carries at least one factor, every score is the product of a stated impact and likelihood, the TECOP table surfaced at least one factor absent from the PESTLE table, and every factor scoring 16 or above has a named destination artifact in a later lab rather than a vague instruction to monitor.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EEF/OPA Inventory, Governance and Escalation Thresholds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Separate Enterprise Environmental Factors - conditions the project must live with - from Organizational Process Assets, the templates and standards it reuses. Design the Contoso governance model: which body decides what, at which cadence, with what rights. Set numeric escalation thresholds for cost, schedule, risk and issue severity, and separate the change control path from the issue resolution path.</a:t>
            </a:r>
          </a:p>
        </p:txBody>
      </p:sp>
      <p:sp>
        <p:nvSpPr>
          <p:cNvPr id="10" name="Rectangle 9"/>
          <p:cNvSpPr/>
          <p:nvPr/>
        </p:nvSpPr>
        <p:spPr>
          <a:xfrm>
            <a:off x="777240" y="3931920"/>
            <a:ext cx="10698480" cy="18950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34390"/>
          </a:xfrm>
          <a:prstGeom prst="rect">
            <a:avLst/>
          </a:prstGeom>
          <a:noFill/>
        </p:spPr>
        <p:txBody>
          <a:bodyPr wrap="square" anchor="t">
            <a:spAutoFit/>
          </a:bodyPr>
          <a:lstStyle/>
          <a:p>
            <a:pPr algn="l">
              <a:spcAft>
                <a:spcPts val="400"/>
              </a:spcAft>
            </a:pPr>
            <a:r>
              <a:rPr sz="1500" b="1">
                <a:solidFill>
                  <a:srgbClr val="161B26"/>
                </a:solidFill>
                <a:latin typeface="Arial"/>
              </a:rPr>
              <a:t>A classified EEF/OPA inventory (artifacts/03-eef-opa-inventory.md), a governance model naming decision bodies, rights, cadence and success metrics (artifacts/03-governance-model.md), and a numeric escalation threshold table separating change and issue paths (artifacts/03-escalation-thresholds.md).</a:t>
            </a:r>
          </a:p>
        </p:txBody>
      </p:sp>
      <p:sp>
        <p:nvSpPr>
          <p:cNvPr id="13" name="TextBox 12"/>
          <p:cNvSpPr txBox="1"/>
          <p:nvPr/>
        </p:nvSpPr>
        <p:spPr>
          <a:xfrm>
            <a:off x="1005840" y="529666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Spreadsheet, Markdown editor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EEF/OPA Inventory, Governance and Escalation Thresholds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Inventory the Contoso Enterprise Environmental Factors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EEF/OPA Inventory, Governance and Escalation Thresholds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Inventory the Contoso Organizational Process Assets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EEF/OPA Inventory, Governance and Escalation Thresholds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Design the governance model: bodies, decision rights and cadence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EEF/OPA Inventory, Governance and Escalation Thresholds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Define the project success metrics and their measurement baselines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EEF/OPA Inventory, Governance and Escalation Thresholds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Set numeric escalation thresholds for cost, schedule, risk and issues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EEF/OPA Inventory, Governance and Escalation Thresholds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Separate the change control path from the issue resolution path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EEF/OPA Inventory, Governance and Escalation Thresholds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governance and escalation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EEF/OPA Inventory, Governance and Escalation Thresholds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Every item in the inventory is classified as an EEF or an OPA and the learner can justify each classification; each governance body has a named decision right and cadence; every escalation threshold carries a number rather than a word such as significant; and the change path and the issue path are visibly different routes with different owners.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Compliance, Sustainability and AI-Governance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Classify Contoso's compliance requirements - PDPA personal-data protection, the statutory seven-year attendance retention obligation and the pre-go-live review - then identify the threats to each and quantify the consequences of noncompliance. Decide the actions and how compliance is measured. Add the two areas the July 2026 ECO expects: net-zero hosting, and AI governance for the deferred AI recommender.</a:t>
            </a:r>
          </a:p>
        </p:txBody>
      </p:sp>
      <p:sp>
        <p:nvSpPr>
          <p:cNvPr id="10" name="Rectangle 9"/>
          <p:cNvSpPr/>
          <p:nvPr/>
        </p:nvSpPr>
        <p:spPr>
          <a:xfrm>
            <a:off x="777240" y="3931920"/>
            <a:ext cx="10698480" cy="19446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83920"/>
          </a:xfrm>
          <a:prstGeom prst="rect">
            <a:avLst/>
          </a:prstGeom>
          <a:noFill/>
        </p:spPr>
        <p:txBody>
          <a:bodyPr wrap="square" anchor="t">
            <a:spAutoFit/>
          </a:bodyPr>
          <a:lstStyle/>
          <a:p>
            <a:pPr algn="l">
              <a:spcAft>
                <a:spcPts val="400"/>
              </a:spcAft>
            </a:pPr>
            <a:r>
              <a:rPr sz="1600" b="1">
                <a:solidFill>
                  <a:srgbClr val="161B26"/>
                </a:solidFill>
                <a:latin typeface="Arial"/>
              </a:rPr>
              <a:t>A compliance register with threats, consequences, actions and measures (artifacts/04-compliance-register.md), a sustainability plan covering the net-zero hosting obligation (artifacts/04-sustainability-plan.md), and an AI-governance register (artifacts/04-ai-governance.md).</a:t>
            </a:r>
          </a:p>
        </p:txBody>
      </p:sp>
      <p:sp>
        <p:nvSpPr>
          <p:cNvPr id="13" name="TextBox 12"/>
          <p:cNvSpPr txBox="1"/>
          <p:nvPr/>
        </p:nvSpPr>
        <p:spPr>
          <a:xfrm>
            <a:off x="1005840" y="5346191"/>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Spreadsheet, Markdown editor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Compliance, Sustainability and AI-Governance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Confirm the compliance requirements and classify them by category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Compliance, Sustainability and AI-Governance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Identify the threats to each compliance requirement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Compliance, Sustainability and AI-Governance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Analyse and quantify the consequences of noncompliance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Compliance, Sustainability and AI-Governance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Decide the approach and the specific actions for each requirement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Compliance, Sustainability and AI-Governance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Define how compliance is measured, with evidence and a measurement owner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Compliance, Sustainability and AI-Governance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sustainability section against the group net-zero obligation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Compliance, Sustainability and AI-Governance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AI-governance register for the deferred AI recommender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Compliance, Sustainability and AI-Governance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compliance decisions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Compliance, Sustainability and AI-Governance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Every compliance requirement has a named threat, a quantified consequence, an action and a measurement method with an owner; the sustainability section ties to a reportable hosting carbon figure; and the AI-governance register records data use, human oversight and an accountable owner rather than a general statement of intent.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Business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Business Env T1 - Define and establish project governance (success metrics)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Business Env T8 - Evaluate external business environment changes; Business Env T7 - Support organizational change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Business Env T1 - Define and establish project governance; Business Env T4 - Remove impediments and manage issues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Business Env T2 - Plan and manage project compliance; Process T7 - Plan and optimize quality (regulatory compliance, sustainability)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Start the Project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Business case · charter · stakeholders · team formation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Start the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business case justifies the project; the charter authorises it. The business case can exist without a project — the charter cannot.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Cost-benefit analysis with NPV, payback and BCR turns a proposal into a defensible investment decision.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charter is issued by the sponsor, names the project manager and states their authority level — it is high level and rarely changed.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Stakeholder identification, power/interest analysis and the salience model determine who gets what engagement and how often.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team charter establishes ground rules and a shared vision before the first conflict, not after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development approach is a documented tailoring decision justified by project context — never a personal preference.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Start the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Case and Cost-Benefit Analysis</a:t>
            </a:r>
          </a:p>
          <a:p>
            <a:pPr>
              <a:spcAft>
                <a:spcPts val="900"/>
              </a:spcAft>
            </a:pPr>
            <a:r>
              <a:rPr sz="1400" b="0">
                <a:solidFill>
                  <a:srgbClr val="161B26"/>
                </a:solidFill>
                <a:latin typeface="Arial"/>
              </a:rPr>
              <a:t>•  Project Charter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7–8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Stakeholder Register, Power/Interest Grid and Salience Model</a:t>
            </a:r>
          </a:p>
          <a:p>
            <a:pPr>
              <a:spcAft>
                <a:spcPts val="900"/>
              </a:spcAft>
            </a:pPr>
            <a:r>
              <a:rPr sz="1400" b="0">
                <a:solidFill>
                  <a:srgbClr val="161B26"/>
                </a:solidFill>
                <a:latin typeface="Arial"/>
              </a:rPr>
              <a:t>•  Team Charter, Ground Rules and Shared Vision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Business Case and Cost-Benefit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Turn the Contoso baseline metrics into a quantified benefits model, then build the cost side against the board-approved SGD 480,000 ceiling. Compute payback, NPV, ROI and benefit-cost ratio by hand, including the year-zero outflow most commonly dropped from NPV. Stress-test against the Lab 02 downside of an 8% fall in enrolment, then choose among options including a costed do-nothing.</a:t>
            </a:r>
          </a:p>
        </p:txBody>
      </p:sp>
      <p:sp>
        <p:nvSpPr>
          <p:cNvPr id="10" name="Rectangle 9"/>
          <p:cNvSpPr/>
          <p:nvPr/>
        </p:nvSpPr>
        <p:spPr>
          <a:xfrm>
            <a:off x="777240" y="3931920"/>
            <a:ext cx="10698480" cy="18950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34390"/>
          </a:xfrm>
          <a:prstGeom prst="rect">
            <a:avLst/>
          </a:prstGeom>
          <a:noFill/>
        </p:spPr>
        <p:txBody>
          <a:bodyPr wrap="square" anchor="t">
            <a:spAutoFit/>
          </a:bodyPr>
          <a:lstStyle/>
          <a:p>
            <a:pPr algn="l">
              <a:spcAft>
                <a:spcPts val="400"/>
              </a:spcAft>
            </a:pPr>
            <a:r>
              <a:rPr sz="1500" b="1">
                <a:solidFill>
                  <a:srgbClr val="161B26"/>
                </a:solidFill>
                <a:latin typeface="Arial"/>
              </a:rPr>
              <a:t>A quantified cost-benefit model with payback, NPV, ROI and BCR plus a downside sensitivity run (artifacts/05-cba-model.md), a written business case with a recommendation and its deciding measure (artifacts/05-business-case.md), and a benefits realisation map (artifacts/05-benefits-map.md).</a:t>
            </a:r>
          </a:p>
        </p:txBody>
      </p:sp>
      <p:sp>
        <p:nvSpPr>
          <p:cNvPr id="13" name="TextBox 12"/>
          <p:cNvSpPr txBox="1"/>
          <p:nvPr/>
        </p:nvSpPr>
        <p:spPr>
          <a:xfrm>
            <a:off x="1005840" y="529666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Statistics, Spreadsheet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Business Case and Cost-Benefit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Quantify the benefits from the Lab 03 baseline metrics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Business Case and Cost-Benefit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cost side against the board-approved budget ceiling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Business Case and Cost-Benefit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Compute payback period, NPV, ROI and benefit-cost ratio by hand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Business Case and Cost-Benefit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Stress-test the case against the Lab 02 downside enrolment scenario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Business Case and Cost-Benefit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Choose among the project options, including a costed do-nothing option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Business Case and Cost-Benefit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Write the business case document with a recommendation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Business Case and Cost-Benefit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benefits realisation map for later closure measurement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Business Case and Cost-Benefit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value and sunk cost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Business Case and Cost-Benefit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Every benefit line traces to a Lab 03 baseline metric; all discount factors fall below 1 and decrease with time; the NPV subtracts the year-zero investment; the BCR is total benefit over total cost and exceeds 1; the do-nothing option carries a negative number rather than a blank; and the recommendation cites NPV as the deciding measure.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Assemble the governance model, compliance requirements and business-case financials into a charter that authorises the project. State success criteria each carrying a numeric baseline and target, and define scope boundaries including exclusions with traceable rationales. Name the PM's procurement and change-approval authority in figures matching the Lab 03 thresholds, and open the assumption log.</a:t>
            </a:r>
          </a:p>
        </p:txBody>
      </p:sp>
      <p:sp>
        <p:nvSpPr>
          <p:cNvPr id="10" name="Rectangle 9"/>
          <p:cNvSpPr/>
          <p:nvPr/>
        </p:nvSpPr>
        <p:spPr>
          <a:xfrm>
            <a:off x="777240" y="3931920"/>
            <a:ext cx="10698480" cy="18455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784860"/>
          </a:xfrm>
          <a:prstGeom prst="rect">
            <a:avLst/>
          </a:prstGeom>
          <a:noFill/>
        </p:spPr>
        <p:txBody>
          <a:bodyPr wrap="square" anchor="t">
            <a:spAutoFit/>
          </a:bodyPr>
          <a:lstStyle/>
          <a:p>
            <a:pPr algn="l">
              <a:spcAft>
                <a:spcPts val="400"/>
              </a:spcAft>
            </a:pPr>
            <a:r>
              <a:rPr sz="1400" b="1">
                <a:solidFill>
                  <a:srgbClr val="161B26"/>
                </a:solidFill>
                <a:latin typeface="Arial"/>
              </a:rPr>
              <a:t>A project charter with measurable success criteria, scope boundaries, exclusions, milestones, budget and PM authority (artifacts/06-project-charter.md), a development-approach decision (artifacts/06-approach-decision.md) and an assumption log with validation dates (artifacts/06-assumption-log.md).</a:t>
            </a:r>
          </a:p>
        </p:txBody>
      </p:sp>
      <p:sp>
        <p:nvSpPr>
          <p:cNvPr id="13" name="TextBox 12"/>
          <p:cNvSpPr txBox="1"/>
          <p:nvPr/>
        </p:nvSpPr>
        <p:spPr>
          <a:xfrm>
            <a:off x="1005840" y="524713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Markdown editor, Spreadsheet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Assemble the charter inputs from the governance, compliance and business-case artifacts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Write the charter header and the purpose statement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State measurable success criteria with numeric baselines and targets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Define scope boundaries, including exclusions and their rationale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Record the high-level requirements, milestones and budget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Name the project manager's authority in specific procurement and change-approval figures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Document the hybrid development approach as a tailoring decision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assumption and constraint log with validation dates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charter authority and scope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700" b="0">
                <a:solidFill>
                  <a:srgbClr val="161B26"/>
                </a:solidFill>
                <a:latin typeface="Arial"/>
              </a:rPr>
              <a:t>Every success criterion carries a numeric baseline and target; the charter has a sponsor signature block; every exclusion has a traceable rationale; the milestone list contains milestones only and no durations; the approach decision names what is predictive, what is adaptive and the interface between them; and every assumption has a validation date before being wrong becomes unrecoverable.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Stakeholder Register, Power/Interest Grid and Salience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Identify the full Contoso stakeholder set, including forgotten groups such as the three admin staff who are also subject matter experts. Analyse each on power, interest, attitude and impact, plot the power/interest grid and derive the strategy per quadrant. Where the grid fails, apply the salience model of power, legitimacy and urgency. Build the current-versus-desired engagement matrix and close each gap.</a:t>
            </a:r>
          </a:p>
        </p:txBody>
      </p:sp>
      <p:sp>
        <p:nvSpPr>
          <p:cNvPr id="10" name="Rectangle 9"/>
          <p:cNvSpPr/>
          <p:nvPr/>
        </p:nvSpPr>
        <p:spPr>
          <a:xfrm>
            <a:off x="777240" y="3931920"/>
            <a:ext cx="10698480" cy="18950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34390"/>
          </a:xfrm>
          <a:prstGeom prst="rect">
            <a:avLst/>
          </a:prstGeom>
          <a:noFill/>
        </p:spPr>
        <p:txBody>
          <a:bodyPr wrap="square" anchor="t">
            <a:spAutoFit/>
          </a:bodyPr>
          <a:lstStyle/>
          <a:p>
            <a:pPr algn="l">
              <a:spcAft>
                <a:spcPts val="400"/>
              </a:spcAft>
            </a:pPr>
            <a:r>
              <a:rPr sz="1500" b="1">
                <a:solidFill>
                  <a:srgbClr val="161B26"/>
                </a:solidFill>
                <a:latin typeface="Arial"/>
              </a:rPr>
              <a:t>A stakeholder register scored on power, interest, attitude and impact (artifacts/07-stakeholder-register.md), a power/interest grid (artifacts/07-power-interest-grid.md), a salience analysis (artifacts/07-salience-model.md) and an engagement matrix (artifacts/07-engagement-matrix.md).</a:t>
            </a:r>
          </a:p>
        </p:txBody>
      </p:sp>
      <p:sp>
        <p:nvSpPr>
          <p:cNvPr id="13" name="TextBox 12"/>
          <p:cNvSpPr txBox="1"/>
          <p:nvPr/>
        </p:nvSpPr>
        <p:spPr>
          <a:xfrm>
            <a:off x="1005840" y="529666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Power/Interest Grid, Salience Model, Spreadsheet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Stakeholder Register, Power/Interest Grid and Salience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Identify the full stakeholder set, including the groups projects habitually forget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Stakeholder Register, Power/Interest Grid and Salience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stakeholder register with power, interest, attitude and impact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Stakeholder Register, Power/Interest Grid and Salience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Plot the power/interest grid and derive the strategy each quadrant demands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Stakeholder Register, Power/Interest Grid and Salience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Apply the salience model where the grid fails to give a usable answer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Stakeholder Register, Power/Interest Grid and Salience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current-versus-desired engagement matrix</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Stakeholder Register, Power/Interest Grid and Salience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Surface and plan to resolve the misaligned stakeholder expectations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Stakeholder Register, Power/Interest Grid and Salience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Set a tailored engagement cadence per stakeholder group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Stakeholder Register, Power/Interest Grid and Salience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stakeholder engagement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Stakeholder Register, Power/Interest Grid and Salience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register includes the three admin staff; every stakeholder has numeric power and interest scores matching their grid position; the salience analysis produced at least one insight the grid did not; every current-to-desired gap has an action with an owner and date; the expectation-conflict plan attaches a trade-off number; and the cadence differs by stakeholder rather than one fortnightly email for everyone.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Team Charter, Ground Rules and Shared Vision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Draft a shared vision short enough to recall without reading it, traced to the Lab 06 success criteria. Build the team charter: name all nine members, write the working agreement on core hours and time zones, and set ground rules across six categories, each with an observable violation test. Agree a definition of done separating done from released, and set the decision rule - consent, consensus or command.</a:t>
            </a:r>
          </a:p>
        </p:txBody>
      </p:sp>
      <p:sp>
        <p:nvSpPr>
          <p:cNvPr id="10" name="Rectangle 9"/>
          <p:cNvSpPr/>
          <p:nvPr/>
        </p:nvSpPr>
        <p:spPr>
          <a:xfrm>
            <a:off x="777240" y="3931920"/>
            <a:ext cx="10698480" cy="19446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83920"/>
          </a:xfrm>
          <a:prstGeom prst="rect">
            <a:avLst/>
          </a:prstGeom>
          <a:noFill/>
        </p:spPr>
        <p:txBody>
          <a:bodyPr wrap="square" anchor="t">
            <a:spAutoFit/>
          </a:bodyPr>
          <a:lstStyle/>
          <a:p>
            <a:pPr algn="l">
              <a:spcAft>
                <a:spcPts val="400"/>
              </a:spcAft>
            </a:pPr>
            <a:r>
              <a:rPr sz="1600" b="1">
                <a:solidFill>
                  <a:srgbClr val="161B26"/>
                </a:solidFill>
                <a:latin typeface="Arial"/>
              </a:rPr>
              <a:t>A vision statement traced to the charter success criteria (artifacts/08-vision-statement.md), a team charter with the working agreement, definition of done, decision-rule table and skills matrix (artifacts/08-team-charter.md), and six ground-rule categories (artifacts/08-ground-rules.md).</a:t>
            </a:r>
          </a:p>
        </p:txBody>
      </p:sp>
      <p:sp>
        <p:nvSpPr>
          <p:cNvPr id="13" name="TextBox 12"/>
          <p:cNvSpPr txBox="1"/>
          <p:nvPr/>
        </p:nvSpPr>
        <p:spPr>
          <a:xfrm>
            <a:off x="1005840" y="5346191"/>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Team Charter, Definition of Done, Skills Matrix</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Team Charter, Ground Rules and Shared Vision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Draft the shared vision statement and test it against the criteria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Team Charter, Ground Rules and Shared Vision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Name the team and record each member's role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Team Charter, Ground Rules and Shared Vision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Write the working agreement on core hours, time zones and availability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Team Charter, Ground Rules and Shared Vision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Set ground rules across the six categories, each with an observable standard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Team Charter, Ground Rules and Shared Vision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Agree the definition of done that QA and the developers will both accept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Team Charter, Ground Rules and Shared Vision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Choose the decision-making rule for each class of decision and name the decider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Team Charter, Ground Rules and Shared Vision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skills and capacity matrix and expose the single points of failure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Team Charter, Ground Rules and Shared Vision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Design the graduated response to ground-rule violations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Team Charter, Ground Rules and Shared Vision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Forward-reference the responsibility assignment matrix and set the vision review cadence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Team Charter, Ground Rules and Shared Vision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10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team leadership and ground rules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Team Charter, Ground Rules and Shared Vision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700" b="0">
                <a:solidFill>
                  <a:srgbClr val="161B26"/>
                </a:solidFill>
                <a:latin typeface="Arial"/>
              </a:rPr>
              <a:t>The vision is under 30 words and traces to at least two numbered charter success criteria; every ground rule has a violation test; the definition of done separates done from released; the decision table uses at least two rules and names a decider for every command-rule row; and the skills matrix identifies at least three single points of failure, each with a named owner and dated mitigation.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Start the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Process T3 - Help ensure value-based delivery; Process T6 - Plan and manage finance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Process T1 - Develop an integrated project management plan and plan delivery; Process T2 - Develop and manage project scope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People T4 - Engage stakeholders; People T5 - Align stakeholder expectations; People T6 - Manage stakeholder expectations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People T1 - Develop a common vision; People T3 - Lead the project team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Plan the Project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Scope · schedule · cost · quality · resources · communications · risk</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Plan the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integrated project management plan is the sum of subsidiary plans plus the scope, schedule and cost baselines.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Requirements elicitation feeds a requirements traceability matrix so every deliverable traces back to a business need.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MoSCoW and Kano prioritise the backlog by value; the WBS decomposes scope to work packages with a WBS dictionary.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PERT three-point estimating and critical path analysis expose which activities actually drive the finish date and where float exists.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Cost estimating produces a budget with contingency reserve for known unknowns and management reserve for unknown unknowns.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Risk identification, qualitative and quantitative analysis with EMV and decision trees produce a risk register with owned responses.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Plan the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9–10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Requirements Elicitation, Mind Mapping and the Traceability Matrix</a:t>
            </a:r>
          </a:p>
          <a:p>
            <a:pPr>
              <a:spcAft>
                <a:spcPts val="900"/>
              </a:spcAft>
            </a:pPr>
            <a:r>
              <a:rPr sz="1400" b="0">
                <a:solidFill>
                  <a:srgbClr val="161B26"/>
                </a:solidFill>
                <a:latin typeface="Arial"/>
              </a:rPr>
              <a:t>•  MoSCoW, Kano and the Product Backlog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11–12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Work Breakdown Structure and WBS Dictionary</a:t>
            </a:r>
          </a:p>
          <a:p>
            <a:pPr>
              <a:spcAft>
                <a:spcPts val="900"/>
              </a:spcAft>
            </a:pPr>
            <a:r>
              <a:rPr sz="1400" b="0">
                <a:solidFill>
                  <a:srgbClr val="161B26"/>
                </a:solidFill>
                <a:latin typeface="Arial"/>
              </a:rPr>
              <a:t>•  Network Diagram, PERT and the Critical Path</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13–14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Cost Estimating, Budget and Reserves</a:t>
            </a:r>
          </a:p>
          <a:p>
            <a:pPr>
              <a:spcAft>
                <a:spcPts val="900"/>
              </a:spcAft>
            </a:pPr>
            <a:r>
              <a:rPr sz="1400" b="0">
                <a:solidFill>
                  <a:srgbClr val="161B26"/>
                </a:solidFill>
                <a:latin typeface="Arial"/>
              </a:rPr>
              <a:t>•  Risk Register, RBS, EMV and Decision Tree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Requirements Elicitation, Mind Mapping and the Traceability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Turn the six charter requirements into a testable requirement set. Match elicitation techniques to stakeholder groups rather than defaulting to interviews, then expand them into a mind map. From the map write a 31-line register (REQ-001 to REQ-031) across the business, stakeholder, functional, non-functional, transition and quality categories. Build a bidirectional RTM from source to deliverable and test.</a:t>
            </a:r>
          </a:p>
        </p:txBody>
      </p:sp>
      <p:sp>
        <p:nvSpPr>
          <p:cNvPr id="10" name="Rectangle 9"/>
          <p:cNvSpPr/>
          <p:nvPr/>
        </p:nvSpPr>
        <p:spPr>
          <a:xfrm>
            <a:off x="777240" y="3931920"/>
            <a:ext cx="10698480" cy="18950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34390"/>
          </a:xfrm>
          <a:prstGeom prst="rect">
            <a:avLst/>
          </a:prstGeom>
          <a:noFill/>
        </p:spPr>
        <p:txBody>
          <a:bodyPr wrap="square" anchor="t">
            <a:spAutoFit/>
          </a:bodyPr>
          <a:lstStyle/>
          <a:p>
            <a:pPr algn="l">
              <a:spcAft>
                <a:spcPts val="400"/>
              </a:spcAft>
            </a:pPr>
            <a:r>
              <a:rPr sz="1500" b="1">
                <a:solidFill>
                  <a:srgbClr val="161B26"/>
                </a:solidFill>
                <a:latin typeface="Arial"/>
              </a:rPr>
              <a:t>A requirements mind map, a 31-requirement register with sourced, prioritised and testable entries, and a bidirectional RTM carrying the 13 compliance requirements to the governance gate - artifacts/09-requirements-mindmap.md, artifacts/09-requirements-register.md and artifacts/09-rtm.md.</a:t>
            </a:r>
          </a:p>
        </p:txBody>
      </p:sp>
      <p:sp>
        <p:nvSpPr>
          <p:cNvPr id="13" name="TextBox 12"/>
          <p:cNvSpPr txBox="1"/>
          <p:nvPr/>
        </p:nvSpPr>
        <p:spPr>
          <a:xfrm>
            <a:off x="1005840" y="529666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Mind Mapping, Design Thinking (optional)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Requirements Elicitation, Mind Mapping and the Traceability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Choose elicitation techniques deliberately, matching each technique to the stakeholder group and noting its weakness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Requirements Elicitation, Mind Mapping and the Traceability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requirements mind map in the live Mind Mapping tool from the six charter requirements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Requirements Elicitation, Mind Mapping and the Traceability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Write the requirements register across all six categories, with a source, priority and acceptance criterion per line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Requirements Elicitation, Mind Mapping and the Traceability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Set requirement attributes and versioning, and define the route by which a baselined requirement changes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Requirements Elicitation, Mind Mapping and the Traceability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bidirectional requirements traceability matrix from source through deliverable to test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Requirements Elicitation, Mind Mapping and the Traceability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Work through what bidirectional traceability buys you when a requirement is challenged or dropped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Requirements Elicitation, Mind Mapping and the Traceability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elicitation choice, requirement quality and traceability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Requirements Elicitation, Mind Mapping and the Traceability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Every requirement in the register has a unique ID, a named source, a MoSCoW priority and an acceptance criterion stated as a number or a pass/fail condition; no non-functional requirement is left unmeasurable. Each of the 13 compliance requirements C-01 to C-13 can be traced forward from the RTM to a deliverable and a test, and every requirement traces backward to a charter item or stakeholder.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MoSCoW, Kano and the Product Backlog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Prioritise the Lab 09 requirements with two models that deliberately disagree. Apply MoSCoW under discipline rules - legally required, contractually required, or non-viable without it - to separate Musts from wishes. Classify the same features on Kano as basic, performance, excitement, indifferent or reverse, and resolve each conflict. Write a story backlog in points and a capacity-based release plan.</a:t>
            </a:r>
          </a:p>
        </p:txBody>
      </p:sp>
      <p:sp>
        <p:nvSpPr>
          <p:cNvPr id="10" name="Rectangle 9"/>
          <p:cNvSpPr/>
          <p:nvPr/>
        </p:nvSpPr>
        <p:spPr>
          <a:xfrm>
            <a:off x="777240" y="3931920"/>
            <a:ext cx="10698480" cy="19941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933450"/>
          </a:xfrm>
          <a:prstGeom prst="rect">
            <a:avLst/>
          </a:prstGeom>
          <a:noFill/>
        </p:spPr>
        <p:txBody>
          <a:bodyPr wrap="square" anchor="t">
            <a:spAutoFit/>
          </a:bodyPr>
          <a:lstStyle/>
          <a:p>
            <a:pPr algn="l">
              <a:spcAft>
                <a:spcPts val="400"/>
              </a:spcAft>
            </a:pPr>
            <a:r>
              <a:rPr sz="1700" b="1">
                <a:solidFill>
                  <a:srgbClr val="161B26"/>
                </a:solidFill>
                <a:latin typeface="Arial"/>
              </a:rPr>
              <a:t>A MoSCoW classification, a Kano classification of 14 features, a 21-plus story backlog with points and traces to REQ IDs, and a capacity-based release plan - artifacts/10-moscow.md, artifacts/10-kano.md, artifacts/10-product-backlog.md and artifacts/10-release-plan.md.</a:t>
            </a:r>
          </a:p>
        </p:txBody>
      </p:sp>
      <p:sp>
        <p:nvSpPr>
          <p:cNvPr id="13" name="TextBox 12"/>
          <p:cNvSpPr txBox="1"/>
          <p:nvPr/>
        </p:nvSpPr>
        <p:spPr>
          <a:xfrm>
            <a:off x="1005840" y="539572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Scrum Simulator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MoSCoW, Kano and the Product Backlog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Apply MoSCoW to the Lab 09 requirements using the legal, contractual and viability discipline tests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MoSCoW, Kano and the Product Backlog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Classify the features on Kano as basic, performance, excitement, indifferent or reverse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MoSCoW, Kano and the Product Backlog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Examine where MoSCoW and Kano disagree, and resolve each conflict with a stated rule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MoSCoW, Kano and the Product Backlog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Write the product backlog as user stories with acceptance criteria and traces to requirement IDs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MoSCoW, Kano and the Product Backlog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Estimate with story points rather than hours, and justify relative sizing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MoSCoW, Kano and the Product Backlog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release plan against real team capacity and verify the Must-haves land before the gate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MoSCoW, Kano and the Product Backlog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Make the AI recommender trade-off numeric using story points against benefit value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MoSCoW, Kano and the Product Backlog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prioritisation, value delivery and backlog management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MoSCoW, Kano and the Product Backlog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Every Must in the MoSCoW list survives the three discipline tests, and no more than the agreed share of total story points sits in Must. The release plan arithmetic reconciles: summed Must-have points divided by measured team velocity fits inside the sprints available before the gate, with the shortfall or slack stated explicitly. Each Kano basic is also a MoSCoW Must.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Work Breakdown Structure and WBS Dictionary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Decompose the Contoso scope into a deliverable-oriented WBS to three levels under the 100% rule, using the 8/80 rule and the estimate-and-assign test to decide when to stop. Every charter in-scope item must appear in the tree, no out-of-scope item anywhere. Write dictionary entries carrying effort in person-days, cost, predecessors, acceptance criteria and a control account, then assemble the scope baseline.</a:t>
            </a:r>
          </a:p>
        </p:txBody>
      </p:sp>
      <p:sp>
        <p:nvSpPr>
          <p:cNvPr id="10" name="Rectangle 9"/>
          <p:cNvSpPr/>
          <p:nvPr/>
        </p:nvSpPr>
        <p:spPr>
          <a:xfrm>
            <a:off x="777240" y="3931920"/>
            <a:ext cx="10698480" cy="20436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982980"/>
          </a:xfrm>
          <a:prstGeom prst="rect">
            <a:avLst/>
          </a:prstGeom>
          <a:noFill/>
        </p:spPr>
        <p:txBody>
          <a:bodyPr wrap="square" anchor="t">
            <a:spAutoFit/>
          </a:bodyPr>
          <a:lstStyle/>
          <a:p>
            <a:pPr algn="l">
              <a:spcAft>
                <a:spcPts val="400"/>
              </a:spcAft>
            </a:pPr>
            <a:r>
              <a:rPr sz="1800" b="1">
                <a:solidFill>
                  <a:srgbClr val="161B26"/>
                </a:solidFill>
                <a:latin typeface="Arial"/>
              </a:rPr>
              <a:t>A three-level deliverable-oriented WBS, a WBS dictionary with costed and estimated work-package entries, and the assembled scope baseline - artifacts/11-wbs.md, artifacts/11-wbs-dictionary.md and artifacts/11-scope-baseline.md.</a:t>
            </a:r>
          </a:p>
        </p:txBody>
      </p:sp>
      <p:sp>
        <p:nvSpPr>
          <p:cNvPr id="13" name="TextBox 12"/>
          <p:cNvSpPr txBox="1"/>
          <p:nvPr/>
        </p:nvSpPr>
        <p:spPr>
          <a:xfrm>
            <a:off x="1005840" y="544525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WBS decomposition, 8/80 rule, Rolling wave planning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Work Breakdown Structure and WBS Dictionary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Confirm the inputs and the scope boundary from the charter, register and backlog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Work Breakdown Structure and WBS Dictionary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WBS to three levels, deliverable-oriented, under the 100% rule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Work Breakdown Structure and WBS Dictionary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Trace the compliance workstream back to the environmental factor that created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Work Breakdown Structure and WBS Dictionary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Write the WBS dictionary entries with effort, cost, predecessors and acceptance criteria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Work Breakdown Structure and WBS Dictionary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Place control accounts and planning packages for the work not yet knowable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Work Breakdown Structure and WBS Dictionary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Assemble the scope baseline and state exactly what it contains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Work Breakdown Structure and WBS Dictionary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Reconcile the WBS with the product backlog so the two do not duplicate each other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Work Breakdown Structure and WBS Dictionary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decomposition, the 100% rule and baseline control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Work Breakdown Structure and WBS Dictionary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Roll the work-package effort and cost estimates up each branch and confirm they sum to the level-2 and level-1 totals with no orphan work and no double counting - this is the 100% rule proved arithmetically. Check every charter in-scope item appears exactly once in the tree, that no out-of-scope item appears at all, and that each work package sits inside the 8/80 hour band and can be assigned to one owner.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Network Diagram, PERT and the Critical Path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Convert the Lab 11 work packages into an activity list, sequence them with the four dependency types, and draw the precedence network. Compute the forward and backward pass by hand for early/late start and finish, total and free float, taking the critical path as the zero-float chain. Apply three-point estimating with the triangular and PERT beta formulas, then compare crashing against fast-tracking on cost per day.</a:t>
            </a:r>
          </a:p>
        </p:txBody>
      </p:sp>
      <p:sp>
        <p:nvSpPr>
          <p:cNvPr id="10" name="Rectangle 9"/>
          <p:cNvSpPr/>
          <p:nvPr/>
        </p:nvSpPr>
        <p:spPr>
          <a:xfrm>
            <a:off x="777240" y="3931920"/>
            <a:ext cx="10698480" cy="19446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83920"/>
          </a:xfrm>
          <a:prstGeom prst="rect">
            <a:avLst/>
          </a:prstGeom>
          <a:noFill/>
        </p:spPr>
        <p:txBody>
          <a:bodyPr wrap="square" anchor="t">
            <a:spAutoFit/>
          </a:bodyPr>
          <a:lstStyle/>
          <a:p>
            <a:pPr algn="l">
              <a:spcAft>
                <a:spcPts val="400"/>
              </a:spcAft>
            </a:pPr>
            <a:r>
              <a:rPr sz="1600" b="1">
                <a:solidFill>
                  <a:srgbClr val="161B26"/>
                </a:solidFill>
                <a:latin typeface="Arial"/>
              </a:rPr>
              <a:t>An activity list, a precedence network, a critical path with float per activity, PERT durations with variance, a costed compression analysis and the schedule baseline - artifacts/12-activity-list.md, artifacts/12-network-diagram.md, artifacts/12-critical-path.md, artifacts/12-schedule-baseline.md.</a:t>
            </a:r>
          </a:p>
        </p:txBody>
      </p:sp>
      <p:sp>
        <p:nvSpPr>
          <p:cNvPr id="13" name="TextBox 12"/>
          <p:cNvSpPr txBox="1"/>
          <p:nvPr/>
        </p:nvSpPr>
        <p:spPr>
          <a:xfrm>
            <a:off x="1005840" y="5346191"/>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PERT, Critical Path Method, Forward and backward pass, Crashing and fast-tracking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Network Diagram, PERT and the Critical Path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Derive the activity list from the WBS work packages, converting deliverables into activities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Network Diagram, PERT and the Critical Path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Understand the dependencies just declared, separating mandatory from discretionary logic</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Network Diagram, PERT and the Critical Path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Draw the precedence network diagram with the four dependency types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Network Diagram, PERT and the Critical Path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Compute the forward and backward pass, then total float and free float per activity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Network Diagram, PERT and the Critical Path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Apply three-point estimating with both formulas and compute the project confidence range from variance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Network Diagram, PERT and the Critical Path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Compress the schedule by comparing crashing and fast-tracking on cost per day saved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Network Diagram, PERT and the Critical Path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Apply the lessons-learned constraint that compliance review precedes UAT, and price the parallel alternative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Network Diagram, PERT and the Critical Path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schedule baseline from the accepted network and durations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Network Diagram, PERT and the Critical Path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float, critical path and compression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Network Diagram, PERT and the Critical Path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backward pass must reproduce the forward pass: project late finish equals early finish, and every critical-path activity shows zero total float. Confirm the PERT roll-up - expected duration near 123 days, standard deviation about 4.73 days, a 95.45% range of roughly 113.5 to 132.5 days - by summing critical-path variances. The compression must shorten the critical path, not a float-bearing chain.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Cost Estimating, Budget and Reserves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Select estimating techniques against the information available and state each one's accuracy range, then build a bottom-up estimate from the Lab 11 work packages and reconcile it to the charter budget. Separate contingency from management reserve - who authorises release, which sits in the cost baseline - and size contingency by expected monetary value. Time-phase into a cost baseline S-curve.</a:t>
            </a:r>
          </a:p>
        </p:txBody>
      </p:sp>
      <p:sp>
        <p:nvSpPr>
          <p:cNvPr id="10" name="Rectangle 9"/>
          <p:cNvSpPr/>
          <p:nvPr/>
        </p:nvSpPr>
        <p:spPr>
          <a:xfrm>
            <a:off x="777240" y="3931920"/>
            <a:ext cx="10698480" cy="18950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34390"/>
          </a:xfrm>
          <a:prstGeom prst="rect">
            <a:avLst/>
          </a:prstGeom>
          <a:noFill/>
        </p:spPr>
        <p:txBody>
          <a:bodyPr wrap="square" anchor="t">
            <a:spAutoFit/>
          </a:bodyPr>
          <a:lstStyle/>
          <a:p>
            <a:pPr algn="l">
              <a:spcAft>
                <a:spcPts val="400"/>
              </a:spcAft>
            </a:pPr>
            <a:r>
              <a:rPr sz="1500" b="1">
                <a:solidFill>
                  <a:srgbClr val="161B26"/>
                </a:solidFill>
                <a:latin typeface="Arial"/>
              </a:rPr>
              <a:t>A bottom-up cost estimate reconciled to the charter, an EMV-sized contingency reserve, a time-phased cost baseline S-curve with the funding requirement above it, and a cost-of-quality analysis - artifacts/13-cost-estimates.md, artifacts/13-cost-baseline.md and artifacts/13-reserve-analysis.md.</a:t>
            </a:r>
          </a:p>
        </p:txBody>
      </p:sp>
      <p:sp>
        <p:nvSpPr>
          <p:cNvPr id="13" name="TextBox 12"/>
          <p:cNvSpPr txBox="1"/>
          <p:nvPr/>
        </p:nvSpPr>
        <p:spPr>
          <a:xfrm>
            <a:off x="1005840" y="529666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Statistics, Bottom-up estimating, Expected Monetary Value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Cost Estimating, Budget and Reserves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bottom-up estimate from the WBS work packages and reconcile it to the charter budget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Cost Estimating, Budget and Reserves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Distinguish contingency reserve from management reserve, including authority and baseline placement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Cost Estimating, Budget and Reserves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Size the contingency reserve by expected monetary value rather than by percentage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Cost Estimating, Budget and Reserves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time-phased cost baseline as an S-curve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Cost Estimating, Budget and Reserves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Perform funding limit reconciliation against the cash-flow profile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Cost Estimating, Budget and Reserves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Analyse the cost of quality across prevention, appraisal, internal failure and external failure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Cost Estimating, Budget and Reserves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estimating accuracy, reserves and baseline versus budget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Cost Estimating, Budget and Reserves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money must add up both ways: work-package estimates plus contingency equals the cost baseline, and cost baseline plus management reserve equals the total budget. Confirm the EMV sizing by recomputing probability times impact per priced risk. The cumulative S-curve must end at the cost baseline total, and funding limit reconciliation must show no period where planned spend exceeds the authorised tranche.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Risk Register, RBS, EMV and Decision Tree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Build a risk breakdown structure and use it to identify risks systematically, tracing them from the Lab 02 environment scan and the Lab 06 assumption log - every assumption is a latent risk. Write each in cause-event-effect form, then assess the register on a probability/impact matrix and by expected monetary value. Give each a response from the ten strategies and solve a decision tree on EMV.</a:t>
            </a:r>
          </a:p>
        </p:txBody>
      </p:sp>
      <p:sp>
        <p:nvSpPr>
          <p:cNvPr id="10" name="Rectangle 9"/>
          <p:cNvSpPr/>
          <p:nvPr/>
        </p:nvSpPr>
        <p:spPr>
          <a:xfrm>
            <a:off x="777240" y="3931920"/>
            <a:ext cx="10698480" cy="18950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34390"/>
          </a:xfrm>
          <a:prstGeom prst="rect">
            <a:avLst/>
          </a:prstGeom>
          <a:noFill/>
        </p:spPr>
        <p:txBody>
          <a:bodyPr wrap="square" anchor="t">
            <a:spAutoFit/>
          </a:bodyPr>
          <a:lstStyle/>
          <a:p>
            <a:pPr algn="l">
              <a:spcAft>
                <a:spcPts val="400"/>
              </a:spcAft>
            </a:pPr>
            <a:r>
              <a:rPr sz="1500" b="1">
                <a:solidFill>
                  <a:srgbClr val="161B26"/>
                </a:solidFill>
                <a:latin typeface="Arial"/>
              </a:rPr>
              <a:t>A risk breakdown structure, a risk register with cause-event-effect statements and owners, a plotted probability/impact matrix, a full EMV analysis and a solved decision tree - artifacts/14-risk-register.md, artifacts/14-rbs.md, artifacts/14-pi-matrix.md and artifacts/14-emv-analysis.md.</a:t>
            </a:r>
          </a:p>
        </p:txBody>
      </p:sp>
      <p:sp>
        <p:nvSpPr>
          <p:cNvPr id="13" name="TextBox 12"/>
          <p:cNvSpPr txBox="1"/>
          <p:nvPr/>
        </p:nvSpPr>
        <p:spPr>
          <a:xfrm>
            <a:off x="1005840" y="529666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System Thinking, EMV, Decision Tree, Probability/Impact Matrix</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Risk Register, RBS, EMV and Decision Tree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risk breakdown structure and use it to drive systematic identification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Risk Register, RBS, EMV and Decision Tree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Trace risks from the Lab 02 PESTLE/TECOP factors and the Lab 06 assumption log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Risk Register, RBS, EMV and Decision Tree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Write risk statements in cause-event-effect form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Risk Register, RBS, EMV and Decision Tree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risk register with probability, impact, owner and trigger per risk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Risk Register, RBS, EMV and Decision Tree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Plot the probability/impact matrix and rank the risks by score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Risk Register, RBS, EMV and Decision Tree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Apply all ten response strategies - five for threats and five for opportunities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Risk Register, RBS, EMV and Decision Tree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Compute expected monetary value for each priced risk and for the portfolio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Risk Register, RBS, EMV and Decision Tree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and solve a decision tree for a real Contoso decision and defend the recommendation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Risk Register, RBS, EMV and Decision Tree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Distinguish qualitative from quantitative analysis, and a risk from an issue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Risk Register, RBS, EMV and Decision Tree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10 OF 10</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response strategy selection, EMV and secondary risk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Risk Register, RBS, EMV and Decision Tree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Recompute each risk's EMV as probability times impact, summing threats and opportunities separately - the net portfolio EMV must reconcile with the contingency reserve sized in Lab 13. Solve the decision tree by rolling values back from the leaves; the recommended branch must have the highest expected value net of cost. Every register row carries an owner, a trigger and one of the ten strategies.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Plan the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Process T2 - Develop and manage project scope; Process T1 - Develop an integrated project management plan.</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Process T3 - Help ensure value-based delivery; Process T2 - Develop and manage project scope.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Process T2 - Develop and manage project scope (break down scope); Process T1 - Develop an integrated project management plan.</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Process T8 - Plan and manage schedule.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Process T6 - Plan and manage finance; Process T1 - Develop an integrated project management plan.</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Business Environment T5 - Plan and manage risk; Business Environment T4 - Support organisational change.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Lead the Project Team</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Leadership · motivation · conflict · coaching · communication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Lead the Project Team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Tuckman's forming, storming, norming, performing and adjourning gives you a diagnosis, and each stage calls for a different leadership response.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Situational leadership, servant leadership and motivation theory (Maslow, Herzberg, McClelland, Theory X/Y) drive team performance.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RACI removes ambiguity: exactly one Accountable per work package, Responsible parties who do the 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five conflict modes — collaborate, compromise, smooth, force, withdraw — are chosen by context; collaborate/problem-solve is preferred.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channels formula n(n-1)/2 shows why communication complexity grows faster than team size.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communication plan defines who needs what information, in what format, how often, and through which channel.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Lead the Project Team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15–16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RACI Responsibility Assignment Matrix and Resource Plan</a:t>
            </a:r>
          </a:p>
          <a:p>
            <a:pPr>
              <a:spcAft>
                <a:spcPts val="900"/>
              </a:spcAft>
            </a:pPr>
            <a:r>
              <a:rPr sz="1400" b="0">
                <a:solidFill>
                  <a:srgbClr val="161B26"/>
                </a:solidFill>
                <a:latin typeface="Arial"/>
              </a:rPr>
              <a:t>•  Tuckman Diagnosis, Motivation Theory and Leadership Style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17–18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Conflict Resolution: Five Modes, Leas' Levels and Negotiation</a:t>
            </a:r>
          </a:p>
          <a:p>
            <a:pPr>
              <a:spcAft>
                <a:spcPts val="900"/>
              </a:spcAft>
            </a:pPr>
            <a:r>
              <a:rPr sz="1400" b="0">
                <a:solidFill>
                  <a:srgbClr val="161B26"/>
                </a:solidFill>
                <a:latin typeface="Arial"/>
              </a:rPr>
              <a:t>•  Communication Plan, Channels and Status Reporting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RACI Responsibility Assignment Matrix and Resource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Build a RACI matrix from the Lab 11 WBS work packages, defending every assignment against the one-accountable rule. The supplied draft carries five deliberate defects - missing accountability, two accountables on a row, over-consultation, an unassigned role and an unowned work package - which you audit out and fix. Build the resource histogram and distinguish levelling from smoothing.</a:t>
            </a:r>
          </a:p>
        </p:txBody>
      </p:sp>
      <p:sp>
        <p:nvSpPr>
          <p:cNvPr id="10" name="Rectangle 9"/>
          <p:cNvSpPr/>
          <p:nvPr/>
        </p:nvSpPr>
        <p:spPr>
          <a:xfrm>
            <a:off x="777240" y="3931920"/>
            <a:ext cx="10698480" cy="20436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982980"/>
          </a:xfrm>
          <a:prstGeom prst="rect">
            <a:avLst/>
          </a:prstGeom>
          <a:noFill/>
        </p:spPr>
        <p:txBody>
          <a:bodyPr wrap="square" anchor="t">
            <a:spAutoFit/>
          </a:bodyPr>
          <a:lstStyle/>
          <a:p>
            <a:pPr algn="l">
              <a:spcAft>
                <a:spcPts val="400"/>
              </a:spcAft>
            </a:pPr>
            <a:r>
              <a:rPr sz="1800" b="1">
                <a:solidFill>
                  <a:srgbClr val="161B26"/>
                </a:solidFill>
                <a:latin typeface="Arial"/>
              </a:rPr>
              <a:t>A defect-free RACI matrix over the WBS work packages, a documented audit of the five structural defects with fixes, and a resource plan with a levelled histogram - artifacts/15-raci-matrix.md, artifacts/15-resource-plan.md and artifacts/15-raci-issues.md.</a:t>
            </a:r>
          </a:p>
        </p:txBody>
      </p:sp>
      <p:sp>
        <p:nvSpPr>
          <p:cNvPr id="13" name="TextBox 12"/>
          <p:cNvSpPr txBox="1"/>
          <p:nvPr/>
        </p:nvSpPr>
        <p:spPr>
          <a:xfrm>
            <a:off x="1005840" y="544525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RACI Matrix</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RACI Responsibility Assignment Matrix and Resource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Assemble the inputs from the WBS dictionary, team charter and stakeholder register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RACI Responsibility Assignment Matrix and Resource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Draft the matrix, accepting that the supplied draft contains deliberate defects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RACI Responsibility Assignment Matrix and Resource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Enter the matrix in the live RACI Matrix tool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RACI Responsibility Assignment Matrix and Resource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Audit the matrix and find the five structural defects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RACI Responsibility Assignment Matrix and Resource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Compare before and after in numbers, counting assignments per row and per role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RACI Responsibility Assignment Matrix and Resource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resource plan and the resource histogram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RACI Responsibility Assignment Matrix and Resource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Level or smooth the over-allocation, and state which technique can move the critical path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RACI Responsibility Assignment Matrix and Resource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Connect the RACI to the communication plan so the C and I entries drive the distribution list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RACI Responsibility Assignment Matrix and Resource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accountability, over-consultation and levelling versus smoothing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RACI Responsibility Assignment Matrix and Resource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Audit the corrected matrix row by row and column by column: every work-package row shows exactly one A and at least one R, no row is empty, and no role column is empty. Compare the histogram before and after: levelling must remove every allocation above 100%, and the learner must state whether the end date moved (levelling) or held (smoothing).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Tuckman Diagnosis, Motivation Theory and Leadership Style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Diagnose the team's Tuckman stage from the sprint 3 behavioural evidence rather than elapsed time, naming structural causes not personalities, then select the leader actions that move a team out of storming. Apply six motivation theories - Maslow, Herzberg, McGregor, McClelland, Vroom and Self-Determination - for one action each. Compute a Vroom score as expectancy times instrumentality times valence.</a:t>
            </a:r>
          </a:p>
        </p:txBody>
      </p:sp>
      <p:sp>
        <p:nvSpPr>
          <p:cNvPr id="10" name="Rectangle 9"/>
          <p:cNvSpPr/>
          <p:nvPr/>
        </p:nvSpPr>
        <p:spPr>
          <a:xfrm>
            <a:off x="777240" y="3931920"/>
            <a:ext cx="10698480" cy="18950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34390"/>
          </a:xfrm>
          <a:prstGeom prst="rect">
            <a:avLst/>
          </a:prstGeom>
          <a:noFill/>
        </p:spPr>
        <p:txBody>
          <a:bodyPr wrap="square" anchor="t">
            <a:spAutoFit/>
          </a:bodyPr>
          <a:lstStyle/>
          <a:p>
            <a:pPr algn="l">
              <a:spcAft>
                <a:spcPts val="400"/>
              </a:spcAft>
            </a:pPr>
            <a:r>
              <a:rPr sz="1500" b="1">
                <a:solidFill>
                  <a:srgbClr val="161B26"/>
                </a:solidFill>
                <a:latin typeface="Arial"/>
              </a:rPr>
              <a:t>A Tuckman diagnosis with structural causes and leader actions, per-member motivation profiles with one action from each of the six theories, and a leadership style map - artifacts/16-tuckman-diagnosis.md, artifacts/16-motivation-plan.md and artifacts/16-leadership-style-plan.md.</a:t>
            </a:r>
          </a:p>
        </p:txBody>
      </p:sp>
      <p:sp>
        <p:nvSpPr>
          <p:cNvPr id="13" name="TextBox 12"/>
          <p:cNvSpPr txBox="1"/>
          <p:nvPr/>
        </p:nvSpPr>
        <p:spPr>
          <a:xfrm>
            <a:off x="1005840" y="529666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Tuckman model, Situational Leadership, Vroom Expectancy calculation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Tuckman Diagnosis, Motivation Theory and Leadership Style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Read the sprint 3 evidence and record the observed behaviours without interpreting them yet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Tuckman Diagnosis, Motivation Theory and Leadership Style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Diagnose the Tuckman stage and name the structural causes behind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Tuckman Diagnosis, Motivation Theory and Leadership Style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Choose the leader actions that move a team out of storming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Tuckman Diagnosis, Motivation Theory and Leadership Style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Apply the six motivation theories, producing one specific action from each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Tuckman Diagnosis, Motivation Theory and Leadership Style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per-member motivation profiles, computing the Vroom expectancy score numerically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Tuckman Diagnosis, Motivation Theory and Leadership Style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Map a situational leadership style to each member's competence and commitment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Tuckman Diagnosis, Motivation Theory and Leadership Style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Distinguish servant leadership from laissez-faire behaviourally and by outcome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Tuckman Diagnosis, Motivation Theory and Leadership Style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stage diagnosis, Herzberg and style selection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Tuckman Diagnosis, Motivation Theory and Leadership Style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diagnosis cites at least three observed sprint 3 behaviours and does not rest on how long the team has existed. Each Vroom score is computed as expectancy times instrumentality times valence, with the lowest factor identified as the one to fix - a low score with high valence and instrumentality points at expectancy - and the action must target that factor. Every member carries a different style justification.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Conflict Resolution: Five Modes, Leas' Levels and Negotiation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Place the five conflict-handling modes on the assertiveness and cooperativeness axes, state each one's legitimate use, and identify the cases where collaborate - usually the keyed answer - is wrong. Diagnose intensity on Leas' five levels from the language people use. Run four Contoso role-plays, recording each in a conflict log. Close on negotiation: positions versus interests, BATNA and ZOPA.</a:t>
            </a:r>
          </a:p>
        </p:txBody>
      </p:sp>
      <p:sp>
        <p:nvSpPr>
          <p:cNvPr id="10" name="Rectangle 9"/>
          <p:cNvSpPr/>
          <p:nvPr/>
        </p:nvSpPr>
        <p:spPr>
          <a:xfrm>
            <a:off x="777240" y="3931920"/>
            <a:ext cx="10698480" cy="19941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933450"/>
          </a:xfrm>
          <a:prstGeom prst="rect">
            <a:avLst/>
          </a:prstGeom>
          <a:noFill/>
        </p:spPr>
        <p:txBody>
          <a:bodyPr wrap="square" anchor="t">
            <a:spAutoFit/>
          </a:bodyPr>
          <a:lstStyle/>
          <a:p>
            <a:pPr algn="l">
              <a:spcAft>
                <a:spcPts val="400"/>
              </a:spcAft>
            </a:pPr>
            <a:r>
              <a:rPr sz="1700" b="1">
                <a:solidFill>
                  <a:srgbClr val="161B26"/>
                </a:solidFill>
                <a:latin typeface="Arial"/>
              </a:rPr>
              <a:t>A conflict log recording level, mode, intervention and outcome per incident, observer notes and debriefs for the four role-plays, and a resolution plan with a BATNA and ZOPA analysis - artifacts/17-conflict-log.md, artifacts/17-roleplay-notes.md and artifacts/17-resolution-plan.md.</a:t>
            </a:r>
          </a:p>
        </p:txBody>
      </p:sp>
      <p:sp>
        <p:nvSpPr>
          <p:cNvPr id="13" name="TextBox 12"/>
          <p:cNvSpPr txBox="1"/>
          <p:nvPr/>
        </p:nvSpPr>
        <p:spPr>
          <a:xfrm>
            <a:off x="1005840" y="539572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Thomas-Kilmann five modes, Leas' Levels, BATNA and ZOPA analysis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Conflict Resolution: Five Modes, Leas' Levels and Negotiation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conflict log with columns for level, mode, intervention and outcome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Conflict Resolution: Five Modes, Leas' Levels and Negotiation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Run role-play 1: two developers on architecture at Leas' level 1 to 2</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Conflict Resolution: Five Modes, Leas' Levels and Negotiation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Run role-play 2: Head of Sales versus product owner on scope at level 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Conflict Resolution: Five Modes, Leas' Levels and Negotiation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Run role-play 3: QA lead versus dev lead on the definition of done at level 2 to 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Conflict Resolution: Five Modes, Leas' Levels and Negotiation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Run role-play 4: admin staff versus Ops Manager on redundancy, escalating and high emotion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Conflict Resolution: Five Modes, Leas' Levels and Negotiation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resolution plan from the four logged conflicts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Conflict Resolution: Five Modes, Leas' Levels and Negotiation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Apply negotiation: separate positions from interests, and compute BATNA and ZOPA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Conflict Resolution: Five Modes, Leas' Levels and Negotiation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mode selection and escalation thresholds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Conflict Resolution: Five Modes, Leas' Levels and Negotiation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Every conflict log row names a Leas' level, the mode chosen, and why that mode beat collaborate - a level 4 or 5 entry that still selects collaborate is a failed diagnosis. The negotiation analysis states each party's BATNA explicitly and shows the ZOPA as a numeric range between the two reservation points, or states that no ZOPA exists and no deal is available.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Communication Plan, Channels and Status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Compute the communication channels with N(N-1)/2 and derive the implication of its superlinear growth. Select push, pull or interactive per stakeholder, place communications in the formal/informal by written/verbal grid, and build a plan where every row carries a feedback loop. Write the week-14 status three ways for three audiences, noticing that a CPI of 0.919 breaches the governance threshold.</a:t>
            </a:r>
          </a:p>
        </p:txBody>
      </p:sp>
      <p:sp>
        <p:nvSpPr>
          <p:cNvPr id="10" name="Rectangle 9"/>
          <p:cNvSpPr/>
          <p:nvPr/>
        </p:nvSpPr>
        <p:spPr>
          <a:xfrm>
            <a:off x="777240" y="3931920"/>
            <a:ext cx="10698480" cy="18950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34390"/>
          </a:xfrm>
          <a:prstGeom prst="rect">
            <a:avLst/>
          </a:prstGeom>
          <a:noFill/>
        </p:spPr>
        <p:txBody>
          <a:bodyPr wrap="square" anchor="t">
            <a:spAutoFit/>
          </a:bodyPr>
          <a:lstStyle/>
          <a:p>
            <a:pPr algn="l">
              <a:spcAft>
                <a:spcPts val="400"/>
              </a:spcAft>
            </a:pPr>
            <a:r>
              <a:rPr sz="1500" b="1">
                <a:solidFill>
                  <a:srgbClr val="161B26"/>
                </a:solidFill>
                <a:latin typeface="Arial"/>
              </a:rPr>
              <a:t>A communication plan with computed channel counts, a push/pull/interactive assignment and a named feedback loop per stakeholder row, plus three audience-specific week-14 status reports written from one set of numbers - artifacts/18-communication-plan.md and artifacts/18-status-reports.md.</a:t>
            </a:r>
          </a:p>
        </p:txBody>
      </p:sp>
      <p:sp>
        <p:nvSpPr>
          <p:cNvPr id="13" name="TextBox 12"/>
          <p:cNvSpPr txBox="1"/>
          <p:nvPr/>
        </p:nvSpPr>
        <p:spPr>
          <a:xfrm>
            <a:off x="1005840" y="529666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N(N-1)/2 channels formula, Sender-receiver model, Status reporting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Communication Plan, Channels and Status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Compute the communication channels with N(N-1)/2 and derive the growth implication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Communication Plan, Channels and Status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Choose push, pull or interactive for each stakeholder and justify the choice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Communication Plan, Channels and Status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Place communications in the formal/informal by written/verbal grid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Communication Plan, Channels and Status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communication plan with a named feedback loop on every row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Communication Plan, Channels and Status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Trace a message through the sender-receiver model and name the real noise sources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Communication Plan, Channels and Status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Work through the week-14 status data and compute the performance indices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Communication Plan, Channels and Status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Write the same status three ways for three different audiences from one set of numbers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Communication Plan, Channels and Status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Compare a bad status report with a good one and name what makes the difference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Communication Plan, Channels and Status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channels, communication method and escalation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Communication Plan, Channels and Status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Recompute N(N-1)/2 before and after the proposed additions and confirm the channel count grows superlinearly - state the delta, not just the totals. Every plan row names a sender, audience, method, frequency and feedback loop. The three status reports reconcile to identical figures despite differing in emphasis, and the CPI of 0.919 is flagged against the governance cost variance threshold with the escalation named.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Lead the Project Team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People T3 - Lead the project team (establish clear roles and responsibilities within the team); Process T4 - Plan and manage resources.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People T3 - Lead the project team; People T1 - Develop a common vision.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People T2 - Manage conflicts.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People T8 - Plan and manage communication; People T4 - Engage stakeholders.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Monitor and Control the Project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Earned value · flow metrics · quality control · change control · issues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Monitor and Control the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Earned value management combines scope, schedule and cost into CPI, SPI, EAC and VAC — it tells you THAT something is wrong, not why.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Schedule compression is a choice between crashing (adds cost) and fast-tracking (adds risk); both must be justified against the baseline.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Kanban flow metrics — WIP limits, lead time and cycle time — expose bottlenecks that a Gantt chart hides.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Root cause analysis with 5 Whys, fishbone and Pareto finds the vital few causes behind most of the pain.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Statistical process control separates assignable causes from common-cause noise, and a stable process can still fail its specification.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Integrated change control evaluates every change against all baselines before approval — the change control board decides, the PM does not.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Monitor and Control the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19–20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Kanban Board with WIP Limits and Lead/Cycle Time</a:t>
            </a:r>
          </a:p>
          <a:p>
            <a:pPr>
              <a:spcAft>
                <a:spcPts val="900"/>
              </a:spcAft>
            </a:pPr>
            <a:r>
              <a:rPr sz="1400" b="0">
                <a:solidFill>
                  <a:srgbClr val="161B26"/>
                </a:solidFill>
                <a:latin typeface="Arial"/>
              </a:rPr>
              <a:t>•  Earned Value Management and Schedule Compression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21–22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Root Cause Analysis with 5 Whys, Fishbone and Pareto</a:t>
            </a:r>
          </a:p>
          <a:p>
            <a:pPr>
              <a:spcAft>
                <a:spcPts val="900"/>
              </a:spcAft>
            </a:pPr>
            <a:r>
              <a:rPr sz="1400" b="0">
                <a:solidFill>
                  <a:srgbClr val="161B26"/>
                </a:solidFill>
                <a:latin typeface="Arial"/>
              </a:rPr>
              <a:t>•  SPC Control Chart and Statistical Process Analysis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Kanban Board with WIP Limits and Lead/Cycle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Build a nine-column Kanban board mirroring Contoso's workflow, separating active from queue columns so waiting time becomes visible. Set a justified WIP limit per column, load 18 story cards with backlog-entry, work-start and acceptance dates, and compute lead time, cycle time, throughput and flow efficiency. Apply Little's Law, then find the bottleneck and apply the five Theory of Constraints steps.</a:t>
            </a:r>
          </a:p>
        </p:txBody>
      </p:sp>
      <p:sp>
        <p:nvSpPr>
          <p:cNvPr id="10" name="Rectangle 9"/>
          <p:cNvSpPr/>
          <p:nvPr/>
        </p:nvSpPr>
        <p:spPr>
          <a:xfrm>
            <a:off x="777240" y="3931920"/>
            <a:ext cx="10698480" cy="18950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34390"/>
          </a:xfrm>
          <a:prstGeom prst="rect">
            <a:avLst/>
          </a:prstGeom>
          <a:noFill/>
        </p:spPr>
        <p:txBody>
          <a:bodyPr wrap="square" anchor="t">
            <a:spAutoFit/>
          </a:bodyPr>
          <a:lstStyle/>
          <a:p>
            <a:pPr algn="l">
              <a:spcAft>
                <a:spcPts val="400"/>
              </a:spcAft>
            </a:pPr>
            <a:r>
              <a:rPr sz="1500" b="1">
                <a:solidFill>
                  <a:srgbClr val="161B26"/>
                </a:solidFill>
                <a:latin typeface="Arial"/>
              </a:rPr>
              <a:t>artifacts/19-kanban-board.md with the nine-column workflow and WIP limits; artifacts/19-flow-metrics.md with lead and cycle time, throughput, flow efficiency and the Little's Law verification; artifacts/19-bottleneck-analysis.md with the utilisation table and Theory of Constraints response.</a:t>
            </a:r>
          </a:p>
        </p:txBody>
      </p:sp>
      <p:sp>
        <p:nvSpPr>
          <p:cNvPr id="13" name="TextBox 12"/>
          <p:cNvSpPr txBox="1"/>
          <p:nvPr/>
        </p:nvSpPr>
        <p:spPr>
          <a:xfrm>
            <a:off x="1005840" y="529666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Kanban Board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Kanban Board with WIP Limits and Lead/Cycle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Design the workflow columns, separating active stages from queue stages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Kanban Board with WIP Limits and Lead/Cycle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Set and justify a WIP limit for every column against the team composition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Kanban Board with WIP Limits and Lead/Cycle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Load the 18 real cards with backlog-entry, work-start and acceptance dates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Kanban Board with WIP Limits and Lead/Cycle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Compute the flow metrics - lead time, cycle time, throughput and flow efficiency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Kanban Board with WIP Limits and Lead/Cycle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Apply Little's Law to verify stability and forecast the remaining release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Kanban Board with WIP Limits and Lead/Cycle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Find the bottleneck from column utilisation and apply the Theory of Constraints steps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Kanban Board with WIP Limits and Lead/Cycle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Read the cumulative flow diagram and interpret band width, slope and convergence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transition spd="med">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Kanban Board with WIP Limits and Lead/Cycle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Little's Law, WIP limits and lead versus cycle time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Kanban Board with WIP Limits and Lead/Cycle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700" b="0">
                <a:solidFill>
                  <a:srgbClr val="161B26"/>
                </a:solidFill>
                <a:latin typeface="Arial"/>
              </a:rPr>
              <a:t>Mean lead time comes to 13.11 days against a mean cycle time of 6.94 days, a flow efficiency of 52.9%; Little's Law implies a WIP of about 6.25 against an observed 6 on day 12; Test is the bottleneck on its 100% utilisation, the 97% queue in front of it and the collapse to 33% downstream; and the learner rejects raising the In Test WIP limit, explaining why it would lengthen cycle time.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Earned Value Management and Schedule Compression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From the SGD 480,000 Contoso cost baseline, validate that cumulative planned value at the final period equals BAC, then compute CV, SV, CPI and SPI at the week-14 status date. Calculate all three EAC variants, choose the defensible one on evidence, and derive ETC, VAC and both TCPI figures. Analyse the seven-period CPI/SPI trend and choose between crashing and fast-tracking from the crash-cost table.</a:t>
            </a:r>
          </a:p>
        </p:txBody>
      </p:sp>
      <p:sp>
        <p:nvSpPr>
          <p:cNvPr id="10" name="Rectangle 9"/>
          <p:cNvSpPr/>
          <p:nvPr/>
        </p:nvSpPr>
        <p:spPr>
          <a:xfrm>
            <a:off x="777240" y="3931920"/>
            <a:ext cx="10698480" cy="18455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784860"/>
          </a:xfrm>
          <a:prstGeom prst="rect">
            <a:avLst/>
          </a:prstGeom>
          <a:noFill/>
        </p:spPr>
        <p:txBody>
          <a:bodyPr wrap="square" anchor="t">
            <a:spAutoFit/>
          </a:bodyPr>
          <a:lstStyle/>
          <a:p>
            <a:pPr algn="l">
              <a:spcAft>
                <a:spcPts val="400"/>
              </a:spcAft>
            </a:pPr>
            <a:r>
              <a:rPr sz="1400" b="1">
                <a:solidFill>
                  <a:srgbClr val="161B26"/>
                </a:solidFill>
                <a:latin typeface="Arial"/>
              </a:rPr>
              <a:t>artifacts/20-evm-calculations.md with CV, SV, CPI and SPI plus the seven-period trend table; artifacts/20-forecast.md with all three EAC variants, ETC, VAC and both TCPI figures; artifacts/20-compression-decision.md with the five-day crash recovery, its cost and the rejection of fast-tracking.</a:t>
            </a:r>
          </a:p>
        </p:txBody>
      </p:sp>
      <p:sp>
        <p:nvSpPr>
          <p:cNvPr id="13" name="TextBox 12"/>
          <p:cNvSpPr txBox="1"/>
          <p:nvPr/>
        </p:nvSpPr>
        <p:spPr>
          <a:xfrm>
            <a:off x="1005840" y="524713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Statistics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Earned Value Management and Schedule Compression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Take the cost baseline and actuals, and validate that cumulative PV equals BAC</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Earned Value Management and Schedule Compression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Compute the variances and indices at week 14 - CV, SV, CPI and SPI</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Earned Value Management and Schedule Compression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Forecast the outcome with all three EAC variants, plus ETC, VAC and TCPI</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transition spd="med">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Earned Value Management and Schedule Compression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Analyse the seven-period CPI/SPI trend rather than the single snapshot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transition spd="med">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Earned Value Management and Schedule Compression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Check the result against the escalation thresholds and decide whether to escalate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Earned Value Management and Schedule Compression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Decide between crashing and fast-tracking using the crash-cost table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transition spd="med">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Earned Value Management and Schedule Compression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Write the variance report in sponsor format with three costed options and a recommendation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Earned Value Management and Schedule Compression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EAC selection, EVM reading and trend interpretation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Earned Value Management and Schedule Compression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Cumulative PV at period 12 equals SGD 480,000; CV = -22,000 and SV = -19,000 are in dollars not days; CPI = 0.919 and SPI = 0.929, CPI carried to four decimals into EAC = SGD 522,420 and VAC = -SGD 42,420; the TCPI of 1.105 against CPI 0.919 makes recovery not credible; the crash selects J and O for SGD 15,500, rejecting non-critical F; and escalation is raised on the forecast, not the actual variance.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transition spd="med">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Pareto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Take the defect log for sprints 1 to 7 - the period over which CPI declined monotonically - and run the three root cause tools in sequence. Pareto on defect frequency isolates the vital few inside the 80% cut; a second Pareto by rework hours reveals where frequency and cost disagree. A fishbone generates causes across the six categories, and 5 Whys drives from symptom to root cause, verified with the removal test.</a:t>
            </a:r>
          </a:p>
        </p:txBody>
      </p:sp>
      <p:sp>
        <p:nvSpPr>
          <p:cNvPr id="10" name="Rectangle 9"/>
          <p:cNvSpPr/>
          <p:nvPr/>
        </p:nvSpPr>
        <p:spPr>
          <a:xfrm>
            <a:off x="777240" y="3931920"/>
            <a:ext cx="10698480" cy="19446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83920"/>
          </a:xfrm>
          <a:prstGeom prst="rect">
            <a:avLst/>
          </a:prstGeom>
          <a:noFill/>
        </p:spPr>
        <p:txBody>
          <a:bodyPr wrap="square" anchor="t">
            <a:spAutoFit/>
          </a:bodyPr>
          <a:lstStyle/>
          <a:p>
            <a:pPr algn="l">
              <a:spcAft>
                <a:spcPts val="400"/>
              </a:spcAft>
            </a:pPr>
            <a:r>
              <a:rPr sz="1600" b="1">
                <a:solidFill>
                  <a:srgbClr val="161B26"/>
                </a:solidFill>
                <a:latin typeface="Arial"/>
              </a:rPr>
              <a:t>artifacts/21-pareto-analysis.md with the frequency and cost rankings and cumulative percentages; artifacts/21-fishbone.md with two causes per category; artifacts/21-5whys.md with the causal chain; artifacts/21-corrective-actions.md separating corrective from preventive action.</a:t>
            </a:r>
          </a:p>
        </p:txBody>
      </p:sp>
      <p:sp>
        <p:nvSpPr>
          <p:cNvPr id="13" name="TextBox 12"/>
          <p:cNvSpPr txBox="1"/>
          <p:nvPr/>
        </p:nvSpPr>
        <p:spPr>
          <a:xfrm>
            <a:off x="1005840" y="5346191"/>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Pareto Chart, Fishbone Diagram, 5 Whys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transition spd="med">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Pareto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Take the defect data covering sprints 1 to 7 with counts, rework hours and cost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Pareto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Pareto chart on defect frequency and locate the 80% cut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transition spd="med">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Pareto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Re-run Pareto by rework cost and notice where the two rankings disagree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transition spd="med">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Pareto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Fishbone the top category across all six cause categories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transition spd="med">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Pareto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Drive from symptom to root cause with 5 Whys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transition spd="med">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Pareto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Verify the root cause with the therefore test and the removal test before acting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transition spd="med">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Pareto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Design corrective, preventive and defect-repair actions and assign owners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transition spd="med">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Pareto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root cause versus symptom and action type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transition spd="med">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Pareto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Cumulative percentages reach 100% with the 80% cut at rank 5 on 81.55%; both Pareto runs rank acceptance criteria and browser compatibility first and second; every fishbone category carries two causes; the root cause is a system or process failure rather than an individual's shortcoming and passes the removal test; and the causal chain connects it back to the CPI decline found by earned value analysis.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transition spd="med">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SPC Control Chart and Statistical Process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Plot 20 daily measurements of median registration completion time and compute the centre line and control limits from the data itself, using the moving-range method rather than the sample standard deviation. Apply the out-of-control rules including the rule of seven and identify where the process shifts. Separate common from assignable cause, then assess capability - the process is in control yet fails specification.</a:t>
            </a:r>
          </a:p>
        </p:txBody>
      </p:sp>
      <p:sp>
        <p:nvSpPr>
          <p:cNvPr id="10" name="Rectangle 9"/>
          <p:cNvSpPr/>
          <p:nvPr/>
        </p:nvSpPr>
        <p:spPr>
          <a:xfrm>
            <a:off x="777240" y="3931920"/>
            <a:ext cx="10698480" cy="18950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34390"/>
          </a:xfrm>
          <a:prstGeom prst="rect">
            <a:avLst/>
          </a:prstGeom>
          <a:noFill/>
        </p:spPr>
        <p:txBody>
          <a:bodyPr wrap="square" anchor="t">
            <a:spAutoFit/>
          </a:bodyPr>
          <a:lstStyle/>
          <a:p>
            <a:pPr algn="l">
              <a:spcAft>
                <a:spcPts val="400"/>
              </a:spcAft>
            </a:pPr>
            <a:r>
              <a:rPr sz="1500" b="1">
                <a:solidFill>
                  <a:srgbClr val="161B26"/>
                </a:solidFill>
                <a:latin typeface="Arial"/>
              </a:rPr>
              <a:t>artifacts/22-control-chart.md with the individuals chart, centre line and control limits; artifacts/22-stability-verdict.md with the rule-by-rule out-of-control analysis and the named assignable cause; artifacts/22-capability-summary.md with the capability indices against the charter target.</a:t>
            </a:r>
          </a:p>
        </p:txBody>
      </p:sp>
      <p:sp>
        <p:nvSpPr>
          <p:cNvPr id="13" name="TextBox 12"/>
          <p:cNvSpPr txBox="1"/>
          <p:nvPr/>
        </p:nvSpPr>
        <p:spPr>
          <a:xfrm>
            <a:off x="1005840" y="529666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SPC / Control Chart, Statistics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transition spd="med">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SPC Control Chart and Statistical Process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Take the 20 daily measurements of median registration completion time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transition spd="med">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SPC Control Chart and Statistical Process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Compute the centre line and control limits from the moving ranges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transition spd="med">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SPC Control Chart and Statistical Process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Plot the individuals chart against the computed limits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transition spd="med">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SPC Control Chart and Statistical Process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Apply the out-of-control rules, including the rule of seven, run by run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transition spd="med">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SPC Control Chart and Statistical Process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Separate common cause from assignable cause and decide the response to each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transition spd="med">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SPC Control Chart and Statistical Process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Assess capability against the charter success criterion and distinguish control from specification limits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transition spd="med">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SPC Control Chart and Statistical Process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Write the quality verdict and the corrective actions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transition spd="med">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SPC Control Chart and Statistical Process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tampering, signals and capability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transition spd="med">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SPC Control Chart and Statistical Process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700" b="0">
                <a:solidFill>
                  <a:srgbClr val="161B26"/>
                </a:solidFill>
                <a:latin typeface="Arial"/>
              </a:rPr>
              <a:t>The centre line comes to 4.053 with MR-bar 0.3286, sigma 0.2913 and limits of 3.179 and 4.927, computed from the stable period not all 20 points; sigma is MR-bar divided by 1.128; the rule of seven is checked on days 1 to 15, longest run 2; days 16 to 20 are assignable cause with a dated explanation matching the shift; and the negative Cpk leads to re-centring rather than tightening.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transition spd="med">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Monitor and Control the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Process T9 - Evaluate project status; Business Environment T4 - Remove impediments and manage issues.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Process T9 - Evaluate project status; Process T6 - Plan and manage budget and resources.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Business Environment T4 - Remove impediments and manage issues; Process T7 - Plan and manage quality of products and deliverables; Business Environment T6 - Support continuous improvement.</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Process T7 - Plan and manage quality of products and deliverables; Process T9 - Evaluate project status.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transition spd="med">
    <p:fade/>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F59E0B"/>
                </a:solidFill>
                <a:latin typeface="Arial"/>
              </a:rPr>
              <a:t>TOPIC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Close the Project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Acceptance · transition · benefits realisation · lessons learned · exam strategy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transition spd="med">
    <p:fade/>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9E0B"/>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Close the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Closure requires formal stakeholder acceptance against documented criteria, not merely the end of the 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Transition readiness moves the deliverable to operations with the support, documentation and training that make it sustainable.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Benefits realisation is measured after go-live against the business case — the project ends, the benefits do not.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Lessons learned only count when they update an organisational process asset that the next project inherits.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Knowledge transfer protects the organisation from the loss of the team that built the thing.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Exam strategy: read the last sentence first, identify the development approach in play, and eliminate answers that bypass the process.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transition spd="med">
    <p:fade/>
  </p:transition>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Close the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23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Project Closure, Benefits Realisation and Lessons Learned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Capstone - Integrated Project Management Plan and Mock Exam</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transition spd="med">
    <p:fade/>
  </p:transition>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Project Closure, Benefits Realisation and Lessons Learned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Close the Contoso project against the four closure enablers. Define closure criteria first, run Control Quality against specification before seeking acceptance through Validate Scope, then validate operational readiness. Write the final report against all eight charter success criteria - including the one missed - and reconcile the final cost. Hand every benefit to a named owner with a post-closure review date.</a:t>
            </a:r>
          </a:p>
        </p:txBody>
      </p:sp>
      <p:sp>
        <p:nvSpPr>
          <p:cNvPr id="10" name="Rectangle 9"/>
          <p:cNvSpPr/>
          <p:nvPr/>
        </p:nvSpPr>
        <p:spPr>
          <a:xfrm>
            <a:off x="777240" y="3931920"/>
            <a:ext cx="10698480" cy="18950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34390"/>
          </a:xfrm>
          <a:prstGeom prst="rect">
            <a:avLst/>
          </a:prstGeom>
          <a:noFill/>
        </p:spPr>
        <p:txBody>
          <a:bodyPr wrap="square" anchor="t">
            <a:spAutoFit/>
          </a:bodyPr>
          <a:lstStyle/>
          <a:p>
            <a:pPr algn="l">
              <a:spcAft>
                <a:spcPts val="400"/>
              </a:spcAft>
            </a:pPr>
            <a:r>
              <a:rPr sz="1500" b="1">
                <a:solidFill>
                  <a:srgbClr val="161B26"/>
                </a:solidFill>
                <a:latin typeface="Arial"/>
              </a:rPr>
              <a:t>artifacts/23-closure-checklist.md separating procurement from administrative closure; artifacts/23-final-report.md with the eight criteria and cost reconciliation; artifacts/23-lessons-learned.md; artifacts/23-benefits-realisation.md handing B1 to B4 to named owners; artifacts/23-transition-plan.md.</a:t>
            </a:r>
          </a:p>
        </p:txBody>
      </p:sp>
      <p:sp>
        <p:nvSpPr>
          <p:cNvPr id="13" name="TextBox 12"/>
          <p:cNvSpPr txBox="1"/>
          <p:nvPr/>
        </p:nvSpPr>
        <p:spPr>
          <a:xfrm>
            <a:off x="1005840" y="529666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Closure checklist, Benefits realisation register, Lessons learned register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transition spd="med">
    <p:fade/>
  </p:transition>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Project Closure, Benefits Realisation and Lessons Learned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Define the closure criteria before closing anything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transition spd="med">
    <p:fade/>
  </p:transition>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Project Closure, Benefits Realisation and Lessons Learned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Verify scope with Control Quality before seeking acceptance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transition spd="med">
    <p:fade/>
  </p:transition>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Project Closure, Benefits Realisation and Lessons Learned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Obtain formal acceptance from the customer through Validate Scope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transition spd="med">
    <p:fade/>
  </p:transition>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Project Closure, Benefits Realisation and Lessons Learned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Validate readiness for transition to operations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transition spd="med">
    <p:fade/>
  </p:transition>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Project Closure, Benefits Realisation and Lessons Learned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Write the final report against all eight charter success criteria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transition spd="med">
    <p:fade/>
  </p:transition>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Project Closure, Benefits Realisation and Lessons Learned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Hand over the benefits to named owners with review dates beyond project end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transition spd="med">
    <p:fade/>
  </p:transition>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Project Closure, Benefits Realisation and Lessons Learned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Capture lessons learned that each update a named organisational process asset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transition spd="med">
    <p:fade/>
  </p:transition>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Project Closure, Benefits Realisation and Lessons Learned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Plan the knowledge transfer and release the team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transition spd="med">
    <p:fade/>
  </p:transition>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Project Closure, Benefits Realisation and Lessons Learned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Answer the exam-style scenarios on closure sequence, acceptance and benefits ownership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transition spd="med">
    <p:fade/>
  </p:transition>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Project Closure, Benefits Realisation and Lessons Learned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Control Quality verifies against specification first, Validate Scope obtains acceptance second; the checklist separates procurement from administrative closure; SC-2 is reported NOT MET with its consequence quantified as a SGD 42,529 annual benefit shortfall; the final cost reconciles to SGD 478,900 with contingency closing at zero exposure; and every benefit B1 to B4 has a named owner who is not the project manager.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p:transition spd="med">
    <p:fade/>
  </p:transition>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Capstone - Integrated Project Management Plan and Mock Exam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Part A assembles twenty-three labs of artifacts into one integrated project management plan: a component index mapping all 25 components to the lab that produced each, the three baselines and the PMB accounted separately, and a twenty-assertion consistency audit. Part B is a 30-question mock practice exam in ECO 2026 format under a 40-minute timer, scored by domain against the published weights.</a:t>
            </a:r>
          </a:p>
        </p:txBody>
      </p:sp>
      <p:sp>
        <p:nvSpPr>
          <p:cNvPr id="10" name="Rectangle 9"/>
          <p:cNvSpPr/>
          <p:nvPr/>
        </p:nvSpPr>
        <p:spPr>
          <a:xfrm>
            <a:off x="777240" y="3931920"/>
            <a:ext cx="10698480" cy="18455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784860"/>
          </a:xfrm>
          <a:prstGeom prst="rect">
            <a:avLst/>
          </a:prstGeom>
          <a:noFill/>
        </p:spPr>
        <p:txBody>
          <a:bodyPr wrap="square" anchor="t">
            <a:spAutoFit/>
          </a:bodyPr>
          <a:lstStyle/>
          <a:p>
            <a:pPr algn="l">
              <a:spcAft>
                <a:spcPts val="400"/>
              </a:spcAft>
            </a:pPr>
            <a:r>
              <a:rPr sz="1400" b="1">
                <a:solidFill>
                  <a:srgbClr val="161B26"/>
                </a:solidFill>
                <a:latin typeface="Arial"/>
              </a:rPr>
              <a:t>artifacts/24-project-management-plan.md with the component index and twenty-assertion audit; artifacts/24-mock-exam-answers.md with all 30 answers recorded before the key was read; artifacts/24-score-analysis.md; artifacts/24-exam-readiness-plan.md with a dated plan for every domain below 70%.</a:t>
            </a:r>
          </a:p>
        </p:txBody>
      </p:sp>
      <p:sp>
        <p:nvSpPr>
          <p:cNvPr id="13" name="TextBox 12"/>
          <p:cNvSpPr txBox="1"/>
          <p:nvPr/>
        </p:nvSpPr>
        <p:spPr>
          <a:xfrm>
            <a:off x="1005840" y="5247132"/>
            <a:ext cx="10241280" cy="36576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Project management plan index, Consistency audit, Mock practice exam, Score analysis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p:transition spd="med">
    <p:fade/>
  </p:transition>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Capstone - Integrated Project Management Plan and Mock Exam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Build the plan index mapping all 25 components to the lab and artifact that produced each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p:transition spd="med">
    <p:fade/>
  </p:transition>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Capstone - Integrated Project Management Plan and Mock Exam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Account for the three baselines and the performance measurement baseline separately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p:transition spd="med">
    <p:fade/>
  </p:transition>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Capstone - Integrated Project Management Plan and Mock Exam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Run the twenty-assertion consistency audit and record every discrepancy found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p:transition spd="med">
    <p:fade/>
  </p:transition>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Capstone - Integrated Project Management Plan and Mock Exam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Prepare the five-minute executive presentation outline with timings per slide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p:transition spd="med">
    <p:fade/>
  </p:transition>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Capstone - Integrated Project Management Plan and Mock Exam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Sit the 30-question mock practice exam in ECO 2026 format under a 40-minute timer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p:transition spd="med">
    <p:fade/>
  </p:transition>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Capstone - Integrated Project Management Plan and Mock Exam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Score the mock practice exam by domain against the 33/41/26 weights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p:transition spd="med">
    <p:fade/>
  </p:transition>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Capstone - Integrated Project Management Plan and Mock Exam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Separate confident correct answers from flagged guesses and identify the weakest domain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p:transition spd="med">
    <p:fade/>
  </p:transition>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Capstone - Integrated Project Management Plan and Mock Exam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Write the remediation plan naming specific labs, ECO tasks, a dated action and a re-test date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p:transition spd="med">
    <p:fade/>
  </p:transition>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Capstone - Integrated Project Management Plan and Mock Exam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9</a:t>
            </a:r>
          </a:p>
        </p:txBody>
      </p:sp>
      <p:sp>
        <p:nvSpPr>
          <p:cNvPr id="10" name="TextBox 9"/>
          <p:cNvSpPr txBox="1"/>
          <p:nvPr/>
        </p:nvSpPr>
        <p:spPr>
          <a:xfrm>
            <a:off x="2331720" y="2194560"/>
            <a:ext cx="9235440" cy="1463040"/>
          </a:xfrm>
          <a:prstGeom prst="rect">
            <a:avLst/>
          </a:prstGeom>
          <a:noFill/>
        </p:spPr>
        <p:txBody>
          <a:bodyPr wrap="square" anchor="ctr">
            <a:spAutoFit/>
          </a:bodyPr>
          <a:lstStyle/>
          <a:p>
            <a:pPr algn="l">
              <a:spcAft>
                <a:spcPts val="400"/>
              </a:spcAft>
            </a:pPr>
            <a:r>
              <a:rPr sz="2300" b="0">
                <a:solidFill>
                  <a:srgbClr val="161B26"/>
                </a:solidFill>
                <a:latin typeface="Arial"/>
              </a:rPr>
              <a:t>Complete the exam-day readiness checklist covering eligibility, pacing and answer selection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p:transition spd="med">
    <p:fade/>
  </p:transition>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Capstone - Integrated Project Management Plan and Mock Exam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plan index accounts for the three baselines plus the PMB, and the learner explains why management reserve requires a baseline change while contingency does not; the audit PV sum comes to SGD 480,000 with at least one genuine discrepancy recorded; the mock exam was taken in 40 minutes without looking at the key; and per-domain scores are compared against 33%, 41% and 26%.</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p:transition spd="med">
    <p:fade/>
  </p:transition>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Close the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Process T10 - Manage project closure and transitions; Business Environment T6 - Support organizational change and continuous improvement; People T7 - Help ensure knowledge transfer.</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All domains - People, Process and Business Environment across the full ECO 2026 task list.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p:transition spd="med">
    <p:fade/>
  </p:transition>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285</a:t>
            </a:r>
          </a:p>
        </p:txBody>
      </p:sp>
    </p:spTree>
  </p:cSld>
  <p:clrMapOvr>
    <a:masterClrMapping/>
  </p:clrMapOvr>
  <p:transition spd="med">
    <p:fade/>
  </p:transition>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Scope &amp; Authorise</a:t>
            </a:r>
          </a:p>
          <a:p>
            <a:pPr algn="l">
              <a:spcAft>
                <a:spcPts val="300"/>
              </a:spcAft>
            </a:pPr>
            <a:r>
              <a:rPr sz="1300" b="0">
                <a:solidFill>
                  <a:srgbClr val="5B6372"/>
                </a:solidFill>
                <a:latin typeface="Arial"/>
              </a:rPr>
              <a:t>Scope project requirements and build a business case, charter and traceable scope baseline that authorise delivery.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Plan &amp; Baseline</a:t>
            </a:r>
          </a:p>
          <a:p>
            <a:pPr algn="l">
              <a:spcAft>
                <a:spcPts val="300"/>
              </a:spcAft>
            </a:pPr>
            <a:r>
              <a:rPr sz="1300" b="0">
                <a:solidFill>
                  <a:srgbClr val="5B6372"/>
                </a:solidFill>
                <a:latin typeface="Arial"/>
              </a:rPr>
              <a:t>Develop an integrated project plan with realistic schedule, cost and resource baselines using PERT, critical path and reserve analysis.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Lead the Team</a:t>
            </a:r>
          </a:p>
          <a:p>
            <a:pPr algn="l">
              <a:spcAft>
                <a:spcPts val="300"/>
              </a:spcAft>
            </a:pPr>
            <a:r>
              <a:rPr sz="1300" b="0">
                <a:solidFill>
                  <a:srgbClr val="5B6372"/>
                </a:solidFill>
                <a:latin typeface="Arial"/>
              </a:rPr>
              <a:t>Lead a project team through its development stages, applying leadership style, motivation theory and structured conflict resolution.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Risk &amp; Stakeholders</a:t>
            </a:r>
          </a:p>
          <a:p>
            <a:pPr algn="l">
              <a:spcAft>
                <a:spcPts val="300"/>
              </a:spcAft>
            </a:pPr>
            <a:r>
              <a:rPr sz="1300" b="0">
                <a:solidFill>
                  <a:srgbClr val="5B6372"/>
                </a:solidFill>
                <a:latin typeface="Arial"/>
              </a:rPr>
              <a:t>Analyse project risk quantitatively and engage stakeholders through a planned communication and escalation cadence.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Control &amp; Close</a:t>
            </a:r>
          </a:p>
          <a:p>
            <a:pPr algn="l">
              <a:spcAft>
                <a:spcPts val="300"/>
              </a:spcAft>
            </a:pPr>
            <a:r>
              <a:rPr sz="1300" b="0">
                <a:solidFill>
                  <a:srgbClr val="5B6372"/>
                </a:solidFill>
                <a:latin typeface="Arial"/>
              </a:rPr>
              <a:t>Control delivery against baselines with earned value, flow metrics and statistical process control, then close the project and realise benefits.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Exam Readiness</a:t>
            </a:r>
          </a:p>
          <a:p>
            <a:pPr algn="l">
              <a:spcAft>
                <a:spcPts val="300"/>
              </a:spcAft>
            </a:pPr>
            <a:r>
              <a:rPr sz="1300" b="0">
                <a:solidFill>
                  <a:srgbClr val="5B6372"/>
                </a:solidFill>
                <a:latin typeface="Arial"/>
              </a:rPr>
              <a:t>Apply the PMI PMP Examination Content Outline (ECO 2026) across all three domains and sit a full-format mock exam with domain score analysis.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p:transition spd="med">
    <p:fade/>
  </p:transition>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p:transition spd="med">
    <p:fade/>
  </p:transition>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PMP-Exam-Prep  ·  C523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