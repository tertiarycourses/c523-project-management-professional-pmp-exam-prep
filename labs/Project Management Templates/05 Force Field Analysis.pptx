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B3FF"/>
    <a:srgbClr val="D1D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1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9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8874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7938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6096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3711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16/04/2022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1758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16/04/2022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6212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16/04/2022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9273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0219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1394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7218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8977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6239B-682E-4DE7-A1B0-FEA1622DE54E}" type="datetimeFigureOut">
              <a:rPr lang="en-AU" smtClean="0"/>
              <a:t>16/04/2022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668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514350" y="458188"/>
            <a:ext cx="110109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9989" y="80998"/>
            <a:ext cx="456945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1" dirty="0"/>
              <a:t>Change or Decision: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94581" y="79651"/>
            <a:ext cx="277743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1801" i="1" dirty="0"/>
              <a:t>Force Field Analysis</a:t>
            </a:r>
          </a:p>
        </p:txBody>
      </p:sp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AD2EF563-9D62-4EEA-85B7-1918F1979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834761"/>
              </p:ext>
            </p:extLst>
          </p:nvPr>
        </p:nvGraphicFramePr>
        <p:xfrm>
          <a:off x="619988" y="603604"/>
          <a:ext cx="11229109" cy="61437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35759">
                  <a:extLst>
                    <a:ext uri="{9D8B030D-6E8A-4147-A177-3AD203B41FA5}">
                      <a16:colId xmlns:a16="http://schemas.microsoft.com/office/drawing/2014/main" val="1090423275"/>
                    </a:ext>
                  </a:extLst>
                </a:gridCol>
                <a:gridCol w="935759">
                  <a:extLst>
                    <a:ext uri="{9D8B030D-6E8A-4147-A177-3AD203B41FA5}">
                      <a16:colId xmlns:a16="http://schemas.microsoft.com/office/drawing/2014/main" val="1069788789"/>
                    </a:ext>
                  </a:extLst>
                </a:gridCol>
                <a:gridCol w="935759">
                  <a:extLst>
                    <a:ext uri="{9D8B030D-6E8A-4147-A177-3AD203B41FA5}">
                      <a16:colId xmlns:a16="http://schemas.microsoft.com/office/drawing/2014/main" val="985078011"/>
                    </a:ext>
                  </a:extLst>
                </a:gridCol>
                <a:gridCol w="935759">
                  <a:extLst>
                    <a:ext uri="{9D8B030D-6E8A-4147-A177-3AD203B41FA5}">
                      <a16:colId xmlns:a16="http://schemas.microsoft.com/office/drawing/2014/main" val="1140613460"/>
                    </a:ext>
                  </a:extLst>
                </a:gridCol>
                <a:gridCol w="935759">
                  <a:extLst>
                    <a:ext uri="{9D8B030D-6E8A-4147-A177-3AD203B41FA5}">
                      <a16:colId xmlns:a16="http://schemas.microsoft.com/office/drawing/2014/main" val="466200758"/>
                    </a:ext>
                  </a:extLst>
                </a:gridCol>
                <a:gridCol w="1871519">
                  <a:extLst>
                    <a:ext uri="{9D8B030D-6E8A-4147-A177-3AD203B41FA5}">
                      <a16:colId xmlns:a16="http://schemas.microsoft.com/office/drawing/2014/main" val="180092400"/>
                    </a:ext>
                  </a:extLst>
                </a:gridCol>
                <a:gridCol w="935759">
                  <a:extLst>
                    <a:ext uri="{9D8B030D-6E8A-4147-A177-3AD203B41FA5}">
                      <a16:colId xmlns:a16="http://schemas.microsoft.com/office/drawing/2014/main" val="1251349455"/>
                    </a:ext>
                  </a:extLst>
                </a:gridCol>
                <a:gridCol w="935759">
                  <a:extLst>
                    <a:ext uri="{9D8B030D-6E8A-4147-A177-3AD203B41FA5}">
                      <a16:colId xmlns:a16="http://schemas.microsoft.com/office/drawing/2014/main" val="3513062006"/>
                    </a:ext>
                  </a:extLst>
                </a:gridCol>
                <a:gridCol w="935759">
                  <a:extLst>
                    <a:ext uri="{9D8B030D-6E8A-4147-A177-3AD203B41FA5}">
                      <a16:colId xmlns:a16="http://schemas.microsoft.com/office/drawing/2014/main" val="1392974267"/>
                    </a:ext>
                  </a:extLst>
                </a:gridCol>
                <a:gridCol w="935759">
                  <a:extLst>
                    <a:ext uri="{9D8B030D-6E8A-4147-A177-3AD203B41FA5}">
                      <a16:colId xmlns:a16="http://schemas.microsoft.com/office/drawing/2014/main" val="4245756090"/>
                    </a:ext>
                  </a:extLst>
                </a:gridCol>
                <a:gridCol w="935759">
                  <a:extLst>
                    <a:ext uri="{9D8B030D-6E8A-4147-A177-3AD203B41FA5}">
                      <a16:colId xmlns:a16="http://schemas.microsoft.com/office/drawing/2014/main" val="120221553"/>
                    </a:ext>
                  </a:extLst>
                </a:gridCol>
              </a:tblGrid>
              <a:tr h="382029">
                <a:tc gridSpan="5"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Forces </a:t>
                      </a:r>
                      <a:r>
                        <a:rPr lang="en-AU" i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for</a:t>
                      </a:r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change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Forces </a:t>
                      </a:r>
                      <a:r>
                        <a:rPr lang="en-AU" i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against</a:t>
                      </a:r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change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7671265"/>
                  </a:ext>
                </a:extLst>
              </a:tr>
              <a:tr h="382029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4357778"/>
                  </a:ext>
                </a:extLst>
              </a:tr>
              <a:tr h="499575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AU" dirty="0"/>
                        <a:t>Change or Decision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149908"/>
                  </a:ext>
                </a:extLst>
              </a:tr>
              <a:tr h="383987">
                <a:tc gridSpan="5"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bg1"/>
                          </a:solidFill>
                        </a:rPr>
                        <a:t>Total: 15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bg1"/>
                          </a:solidFill>
                        </a:rPr>
                        <a:t>Total: 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443043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5CB22E1B-E2BC-467C-8A68-EE368D86C610}"/>
              </a:ext>
            </a:extLst>
          </p:cNvPr>
          <p:cNvSpPr/>
          <p:nvPr/>
        </p:nvSpPr>
        <p:spPr>
          <a:xfrm>
            <a:off x="3419475" y="1428750"/>
            <a:ext cx="1769968" cy="82867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Item 1</a:t>
            </a:r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0CA6AA52-0D1F-4A59-B2B5-2D375607E0BA}"/>
              </a:ext>
            </a:extLst>
          </p:cNvPr>
          <p:cNvSpPr/>
          <p:nvPr/>
        </p:nvSpPr>
        <p:spPr>
          <a:xfrm>
            <a:off x="4371975" y="2257422"/>
            <a:ext cx="817468" cy="82867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Item 2</a:t>
            </a: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83D739E8-8CE6-4D41-BE39-DC9C38E81A73}"/>
              </a:ext>
            </a:extLst>
          </p:cNvPr>
          <p:cNvSpPr/>
          <p:nvPr/>
        </p:nvSpPr>
        <p:spPr>
          <a:xfrm>
            <a:off x="3427031" y="3086094"/>
            <a:ext cx="1762412" cy="82867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Item 3</a:t>
            </a: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7C540A0D-84F6-4A5C-94AF-31A7CA363EFF}"/>
              </a:ext>
            </a:extLst>
          </p:cNvPr>
          <p:cNvSpPr/>
          <p:nvPr/>
        </p:nvSpPr>
        <p:spPr>
          <a:xfrm>
            <a:off x="1552575" y="4006283"/>
            <a:ext cx="3636868" cy="82867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Item 4</a:t>
            </a:r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35FC395C-37D0-47AF-A825-F35B5076280F}"/>
              </a:ext>
            </a:extLst>
          </p:cNvPr>
          <p:cNvSpPr/>
          <p:nvPr/>
        </p:nvSpPr>
        <p:spPr>
          <a:xfrm>
            <a:off x="619988" y="4926472"/>
            <a:ext cx="4569455" cy="82867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Item 5</a:t>
            </a:r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196FAB45-6D32-4A08-B091-D98095BC56C6}"/>
              </a:ext>
            </a:extLst>
          </p:cNvPr>
          <p:cNvSpPr/>
          <p:nvPr/>
        </p:nvSpPr>
        <p:spPr>
          <a:xfrm flipH="1">
            <a:off x="7310460" y="1425063"/>
            <a:ext cx="1755928" cy="828672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Item 1</a:t>
            </a: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5F4268E7-E984-4D54-88D4-78B32E580828}"/>
              </a:ext>
            </a:extLst>
          </p:cNvPr>
          <p:cNvSpPr/>
          <p:nvPr/>
        </p:nvSpPr>
        <p:spPr>
          <a:xfrm flipH="1">
            <a:off x="7310460" y="2253735"/>
            <a:ext cx="810984" cy="828672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Item 2</a:t>
            </a:r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61644652-82FD-4A89-AB50-822F4E74300D}"/>
              </a:ext>
            </a:extLst>
          </p:cNvPr>
          <p:cNvSpPr/>
          <p:nvPr/>
        </p:nvSpPr>
        <p:spPr>
          <a:xfrm flipH="1">
            <a:off x="7310460" y="3082407"/>
            <a:ext cx="2663074" cy="828672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Item 3</a:t>
            </a: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EDA1DD2A-33E8-4BA9-929B-78F95B5FBE7D}"/>
              </a:ext>
            </a:extLst>
          </p:cNvPr>
          <p:cNvSpPr/>
          <p:nvPr/>
        </p:nvSpPr>
        <p:spPr>
          <a:xfrm flipH="1">
            <a:off x="7310462" y="4002596"/>
            <a:ext cx="3608020" cy="828672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Item 4</a:t>
            </a:r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A8A97145-343E-4E56-B347-369FF44D2B8A}"/>
              </a:ext>
            </a:extLst>
          </p:cNvPr>
          <p:cNvSpPr/>
          <p:nvPr/>
        </p:nvSpPr>
        <p:spPr>
          <a:xfrm flipH="1">
            <a:off x="7310461" y="4922785"/>
            <a:ext cx="4533209" cy="828672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Item 5</a:t>
            </a:r>
          </a:p>
        </p:txBody>
      </p:sp>
    </p:spTree>
    <p:extLst>
      <p:ext uri="{BB962C8B-B14F-4D97-AF65-F5344CB8AC3E}">
        <p14:creationId xmlns:p14="http://schemas.microsoft.com/office/powerpoint/2010/main" val="2828186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514350" y="458188"/>
            <a:ext cx="110109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9989" y="80998"/>
            <a:ext cx="456945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1" dirty="0"/>
              <a:t>Change or Decision: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94581" y="79651"/>
            <a:ext cx="277743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1801" i="1" dirty="0"/>
              <a:t>Force Field Analysis</a:t>
            </a:r>
          </a:p>
        </p:txBody>
      </p:sp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AD2EF563-9D62-4EEA-85B7-1918F1979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002745"/>
              </p:ext>
            </p:extLst>
          </p:nvPr>
        </p:nvGraphicFramePr>
        <p:xfrm>
          <a:off x="619989" y="609806"/>
          <a:ext cx="11229109" cy="51528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35759">
                  <a:extLst>
                    <a:ext uri="{9D8B030D-6E8A-4147-A177-3AD203B41FA5}">
                      <a16:colId xmlns:a16="http://schemas.microsoft.com/office/drawing/2014/main" val="1090423275"/>
                    </a:ext>
                  </a:extLst>
                </a:gridCol>
                <a:gridCol w="935759">
                  <a:extLst>
                    <a:ext uri="{9D8B030D-6E8A-4147-A177-3AD203B41FA5}">
                      <a16:colId xmlns:a16="http://schemas.microsoft.com/office/drawing/2014/main" val="1069788789"/>
                    </a:ext>
                  </a:extLst>
                </a:gridCol>
                <a:gridCol w="935759">
                  <a:extLst>
                    <a:ext uri="{9D8B030D-6E8A-4147-A177-3AD203B41FA5}">
                      <a16:colId xmlns:a16="http://schemas.microsoft.com/office/drawing/2014/main" val="985078011"/>
                    </a:ext>
                  </a:extLst>
                </a:gridCol>
                <a:gridCol w="935759">
                  <a:extLst>
                    <a:ext uri="{9D8B030D-6E8A-4147-A177-3AD203B41FA5}">
                      <a16:colId xmlns:a16="http://schemas.microsoft.com/office/drawing/2014/main" val="1140613460"/>
                    </a:ext>
                  </a:extLst>
                </a:gridCol>
                <a:gridCol w="935759">
                  <a:extLst>
                    <a:ext uri="{9D8B030D-6E8A-4147-A177-3AD203B41FA5}">
                      <a16:colId xmlns:a16="http://schemas.microsoft.com/office/drawing/2014/main" val="466200758"/>
                    </a:ext>
                  </a:extLst>
                </a:gridCol>
                <a:gridCol w="1871519">
                  <a:extLst>
                    <a:ext uri="{9D8B030D-6E8A-4147-A177-3AD203B41FA5}">
                      <a16:colId xmlns:a16="http://schemas.microsoft.com/office/drawing/2014/main" val="180092400"/>
                    </a:ext>
                  </a:extLst>
                </a:gridCol>
                <a:gridCol w="935759">
                  <a:extLst>
                    <a:ext uri="{9D8B030D-6E8A-4147-A177-3AD203B41FA5}">
                      <a16:colId xmlns:a16="http://schemas.microsoft.com/office/drawing/2014/main" val="1251349455"/>
                    </a:ext>
                  </a:extLst>
                </a:gridCol>
                <a:gridCol w="935759">
                  <a:extLst>
                    <a:ext uri="{9D8B030D-6E8A-4147-A177-3AD203B41FA5}">
                      <a16:colId xmlns:a16="http://schemas.microsoft.com/office/drawing/2014/main" val="3513062006"/>
                    </a:ext>
                  </a:extLst>
                </a:gridCol>
                <a:gridCol w="935759">
                  <a:extLst>
                    <a:ext uri="{9D8B030D-6E8A-4147-A177-3AD203B41FA5}">
                      <a16:colId xmlns:a16="http://schemas.microsoft.com/office/drawing/2014/main" val="1392974267"/>
                    </a:ext>
                  </a:extLst>
                </a:gridCol>
                <a:gridCol w="935759">
                  <a:extLst>
                    <a:ext uri="{9D8B030D-6E8A-4147-A177-3AD203B41FA5}">
                      <a16:colId xmlns:a16="http://schemas.microsoft.com/office/drawing/2014/main" val="4245756090"/>
                    </a:ext>
                  </a:extLst>
                </a:gridCol>
                <a:gridCol w="935759">
                  <a:extLst>
                    <a:ext uri="{9D8B030D-6E8A-4147-A177-3AD203B41FA5}">
                      <a16:colId xmlns:a16="http://schemas.microsoft.com/office/drawing/2014/main" val="120221553"/>
                    </a:ext>
                  </a:extLst>
                </a:gridCol>
              </a:tblGrid>
              <a:tr h="310133">
                <a:tc gridSpan="5"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Forces </a:t>
                      </a:r>
                      <a:r>
                        <a:rPr lang="en-AU" i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for</a:t>
                      </a:r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change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Forces </a:t>
                      </a:r>
                      <a:r>
                        <a:rPr lang="en-AU" i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against</a:t>
                      </a:r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change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7671265"/>
                  </a:ext>
                </a:extLst>
              </a:tr>
              <a:tr h="310133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4357778"/>
                  </a:ext>
                </a:extLst>
              </a:tr>
              <a:tr h="405558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AU" dirty="0"/>
                        <a:t>Upgrade factory with new machinery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149908"/>
                  </a:ext>
                </a:extLst>
              </a:tr>
              <a:tr h="311723">
                <a:tc gridSpan="5"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bg1"/>
                          </a:solidFill>
                        </a:rPr>
                        <a:t>Total: 10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bg1"/>
                          </a:solidFill>
                        </a:rPr>
                        <a:t>Total: 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443043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5CB22E1B-E2BC-467C-8A68-EE368D86C610}"/>
              </a:ext>
            </a:extLst>
          </p:cNvPr>
          <p:cNvSpPr/>
          <p:nvPr/>
        </p:nvSpPr>
        <p:spPr>
          <a:xfrm>
            <a:off x="1538535" y="1381123"/>
            <a:ext cx="3636868" cy="799493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Customers want new products</a:t>
            </a:r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0CA6AA52-0D1F-4A59-B2B5-2D375607E0BA}"/>
              </a:ext>
            </a:extLst>
          </p:cNvPr>
          <p:cNvSpPr/>
          <p:nvPr/>
        </p:nvSpPr>
        <p:spPr>
          <a:xfrm>
            <a:off x="3419475" y="2280536"/>
            <a:ext cx="1769968" cy="80219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Improve speed of production</a:t>
            </a: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83D739E8-8CE6-4D41-BE39-DC9C38E81A73}"/>
              </a:ext>
            </a:extLst>
          </p:cNvPr>
          <p:cNvSpPr/>
          <p:nvPr/>
        </p:nvSpPr>
        <p:spPr>
          <a:xfrm>
            <a:off x="2505074" y="3158278"/>
            <a:ext cx="2684368" cy="80219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Raise volumes of output</a:t>
            </a: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7C540A0D-84F6-4A5C-94AF-31A7CA363EFF}"/>
              </a:ext>
            </a:extLst>
          </p:cNvPr>
          <p:cNvSpPr/>
          <p:nvPr/>
        </p:nvSpPr>
        <p:spPr>
          <a:xfrm>
            <a:off x="4371480" y="4029172"/>
            <a:ext cx="832003" cy="839125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Maintenance costs increasing</a:t>
            </a:r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196FAB45-6D32-4A08-B091-D98095BC56C6}"/>
              </a:ext>
            </a:extLst>
          </p:cNvPr>
          <p:cNvSpPr/>
          <p:nvPr/>
        </p:nvSpPr>
        <p:spPr>
          <a:xfrm flipH="1">
            <a:off x="7272360" y="1399901"/>
            <a:ext cx="2663074" cy="799493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Loss of staff overtime</a:t>
            </a: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5F4268E7-E984-4D54-88D4-78B32E580828}"/>
              </a:ext>
            </a:extLst>
          </p:cNvPr>
          <p:cNvSpPr/>
          <p:nvPr/>
        </p:nvSpPr>
        <p:spPr>
          <a:xfrm flipH="1">
            <a:off x="7272360" y="2272711"/>
            <a:ext cx="3608020" cy="799493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Staff learning new technology</a:t>
            </a:r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61644652-82FD-4A89-AB50-822F4E74300D}"/>
              </a:ext>
            </a:extLst>
          </p:cNvPr>
          <p:cNvSpPr/>
          <p:nvPr/>
        </p:nvSpPr>
        <p:spPr>
          <a:xfrm flipH="1">
            <a:off x="7272360" y="3152552"/>
            <a:ext cx="1766865" cy="799493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Impact on environment</a:t>
            </a: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EDA1DD2A-33E8-4BA9-929B-78F95B5FBE7D}"/>
              </a:ext>
            </a:extLst>
          </p:cNvPr>
          <p:cNvSpPr/>
          <p:nvPr/>
        </p:nvSpPr>
        <p:spPr>
          <a:xfrm flipH="1">
            <a:off x="7272360" y="4048987"/>
            <a:ext cx="2663074" cy="799493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Cost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987270B-56CC-4060-AB4B-F271E6104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397886"/>
              </p:ext>
            </p:extLst>
          </p:nvPr>
        </p:nvGraphicFramePr>
        <p:xfrm>
          <a:off x="9821278" y="6030120"/>
          <a:ext cx="2027819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961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36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EXAMPLE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ounded Rectangle 22">
            <a:extLst>
              <a:ext uri="{FF2B5EF4-FFF2-40B4-BE49-F238E27FC236}">
                <a16:creationId xmlns:a16="http://schemas.microsoft.com/office/drawing/2014/main" id="{77B7AD3D-06F8-46AE-8840-747646420C67}"/>
              </a:ext>
            </a:extLst>
          </p:cNvPr>
          <p:cNvSpPr/>
          <p:nvPr/>
        </p:nvSpPr>
        <p:spPr>
          <a:xfrm>
            <a:off x="619988" y="5885340"/>
            <a:ext cx="4733061" cy="85498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tIns="7200" rIns="7200" bIns="7200" rtlCol="0" anchor="t"/>
          <a:lstStyle/>
          <a:p>
            <a:pPr algn="ctr"/>
            <a:r>
              <a:rPr lang="en-AU" sz="1050" b="1" dirty="0">
                <a:solidFill>
                  <a:schemeClr val="tx1"/>
                </a:solidFill>
              </a:rPr>
              <a:t>Guidelines: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50" dirty="0">
                <a:solidFill>
                  <a:schemeClr val="tx1"/>
                </a:solidFill>
              </a:rPr>
              <a:t>You can delete this box before using.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50" dirty="0">
                <a:solidFill>
                  <a:schemeClr val="tx1"/>
                </a:solidFill>
              </a:rPr>
              <a:t>To increase the canvas size go to: Design &gt; Slide size &gt; Custom Size.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50" dirty="0">
                <a:solidFill>
                  <a:schemeClr val="tx1"/>
                </a:solidFill>
              </a:rPr>
              <a:t>Increase the table size by dragging the table corner, then adjust the Table rows at the top and bottom to keep the ratios the same.</a:t>
            </a:r>
          </a:p>
        </p:txBody>
      </p:sp>
    </p:spTree>
    <p:extLst>
      <p:ext uri="{BB962C8B-B14F-4D97-AF65-F5344CB8AC3E}">
        <p14:creationId xmlns:p14="http://schemas.microsoft.com/office/powerpoint/2010/main" val="3191795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336</TotalTime>
  <Words>167</Words>
  <Application>Microsoft Office PowerPoint</Application>
  <PresentationFormat>Widescreen</PresentationFormat>
  <Paragraphs>57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McLachlan</dc:creator>
  <cp:lastModifiedBy>David McLachlan</cp:lastModifiedBy>
  <cp:revision>41</cp:revision>
  <dcterms:created xsi:type="dcterms:W3CDTF">2020-11-13T02:43:28Z</dcterms:created>
  <dcterms:modified xsi:type="dcterms:W3CDTF">2022-04-15T23:16:32Z</dcterms:modified>
</cp:coreProperties>
</file>