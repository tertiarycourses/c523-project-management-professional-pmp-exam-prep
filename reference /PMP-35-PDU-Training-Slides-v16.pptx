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 id="781" r:id="rId532"/>
    <p:sldId id="782" r:id="rId533"/>
    <p:sldId id="783" r:id="rId534"/>
    <p:sldId id="784" r:id="rId535"/>
    <p:sldId id="785" r:id="rId536"/>
    <p:sldId id="786" r:id="rId537"/>
    <p:sldId id="787" r:id="rId538"/>
    <p:sldId id="788" r:id="rId539"/>
    <p:sldId id="789" r:id="rId540"/>
    <p:sldId id="790" r:id="rId541"/>
    <p:sldId id="791" r:id="rId542"/>
    <p:sldId id="792" r:id="rId543"/>
    <p:sldId id="793" r:id="rId544"/>
    <p:sldId id="794" r:id="rId545"/>
    <p:sldId id="795" r:id="rId546"/>
    <p:sldId id="796" r:id="rId547"/>
    <p:sldId id="797" r:id="rId548"/>
    <p:sldId id="798" r:id="rId549"/>
    <p:sldId id="799" r:id="rId550"/>
    <p:sldId id="800" r:id="rId5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 Id="rId532" Type="http://schemas.openxmlformats.org/officeDocument/2006/relationships/slide" Target="slides/slide526.xml"/><Relationship Id="rId533" Type="http://schemas.openxmlformats.org/officeDocument/2006/relationships/slide" Target="slides/slide527.xml"/><Relationship Id="rId534" Type="http://schemas.openxmlformats.org/officeDocument/2006/relationships/slide" Target="slides/slide528.xml"/><Relationship Id="rId535" Type="http://schemas.openxmlformats.org/officeDocument/2006/relationships/slide" Target="slides/slide529.xml"/><Relationship Id="rId536" Type="http://schemas.openxmlformats.org/officeDocument/2006/relationships/slide" Target="slides/slide530.xml"/><Relationship Id="rId537" Type="http://schemas.openxmlformats.org/officeDocument/2006/relationships/slide" Target="slides/slide531.xml"/><Relationship Id="rId538" Type="http://schemas.openxmlformats.org/officeDocument/2006/relationships/slide" Target="slides/slide532.xml"/><Relationship Id="rId539" Type="http://schemas.openxmlformats.org/officeDocument/2006/relationships/slide" Target="slides/slide533.xml"/><Relationship Id="rId540" Type="http://schemas.openxmlformats.org/officeDocument/2006/relationships/slide" Target="slides/slide534.xml"/><Relationship Id="rId541" Type="http://schemas.openxmlformats.org/officeDocument/2006/relationships/slide" Target="slides/slide535.xml"/><Relationship Id="rId542" Type="http://schemas.openxmlformats.org/officeDocument/2006/relationships/slide" Target="slides/slide536.xml"/><Relationship Id="rId543" Type="http://schemas.openxmlformats.org/officeDocument/2006/relationships/slide" Target="slides/slide537.xml"/><Relationship Id="rId544" Type="http://schemas.openxmlformats.org/officeDocument/2006/relationships/slide" Target="slides/slide538.xml"/><Relationship Id="rId545" Type="http://schemas.openxmlformats.org/officeDocument/2006/relationships/slide" Target="slides/slide539.xml"/><Relationship Id="rId546" Type="http://schemas.openxmlformats.org/officeDocument/2006/relationships/slide" Target="slides/slide540.xml"/><Relationship Id="rId547" Type="http://schemas.openxmlformats.org/officeDocument/2006/relationships/slide" Target="slides/slide541.xml"/><Relationship Id="rId548" Type="http://schemas.openxmlformats.org/officeDocument/2006/relationships/slide" Target="slides/slide542.xml"/><Relationship Id="rId549" Type="http://schemas.openxmlformats.org/officeDocument/2006/relationships/slide" Target="slides/slide543.xml"/><Relationship Id="rId550" Type="http://schemas.openxmlformats.org/officeDocument/2006/relationships/slide" Target="slides/slide544.xml"/><Relationship Id="rId551" Type="http://schemas.openxmlformats.org/officeDocument/2006/relationships/slide" Target="slides/slide54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Sheet25.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Weighting</c:v>
                </c:pt>
              </c:strCache>
            </c:strRef>
          </c:tx>
          <c:dPt>
            <c:idx val="0"/>
            <c:spPr>
              <a:solidFill>
                <a:srgbClr val="1F6FEB"/>
              </a:solidFill>
            </c:spPr>
          </c:dPt>
          <c:dPt>
            <c:idx val="1"/>
            <c:spPr>
              <a:solidFill>
                <a:srgbClr val="10B981"/>
              </a:solidFill>
            </c:spPr>
          </c:dPt>
          <c:dPt>
            <c:idx val="2"/>
            <c:spPr>
              <a:solidFill>
                <a:srgbClr val="7C3AED"/>
              </a:solidFill>
            </c:spPr>
          </c:dPt>
          <c:cat>
            <c:strRef>
              <c:f>Sheet1!$A$2:$A$4</c:f>
              <c:strCache>
                <c:ptCount val="3"/>
                <c:pt idx="0">
                  <c:v>People 33%</c:v>
                </c:pt>
                <c:pt idx="1">
                  <c:v>Process 41%</c:v>
                </c:pt>
                <c:pt idx="2">
                  <c:v>Business Environment 26%</c:v>
                </c:pt>
              </c:strCache>
            </c:strRef>
          </c:cat>
          <c:val>
            <c:numRef>
              <c:f>Sheet1!$B$2:$B$4</c:f>
              <c:numCache>
                <c:formatCode>General</c:formatCode>
                <c:ptCount val="3"/>
                <c:pt idx="0">
                  <c:v>33</c:v>
                </c:pt>
                <c:pt idx="1">
                  <c:v>41</c:v>
                </c:pt>
                <c:pt idx="2">
                  <c:v>26</c:v>
                </c:pt>
              </c:numCache>
            </c:numRef>
          </c:val>
        </c:ser>
      </c:pieChart>
    </c:plotArea>
    <c:legend>
      <c:legendPos/>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Relative influence on outcome</c:v>
                </c:pt>
              </c:strCache>
            </c:strRef>
          </c:tx>
          <c:spPr>
            <a:solidFill>
              <a:srgbClr val="1F6FEB"/>
            </a:solidFill>
          </c:spPr>
          <c:cat>
            <c:strRef>
              <c:f>Sheet1!$A$2:$A$7</c:f>
              <c:strCache>
                <c:ptCount val="6"/>
                <c:pt idx="0">
                  <c:v>Understanding of the core problem</c:v>
                </c:pt>
                <c:pt idx="1">
                  <c:v>Collaboration &amp; communication</c:v>
                </c:pt>
                <c:pt idx="2">
                  <c:v>PM effectiveness</c:v>
                </c:pt>
                <c:pt idx="3">
                  <c:v>Team member skill levels</c:v>
                </c:pt>
                <c:pt idx="4">
                  <c:v>Funding &amp; resource availability</c:v>
                </c:pt>
                <c:pt idx="5">
                  <c:v>Organisational project maturity</c:v>
                </c:pt>
              </c:strCache>
            </c:strRef>
          </c:cat>
          <c:val>
            <c:numRef>
              <c:f>Sheet1!$B$2:$B$7</c:f>
              <c:numCache>
                <c:formatCode>General</c:formatCode>
                <c:ptCount val="6"/>
                <c:pt idx="0">
                  <c:v>95</c:v>
                </c:pt>
                <c:pt idx="1">
                  <c:v>88</c:v>
                </c:pt>
                <c:pt idx="2">
                  <c:v>82</c:v>
                </c:pt>
                <c:pt idx="3">
                  <c:v>76</c:v>
                </c:pt>
                <c:pt idx="4">
                  <c:v>70</c:v>
                </c:pt>
                <c:pt idx="5">
                  <c:v>64</c:v>
                </c:pt>
              </c:numCache>
            </c:numRef>
          </c:val>
        </c:ser>
        <c:axId val="-2068027336"/>
        <c:axId val="-2113994440"/>
      </c:barChart>
      <c:catAx>
        <c:axId val="-2068027336"/>
        <c:scaling>
          <c:orientation val="minMax"/>
        </c:scaling>
        <c:delete val="0"/>
        <c:axPos val="l"/>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b"/>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Stakeholder influence &amp; risk</c:v>
                </c:pt>
              </c:strCache>
            </c:strRef>
          </c:tx>
          <c:spPr>
            <a:ln w="31750">
              <a:solidFill>
                <a:srgbClr val="1F6FEB"/>
              </a:solidFill>
            </a:ln>
          </c:spPr>
          <c:cat>
            <c:strRef>
              <c:f>Sheet1!$A$2:$A$7</c:f>
              <c:strCache>
                <c:ptCount val="6"/>
                <c:pt idx="0">
                  <c:v>Initiation</c:v>
                </c:pt>
                <c:pt idx="1">
                  <c:v>Planning</c:v>
                </c:pt>
                <c:pt idx="2">
                  <c:v>Early execution</c:v>
                </c:pt>
                <c:pt idx="3">
                  <c:v>Mid execution</c:v>
                </c:pt>
                <c:pt idx="4">
                  <c:v>Late execution</c:v>
                </c:pt>
                <c:pt idx="5">
                  <c:v>Closing</c:v>
                </c:pt>
              </c:strCache>
            </c:strRef>
          </c:cat>
          <c:val>
            <c:numRef>
              <c:f>Sheet1!$B$2:$B$7</c:f>
              <c:numCache>
                <c:formatCode>General</c:formatCode>
                <c:ptCount val="6"/>
                <c:pt idx="0">
                  <c:v>95</c:v>
                </c:pt>
                <c:pt idx="1">
                  <c:v>80</c:v>
                </c:pt>
                <c:pt idx="2">
                  <c:v>58</c:v>
                </c:pt>
                <c:pt idx="3">
                  <c:v>38</c:v>
                </c:pt>
                <c:pt idx="4">
                  <c:v>18</c:v>
                </c:pt>
                <c:pt idx="5">
                  <c:v>5</c:v>
                </c:pt>
              </c:numCache>
            </c:numRef>
          </c:val>
          <c:smooth val="0"/>
        </c:ser>
        <c:ser>
          <c:idx val="1"/>
          <c:order val="1"/>
          <c:tx>
            <c:strRef>
              <c:f>Sheet1!$C$1</c:f>
              <c:strCache>
                <c:ptCount val="1"/>
                <c:pt idx="0">
                  <c:v>Cost of making a change</c:v>
                </c:pt>
              </c:strCache>
            </c:strRef>
          </c:tx>
          <c:spPr>
            <a:ln w="31750">
              <a:solidFill>
                <a:srgbClr val="10B981"/>
              </a:solidFill>
            </a:ln>
          </c:spPr>
          <c:cat>
            <c:strRef>
              <c:f>Sheet1!$A$2:$A$7</c:f>
              <c:strCache>
                <c:ptCount val="6"/>
                <c:pt idx="0">
                  <c:v>Initiation</c:v>
                </c:pt>
                <c:pt idx="1">
                  <c:v>Planning</c:v>
                </c:pt>
                <c:pt idx="2">
                  <c:v>Early execution</c:v>
                </c:pt>
                <c:pt idx="3">
                  <c:v>Mid execution</c:v>
                </c:pt>
                <c:pt idx="4">
                  <c:v>Late execution</c:v>
                </c:pt>
                <c:pt idx="5">
                  <c:v>Closing</c:v>
                </c:pt>
              </c:strCache>
            </c:strRef>
          </c:cat>
          <c:val>
            <c:numRef>
              <c:f>Sheet1!$C$2:$C$7</c:f>
              <c:numCache>
                <c:formatCode>General</c:formatCode>
                <c:ptCount val="6"/>
                <c:pt idx="0">
                  <c:v>5</c:v>
                </c:pt>
                <c:pt idx="1">
                  <c:v>15</c:v>
                </c:pt>
                <c:pt idx="2">
                  <c:v>35</c:v>
                </c:pt>
                <c:pt idx="3">
                  <c:v>60</c:v>
                </c:pt>
                <c:pt idx="4">
                  <c:v>88</c:v>
                </c:pt>
                <c:pt idx="5">
                  <c:v>98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Share of scored questions</c:v>
                </c:pt>
              </c:strCache>
            </c:strRef>
          </c:tx>
          <c:dPt>
            <c:idx val="0"/>
            <c:spPr>
              <a:solidFill>
                <a:srgbClr val="1F6FEB"/>
              </a:solidFill>
            </c:spPr>
          </c:dPt>
          <c:dPt>
            <c:idx val="1"/>
            <c:spPr>
              <a:solidFill>
                <a:srgbClr val="10B981"/>
              </a:solidFill>
            </c:spPr>
          </c:dPt>
          <c:dPt>
            <c:idx val="2"/>
            <c:spPr>
              <a:solidFill>
                <a:srgbClr val="7C3AED"/>
              </a:solidFill>
            </c:spPr>
          </c:dPt>
          <c:cat>
            <c:strRef>
              <c:f>Sheet1!$A$2:$A$4</c:f>
              <c:strCache>
                <c:ptCount val="3"/>
                <c:pt idx="0">
                  <c:v>People (33%)</c:v>
                </c:pt>
                <c:pt idx="1">
                  <c:v>Process (41%)</c:v>
                </c:pt>
                <c:pt idx="2">
                  <c:v>Business Environment (26%)</c:v>
                </c:pt>
              </c:strCache>
            </c:strRef>
          </c:cat>
          <c:val>
            <c:numRef>
              <c:f>Sheet1!$B$2:$B$4</c:f>
              <c:numCache>
                <c:formatCode>General</c:formatCode>
                <c:ptCount val="3"/>
                <c:pt idx="0">
                  <c:v>33</c:v>
                </c:pt>
                <c:pt idx="1">
                  <c:v>41</c:v>
                </c:pt>
                <c:pt idx="2">
                  <c:v>26</c:v>
                </c:pt>
              </c:numCache>
            </c:numRef>
          </c:val>
        </c:ser>
      </c:pieChart>
    </c:plotArea>
    <c:legend>
      <c:legendPos/>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Project A cumulative ($k)</c:v>
                </c:pt>
              </c:strCache>
            </c:strRef>
          </c:tx>
          <c:spPr>
            <a:ln w="31750">
              <a:solidFill>
                <a:srgbClr val="1F6FEB"/>
              </a:solidFill>
            </a:ln>
          </c:spPr>
          <c:cat>
            <c:strRef>
              <c:f>Sheet1!$A$2:$A$7</c:f>
              <c:strCache>
                <c:ptCount val="6"/>
                <c:pt idx="0">
                  <c:v>Year 0</c:v>
                </c:pt>
                <c:pt idx="1">
                  <c:v>Year 1</c:v>
                </c:pt>
                <c:pt idx="2">
                  <c:v>Year 2</c:v>
                </c:pt>
                <c:pt idx="3">
                  <c:v>Year 3</c:v>
                </c:pt>
                <c:pt idx="4">
                  <c:v>Year 4</c:v>
                </c:pt>
                <c:pt idx="5">
                  <c:v>Year 5</c:v>
                </c:pt>
              </c:strCache>
            </c:strRef>
          </c:cat>
          <c:val>
            <c:numRef>
              <c:f>Sheet1!$B$2:$B$7</c:f>
              <c:numCache>
                <c:formatCode>General</c:formatCode>
                <c:ptCount val="6"/>
                <c:pt idx="0">
                  <c:v>-500</c:v>
                </c:pt>
                <c:pt idx="1">
                  <c:v>-320</c:v>
                </c:pt>
                <c:pt idx="2">
                  <c:v>-140</c:v>
                </c:pt>
                <c:pt idx="3">
                  <c:v>60</c:v>
                </c:pt>
                <c:pt idx="4">
                  <c:v>260</c:v>
                </c:pt>
                <c:pt idx="5">
                  <c:v>460</c:v>
                </c:pt>
              </c:numCache>
            </c:numRef>
          </c:val>
          <c:smooth val="0"/>
        </c:ser>
        <c:ser>
          <c:idx val="1"/>
          <c:order val="1"/>
          <c:tx>
            <c:strRef>
              <c:f>Sheet1!$C$1</c:f>
              <c:strCache>
                <c:ptCount val="1"/>
                <c:pt idx="0">
                  <c:v>Project B cumulative ($k)</c:v>
                </c:pt>
              </c:strCache>
            </c:strRef>
          </c:tx>
          <c:spPr>
            <a:ln w="31750">
              <a:solidFill>
                <a:srgbClr val="10B981"/>
              </a:solidFill>
            </a:ln>
          </c:spPr>
          <c:cat>
            <c:strRef>
              <c:f>Sheet1!$A$2:$A$7</c:f>
              <c:strCache>
                <c:ptCount val="6"/>
                <c:pt idx="0">
                  <c:v>Year 0</c:v>
                </c:pt>
                <c:pt idx="1">
                  <c:v>Year 1</c:v>
                </c:pt>
                <c:pt idx="2">
                  <c:v>Year 2</c:v>
                </c:pt>
                <c:pt idx="3">
                  <c:v>Year 3</c:v>
                </c:pt>
                <c:pt idx="4">
                  <c:v>Year 4</c:v>
                </c:pt>
                <c:pt idx="5">
                  <c:v>Year 5</c:v>
                </c:pt>
              </c:strCache>
            </c:strRef>
          </c:cat>
          <c:val>
            <c:numRef>
              <c:f>Sheet1!$C$2:$C$7</c:f>
              <c:numCache>
                <c:formatCode>General</c:formatCode>
                <c:ptCount val="6"/>
                <c:pt idx="0">
                  <c:v>-500</c:v>
                </c:pt>
                <c:pt idx="1">
                  <c:v>-430</c:v>
                </c:pt>
                <c:pt idx="2">
                  <c:v>-300</c:v>
                </c:pt>
                <c:pt idx="3">
                  <c:v>-110</c:v>
                </c:pt>
                <c:pt idx="4">
                  <c:v>180</c:v>
                </c:pt>
                <c:pt idx="5">
                  <c:v>620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NPV at 10% discount rate ($k)</c:v>
                </c:pt>
              </c:strCache>
            </c:strRef>
          </c:tx>
          <c:spPr>
            <a:solidFill>
              <a:srgbClr val="1F6FEB"/>
            </a:solidFill>
          </c:spPr>
          <c:cat>
            <c:strRef>
              <c:f>Sheet1!$A$2:$A$5</c:f>
              <c:strCache>
                <c:ptCount val="4"/>
                <c:pt idx="0">
                  <c:v>Proposal A</c:v>
                </c:pt>
                <c:pt idx="1">
                  <c:v>Proposal B</c:v>
                </c:pt>
                <c:pt idx="2">
                  <c:v>Proposal C</c:v>
                </c:pt>
                <c:pt idx="3">
                  <c:v>Proposal D</c:v>
                </c:pt>
              </c:strCache>
            </c:strRef>
          </c:cat>
          <c:val>
            <c:numRef>
              <c:f>Sheet1!$B$2:$B$5</c:f>
              <c:numCache>
                <c:formatCode>General</c:formatCode>
                <c:ptCount val="4"/>
                <c:pt idx="0">
                  <c:v>420</c:v>
                </c:pt>
                <c:pt idx="1">
                  <c:v>610</c:v>
                </c:pt>
                <c:pt idx="2">
                  <c:v>-80</c:v>
                </c:pt>
                <c:pt idx="3">
                  <c:v>180</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Current engagement (count)</c:v>
                </c:pt>
              </c:strCache>
            </c:strRef>
          </c:tx>
          <c:spPr>
            <a:solidFill>
              <a:srgbClr val="1F6FEB"/>
            </a:solidFill>
          </c:spPr>
          <c:cat>
            <c:strRef>
              <c:f>Sheet1!$A$2:$A$6</c:f>
              <c:strCache>
                <c:ptCount val="5"/>
                <c:pt idx="0">
                  <c:v>Unaware</c:v>
                </c:pt>
                <c:pt idx="1">
                  <c:v>Resistant</c:v>
                </c:pt>
                <c:pt idx="2">
                  <c:v>Neutral</c:v>
                </c:pt>
                <c:pt idx="3">
                  <c:v>Supportive</c:v>
                </c:pt>
                <c:pt idx="4">
                  <c:v>Leading</c:v>
                </c:pt>
              </c:strCache>
            </c:strRef>
          </c:cat>
          <c:val>
            <c:numRef>
              <c:f>Sheet1!$B$2:$B$6</c:f>
              <c:numCache>
                <c:formatCode>General</c:formatCode>
                <c:ptCount val="5"/>
                <c:pt idx="0">
                  <c:v>6</c:v>
                </c:pt>
                <c:pt idx="1">
                  <c:v>8</c:v>
                </c:pt>
                <c:pt idx="2">
                  <c:v>14</c:v>
                </c:pt>
                <c:pt idx="3">
                  <c:v>9</c:v>
                </c:pt>
                <c:pt idx="4">
                  <c:v>3</c:v>
                </c:pt>
              </c:numCache>
            </c:numRef>
          </c:val>
        </c:ser>
        <c:ser>
          <c:idx val="1"/>
          <c:order val="1"/>
          <c:tx>
            <c:strRef>
              <c:f>Sheet1!$C$1</c:f>
              <c:strCache>
                <c:ptCount val="1"/>
                <c:pt idx="0">
                  <c:v>Desired engagement (count)</c:v>
                </c:pt>
              </c:strCache>
            </c:strRef>
          </c:tx>
          <c:spPr>
            <a:solidFill>
              <a:srgbClr val="10B981"/>
            </a:solidFill>
          </c:spPr>
          <c:cat>
            <c:strRef>
              <c:f>Sheet1!$A$2:$A$6</c:f>
              <c:strCache>
                <c:ptCount val="5"/>
                <c:pt idx="0">
                  <c:v>Unaware</c:v>
                </c:pt>
                <c:pt idx="1">
                  <c:v>Resistant</c:v>
                </c:pt>
                <c:pt idx="2">
                  <c:v>Neutral</c:v>
                </c:pt>
                <c:pt idx="3">
                  <c:v>Supportive</c:v>
                </c:pt>
                <c:pt idx="4">
                  <c:v>Leading</c:v>
                </c:pt>
              </c:strCache>
            </c:strRef>
          </c:cat>
          <c:val>
            <c:numRef>
              <c:f>Sheet1!$C$2:$C$6</c:f>
              <c:numCache>
                <c:formatCode>General</c:formatCode>
                <c:ptCount val="5"/>
                <c:pt idx="0">
                  <c:v>0</c:v>
                </c:pt>
                <c:pt idx="1">
                  <c:v>2</c:v>
                </c:pt>
                <c:pt idx="2">
                  <c:v>8</c:v>
                </c:pt>
                <c:pt idx="3">
                  <c:v>21</c:v>
                </c:pt>
                <c:pt idx="4">
                  <c:v>9</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legend>
      <c:legendPos val="b"/>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Ideal remaining</c:v>
                </c:pt>
              </c:strCache>
            </c:strRef>
          </c:tx>
          <c:spPr>
            <a:ln w="31750">
              <a:solidFill>
                <a:srgbClr val="1F6FEB"/>
              </a:solidFill>
            </a:ln>
          </c:spPr>
          <c:cat>
            <c:strRef>
              <c:f>Sheet1!$A$2:$A$7</c:f>
              <c:strCache>
                <c:ptCount val="6"/>
                <c:pt idx="0">
                  <c:v>Day 0</c:v>
                </c:pt>
                <c:pt idx="1">
                  <c:v>Day 2</c:v>
                </c:pt>
                <c:pt idx="2">
                  <c:v>Day 4</c:v>
                </c:pt>
                <c:pt idx="3">
                  <c:v>Day 6</c:v>
                </c:pt>
                <c:pt idx="4">
                  <c:v>Day 8</c:v>
                </c:pt>
                <c:pt idx="5">
                  <c:v>Day 10</c:v>
                </c:pt>
              </c:strCache>
            </c:strRef>
          </c:cat>
          <c:val>
            <c:numRef>
              <c:f>Sheet1!$B$2:$B$7</c:f>
              <c:numCache>
                <c:formatCode>General</c:formatCode>
                <c:ptCount val="6"/>
                <c:pt idx="0">
                  <c:v>80</c:v>
                </c:pt>
                <c:pt idx="1">
                  <c:v>64</c:v>
                </c:pt>
                <c:pt idx="2">
                  <c:v>48</c:v>
                </c:pt>
                <c:pt idx="3">
                  <c:v>32</c:v>
                </c:pt>
                <c:pt idx="4">
                  <c:v>16</c:v>
                </c:pt>
                <c:pt idx="5">
                  <c:v>0</c:v>
                </c:pt>
              </c:numCache>
            </c:numRef>
          </c:val>
          <c:smooth val="0"/>
        </c:ser>
        <c:ser>
          <c:idx val="1"/>
          <c:order val="1"/>
          <c:tx>
            <c:strRef>
              <c:f>Sheet1!$C$1</c:f>
              <c:strCache>
                <c:ptCount val="1"/>
                <c:pt idx="0">
                  <c:v>Actual remaining</c:v>
                </c:pt>
              </c:strCache>
            </c:strRef>
          </c:tx>
          <c:spPr>
            <a:ln w="31750">
              <a:solidFill>
                <a:srgbClr val="10B981"/>
              </a:solidFill>
            </a:ln>
          </c:spPr>
          <c:cat>
            <c:strRef>
              <c:f>Sheet1!$A$2:$A$7</c:f>
              <c:strCache>
                <c:ptCount val="6"/>
                <c:pt idx="0">
                  <c:v>Day 0</c:v>
                </c:pt>
                <c:pt idx="1">
                  <c:v>Day 2</c:v>
                </c:pt>
                <c:pt idx="2">
                  <c:v>Day 4</c:v>
                </c:pt>
                <c:pt idx="3">
                  <c:v>Day 6</c:v>
                </c:pt>
                <c:pt idx="4">
                  <c:v>Day 8</c:v>
                </c:pt>
                <c:pt idx="5">
                  <c:v>Day 10</c:v>
                </c:pt>
              </c:strCache>
            </c:strRef>
          </c:cat>
          <c:val>
            <c:numRef>
              <c:f>Sheet1!$C$2:$C$7</c:f>
              <c:numCache>
                <c:formatCode>General</c:formatCode>
                <c:ptCount val="6"/>
                <c:pt idx="0">
                  <c:v>80</c:v>
                </c:pt>
                <c:pt idx="1">
                  <c:v>78</c:v>
                </c:pt>
                <c:pt idx="2">
                  <c:v>66</c:v>
                </c:pt>
                <c:pt idx="3">
                  <c:v>55</c:v>
                </c:pt>
                <c:pt idx="4">
                  <c:v>30</c:v>
                </c:pt>
                <c:pt idx="5">
                  <c:v>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Total scope</c:v>
                </c:pt>
              </c:strCache>
            </c:strRef>
          </c:tx>
          <c:spPr>
            <a:ln w="31750">
              <a:solidFill>
                <a:srgbClr val="1F6FEB"/>
              </a:solidFill>
            </a:ln>
          </c:spPr>
          <c:cat>
            <c:strRef>
              <c:f>Sheet1!$A$2:$A$7</c:f>
              <c:strCache>
                <c:ptCount val="6"/>
                <c:pt idx="0">
                  <c:v>Iter 1</c:v>
                </c:pt>
                <c:pt idx="1">
                  <c:v>Iter 2</c:v>
                </c:pt>
                <c:pt idx="2">
                  <c:v>Iter 3</c:v>
                </c:pt>
                <c:pt idx="3">
                  <c:v>Iter 4</c:v>
                </c:pt>
                <c:pt idx="4">
                  <c:v>Iter 5</c:v>
                </c:pt>
                <c:pt idx="5">
                  <c:v>Iter 6</c:v>
                </c:pt>
              </c:strCache>
            </c:strRef>
          </c:cat>
          <c:val>
            <c:numRef>
              <c:f>Sheet1!$B$2:$B$7</c:f>
              <c:numCache>
                <c:formatCode>General</c:formatCode>
                <c:ptCount val="6"/>
                <c:pt idx="0">
                  <c:v>100</c:v>
                </c:pt>
                <c:pt idx="1">
                  <c:v>100</c:v>
                </c:pt>
                <c:pt idx="2">
                  <c:v>112</c:v>
                </c:pt>
                <c:pt idx="3">
                  <c:v>112</c:v>
                </c:pt>
                <c:pt idx="4">
                  <c:v>120</c:v>
                </c:pt>
                <c:pt idx="5">
                  <c:v>120</c:v>
                </c:pt>
              </c:numCache>
            </c:numRef>
          </c:val>
          <c:smooth val="0"/>
        </c:ser>
        <c:ser>
          <c:idx val="1"/>
          <c:order val="1"/>
          <c:tx>
            <c:strRef>
              <c:f>Sheet1!$C$1</c:f>
              <c:strCache>
                <c:ptCount val="1"/>
                <c:pt idx="0">
                  <c:v>Work completed</c:v>
                </c:pt>
              </c:strCache>
            </c:strRef>
          </c:tx>
          <c:spPr>
            <a:ln w="31750">
              <a:solidFill>
                <a:srgbClr val="10B981"/>
              </a:solidFill>
            </a:ln>
          </c:spPr>
          <c:cat>
            <c:strRef>
              <c:f>Sheet1!$A$2:$A$7</c:f>
              <c:strCache>
                <c:ptCount val="6"/>
                <c:pt idx="0">
                  <c:v>Iter 1</c:v>
                </c:pt>
                <c:pt idx="1">
                  <c:v>Iter 2</c:v>
                </c:pt>
                <c:pt idx="2">
                  <c:v>Iter 3</c:v>
                </c:pt>
                <c:pt idx="3">
                  <c:v>Iter 4</c:v>
                </c:pt>
                <c:pt idx="4">
                  <c:v>Iter 5</c:v>
                </c:pt>
                <c:pt idx="5">
                  <c:v>Iter 6</c:v>
                </c:pt>
              </c:strCache>
            </c:strRef>
          </c:cat>
          <c:val>
            <c:numRef>
              <c:f>Sheet1!$C$2:$C$7</c:f>
              <c:numCache>
                <c:formatCode>General</c:formatCode>
                <c:ptCount val="6"/>
                <c:pt idx="0">
                  <c:v>18</c:v>
                </c:pt>
                <c:pt idx="1">
                  <c:v>39</c:v>
                </c:pt>
                <c:pt idx="2">
                  <c:v>57</c:v>
                </c:pt>
                <c:pt idx="3">
                  <c:v>74</c:v>
                </c:pt>
                <c:pt idx="4">
                  <c:v>95</c:v>
                </c:pt>
                <c:pt idx="5">
                  <c:v>118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Story points completed</c:v>
                </c:pt>
              </c:strCache>
            </c:strRef>
          </c:tx>
          <c:spPr>
            <a:solidFill>
              <a:srgbClr val="1F6FEB"/>
            </a:solidFill>
          </c:spPr>
          <c:cat>
            <c:strRef>
              <c:f>Sheet1!$A$2:$A$7</c:f>
              <c:strCache>
                <c:ptCount val="6"/>
                <c:pt idx="0">
                  <c:v>Iter 1</c:v>
                </c:pt>
                <c:pt idx="1">
                  <c:v>Iter 2</c:v>
                </c:pt>
                <c:pt idx="2">
                  <c:v>Iter 3</c:v>
                </c:pt>
                <c:pt idx="3">
                  <c:v>Iter 4</c:v>
                </c:pt>
                <c:pt idx="4">
                  <c:v>Iter 5</c:v>
                </c:pt>
                <c:pt idx="5">
                  <c:v>Iter 6</c:v>
                </c:pt>
              </c:strCache>
            </c:strRef>
          </c:cat>
          <c:val>
            <c:numRef>
              <c:f>Sheet1!$B$2:$B$7</c:f>
              <c:numCache>
                <c:formatCode>General</c:formatCode>
                <c:ptCount val="6"/>
                <c:pt idx="0">
                  <c:v>18</c:v>
                </c:pt>
                <c:pt idx="1">
                  <c:v>21</c:v>
                </c:pt>
                <c:pt idx="2">
                  <c:v>18</c:v>
                </c:pt>
                <c:pt idx="3">
                  <c:v>24</c:v>
                </c:pt>
                <c:pt idx="4">
                  <c:v>22</c:v>
                </c:pt>
                <c:pt idx="5">
                  <c:v>23</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Cumulative cost baseline</c:v>
                </c:pt>
              </c:strCache>
            </c:strRef>
          </c:tx>
          <c:spPr>
            <a:ln w="31750">
              <a:solidFill>
                <a:srgbClr val="1F6FEB"/>
              </a:solidFill>
            </a:ln>
          </c:spPr>
          <c:cat>
            <c:strRef>
              <c:f>Sheet1!$A$2:$A$9</c:f>
              <c:strCache>
                <c:ptCount val="8"/>
                <c:pt idx="0">
                  <c:v>M1</c:v>
                </c:pt>
                <c:pt idx="1">
                  <c:v>M2</c:v>
                </c:pt>
                <c:pt idx="2">
                  <c:v>M3</c:v>
                </c:pt>
                <c:pt idx="3">
                  <c:v>M4</c:v>
                </c:pt>
                <c:pt idx="4">
                  <c:v>M5</c:v>
                </c:pt>
                <c:pt idx="5">
                  <c:v>M6</c:v>
                </c:pt>
                <c:pt idx="6">
                  <c:v>M7</c:v>
                </c:pt>
                <c:pt idx="7">
                  <c:v>M8</c:v>
                </c:pt>
              </c:strCache>
            </c:strRef>
          </c:cat>
          <c:val>
            <c:numRef>
              <c:f>Sheet1!$B$2:$B$9</c:f>
              <c:numCache>
                <c:formatCode>General</c:formatCode>
                <c:ptCount val="8"/>
                <c:pt idx="0">
                  <c:v>40</c:v>
                </c:pt>
                <c:pt idx="1">
                  <c:v>110</c:v>
                </c:pt>
                <c:pt idx="2">
                  <c:v>230</c:v>
                </c:pt>
                <c:pt idx="3">
                  <c:v>420</c:v>
                </c:pt>
                <c:pt idx="4">
                  <c:v>640</c:v>
                </c:pt>
                <c:pt idx="5">
                  <c:v>810</c:v>
                </c:pt>
                <c:pt idx="6">
                  <c:v>910</c:v>
                </c:pt>
                <c:pt idx="7">
                  <c:v>950</c:v>
                </c:pt>
              </c:numCache>
            </c:numRef>
          </c:val>
          <c:smooth val="0"/>
        </c:ser>
        <c:ser>
          <c:idx val="1"/>
          <c:order val="1"/>
          <c:tx>
            <c:strRef>
              <c:f>Sheet1!$C$1</c:f>
              <c:strCache>
                <c:ptCount val="1"/>
                <c:pt idx="0">
                  <c:v>Funding requirements</c:v>
                </c:pt>
              </c:strCache>
            </c:strRef>
          </c:tx>
          <c:spPr>
            <a:ln w="31750">
              <a:solidFill>
                <a:srgbClr val="10B981"/>
              </a:solidFill>
            </a:ln>
          </c:spPr>
          <c:cat>
            <c:strRef>
              <c:f>Sheet1!$A$2:$A$9</c:f>
              <c:strCache>
                <c:ptCount val="8"/>
                <c:pt idx="0">
                  <c:v>M1</c:v>
                </c:pt>
                <c:pt idx="1">
                  <c:v>M2</c:v>
                </c:pt>
                <c:pt idx="2">
                  <c:v>M3</c:v>
                </c:pt>
                <c:pt idx="3">
                  <c:v>M4</c:v>
                </c:pt>
                <c:pt idx="4">
                  <c:v>M5</c:v>
                </c:pt>
                <c:pt idx="5">
                  <c:v>M6</c:v>
                </c:pt>
                <c:pt idx="6">
                  <c:v>M7</c:v>
                </c:pt>
                <c:pt idx="7">
                  <c:v>M8</c:v>
                </c:pt>
              </c:strCache>
            </c:strRef>
          </c:cat>
          <c:val>
            <c:numRef>
              <c:f>Sheet1!$C$2:$C$9</c:f>
              <c:numCache>
                <c:formatCode>General</c:formatCode>
                <c:ptCount val="8"/>
                <c:pt idx="0">
                  <c:v>200</c:v>
                </c:pt>
                <c:pt idx="1">
                  <c:v>200</c:v>
                </c:pt>
                <c:pt idx="2">
                  <c:v>400</c:v>
                </c:pt>
                <c:pt idx="3">
                  <c:v>600</c:v>
                </c:pt>
                <c:pt idx="4">
                  <c:v>800</c:v>
                </c:pt>
                <c:pt idx="5">
                  <c:v>1000</c:v>
                </c:pt>
                <c:pt idx="6">
                  <c:v>1000</c:v>
                </c:pt>
                <c:pt idx="7">
                  <c:v>1000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Relative cost to fix one defect</c:v>
                </c:pt>
              </c:strCache>
            </c:strRef>
          </c:tx>
          <c:spPr>
            <a:solidFill>
              <a:srgbClr val="1F6FEB"/>
            </a:solidFill>
          </c:spPr>
          <c:cat>
            <c:strRef>
              <c:f>Sheet1!$A$2:$A$6</c:f>
              <c:strCache>
                <c:ptCount val="5"/>
                <c:pt idx="0">
                  <c:v>Requirements</c:v>
                </c:pt>
                <c:pt idx="1">
                  <c:v>Design</c:v>
                </c:pt>
                <c:pt idx="2">
                  <c:v>Build</c:v>
                </c:pt>
                <c:pt idx="3">
                  <c:v>System test</c:v>
                </c:pt>
                <c:pt idx="4">
                  <c:v>Production</c:v>
                </c:pt>
              </c:strCache>
            </c:strRef>
          </c:cat>
          <c:val>
            <c:numRef>
              <c:f>Sheet1!$B$2:$B$6</c:f>
              <c:numCache>
                <c:formatCode>General</c:formatCode>
                <c:ptCount val="5"/>
                <c:pt idx="0">
                  <c:v>1</c:v>
                </c:pt>
                <c:pt idx="1">
                  <c:v>5</c:v>
                </c:pt>
                <c:pt idx="2">
                  <c:v>10</c:v>
                </c:pt>
                <c:pt idx="3">
                  <c:v>25</c:v>
                </c:pt>
                <c:pt idx="4">
                  <c:v>100</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Defect count</c:v>
                </c:pt>
              </c:strCache>
            </c:strRef>
          </c:tx>
          <c:spPr>
            <a:solidFill>
              <a:srgbClr val="1F6FEB"/>
            </a:solidFill>
          </c:spPr>
          <c:cat>
            <c:strRef>
              <c:f>Sheet1!$A$2:$A$7</c:f>
              <c:strCache>
                <c:ptCount val="6"/>
                <c:pt idx="0">
                  <c:v>Data entry</c:v>
                </c:pt>
                <c:pt idx="1">
                  <c:v>Interface</c:v>
                </c:pt>
                <c:pt idx="2">
                  <c:v>Validation</c:v>
                </c:pt>
                <c:pt idx="3">
                  <c:v>Timeout</c:v>
                </c:pt>
                <c:pt idx="4">
                  <c:v>Formatting</c:v>
                </c:pt>
                <c:pt idx="5">
                  <c:v>Other</c:v>
                </c:pt>
              </c:strCache>
            </c:strRef>
          </c:cat>
          <c:val>
            <c:numRef>
              <c:f>Sheet1!$B$2:$B$7</c:f>
              <c:numCache>
                <c:formatCode>General</c:formatCode>
                <c:ptCount val="6"/>
                <c:pt idx="0">
                  <c:v>88</c:v>
                </c:pt>
                <c:pt idx="1">
                  <c:v>54</c:v>
                </c:pt>
                <c:pt idx="2">
                  <c:v>31</c:v>
                </c:pt>
                <c:pt idx="3">
                  <c:v>14</c:v>
                </c:pt>
                <c:pt idx="4">
                  <c:v>9</c:v>
                </c:pt>
                <c:pt idx="5">
                  <c:v>4</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Downside impact on project NPV ($k)</c:v>
                </c:pt>
              </c:strCache>
            </c:strRef>
          </c:tx>
          <c:spPr>
            <a:solidFill>
              <a:srgbClr val="1F6FEB"/>
            </a:solidFill>
          </c:spPr>
          <c:cat>
            <c:strRef>
              <c:f>Sheet1!$A$2:$A$7</c:f>
              <c:strCache>
                <c:ptCount val="6"/>
                <c:pt idx="0">
                  <c:v>Regulatory delay</c:v>
                </c:pt>
                <c:pt idx="1">
                  <c:v>Vendor lead time</c:v>
                </c:pt>
                <c:pt idx="2">
                  <c:v>Labour rate</c:v>
                </c:pt>
                <c:pt idx="3">
                  <c:v>Scope volatility</c:v>
                </c:pt>
                <c:pt idx="4">
                  <c:v>FX movement</c:v>
                </c:pt>
                <c:pt idx="5">
                  <c:v>Site access</c:v>
                </c:pt>
              </c:strCache>
            </c:strRef>
          </c:cat>
          <c:val>
            <c:numRef>
              <c:f>Sheet1!$B$2:$B$7</c:f>
              <c:numCache>
                <c:formatCode>General</c:formatCode>
                <c:ptCount val="6"/>
                <c:pt idx="0">
                  <c:v>420</c:v>
                </c:pt>
                <c:pt idx="1">
                  <c:v>310</c:v>
                </c:pt>
                <c:pt idx="2">
                  <c:v>240</c:v>
                </c:pt>
                <c:pt idx="3">
                  <c:v>180</c:v>
                </c:pt>
                <c:pt idx="4">
                  <c:v>120</c:v>
                </c:pt>
                <c:pt idx="5">
                  <c:v>70</c:v>
                </c:pt>
              </c:numCache>
            </c:numRef>
          </c:val>
        </c:ser>
        <c:axId val="-2068027336"/>
        <c:axId val="-2113994440"/>
      </c:barChart>
      <c:catAx>
        <c:axId val="-2068027336"/>
        <c:scaling>
          <c:orientation val="minMax"/>
        </c:scaling>
        <c:delete val="0"/>
        <c:axPos val="l"/>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b"/>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Team productivity index</c:v>
                </c:pt>
              </c:strCache>
            </c:strRef>
          </c:tx>
          <c:spPr>
            <a:ln w="31750">
              <a:solidFill>
                <a:srgbClr val="1F6FEB"/>
              </a:solidFill>
            </a:ln>
          </c:spPr>
          <c:cat>
            <c:strRef>
              <c:f>Sheet1!$A$2:$A$6</c:f>
              <c:strCache>
                <c:ptCount val="5"/>
                <c:pt idx="0">
                  <c:v>Forming</c:v>
                </c:pt>
                <c:pt idx="1">
                  <c:v>Storming</c:v>
                </c:pt>
                <c:pt idx="2">
                  <c:v>Norming</c:v>
                </c:pt>
                <c:pt idx="3">
                  <c:v>Performing</c:v>
                </c:pt>
                <c:pt idx="4">
                  <c:v>Adjourning</c:v>
                </c:pt>
              </c:strCache>
            </c:strRef>
          </c:cat>
          <c:val>
            <c:numRef>
              <c:f>Sheet1!$B$2:$B$6</c:f>
              <c:numCache>
                <c:formatCode>General</c:formatCode>
                <c:ptCount val="5"/>
                <c:pt idx="0">
                  <c:v>40</c:v>
                </c:pt>
                <c:pt idx="1">
                  <c:v>25</c:v>
                </c:pt>
                <c:pt idx="2">
                  <c:v>62</c:v>
                </c:pt>
                <c:pt idx="3">
                  <c:v>92</c:v>
                </c:pt>
                <c:pt idx="4">
                  <c:v>55</c:v>
                </c:pt>
              </c:numCache>
            </c:numRef>
          </c:val>
          <c:smooth val="0"/>
        </c:ser>
        <c:ser>
          <c:idx val="1"/>
          <c:order val="1"/>
          <c:tx>
            <c:strRef>
              <c:f>Sheet1!$C$1</c:f>
              <c:strCache>
                <c:ptCount val="1"/>
                <c:pt idx="0">
                  <c:v>Trust / psychological safety</c:v>
                </c:pt>
              </c:strCache>
            </c:strRef>
          </c:tx>
          <c:spPr>
            <a:ln w="31750">
              <a:solidFill>
                <a:srgbClr val="10B981"/>
              </a:solidFill>
            </a:ln>
          </c:spPr>
          <c:cat>
            <c:strRef>
              <c:f>Sheet1!$A$2:$A$6</c:f>
              <c:strCache>
                <c:ptCount val="5"/>
                <c:pt idx="0">
                  <c:v>Forming</c:v>
                </c:pt>
                <c:pt idx="1">
                  <c:v>Storming</c:v>
                </c:pt>
                <c:pt idx="2">
                  <c:v>Norming</c:v>
                </c:pt>
                <c:pt idx="3">
                  <c:v>Performing</c:v>
                </c:pt>
                <c:pt idx="4">
                  <c:v>Adjourning</c:v>
                </c:pt>
              </c:strCache>
            </c:strRef>
          </c:cat>
          <c:val>
            <c:numRef>
              <c:f>Sheet1!$C$2:$C$6</c:f>
              <c:numCache>
                <c:formatCode>General</c:formatCode>
                <c:ptCount val="5"/>
                <c:pt idx="0">
                  <c:v>30</c:v>
                </c:pt>
                <c:pt idx="1">
                  <c:v>34</c:v>
                </c:pt>
                <c:pt idx="2">
                  <c:v>70</c:v>
                </c:pt>
                <c:pt idx="3">
                  <c:v>95</c:v>
                </c:pt>
                <c:pt idx="4">
                  <c:v>88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max val="100.0"/>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Difficulty of resolution</c:v>
                </c:pt>
              </c:strCache>
            </c:strRef>
          </c:tx>
          <c:spPr>
            <a:solidFill>
              <a:srgbClr val="1F6FEB"/>
            </a:solidFill>
          </c:spPr>
          <c:cat>
            <c:strRef>
              <c:f>Sheet1!$A$2:$A$6</c:f>
              <c:strCache>
                <c:ptCount val="5"/>
                <c:pt idx="0">
                  <c:v>L1 Problem to solve</c:v>
                </c:pt>
                <c:pt idx="1">
                  <c:v>L2 Disagreement</c:v>
                </c:pt>
                <c:pt idx="2">
                  <c:v>L3 Contest</c:v>
                </c:pt>
                <c:pt idx="3">
                  <c:v>L4 Crusade</c:v>
                </c:pt>
                <c:pt idx="4">
                  <c:v>L5 World war</c:v>
                </c:pt>
              </c:strCache>
            </c:strRef>
          </c:cat>
          <c:val>
            <c:numRef>
              <c:f>Sheet1!$B$2:$B$6</c:f>
              <c:numCache>
                <c:formatCode>General</c:formatCode>
                <c:ptCount val="5"/>
                <c:pt idx="0">
                  <c:v>1</c:v>
                </c:pt>
                <c:pt idx="1">
                  <c:v>2</c:v>
                </c:pt>
                <c:pt idx="2">
                  <c:v>4</c:v>
                </c:pt>
                <c:pt idx="3">
                  <c:v>7</c:v>
                </c:pt>
                <c:pt idx="4">
                  <c:v>10</c:v>
                </c:pt>
              </c:numCache>
            </c:numRef>
          </c:val>
        </c:ser>
        <c:ser>
          <c:idx val="1"/>
          <c:order val="1"/>
          <c:tx>
            <c:strRef>
              <c:f>Sheet1!$C$1</c:f>
              <c:strCache>
                <c:ptCount val="1"/>
                <c:pt idx="0">
                  <c:v>Focus on winning vs solving</c:v>
                </c:pt>
              </c:strCache>
            </c:strRef>
          </c:tx>
          <c:spPr>
            <a:solidFill>
              <a:srgbClr val="10B981"/>
            </a:solidFill>
          </c:spPr>
          <c:cat>
            <c:strRef>
              <c:f>Sheet1!$A$2:$A$6</c:f>
              <c:strCache>
                <c:ptCount val="5"/>
                <c:pt idx="0">
                  <c:v>L1 Problem to solve</c:v>
                </c:pt>
                <c:pt idx="1">
                  <c:v>L2 Disagreement</c:v>
                </c:pt>
                <c:pt idx="2">
                  <c:v>L3 Contest</c:v>
                </c:pt>
                <c:pt idx="3">
                  <c:v>L4 Crusade</c:v>
                </c:pt>
                <c:pt idx="4">
                  <c:v>L5 World war</c:v>
                </c:pt>
              </c:strCache>
            </c:strRef>
          </c:cat>
          <c:val>
            <c:numRef>
              <c:f>Sheet1!$C$2:$C$6</c:f>
              <c:numCache>
                <c:formatCode>General</c:formatCode>
                <c:ptCount val="5"/>
                <c:pt idx="0">
                  <c:v>1</c:v>
                </c:pt>
                <c:pt idx="1">
                  <c:v>3</c:v>
                </c:pt>
                <c:pt idx="2">
                  <c:v>6</c:v>
                </c:pt>
                <c:pt idx="3">
                  <c:v>9</c:v>
                </c:pt>
                <c:pt idx="4">
                  <c:v>10</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max val="10.0"/>
        </c:scaling>
        <c:delete val="0"/>
        <c:axPos val="l"/>
        <c:majorGridlines/>
        <c:majorTickMark val="out"/>
        <c:minorTickMark val="none"/>
        <c:tickLblPos val="nextTo"/>
        <c:spPr>
          <a:ln>
            <a:solidFill>
              <a:srgbClr val="DDE3EC"/>
            </a:solidFill>
          </a:ln>
        </c:spPr>
        <c:crossAx val="-2068027336"/>
        <c:crosses val="autoZero"/>
      </c:valAx>
    </c:plotArea>
    <c:legend>
      <c:legendPos val="b"/>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Planned Value (PV)</c:v>
                </c:pt>
              </c:strCache>
            </c:strRef>
          </c:tx>
          <c:spPr>
            <a:ln w="31750">
              <a:solidFill>
                <a:srgbClr val="1F6FEB"/>
              </a:solidFill>
            </a:ln>
          </c:spPr>
          <c:cat>
            <c:strRef>
              <c:f>Sheet1!$A$2:$A$11</c:f>
              <c:strCache>
                <c:ptCount val="10"/>
                <c:pt idx="0">
                  <c:v>W1</c:v>
                </c:pt>
                <c:pt idx="1">
                  <c:v>W2</c:v>
                </c:pt>
                <c:pt idx="2">
                  <c:v>W3</c:v>
                </c:pt>
                <c:pt idx="3">
                  <c:v>W4</c:v>
                </c:pt>
                <c:pt idx="4">
                  <c:v>W5</c:v>
                </c:pt>
                <c:pt idx="5">
                  <c:v>W6</c:v>
                </c:pt>
                <c:pt idx="6">
                  <c:v>W7</c:v>
                </c:pt>
                <c:pt idx="7">
                  <c:v>W8</c:v>
                </c:pt>
                <c:pt idx="8">
                  <c:v>W9</c:v>
                </c:pt>
                <c:pt idx="9">
                  <c:v>W10</c:v>
                </c:pt>
              </c:strCache>
            </c:strRef>
          </c:cat>
          <c:val>
            <c:numRef>
              <c:f>Sheet1!$B$2:$B$11</c:f>
              <c:numCache>
                <c:formatCode>General</c:formatCode>
                <c:ptCount val="10"/>
                <c:pt idx="0">
                  <c:v>10</c:v>
                </c:pt>
                <c:pt idx="1">
                  <c:v>20</c:v>
                </c:pt>
                <c:pt idx="2">
                  <c:v>30</c:v>
                </c:pt>
                <c:pt idx="3">
                  <c:v>40</c:v>
                </c:pt>
                <c:pt idx="4">
                  <c:v>50</c:v>
                </c:pt>
                <c:pt idx="5">
                  <c:v>60</c:v>
                </c:pt>
                <c:pt idx="6">
                  <c:v>70</c:v>
                </c:pt>
                <c:pt idx="7">
                  <c:v>80</c:v>
                </c:pt>
                <c:pt idx="8">
                  <c:v>90</c:v>
                </c:pt>
                <c:pt idx="9">
                  <c:v>100</c:v>
                </c:pt>
              </c:numCache>
            </c:numRef>
          </c:val>
          <c:smooth val="0"/>
        </c:ser>
        <c:ser>
          <c:idx val="1"/>
          <c:order val="1"/>
          <c:tx>
            <c:strRef>
              <c:f>Sheet1!$C$1</c:f>
              <c:strCache>
                <c:ptCount val="1"/>
                <c:pt idx="0">
                  <c:v>Earned Value (EV)</c:v>
                </c:pt>
              </c:strCache>
            </c:strRef>
          </c:tx>
          <c:spPr>
            <a:ln w="31750">
              <a:solidFill>
                <a:srgbClr val="10B981"/>
              </a:solidFill>
            </a:ln>
          </c:spPr>
          <c:cat>
            <c:strRef>
              <c:f>Sheet1!$A$2:$A$11</c:f>
              <c:strCache>
                <c:ptCount val="10"/>
                <c:pt idx="0">
                  <c:v>W1</c:v>
                </c:pt>
                <c:pt idx="1">
                  <c:v>W2</c:v>
                </c:pt>
                <c:pt idx="2">
                  <c:v>W3</c:v>
                </c:pt>
                <c:pt idx="3">
                  <c:v>W4</c:v>
                </c:pt>
                <c:pt idx="4">
                  <c:v>W5</c:v>
                </c:pt>
                <c:pt idx="5">
                  <c:v>W6</c:v>
                </c:pt>
                <c:pt idx="6">
                  <c:v>W7</c:v>
                </c:pt>
                <c:pt idx="7">
                  <c:v>W8</c:v>
                </c:pt>
                <c:pt idx="8">
                  <c:v>W9</c:v>
                </c:pt>
                <c:pt idx="9">
                  <c:v>W10</c:v>
                </c:pt>
              </c:strCache>
            </c:strRef>
          </c:cat>
          <c:val>
            <c:numRef>
              <c:f>Sheet1!$C$2:$C$11</c:f>
              <c:numCache>
                <c:formatCode>General</c:formatCode>
                <c:ptCount val="10"/>
                <c:pt idx="0">
                  <c:v>9</c:v>
                </c:pt>
                <c:pt idx="1">
                  <c:v>18</c:v>
                </c:pt>
                <c:pt idx="2">
                  <c:v>27</c:v>
                </c:pt>
                <c:pt idx="3">
                  <c:v>34</c:v>
                </c:pt>
                <c:pt idx="4">
                  <c:v>40</c:v>
                </c:pt>
              </c:numCache>
            </c:numRef>
          </c:val>
          <c:smooth val="0"/>
        </c:ser>
        <c:ser>
          <c:idx val="2"/>
          <c:order val="2"/>
          <c:tx>
            <c:strRef>
              <c:f>Sheet1!$D$1</c:f>
              <c:strCache>
                <c:ptCount val="1"/>
                <c:pt idx="0">
                  <c:v>Actual Cost (AC)</c:v>
                </c:pt>
              </c:strCache>
            </c:strRef>
          </c:tx>
          <c:spPr>
            <a:ln w="31750">
              <a:solidFill>
                <a:srgbClr val="7C3AED"/>
              </a:solidFill>
            </a:ln>
          </c:spPr>
          <c:cat>
            <c:strRef>
              <c:f>Sheet1!$A$2:$A$11</c:f>
              <c:strCache>
                <c:ptCount val="10"/>
                <c:pt idx="0">
                  <c:v>W1</c:v>
                </c:pt>
                <c:pt idx="1">
                  <c:v>W2</c:v>
                </c:pt>
                <c:pt idx="2">
                  <c:v>W3</c:v>
                </c:pt>
                <c:pt idx="3">
                  <c:v>W4</c:v>
                </c:pt>
                <c:pt idx="4">
                  <c:v>W5</c:v>
                </c:pt>
                <c:pt idx="5">
                  <c:v>W6</c:v>
                </c:pt>
                <c:pt idx="6">
                  <c:v>W7</c:v>
                </c:pt>
                <c:pt idx="7">
                  <c:v>W8</c:v>
                </c:pt>
                <c:pt idx="8">
                  <c:v>W9</c:v>
                </c:pt>
                <c:pt idx="9">
                  <c:v>W10</c:v>
                </c:pt>
              </c:strCache>
            </c:strRef>
          </c:cat>
          <c:val>
            <c:numRef>
              <c:f>Sheet1!$D$2:$D$11</c:f>
              <c:numCache>
                <c:formatCode>General</c:formatCode>
                <c:ptCount val="10"/>
                <c:pt idx="0">
                  <c:v>11</c:v>
                </c:pt>
                <c:pt idx="1">
                  <c:v>22</c:v>
                </c:pt>
                <c:pt idx="2">
                  <c:v>32</c:v>
                </c:pt>
                <c:pt idx="3">
                  <c:v>40</c:v>
                </c:pt>
                <c:pt idx="4">
                  <c:v>47.5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CPI</c:v>
                </c:pt>
              </c:strCache>
            </c:strRef>
          </c:tx>
          <c:spPr>
            <a:ln w="31750">
              <a:solidFill>
                <a:srgbClr val="1F6FEB"/>
              </a:solidFill>
            </a:ln>
          </c:spPr>
          <c:cat>
            <c:strRef>
              <c:f>Sheet1!$A$2:$A$9</c:f>
              <c:strCache>
                <c:ptCount val="8"/>
                <c:pt idx="0">
                  <c:v>W1</c:v>
                </c:pt>
                <c:pt idx="1">
                  <c:v>W2</c:v>
                </c:pt>
                <c:pt idx="2">
                  <c:v>W3</c:v>
                </c:pt>
                <c:pt idx="3">
                  <c:v>W4</c:v>
                </c:pt>
                <c:pt idx="4">
                  <c:v>W5</c:v>
                </c:pt>
                <c:pt idx="5">
                  <c:v>W6</c:v>
                </c:pt>
                <c:pt idx="6">
                  <c:v>W7</c:v>
                </c:pt>
                <c:pt idx="7">
                  <c:v>W8</c:v>
                </c:pt>
              </c:strCache>
            </c:strRef>
          </c:cat>
          <c:val>
            <c:numRef>
              <c:f>Sheet1!$B$2:$B$9</c:f>
              <c:numCache>
                <c:formatCode>General</c:formatCode>
                <c:ptCount val="8"/>
                <c:pt idx="0">
                  <c:v>0.82</c:v>
                </c:pt>
                <c:pt idx="1">
                  <c:v>0.82</c:v>
                </c:pt>
                <c:pt idx="2">
                  <c:v>0.84</c:v>
                </c:pt>
                <c:pt idx="3">
                  <c:v>0.85</c:v>
                </c:pt>
                <c:pt idx="4">
                  <c:v>0.84</c:v>
                </c:pt>
                <c:pt idx="5">
                  <c:v>0.87</c:v>
                </c:pt>
                <c:pt idx="6">
                  <c:v>0.9</c:v>
                </c:pt>
                <c:pt idx="7">
                  <c:v>0.93</c:v>
                </c:pt>
              </c:numCache>
            </c:numRef>
          </c:val>
          <c:smooth val="0"/>
        </c:ser>
        <c:ser>
          <c:idx val="1"/>
          <c:order val="1"/>
          <c:tx>
            <c:strRef>
              <c:f>Sheet1!$C$1</c:f>
              <c:strCache>
                <c:ptCount val="1"/>
                <c:pt idx="0">
                  <c:v>SPI</c:v>
                </c:pt>
              </c:strCache>
            </c:strRef>
          </c:tx>
          <c:spPr>
            <a:ln w="31750">
              <a:solidFill>
                <a:srgbClr val="10B981"/>
              </a:solidFill>
            </a:ln>
          </c:spPr>
          <c:cat>
            <c:strRef>
              <c:f>Sheet1!$A$2:$A$9</c:f>
              <c:strCache>
                <c:ptCount val="8"/>
                <c:pt idx="0">
                  <c:v>W1</c:v>
                </c:pt>
                <c:pt idx="1">
                  <c:v>W2</c:v>
                </c:pt>
                <c:pt idx="2">
                  <c:v>W3</c:v>
                </c:pt>
                <c:pt idx="3">
                  <c:v>W4</c:v>
                </c:pt>
                <c:pt idx="4">
                  <c:v>W5</c:v>
                </c:pt>
                <c:pt idx="5">
                  <c:v>W6</c:v>
                </c:pt>
                <c:pt idx="6">
                  <c:v>W7</c:v>
                </c:pt>
                <c:pt idx="7">
                  <c:v>W8</c:v>
                </c:pt>
              </c:strCache>
            </c:strRef>
          </c:cat>
          <c:val>
            <c:numRef>
              <c:f>Sheet1!$C$2:$C$9</c:f>
              <c:numCache>
                <c:formatCode>General</c:formatCode>
                <c:ptCount val="8"/>
                <c:pt idx="0">
                  <c:v>0.9</c:v>
                </c:pt>
                <c:pt idx="1">
                  <c:v>0.88</c:v>
                </c:pt>
                <c:pt idx="2">
                  <c:v>0.84</c:v>
                </c:pt>
                <c:pt idx="3">
                  <c:v>0.85</c:v>
                </c:pt>
                <c:pt idx="4">
                  <c:v>0.8</c:v>
                </c:pt>
                <c:pt idx="5">
                  <c:v>0.83</c:v>
                </c:pt>
                <c:pt idx="6">
                  <c:v>0.88</c:v>
                </c:pt>
                <c:pt idx="7">
                  <c:v>0.91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Defect count</c:v>
                </c:pt>
              </c:strCache>
            </c:strRef>
          </c:tx>
          <c:spPr>
            <a:solidFill>
              <a:srgbClr val="1F6FEB"/>
            </a:solidFill>
          </c:spPr>
          <c:cat>
            <c:strRef>
              <c:f>Sheet1!$A$2:$A$7</c:f>
              <c:strCache>
                <c:ptCount val="6"/>
                <c:pt idx="0">
                  <c:v>Requirements gaps</c:v>
                </c:pt>
                <c:pt idx="1">
                  <c:v>Integration errors</c:v>
                </c:pt>
                <c:pt idx="2">
                  <c:v>UI defects</c:v>
                </c:pt>
                <c:pt idx="3">
                  <c:v>Data migration</c:v>
                </c:pt>
                <c:pt idx="4">
                  <c:v>Performance</c:v>
                </c:pt>
                <c:pt idx="5">
                  <c:v>Documentation</c:v>
                </c:pt>
              </c:strCache>
            </c:strRef>
          </c:cat>
          <c:val>
            <c:numRef>
              <c:f>Sheet1!$B$2:$B$7</c:f>
              <c:numCache>
                <c:formatCode>General</c:formatCode>
                <c:ptCount val="6"/>
                <c:pt idx="0">
                  <c:v>58</c:v>
                </c:pt>
                <c:pt idx="1">
                  <c:v>34</c:v>
                </c:pt>
                <c:pt idx="2">
                  <c:v>21</c:v>
                </c:pt>
                <c:pt idx="3">
                  <c:v>12</c:v>
                </c:pt>
                <c:pt idx="4">
                  <c:v>7</c:v>
                </c:pt>
                <c:pt idx="5">
                  <c:v>4</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Number of defects</c:v>
                </c:pt>
              </c:strCache>
            </c:strRef>
          </c:tx>
          <c:spPr>
            <a:solidFill>
              <a:srgbClr val="1F6FEB"/>
            </a:solidFill>
          </c:spPr>
          <c:cat>
            <c:strRef>
              <c:f>Sheet1!$A$2:$A$7</c:f>
              <c:strCache>
                <c:ptCount val="6"/>
                <c:pt idx="0">
                  <c:v>0-2 days</c:v>
                </c:pt>
                <c:pt idx="1">
                  <c:v>3-5 days</c:v>
                </c:pt>
                <c:pt idx="2">
                  <c:v>6-8 days</c:v>
                </c:pt>
                <c:pt idx="3">
                  <c:v>9-11 days</c:v>
                </c:pt>
                <c:pt idx="4">
                  <c:v>12-14 days</c:v>
                </c:pt>
                <c:pt idx="5">
                  <c:v>15+ days</c:v>
                </c:pt>
              </c:strCache>
            </c:strRef>
          </c:cat>
          <c:val>
            <c:numRef>
              <c:f>Sheet1!$B$2:$B$7</c:f>
              <c:numCache>
                <c:formatCode>General</c:formatCode>
                <c:ptCount val="6"/>
                <c:pt idx="0">
                  <c:v>12</c:v>
                </c:pt>
                <c:pt idx="1">
                  <c:v>31</c:v>
                </c:pt>
                <c:pt idx="2">
                  <c:v>24</c:v>
                </c:pt>
                <c:pt idx="3">
                  <c:v>15</c:v>
                </c:pt>
                <c:pt idx="4">
                  <c:v>9</c:v>
                </c:pt>
                <c:pt idx="5">
                  <c:v>21</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dispBlanksAs val="gap"/>
  </c:chart>
  <c:txPr>
    <a:bodyPr/>
    <a:lstStyle/>
    <a:p>
      <a:pPr>
        <a:defRPr sz="1100">
          <a:solidFill>
            <a:srgbClr val="5B6372"/>
          </a:solidFill>
          <a:latin typeface="Arial"/>
        </a:defRPr>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Measured value</c:v>
                </c:pt>
              </c:strCache>
            </c:strRef>
          </c:tx>
          <c:spPr>
            <a:ln w="31750">
              <a:solidFill>
                <a:srgbClr val="1F6FEB"/>
              </a:solidFill>
            </a:ln>
          </c:spP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50</c:v>
                </c:pt>
                <c:pt idx="1">
                  <c:v>53</c:v>
                </c:pt>
                <c:pt idx="2">
                  <c:v>48</c:v>
                </c:pt>
                <c:pt idx="3">
                  <c:v>51</c:v>
                </c:pt>
                <c:pt idx="4">
                  <c:v>49</c:v>
                </c:pt>
                <c:pt idx="5">
                  <c:v>52</c:v>
                </c:pt>
                <c:pt idx="6">
                  <c:v>54</c:v>
                </c:pt>
                <c:pt idx="7">
                  <c:v>55</c:v>
                </c:pt>
                <c:pt idx="8">
                  <c:v>56</c:v>
                </c:pt>
                <c:pt idx="9">
                  <c:v>57</c:v>
                </c:pt>
                <c:pt idx="10">
                  <c:v>58</c:v>
                </c:pt>
                <c:pt idx="11">
                  <c:v>66</c:v>
                </c:pt>
              </c:numCache>
            </c:numRef>
          </c:val>
          <c:smooth val="0"/>
        </c:ser>
        <c:ser>
          <c:idx val="1"/>
          <c:order val="1"/>
          <c:tx>
            <c:strRef>
              <c:f>Sheet1!$C$1</c:f>
              <c:strCache>
                <c:ptCount val="1"/>
                <c:pt idx="0">
                  <c:v>Mean</c:v>
                </c:pt>
              </c:strCache>
            </c:strRef>
          </c:tx>
          <c:spPr>
            <a:ln w="31750">
              <a:solidFill>
                <a:srgbClr val="10B981"/>
              </a:solidFill>
            </a:ln>
          </c:spP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52</c:v>
                </c:pt>
                <c:pt idx="1">
                  <c:v>52</c:v>
                </c:pt>
                <c:pt idx="2">
                  <c:v>52</c:v>
                </c:pt>
                <c:pt idx="3">
                  <c:v>52</c:v>
                </c:pt>
                <c:pt idx="4">
                  <c:v>52</c:v>
                </c:pt>
                <c:pt idx="5">
                  <c:v>52</c:v>
                </c:pt>
                <c:pt idx="6">
                  <c:v>52</c:v>
                </c:pt>
                <c:pt idx="7">
                  <c:v>52</c:v>
                </c:pt>
                <c:pt idx="8">
                  <c:v>52</c:v>
                </c:pt>
                <c:pt idx="9">
                  <c:v>52</c:v>
                </c:pt>
                <c:pt idx="10">
                  <c:v>52</c:v>
                </c:pt>
                <c:pt idx="11">
                  <c:v>52</c:v>
                </c:pt>
              </c:numCache>
            </c:numRef>
          </c:val>
          <c:smooth val="0"/>
        </c:ser>
        <c:ser>
          <c:idx val="2"/>
          <c:order val="2"/>
          <c:tx>
            <c:strRef>
              <c:f>Sheet1!$D$1</c:f>
              <c:strCache>
                <c:ptCount val="1"/>
                <c:pt idx="0">
                  <c:v>Upper control limit</c:v>
                </c:pt>
              </c:strCache>
            </c:strRef>
          </c:tx>
          <c:spPr>
            <a:ln w="31750">
              <a:solidFill>
                <a:srgbClr val="7C3AED"/>
              </a:solidFill>
            </a:ln>
          </c:spP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Sheet1!$D$2:$D$13</c:f>
              <c:numCache>
                <c:formatCode>General</c:formatCode>
                <c:ptCount val="12"/>
                <c:pt idx="0">
                  <c:v>62</c:v>
                </c:pt>
                <c:pt idx="1">
                  <c:v>62</c:v>
                </c:pt>
                <c:pt idx="2">
                  <c:v>62</c:v>
                </c:pt>
                <c:pt idx="3">
                  <c:v>62</c:v>
                </c:pt>
                <c:pt idx="4">
                  <c:v>62</c:v>
                </c:pt>
                <c:pt idx="5">
                  <c:v>62</c:v>
                </c:pt>
                <c:pt idx="6">
                  <c:v>62</c:v>
                </c:pt>
                <c:pt idx="7">
                  <c:v>62</c:v>
                </c:pt>
                <c:pt idx="8">
                  <c:v>62</c:v>
                </c:pt>
                <c:pt idx="9">
                  <c:v>62</c:v>
                </c:pt>
                <c:pt idx="10">
                  <c:v>62</c:v>
                </c:pt>
                <c:pt idx="11">
                  <c:v>62</c:v>
                </c:pt>
              </c:numCache>
            </c:numRef>
          </c:val>
          <c:smooth val="0"/>
        </c:ser>
        <c:ser>
          <c:idx val="3"/>
          <c:order val="3"/>
          <c:tx>
            <c:strRef>
              <c:f>Sheet1!$E$1</c:f>
              <c:strCache>
                <c:ptCount val="1"/>
                <c:pt idx="0">
                  <c:v>Lower control limit</c:v>
                </c:pt>
              </c:strCache>
            </c:strRef>
          </c:tx>
          <c:spPr>
            <a:ln w="31750">
              <a:solidFill>
                <a:srgbClr val="F59E0B"/>
              </a:solidFill>
            </a:ln>
          </c:spP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Sheet1!$E$2:$E$13</c:f>
              <c:numCache>
                <c:formatCode>General</c:formatCode>
                <c:ptCount val="12"/>
                <c:pt idx="0">
                  <c:v>42</c:v>
                </c:pt>
                <c:pt idx="1">
                  <c:v>42</c:v>
                </c:pt>
                <c:pt idx="2">
                  <c:v>42</c:v>
                </c:pt>
                <c:pt idx="3">
                  <c:v>42</c:v>
                </c:pt>
                <c:pt idx="4">
                  <c:v>42</c:v>
                </c:pt>
                <c:pt idx="5">
                  <c:v>42</c:v>
                </c:pt>
                <c:pt idx="6">
                  <c:v>42</c:v>
                </c:pt>
                <c:pt idx="7">
                  <c:v>42</c:v>
                </c:pt>
                <c:pt idx="8">
                  <c:v>42</c:v>
                </c:pt>
                <c:pt idx="9">
                  <c:v>42</c:v>
                </c:pt>
                <c:pt idx="10">
                  <c:v>42</c:v>
                </c:pt>
                <c:pt idx="11">
                  <c:v>42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Defects found</c:v>
                </c:pt>
              </c:strCache>
            </c:strRef>
          </c:tx>
          <c:spPr>
            <a:ln w="31750">
              <a:solidFill>
                <a:srgbClr val="1F6FEB"/>
              </a:solidFill>
            </a:ln>
          </c:spPr>
          <c:cat>
            <c:strRef>
              <c:f>Sheet1!$A$2:$A$9</c:f>
              <c:strCache>
                <c:ptCount val="8"/>
                <c:pt idx="0">
                  <c:v>10</c:v>
                </c:pt>
                <c:pt idx="1">
                  <c:v>20</c:v>
                </c:pt>
                <c:pt idx="2">
                  <c:v>30</c:v>
                </c:pt>
                <c:pt idx="3">
                  <c:v>40</c:v>
                </c:pt>
                <c:pt idx="4">
                  <c:v>50</c:v>
                </c:pt>
                <c:pt idx="5">
                  <c:v>60</c:v>
                </c:pt>
                <c:pt idx="6">
                  <c:v>70</c:v>
                </c:pt>
                <c:pt idx="7">
                  <c:v>80</c:v>
                </c:pt>
              </c:strCache>
            </c:strRef>
          </c:cat>
          <c:val>
            <c:numRef>
              <c:f>Sheet1!$B$2:$B$9</c:f>
              <c:numCache>
                <c:formatCode>General</c:formatCode>
                <c:ptCount val="8"/>
                <c:pt idx="0">
                  <c:v>4</c:v>
                </c:pt>
                <c:pt idx="1">
                  <c:v>6</c:v>
                </c:pt>
                <c:pt idx="2">
                  <c:v>9</c:v>
                </c:pt>
                <c:pt idx="3">
                  <c:v>11</c:v>
                </c:pt>
                <c:pt idx="4">
                  <c:v>15</c:v>
                </c:pt>
                <c:pt idx="5">
                  <c:v>18</c:v>
                </c:pt>
                <c:pt idx="6">
                  <c:v>22</c:v>
                </c:pt>
                <c:pt idx="7">
                  <c:v>27</c:v>
                </c:pt>
              </c:numCache>
            </c:numRef>
          </c:val>
          <c:smooth val="0"/>
        </c:ser>
        <c:ser>
          <c:idx val="1"/>
          <c:order val="1"/>
          <c:tx>
            <c:strRef>
              <c:f>Sheet1!$C$1</c:f>
              <c:strCache>
                <c:ptCount val="1"/>
                <c:pt idx="0">
                  <c:v>Overtime hours worked</c:v>
                </c:pt>
              </c:strCache>
            </c:strRef>
          </c:tx>
          <c:spPr>
            <a:ln w="31750">
              <a:solidFill>
                <a:srgbClr val="10B981"/>
              </a:solidFill>
            </a:ln>
          </c:spPr>
          <c:cat>
            <c:strRef>
              <c:f>Sheet1!$A$2:$A$9</c:f>
              <c:strCache>
                <c:ptCount val="8"/>
                <c:pt idx="0">
                  <c:v>10</c:v>
                </c:pt>
                <c:pt idx="1">
                  <c:v>20</c:v>
                </c:pt>
                <c:pt idx="2">
                  <c:v>30</c:v>
                </c:pt>
                <c:pt idx="3">
                  <c:v>40</c:v>
                </c:pt>
                <c:pt idx="4">
                  <c:v>50</c:v>
                </c:pt>
                <c:pt idx="5">
                  <c:v>60</c:v>
                </c:pt>
                <c:pt idx="6">
                  <c:v>70</c:v>
                </c:pt>
                <c:pt idx="7">
                  <c:v>80</c:v>
                </c:pt>
              </c:strCache>
            </c:strRef>
          </c:cat>
          <c:val>
            <c:numRef>
              <c:f>Sheet1!$C$2:$C$9</c:f>
              <c:numCache>
                <c:formatCode>General</c:formatCode>
                <c:ptCount val="8"/>
                <c:pt idx="0">
                  <c:v>5</c:v>
                </c:pt>
                <c:pt idx="1">
                  <c:v>8</c:v>
                </c:pt>
                <c:pt idx="2">
                  <c:v>11</c:v>
                </c:pt>
                <c:pt idx="3">
                  <c:v>16</c:v>
                </c:pt>
                <c:pt idx="4">
                  <c:v>19</c:v>
                </c:pt>
                <c:pt idx="5">
                  <c:v>24</c:v>
                </c:pt>
                <c:pt idx="6">
                  <c:v>29</c:v>
                </c:pt>
                <c:pt idx="7">
                  <c:v>35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Ideal remaining</c:v>
                </c:pt>
              </c:strCache>
            </c:strRef>
          </c:tx>
          <c:spPr>
            <a:ln w="31750">
              <a:solidFill>
                <a:srgbClr val="1F6FEB"/>
              </a:solidFill>
            </a:ln>
          </c:spPr>
          <c:cat>
            <c:strRef>
              <c:f>Sheet1!$A$2:$A$11</c:f>
              <c:strCache>
                <c:ptCount val="10"/>
                <c:pt idx="0">
                  <c:v>Day 1</c:v>
                </c:pt>
                <c:pt idx="1">
                  <c:v>Day 2</c:v>
                </c:pt>
                <c:pt idx="2">
                  <c:v>Day 3</c:v>
                </c:pt>
                <c:pt idx="3">
                  <c:v>Day 4</c:v>
                </c:pt>
                <c:pt idx="4">
                  <c:v>Day 5</c:v>
                </c:pt>
                <c:pt idx="5">
                  <c:v>Day 6</c:v>
                </c:pt>
                <c:pt idx="6">
                  <c:v>Day 7</c:v>
                </c:pt>
                <c:pt idx="7">
                  <c:v>Day 8</c:v>
                </c:pt>
                <c:pt idx="8">
                  <c:v>Day 9</c:v>
                </c:pt>
                <c:pt idx="9">
                  <c:v>Day 10</c:v>
                </c:pt>
              </c:strCache>
            </c:strRef>
          </c:cat>
          <c:val>
            <c:numRef>
              <c:f>Sheet1!$B$2:$B$11</c:f>
              <c:numCache>
                <c:formatCode>General</c:formatCode>
                <c:ptCount val="10"/>
                <c:pt idx="0">
                  <c:v>40</c:v>
                </c:pt>
                <c:pt idx="1">
                  <c:v>36</c:v>
                </c:pt>
                <c:pt idx="2">
                  <c:v>32</c:v>
                </c:pt>
                <c:pt idx="3">
                  <c:v>28</c:v>
                </c:pt>
                <c:pt idx="4">
                  <c:v>24</c:v>
                </c:pt>
                <c:pt idx="5">
                  <c:v>20</c:v>
                </c:pt>
                <c:pt idx="6">
                  <c:v>16</c:v>
                </c:pt>
                <c:pt idx="7">
                  <c:v>12</c:v>
                </c:pt>
                <c:pt idx="8">
                  <c:v>8</c:v>
                </c:pt>
                <c:pt idx="9">
                  <c:v>0</c:v>
                </c:pt>
              </c:numCache>
            </c:numRef>
          </c:val>
          <c:smooth val="0"/>
        </c:ser>
        <c:ser>
          <c:idx val="1"/>
          <c:order val="1"/>
          <c:tx>
            <c:strRef>
              <c:f>Sheet1!$C$1</c:f>
              <c:strCache>
                <c:ptCount val="1"/>
                <c:pt idx="0">
                  <c:v>Actual remaining</c:v>
                </c:pt>
              </c:strCache>
            </c:strRef>
          </c:tx>
          <c:spPr>
            <a:ln w="31750">
              <a:solidFill>
                <a:srgbClr val="10B981"/>
              </a:solidFill>
            </a:ln>
          </c:spPr>
          <c:cat>
            <c:strRef>
              <c:f>Sheet1!$A$2:$A$11</c:f>
              <c:strCache>
                <c:ptCount val="10"/>
                <c:pt idx="0">
                  <c:v>Day 1</c:v>
                </c:pt>
                <c:pt idx="1">
                  <c:v>Day 2</c:v>
                </c:pt>
                <c:pt idx="2">
                  <c:v>Day 3</c:v>
                </c:pt>
                <c:pt idx="3">
                  <c:v>Day 4</c:v>
                </c:pt>
                <c:pt idx="4">
                  <c:v>Day 5</c:v>
                </c:pt>
                <c:pt idx="5">
                  <c:v>Day 6</c:v>
                </c:pt>
                <c:pt idx="6">
                  <c:v>Day 7</c:v>
                </c:pt>
                <c:pt idx="7">
                  <c:v>Day 8</c:v>
                </c:pt>
                <c:pt idx="8">
                  <c:v>Day 9</c:v>
                </c:pt>
                <c:pt idx="9">
                  <c:v>Day 10</c:v>
                </c:pt>
              </c:strCache>
            </c:strRef>
          </c:cat>
          <c:val>
            <c:numRef>
              <c:f>Sheet1!$C$2:$C$11</c:f>
              <c:numCache>
                <c:formatCode>General</c:formatCode>
                <c:ptCount val="10"/>
                <c:pt idx="0">
                  <c:v>40</c:v>
                </c:pt>
                <c:pt idx="1">
                  <c:v>39</c:v>
                </c:pt>
                <c:pt idx="2">
                  <c:v>37</c:v>
                </c:pt>
                <c:pt idx="3">
                  <c:v>36</c:v>
                </c:pt>
                <c:pt idx="4">
                  <c:v>30</c:v>
                </c:pt>
                <c:pt idx="5">
                  <c:v>29</c:v>
                </c:pt>
                <c:pt idx="6">
                  <c:v>22</c:v>
                </c:pt>
                <c:pt idx="7">
                  <c:v>15</c:v>
                </c:pt>
                <c:pt idx="8">
                  <c:v>9</c:v>
                </c:pt>
                <c:pt idx="9">
                  <c:v>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DE3EC"/>
            </a:solidFill>
          </a:ln>
        </c:sp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DE3EC"/>
            </a:solidFill>
          </a:ln>
        </c:spPr>
        <c:crossAx val="2118791784"/>
        <c:crosses val="autoZero"/>
      </c:valAx>
    </c:plotArea>
    <c:legend>
      <c:legendPos val="b"/>
      <c:layout/>
      <c:overlay val="0"/>
    </c:legend>
    <c:plotVisOnly val="1"/>
    <c:dispBlanksAs val="gap"/>
    <c:showDLblsOverMax val="0"/>
  </c:chart>
  <c:txPr>
    <a:bodyPr/>
    <a:lstStyle/>
    <a:p>
      <a:pPr>
        <a:defRPr sz="1100">
          <a:solidFill>
            <a:srgbClr val="5B6372"/>
          </a:solidFill>
          <a:latin typeface="Arial"/>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chart>
    <c:autoTitleDeleted val="0"/>
    <c:plotArea>
      <c:pieChart>
        <c:varyColors val="1"/>
        <c:ser>
          <c:idx val="0"/>
          <c:order val="0"/>
          <c:tx>
            <c:strRef>
              <c:f>Sheet1!$B$1</c:f>
              <c:strCache>
                <c:ptCount val="1"/>
                <c:pt idx="0">
                  <c:v>Percentage of items</c:v>
                </c:pt>
              </c:strCache>
            </c:strRef>
          </c:tx>
          <c:dPt>
            <c:idx val="0"/>
            <c:spPr>
              <a:solidFill>
                <a:srgbClr val="1F6FEB"/>
              </a:solidFill>
            </c:spPr>
          </c:dPt>
          <c:dPt>
            <c:idx val="1"/>
            <c:spPr>
              <a:solidFill>
                <a:srgbClr val="10B981"/>
              </a:solidFill>
            </c:spPr>
          </c:dPt>
          <c:dPt>
            <c:idx val="2"/>
            <c:spPr>
              <a:solidFill>
                <a:srgbClr val="7C3AED"/>
              </a:solidFill>
            </c:spPr>
          </c:dPt>
          <c:cat>
            <c:strRef>
              <c:f>Sheet1!$A$2:$A$4</c:f>
              <c:strCache>
                <c:ptCount val="3"/>
                <c:pt idx="0">
                  <c:v>People 33%</c:v>
                </c:pt>
                <c:pt idx="1">
                  <c:v>Process 41%</c:v>
                </c:pt>
                <c:pt idx="2">
                  <c:v>Business Environment 26%</c:v>
                </c:pt>
              </c:strCache>
            </c:strRef>
          </c:cat>
          <c:val>
            <c:numRef>
              <c:f>Sheet1!$B$2:$B$4</c:f>
              <c:numCache>
                <c:formatCode>General</c:formatCode>
                <c:ptCount val="3"/>
                <c:pt idx="0">
                  <c:v>33</c:v>
                </c:pt>
                <c:pt idx="1">
                  <c:v>41</c:v>
                </c:pt>
                <c:pt idx="2">
                  <c:v>26</c:v>
                </c:pt>
              </c:numCache>
            </c:numRef>
          </c:val>
        </c:ser>
      </c:pieChart>
    </c:plotArea>
    <c:legend>
      <c:legendPos/>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Exam weight (%)</c:v>
                </c:pt>
              </c:strCache>
            </c:strRef>
          </c:tx>
          <c:spPr>
            <a:solidFill>
              <a:srgbClr val="1F6FEB"/>
            </a:solidFill>
          </c:spPr>
          <c:cat>
            <c:strRef>
              <c:f>Sheet1!$A$2:$A$4</c:f>
              <c:strCache>
                <c:ptCount val="3"/>
                <c:pt idx="0">
                  <c:v>People</c:v>
                </c:pt>
                <c:pt idx="1">
                  <c:v>Process</c:v>
                </c:pt>
                <c:pt idx="2">
                  <c:v>Business Environment</c:v>
                </c:pt>
              </c:strCache>
            </c:strRef>
          </c:cat>
          <c:val>
            <c:numRef>
              <c:f>Sheet1!$B$2:$B$4</c:f>
              <c:numCache>
                <c:formatCode>General</c:formatCode>
                <c:ptCount val="3"/>
                <c:pt idx="0">
                  <c:v>33</c:v>
                </c:pt>
                <c:pt idx="1">
                  <c:v>41</c:v>
                </c:pt>
                <c:pt idx="2">
                  <c:v>26</c:v>
                </c:pt>
              </c:numCache>
            </c:numRef>
          </c:val>
        </c:ser>
        <c:ser>
          <c:idx val="1"/>
          <c:order val="1"/>
          <c:tx>
            <c:strRef>
              <c:f>Sheet1!$C$1</c:f>
              <c:strCache>
                <c:ptCount val="1"/>
                <c:pt idx="0">
                  <c:v>Suggested revision hours</c:v>
                </c:pt>
              </c:strCache>
            </c:strRef>
          </c:tx>
          <c:spPr>
            <a:solidFill>
              <a:srgbClr val="10B981"/>
            </a:solidFill>
          </c:spPr>
          <c:cat>
            <c:strRef>
              <c:f>Sheet1!$A$2:$A$4</c:f>
              <c:strCache>
                <c:ptCount val="3"/>
                <c:pt idx="0">
                  <c:v>People</c:v>
                </c:pt>
                <c:pt idx="1">
                  <c:v>Process</c:v>
                </c:pt>
                <c:pt idx="2">
                  <c:v>Business Environment</c:v>
                </c:pt>
              </c:strCache>
            </c:strRef>
          </c:cat>
          <c:val>
            <c:numRef>
              <c:f>Sheet1!$C$2:$C$4</c:f>
              <c:numCache>
                <c:formatCode>General</c:formatCode>
                <c:ptCount val="3"/>
                <c:pt idx="0">
                  <c:v>24</c:v>
                </c:pt>
                <c:pt idx="1">
                  <c:v>32</c:v>
                </c:pt>
                <c:pt idx="2">
                  <c:v>20</c:v>
                </c:pt>
              </c:numCache>
            </c:numRef>
          </c:val>
        </c:ser>
        <c:axId val="-2068027336"/>
        <c:axId val="-2113994440"/>
      </c:barChart>
      <c:catAx>
        <c:axId val="-2068027336"/>
        <c:scaling>
          <c:orientation val="minMax"/>
        </c:scaling>
        <c:delete val="0"/>
        <c:axPos val="b"/>
        <c:majorTickMark val="out"/>
        <c:minorTickMark val="none"/>
        <c:tickLblPos val="nextTo"/>
        <c:spPr>
          <a:ln>
            <a:solidFill>
              <a:srgbClr val="DDE3EC"/>
            </a:solidFill>
          </a:ln>
        </c:spPr>
        <c:crossAx val="-2113994440"/>
        <c:crosses val="autoZero"/>
        <c:auto val="1"/>
        <c:lblAlgn val="ctr"/>
        <c:lblOffset val="100"/>
        <c:noMultiLvlLbl val="0"/>
      </c:catAx>
      <c:valAx>
        <c:axId val="-2113994440"/>
        <c:scaling/>
        <c:delete val="0"/>
        <c:axPos val="l"/>
        <c:majorGridlines/>
        <c:majorTickMark val="out"/>
        <c:minorTickMark val="none"/>
        <c:tickLblPos val="nextTo"/>
        <c:spPr>
          <a:ln>
            <a:solidFill>
              <a:srgbClr val="DDE3EC"/>
            </a:solidFill>
          </a:ln>
        </c:spPr>
        <c:crossAx val="-2068027336"/>
        <c:crosses val="autoZero"/>
      </c:valAx>
    </c:plotArea>
    <c:legend>
      <c:legendPos val="b"/>
      <c:overlay val="0"/>
    </c:legend>
    <c:dispBlanksAs val="gap"/>
  </c:chart>
  <c:txPr>
    <a:bodyPr/>
    <a:lstStyle/>
    <a:p>
      <a:pPr>
        <a:defRPr sz="1100">
          <a:solidFill>
            <a:srgbClr val="5B6372"/>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5.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6.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8.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9.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0.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1.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2.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3.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4.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5.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029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55080"/>
            <a:ext cx="12191695" cy="502920"/>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481328"/>
            <a:ext cx="2743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50976" y="1481328"/>
            <a:ext cx="2743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35024" y="1481328"/>
            <a:ext cx="27432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19072" y="1481328"/>
            <a:ext cx="27432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03120" y="1481328"/>
            <a:ext cx="274320" cy="914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487168" y="1481328"/>
            <a:ext cx="274320"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810512"/>
            <a:ext cx="10058400" cy="1737360"/>
          </a:xfrm>
          <a:prstGeom prst="rect">
            <a:avLst/>
          </a:prstGeom>
          <a:noFill/>
        </p:spPr>
        <p:txBody>
          <a:bodyPr wrap="square" anchor="t">
            <a:spAutoFit/>
          </a:bodyPr>
          <a:lstStyle/>
          <a:p>
            <a:pPr algn="l">
              <a:lnSpc>
                <a:spcPct val="106000"/>
              </a:lnSpc>
              <a:spcAft>
                <a:spcPts val="400"/>
              </a:spcAft>
            </a:pPr>
            <a:r>
              <a:rPr sz="4200" b="1" i="0">
                <a:solidFill>
                  <a:srgbClr val="161B26"/>
                </a:solidFill>
                <a:latin typeface="Arial"/>
              </a:rPr>
              <a:t>Project Management Professional (PMP) 35 PDU Training</a:t>
            </a:r>
          </a:p>
        </p:txBody>
      </p:sp>
      <p:sp>
        <p:nvSpPr>
          <p:cNvPr id="11" name="TextBox 10"/>
          <p:cNvSpPr txBox="1"/>
          <p:nvPr/>
        </p:nvSpPr>
        <p:spPr>
          <a:xfrm>
            <a:off x="566928" y="3310128"/>
            <a:ext cx="10881360" cy="411480"/>
          </a:xfrm>
          <a:prstGeom prst="rect">
            <a:avLst/>
          </a:prstGeom>
          <a:noFill/>
        </p:spPr>
        <p:txBody>
          <a:bodyPr wrap="square" anchor="t">
            <a:spAutoFit/>
          </a:bodyPr>
          <a:lstStyle/>
          <a:p>
            <a:pPr algn="l">
              <a:lnSpc>
                <a:spcPct val="100000"/>
              </a:lnSpc>
              <a:spcAft>
                <a:spcPts val="400"/>
              </a:spcAft>
            </a:pPr>
            <a:r>
              <a:rPr sz="1900" b="1" i="0">
                <a:solidFill>
                  <a:srgbClr val="1F6FEB"/>
                </a:solidFill>
                <a:latin typeface="Arial"/>
              </a:rPr>
              <a:t>4-Day Instructor-Led Programme  ·  35 PDUs</a:t>
            </a:r>
          </a:p>
        </p:txBody>
      </p:sp>
      <p:sp>
        <p:nvSpPr>
          <p:cNvPr id="12" name="Rectangle 11"/>
          <p:cNvSpPr/>
          <p:nvPr/>
        </p:nvSpPr>
        <p:spPr>
          <a:xfrm>
            <a:off x="566928" y="3858768"/>
            <a:ext cx="2743200" cy="457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4096512"/>
            <a:ext cx="10881360" cy="1737360"/>
          </a:xfrm>
          <a:prstGeom prst="rect">
            <a:avLst/>
          </a:prstGeom>
          <a:noFill/>
        </p:spPr>
        <p:txBody>
          <a:bodyPr wrap="square" anchor="t">
            <a:spAutoFit/>
          </a:bodyPr>
          <a:lstStyle/>
          <a:p>
            <a:pPr algn="l">
              <a:lnSpc>
                <a:spcPct val="100000"/>
              </a:lnSpc>
              <a:spcAft>
                <a:spcPts val="500"/>
              </a:spcAft>
            </a:pPr>
            <a:r>
              <a:rPr sz="1300" b="0" i="0">
                <a:solidFill>
                  <a:srgbClr val="5B6372"/>
                </a:solidFill>
                <a:latin typeface="Arial"/>
              </a:rPr>
              <a:t>Version: 16.0          Trainer: Dr. Alfred Ang</a:t>
            </a:r>
          </a:p>
          <a:p>
            <a:pPr algn="l">
              <a:lnSpc>
                <a:spcPct val="100000"/>
              </a:lnSpc>
              <a:spcAft>
                <a:spcPts val="500"/>
              </a:spcAft>
            </a:pPr>
            <a:r>
              <a:rPr sz="1300" b="0" i="0">
                <a:solidFill>
                  <a:srgbClr val="5B6372"/>
                </a:solidFill>
                <a:latin typeface="Arial"/>
              </a:rPr>
              <a:t>Course Code: TGS-2024045797          TSC: ICT-PMT-4026-1.1</a:t>
            </a:r>
          </a:p>
          <a:p>
            <a:pPr algn="l">
              <a:lnSpc>
                <a:spcPct val="100000"/>
              </a:lnSpc>
              <a:spcAft>
                <a:spcPts val="500"/>
              </a:spcAft>
            </a:pPr>
            <a:r>
              <a:rPr sz="1300" b="0" i="0">
                <a:solidFill>
                  <a:srgbClr val="5B6372"/>
                </a:solidFill>
                <a:latin typeface="Arial"/>
              </a:rPr>
              <a:t>Tertiary Infotech Academy Pte Ltd   ·   UEN 201200696W</a:t>
            </a:r>
          </a:p>
          <a:p>
            <a:pPr algn="l">
              <a:lnSpc>
                <a:spcPct val="100000"/>
              </a:lnSpc>
              <a:spcAft>
                <a:spcPts val="500"/>
              </a:spcAft>
            </a:pPr>
            <a:r>
              <a:rPr sz="1300" b="0" i="0">
                <a:solidFill>
                  <a:srgbClr val="5B6372"/>
                </a:solidFill>
                <a:latin typeface="Arial"/>
              </a:rPr>
              <a:t>Aligned to the PMI PMP Examination Content Outline — July 2026</a:t>
            </a:r>
          </a:p>
        </p:txBody>
      </p:sp>
      <p:sp>
        <p:nvSpPr>
          <p:cNvPr id="14" name="TextBox 13"/>
          <p:cNvSpPr txBox="1"/>
          <p:nvPr/>
        </p:nvSpPr>
        <p:spPr>
          <a:xfrm>
            <a:off x="566928" y="6446520"/>
            <a:ext cx="8229600" cy="329184"/>
          </a:xfrm>
          <a:prstGeom prst="rect">
            <a:avLst/>
          </a:prstGeom>
          <a:noFill/>
        </p:spPr>
        <p:txBody>
          <a:bodyPr wrap="square" anchor="t">
            <a:spAutoFit/>
          </a:bodyPr>
          <a:lstStyle/>
          <a:p>
            <a:pPr algn="l">
              <a:lnSpc>
                <a:spcPct val="100000"/>
              </a:lnSpc>
              <a:spcAft>
                <a:spcPts val="400"/>
              </a:spcAft>
            </a:pPr>
            <a:r>
              <a:rPr sz="1000" b="0" i="0">
                <a:solidFill>
                  <a:srgbClr val="FFFFFF"/>
                </a:solidFill>
                <a:latin typeface="Arial"/>
              </a:rPr>
              <a:t>© 2026 Tertiary Infotech Academy Pte Ltd</a:t>
            </a:r>
          </a:p>
        </p:txBody>
      </p:sp>
      <p:pic>
        <p:nvPicPr>
          <p:cNvPr id="15" name="Picture 14" descr="tertiary-infotech-logo.png"/>
          <p:cNvPicPr>
            <a:picLocks noChangeAspect="1"/>
          </p:cNvPicPr>
          <p:nvPr/>
        </p:nvPicPr>
        <p:blipFill>
          <a:blip r:embed="rId2"/>
          <a:stretch>
            <a:fillRect/>
          </a:stretch>
        </p:blipFill>
        <p:spPr>
          <a:xfrm>
            <a:off x="10698480" y="731520"/>
            <a:ext cx="841248" cy="841248"/>
          </a:xfrm>
          <a:prstGeom prst="rect">
            <a:avLst/>
          </a:prstGeom>
        </p:spPr>
      </p:pic>
      <p:pic>
        <p:nvPicPr>
          <p:cNvPr id="16" name="Picture 15" descr="pmp-course-logo.png"/>
          <p:cNvPicPr>
            <a:picLocks noChangeAspect="1"/>
          </p:cNvPicPr>
          <p:nvPr/>
        </p:nvPicPr>
        <p:blipFill>
          <a:blip r:embed="rId3"/>
          <a:stretch>
            <a:fillRect/>
          </a:stretch>
        </p:blipFill>
        <p:spPr>
          <a:xfrm>
            <a:off x="9637776" y="731520"/>
            <a:ext cx="841248" cy="84124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COURSE ADMINISTRATION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Digital Attendance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Scan AM and PM, every day</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Digital attendance is taken twice daily. Both scans are required for each of the four days.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Assessment attendance is separate</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 attendance again for the assessment session on Day 4 — it is a distinct record.</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75% minimum for funding</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SSG funding is conditional on the attendance rate recorded in the digital attendance system.</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Scan with your own identity</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Proxy attendance voids funding for both the absent learner and the person who scanned.</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TRAQOM quality survey</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Mandatory at course end. Your certificate is released only after the survey is submitted.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to go</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Both the attendance QR code and the TRAQOM link are issued by the trainer at lms-tms.tertiaryinfotech.com.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5B6372"/>
                </a:solidFill>
                <a:latin typeface="Arial"/>
              </a:rPr>
              <a:t>GENERAL TRAINER PROFILE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About the Trainer</a:t>
            </a:r>
          </a:p>
        </p:txBody>
      </p:sp>
      <p:sp>
        <p:nvSpPr>
          <p:cNvPr id="4" name="Rectangle 3"/>
          <p:cNvSpPr/>
          <p:nvPr/>
        </p:nvSpPr>
        <p:spPr>
          <a:xfrm>
            <a:off x="566928" y="1194663"/>
            <a:ext cx="822960" cy="50292"/>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3703320" cy="4480560"/>
          </a:xfrm>
          <a:prstGeom prst="roundRect">
            <a:avLst>
              <a:gd name="adj" fmla="val 10000"/>
            </a:avLst>
          </a:prstGeom>
          <a:solidFill>
            <a:srgbClr val="F1F2F3"/>
          </a:solidFill>
          <a:ln w="12700">
            <a:solidFill>
              <a:srgbClr val="5B63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3703320" cy="6858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41348" y="1853031"/>
            <a:ext cx="1554480" cy="1554480"/>
          </a:xfrm>
          <a:prstGeom prst="ellipse">
            <a:avLst/>
          </a:prstGeom>
          <a:solidFill>
            <a:srgbClr val="FFFFFF"/>
          </a:solidFill>
          <a:ln w="12700">
            <a:solidFill>
              <a:srgbClr val="5B63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1348" y="2438247"/>
            <a:ext cx="1554480" cy="457200"/>
          </a:xfrm>
          <a:prstGeom prst="rect">
            <a:avLst/>
          </a:prstGeom>
          <a:noFill/>
        </p:spPr>
        <p:txBody>
          <a:bodyPr wrap="square" anchor="t">
            <a:spAutoFit/>
          </a:bodyPr>
          <a:lstStyle/>
          <a:p>
            <a:pPr algn="ctr">
              <a:lnSpc>
                <a:spcPct val="100000"/>
              </a:lnSpc>
              <a:spcAft>
                <a:spcPts val="400"/>
              </a:spcAft>
            </a:pPr>
            <a:r>
              <a:rPr sz="3000" b="1" i="0">
                <a:solidFill>
                  <a:srgbClr val="5B6372"/>
                </a:solidFill>
                <a:latin typeface="Arial"/>
              </a:rPr>
              <a:t>—</a:t>
            </a:r>
          </a:p>
        </p:txBody>
      </p:sp>
      <p:sp>
        <p:nvSpPr>
          <p:cNvPr id="9" name="TextBox 8"/>
          <p:cNvSpPr txBox="1"/>
          <p:nvPr/>
        </p:nvSpPr>
        <p:spPr>
          <a:xfrm>
            <a:off x="786384" y="3590391"/>
            <a:ext cx="3264408" cy="402336"/>
          </a:xfrm>
          <a:prstGeom prst="rect">
            <a:avLst/>
          </a:prstGeom>
          <a:noFill/>
        </p:spPr>
        <p:txBody>
          <a:bodyPr wrap="square" anchor="t">
            <a:spAutoFit/>
          </a:bodyPr>
          <a:lstStyle/>
          <a:p>
            <a:pPr algn="ctr">
              <a:lnSpc>
                <a:spcPct val="100000"/>
              </a:lnSpc>
              <a:spcAft>
                <a:spcPts val="400"/>
              </a:spcAft>
            </a:pPr>
            <a:r>
              <a:rPr sz="1900" b="1" i="0">
                <a:solidFill>
                  <a:srgbClr val="161B26"/>
                </a:solidFill>
                <a:latin typeface="Arial"/>
              </a:rPr>
              <a:t>&lt;Trainer Name&gt;</a:t>
            </a:r>
          </a:p>
        </p:txBody>
      </p:sp>
      <p:sp>
        <p:nvSpPr>
          <p:cNvPr id="10" name="TextBox 9"/>
          <p:cNvSpPr txBox="1"/>
          <p:nvPr/>
        </p:nvSpPr>
        <p:spPr>
          <a:xfrm>
            <a:off x="786384" y="4047591"/>
            <a:ext cx="3264408" cy="329184"/>
          </a:xfrm>
          <a:prstGeom prst="rect">
            <a:avLst/>
          </a:prstGeom>
          <a:noFill/>
        </p:spPr>
        <p:txBody>
          <a:bodyPr wrap="square" anchor="t">
            <a:spAutoFit/>
          </a:bodyPr>
          <a:lstStyle/>
          <a:p>
            <a:pPr algn="ctr">
              <a:lnSpc>
                <a:spcPct val="100000"/>
              </a:lnSpc>
              <a:spcAft>
                <a:spcPts val="400"/>
              </a:spcAft>
            </a:pPr>
            <a:r>
              <a:rPr sz="1300" b="1" i="0">
                <a:solidFill>
                  <a:srgbClr val="5B6372"/>
                </a:solidFill>
                <a:latin typeface="Arial"/>
              </a:rPr>
              <a:t>&lt;Designation&gt;</a:t>
            </a:r>
          </a:p>
        </p:txBody>
      </p:sp>
      <p:sp>
        <p:nvSpPr>
          <p:cNvPr id="11" name="TextBox 10"/>
          <p:cNvSpPr txBox="1"/>
          <p:nvPr/>
        </p:nvSpPr>
        <p:spPr>
          <a:xfrm>
            <a:off x="786384" y="4449927"/>
            <a:ext cx="3264408" cy="1188720"/>
          </a:xfrm>
          <a:prstGeom prst="rect">
            <a:avLst/>
          </a:prstGeom>
          <a:noFill/>
        </p:spPr>
        <p:txBody>
          <a:bodyPr wrap="square" anchor="t">
            <a:spAutoFit/>
          </a:bodyPr>
          <a:lstStyle/>
          <a:p>
            <a:pPr algn="ctr">
              <a:lnSpc>
                <a:spcPct val="124000"/>
              </a:lnSpc>
              <a:spcAft>
                <a:spcPts val="400"/>
              </a:spcAft>
            </a:pPr>
            <a:r>
              <a:rPr sz="1150" b="0" i="0">
                <a:solidFill>
                  <a:srgbClr val="5B6372"/>
                </a:solidFill>
                <a:latin typeface="Arial"/>
              </a:rPr>
              <a:t>&lt;Organisation&gt;</a:t>
            </a:r>
          </a:p>
          <a:p>
            <a:pPr algn="ctr">
              <a:lnSpc>
                <a:spcPct val="124000"/>
              </a:lnSpc>
              <a:spcAft>
                <a:spcPts val="400"/>
              </a:spcAft>
            </a:pPr>
            <a:r>
              <a:rPr sz="1150" b="0" i="0">
                <a:solidFill>
                  <a:srgbClr val="5B6372"/>
                </a:solidFill>
                <a:latin typeface="Arial"/>
              </a:rPr>
              <a:t>&lt;UEN&gt;</a:t>
            </a:r>
          </a:p>
          <a:p>
            <a:pPr algn="ctr">
              <a:lnSpc>
                <a:spcPct val="124000"/>
              </a:lnSpc>
              <a:spcAft>
                <a:spcPts val="400"/>
              </a:spcAft>
            </a:pPr>
            <a:r>
              <a:rPr sz="1150" b="0" i="0">
                <a:solidFill>
                  <a:srgbClr val="5B6372"/>
                </a:solidFill>
                <a:latin typeface="Arial"/>
              </a:rPr>
              <a:t>&lt;Email&gt;</a:t>
            </a:r>
          </a:p>
        </p:txBody>
      </p:sp>
      <p:sp>
        <p:nvSpPr>
          <p:cNvPr id="12" name="Rounded Rectangle 11"/>
          <p:cNvSpPr/>
          <p:nvPr/>
        </p:nvSpPr>
        <p:spPr>
          <a:xfrm>
            <a:off x="4544568" y="1432407"/>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44568" y="1432407"/>
            <a:ext cx="50292" cy="9966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64024" y="1523847"/>
            <a:ext cx="6675120" cy="292608"/>
          </a:xfrm>
          <a:prstGeom prst="rect">
            <a:avLst/>
          </a:prstGeom>
          <a:noFill/>
        </p:spPr>
        <p:txBody>
          <a:bodyPr wrap="square" anchor="t">
            <a:spAutoFit/>
          </a:bodyPr>
          <a:lstStyle/>
          <a:p>
            <a:pPr algn="l">
              <a:lnSpc>
                <a:spcPct val="100000"/>
              </a:lnSpc>
              <a:spcAft>
                <a:spcPts val="400"/>
              </a:spcAft>
            </a:pPr>
            <a:r>
              <a:rPr sz="1300" b="1" i="0">
                <a:solidFill>
                  <a:srgbClr val="5B6372"/>
                </a:solidFill>
                <a:latin typeface="Arial"/>
              </a:rPr>
              <a:t>Qualifications</a:t>
            </a:r>
          </a:p>
        </p:txBody>
      </p:sp>
      <p:sp>
        <p:nvSpPr>
          <p:cNvPr id="15" name="TextBox 14"/>
          <p:cNvSpPr txBox="1"/>
          <p:nvPr/>
        </p:nvSpPr>
        <p:spPr>
          <a:xfrm>
            <a:off x="4764024" y="1834743"/>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&lt;Degree / professional certifications relevant to the course domain, including certifying body and year.&gt;</a:t>
            </a:r>
          </a:p>
        </p:txBody>
      </p:sp>
      <p:sp>
        <p:nvSpPr>
          <p:cNvPr id="16" name="Rounded Rectangle 15"/>
          <p:cNvSpPr/>
          <p:nvPr/>
        </p:nvSpPr>
        <p:spPr>
          <a:xfrm>
            <a:off x="4544568" y="2593695"/>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44568" y="2593695"/>
            <a:ext cx="50292" cy="9966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64024" y="2685135"/>
            <a:ext cx="6675120" cy="292608"/>
          </a:xfrm>
          <a:prstGeom prst="rect">
            <a:avLst/>
          </a:prstGeom>
          <a:noFill/>
        </p:spPr>
        <p:txBody>
          <a:bodyPr wrap="square" anchor="t">
            <a:spAutoFit/>
          </a:bodyPr>
          <a:lstStyle/>
          <a:p>
            <a:pPr algn="l">
              <a:lnSpc>
                <a:spcPct val="100000"/>
              </a:lnSpc>
              <a:spcAft>
                <a:spcPts val="400"/>
              </a:spcAft>
            </a:pPr>
            <a:r>
              <a:rPr sz="1300" b="1" i="0">
                <a:solidFill>
                  <a:srgbClr val="5B6372"/>
                </a:solidFill>
                <a:latin typeface="Arial"/>
              </a:rPr>
              <a:t>Industry experience</a:t>
            </a:r>
          </a:p>
        </p:txBody>
      </p:sp>
      <p:sp>
        <p:nvSpPr>
          <p:cNvPr id="19" name="TextBox 18"/>
          <p:cNvSpPr txBox="1"/>
          <p:nvPr/>
        </p:nvSpPr>
        <p:spPr>
          <a:xfrm>
            <a:off x="4764024" y="2996031"/>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&lt;Years of relevant practice, sectors worked in, and the scale of projects or teams led.&gt;</a:t>
            </a:r>
          </a:p>
        </p:txBody>
      </p:sp>
      <p:sp>
        <p:nvSpPr>
          <p:cNvPr id="20" name="Rounded Rectangle 19"/>
          <p:cNvSpPr/>
          <p:nvPr/>
        </p:nvSpPr>
        <p:spPr>
          <a:xfrm>
            <a:off x="4544568" y="3754983"/>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44568" y="3754983"/>
            <a:ext cx="50292" cy="9966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64024" y="3846423"/>
            <a:ext cx="6675120" cy="292608"/>
          </a:xfrm>
          <a:prstGeom prst="rect">
            <a:avLst/>
          </a:prstGeom>
          <a:noFill/>
        </p:spPr>
        <p:txBody>
          <a:bodyPr wrap="square" anchor="t">
            <a:spAutoFit/>
          </a:bodyPr>
          <a:lstStyle/>
          <a:p>
            <a:pPr algn="l">
              <a:lnSpc>
                <a:spcPct val="100000"/>
              </a:lnSpc>
              <a:spcAft>
                <a:spcPts val="400"/>
              </a:spcAft>
            </a:pPr>
            <a:r>
              <a:rPr sz="1300" b="1" i="0">
                <a:solidFill>
                  <a:srgbClr val="5B6372"/>
                </a:solidFill>
                <a:latin typeface="Arial"/>
              </a:rPr>
              <a:t>Training experience</a:t>
            </a:r>
          </a:p>
        </p:txBody>
      </p:sp>
      <p:sp>
        <p:nvSpPr>
          <p:cNvPr id="23" name="TextBox 22"/>
          <p:cNvSpPr txBox="1"/>
          <p:nvPr/>
        </p:nvSpPr>
        <p:spPr>
          <a:xfrm>
            <a:off x="4764024" y="4157319"/>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&lt;ACTA/ACLP status, years of adult training delivery, and the programmes previously facilitated.&gt;</a:t>
            </a:r>
          </a:p>
        </p:txBody>
      </p:sp>
      <p:sp>
        <p:nvSpPr>
          <p:cNvPr id="24" name="Rounded Rectangle 23"/>
          <p:cNvSpPr/>
          <p:nvPr/>
        </p:nvSpPr>
        <p:spPr>
          <a:xfrm>
            <a:off x="4544568" y="4916271"/>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44568" y="4916271"/>
            <a:ext cx="50292" cy="996696"/>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64024" y="5007711"/>
            <a:ext cx="6675120" cy="292608"/>
          </a:xfrm>
          <a:prstGeom prst="rect">
            <a:avLst/>
          </a:prstGeom>
          <a:noFill/>
        </p:spPr>
        <p:txBody>
          <a:bodyPr wrap="square" anchor="t">
            <a:spAutoFit/>
          </a:bodyPr>
          <a:lstStyle/>
          <a:p>
            <a:pPr algn="l">
              <a:lnSpc>
                <a:spcPct val="100000"/>
              </a:lnSpc>
              <a:spcAft>
                <a:spcPts val="400"/>
              </a:spcAft>
            </a:pPr>
            <a:r>
              <a:rPr sz="1300" b="1" i="0">
                <a:solidFill>
                  <a:srgbClr val="5B6372"/>
                </a:solidFill>
                <a:latin typeface="Arial"/>
              </a:rPr>
              <a:t>Areas of specialisation</a:t>
            </a:r>
          </a:p>
        </p:txBody>
      </p:sp>
      <p:sp>
        <p:nvSpPr>
          <p:cNvPr id="27" name="TextBox 26"/>
          <p:cNvSpPr txBox="1"/>
          <p:nvPr/>
        </p:nvSpPr>
        <p:spPr>
          <a:xfrm>
            <a:off x="4764024" y="5318607"/>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&lt;Specific technical or domain areas the trainer is engaged to deliver within this course.&gt;</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YOUR FACILITATOR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About the Trainer</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3703320" cy="4480560"/>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3703320"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641348" y="1853031"/>
            <a:ext cx="1554480" cy="1554480"/>
          </a:xfrm>
          <a:prstGeom prst="ellipse">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1348" y="2438247"/>
            <a:ext cx="1554480" cy="457200"/>
          </a:xfrm>
          <a:prstGeom prst="rect">
            <a:avLst/>
          </a:prstGeom>
          <a:noFill/>
        </p:spPr>
        <p:txBody>
          <a:bodyPr wrap="square" anchor="t">
            <a:spAutoFit/>
          </a:bodyPr>
          <a:lstStyle/>
          <a:p>
            <a:pPr algn="ctr">
              <a:lnSpc>
                <a:spcPct val="100000"/>
              </a:lnSpc>
              <a:spcAft>
                <a:spcPts val="400"/>
              </a:spcAft>
            </a:pPr>
            <a:r>
              <a:rPr sz="3000" b="1" i="0">
                <a:solidFill>
                  <a:srgbClr val="7C3AED"/>
                </a:solidFill>
                <a:latin typeface="Arial"/>
              </a:rPr>
              <a:t>AA</a:t>
            </a:r>
          </a:p>
        </p:txBody>
      </p:sp>
      <p:sp>
        <p:nvSpPr>
          <p:cNvPr id="9" name="TextBox 8"/>
          <p:cNvSpPr txBox="1"/>
          <p:nvPr/>
        </p:nvSpPr>
        <p:spPr>
          <a:xfrm>
            <a:off x="786384" y="3590391"/>
            <a:ext cx="3264408" cy="402336"/>
          </a:xfrm>
          <a:prstGeom prst="rect">
            <a:avLst/>
          </a:prstGeom>
          <a:noFill/>
        </p:spPr>
        <p:txBody>
          <a:bodyPr wrap="square" anchor="t">
            <a:spAutoFit/>
          </a:bodyPr>
          <a:lstStyle/>
          <a:p>
            <a:pPr algn="ctr">
              <a:lnSpc>
                <a:spcPct val="100000"/>
              </a:lnSpc>
              <a:spcAft>
                <a:spcPts val="400"/>
              </a:spcAft>
            </a:pPr>
            <a:r>
              <a:rPr sz="1900" b="1" i="0">
                <a:solidFill>
                  <a:srgbClr val="161B26"/>
                </a:solidFill>
                <a:latin typeface="Arial"/>
              </a:rPr>
              <a:t>Dr. Alfred Ang</a:t>
            </a:r>
          </a:p>
        </p:txBody>
      </p:sp>
      <p:sp>
        <p:nvSpPr>
          <p:cNvPr id="10" name="TextBox 9"/>
          <p:cNvSpPr txBox="1"/>
          <p:nvPr/>
        </p:nvSpPr>
        <p:spPr>
          <a:xfrm>
            <a:off x="786384" y="4047591"/>
            <a:ext cx="3264408" cy="329184"/>
          </a:xfrm>
          <a:prstGeom prst="rect">
            <a:avLst/>
          </a:prstGeom>
          <a:noFill/>
        </p:spPr>
        <p:txBody>
          <a:bodyPr wrap="square" anchor="t">
            <a:spAutoFit/>
          </a:bodyPr>
          <a:lstStyle/>
          <a:p>
            <a:pPr algn="ctr">
              <a:lnSpc>
                <a:spcPct val="100000"/>
              </a:lnSpc>
              <a:spcAft>
                <a:spcPts val="400"/>
              </a:spcAft>
            </a:pPr>
            <a:r>
              <a:rPr sz="1300" b="1" i="0">
                <a:solidFill>
                  <a:srgbClr val="7C3AED"/>
                </a:solidFill>
                <a:latin typeface="Arial"/>
              </a:rPr>
              <a:t>Principal Trainer</a:t>
            </a:r>
          </a:p>
        </p:txBody>
      </p:sp>
      <p:sp>
        <p:nvSpPr>
          <p:cNvPr id="11" name="TextBox 10"/>
          <p:cNvSpPr txBox="1"/>
          <p:nvPr/>
        </p:nvSpPr>
        <p:spPr>
          <a:xfrm>
            <a:off x="786384" y="4449927"/>
            <a:ext cx="3264408" cy="1188720"/>
          </a:xfrm>
          <a:prstGeom prst="rect">
            <a:avLst/>
          </a:prstGeom>
          <a:noFill/>
        </p:spPr>
        <p:txBody>
          <a:bodyPr wrap="square" anchor="t">
            <a:spAutoFit/>
          </a:bodyPr>
          <a:lstStyle/>
          <a:p>
            <a:pPr algn="ctr">
              <a:lnSpc>
                <a:spcPct val="124000"/>
              </a:lnSpc>
              <a:spcAft>
                <a:spcPts val="400"/>
              </a:spcAft>
            </a:pPr>
            <a:r>
              <a:rPr sz="1150" b="0" i="0">
                <a:solidFill>
                  <a:srgbClr val="5B6372"/>
                </a:solidFill>
                <a:latin typeface="Arial"/>
              </a:rPr>
              <a:t>Tertiary Infotech Academy Pte Ltd</a:t>
            </a:r>
          </a:p>
          <a:p>
            <a:pPr algn="ctr">
              <a:lnSpc>
                <a:spcPct val="124000"/>
              </a:lnSpc>
              <a:spcAft>
                <a:spcPts val="400"/>
              </a:spcAft>
            </a:pPr>
            <a:r>
              <a:rPr sz="1150" b="0" i="0">
                <a:solidFill>
                  <a:srgbClr val="5B6372"/>
                </a:solidFill>
                <a:latin typeface="Arial"/>
              </a:rPr>
              <a:t>UEN 201200696W</a:t>
            </a:r>
          </a:p>
          <a:p>
            <a:pPr algn="ctr">
              <a:lnSpc>
                <a:spcPct val="124000"/>
              </a:lnSpc>
              <a:spcAft>
                <a:spcPts val="400"/>
              </a:spcAft>
            </a:pPr>
            <a:r>
              <a:rPr sz="1150" b="0" i="0">
                <a:solidFill>
                  <a:srgbClr val="5B6372"/>
                </a:solidFill>
                <a:latin typeface="Arial"/>
              </a:rPr>
              <a:t>enquiry@tertiaryinfotech.com</a:t>
            </a:r>
          </a:p>
        </p:txBody>
      </p:sp>
      <p:sp>
        <p:nvSpPr>
          <p:cNvPr id="12" name="Rounded Rectangle 11"/>
          <p:cNvSpPr/>
          <p:nvPr/>
        </p:nvSpPr>
        <p:spPr>
          <a:xfrm>
            <a:off x="4544568" y="1432407"/>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44568" y="1432407"/>
            <a:ext cx="50292" cy="9966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64024" y="1523847"/>
            <a:ext cx="667512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Qualifications</a:t>
            </a:r>
          </a:p>
        </p:txBody>
      </p:sp>
      <p:sp>
        <p:nvSpPr>
          <p:cNvPr id="15" name="TextBox 14"/>
          <p:cNvSpPr txBox="1"/>
          <p:nvPr/>
        </p:nvSpPr>
        <p:spPr>
          <a:xfrm>
            <a:off x="4764024" y="1834743"/>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Doctorate-level research background with deep grounding in the quantitative techniques this course applies — estimation, risk analysis and statistical quality control.</a:t>
            </a:r>
          </a:p>
        </p:txBody>
      </p:sp>
      <p:sp>
        <p:nvSpPr>
          <p:cNvPr id="16" name="Rounded Rectangle 15"/>
          <p:cNvSpPr/>
          <p:nvPr/>
        </p:nvSpPr>
        <p:spPr>
          <a:xfrm>
            <a:off x="4544568" y="2593695"/>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44568" y="2593695"/>
            <a:ext cx="50292" cy="9966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64024" y="2685135"/>
            <a:ext cx="667512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Industry experience</a:t>
            </a:r>
          </a:p>
        </p:txBody>
      </p:sp>
      <p:sp>
        <p:nvSpPr>
          <p:cNvPr id="19" name="TextBox 18"/>
          <p:cNvSpPr txBox="1"/>
          <p:nvPr/>
        </p:nvSpPr>
        <p:spPr>
          <a:xfrm>
            <a:off x="4764024" y="2996031"/>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Two decades leading technology projects across predictive, agile and hybrid delivery in both industry and the public sector.</a:t>
            </a:r>
          </a:p>
        </p:txBody>
      </p:sp>
      <p:sp>
        <p:nvSpPr>
          <p:cNvPr id="20" name="Rounded Rectangle 19"/>
          <p:cNvSpPr/>
          <p:nvPr/>
        </p:nvSpPr>
        <p:spPr>
          <a:xfrm>
            <a:off x="4544568" y="3754983"/>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44568" y="3754983"/>
            <a:ext cx="50292" cy="9966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64024" y="3846423"/>
            <a:ext cx="667512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Training experience</a:t>
            </a:r>
          </a:p>
        </p:txBody>
      </p:sp>
      <p:sp>
        <p:nvSpPr>
          <p:cNvPr id="23" name="TextBox 22"/>
          <p:cNvSpPr txBox="1"/>
          <p:nvPr/>
        </p:nvSpPr>
        <p:spPr>
          <a:xfrm>
            <a:off x="4764024" y="4157319"/>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Delivers WSQ programmes in project management, data and AI, and mentors candidates through PMP and Lean Six Sigma pathways.</a:t>
            </a:r>
          </a:p>
        </p:txBody>
      </p:sp>
      <p:sp>
        <p:nvSpPr>
          <p:cNvPr id="24" name="Rounded Rectangle 23"/>
          <p:cNvSpPr/>
          <p:nvPr/>
        </p:nvSpPr>
        <p:spPr>
          <a:xfrm>
            <a:off x="4544568" y="4916271"/>
            <a:ext cx="7077456" cy="99669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44568" y="4916271"/>
            <a:ext cx="50292" cy="9966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64024" y="5007711"/>
            <a:ext cx="6675120" cy="292608"/>
          </a:xfrm>
          <a:prstGeom prst="rect">
            <a:avLst/>
          </a:prstGeom>
          <a:noFill/>
        </p:spPr>
        <p:txBody>
          <a:bodyPr wrap="square" anchor="t">
            <a:spAutoFit/>
          </a:bodyPr>
          <a:lstStyle/>
          <a:p>
            <a:pPr algn="l">
              <a:lnSpc>
                <a:spcPct val="100000"/>
              </a:lnSpc>
              <a:spcAft>
                <a:spcPts val="400"/>
              </a:spcAft>
            </a:pPr>
            <a:r>
              <a:rPr sz="1300" b="1" i="0">
                <a:solidFill>
                  <a:srgbClr val="F59E0B"/>
                </a:solidFill>
                <a:latin typeface="Arial"/>
              </a:rPr>
              <a:t>Areas of specialisation</a:t>
            </a:r>
          </a:p>
        </p:txBody>
      </p:sp>
      <p:sp>
        <p:nvSpPr>
          <p:cNvPr id="27" name="TextBox 26"/>
          <p:cNvSpPr txBox="1"/>
          <p:nvPr/>
        </p:nvSpPr>
        <p:spPr>
          <a:xfrm>
            <a:off x="4764024" y="5318607"/>
            <a:ext cx="6675120" cy="502920"/>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Project governance, earned value management, agile transformation, and the applied problem-solving toolset used in this course's labs.</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LMS / TMS PORTAL</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Download Your Course Material</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6858000" cy="396849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6858000" cy="475488"/>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606143"/>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50976" y="1606143"/>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70432" y="1606143"/>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72768" y="1551279"/>
            <a:ext cx="5577840" cy="237744"/>
          </a:xfrm>
          <a:prstGeom prst="roundRect">
            <a:avLst>
              <a:gd name="adj" fmla="val 10000"/>
            </a:avLst>
          </a:prstGeom>
          <a:solidFill>
            <a:srgbClr val="3A4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00784" y="1564995"/>
            <a:ext cx="5394960" cy="219456"/>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lms-tms.tertiaryinfotech.com</a:t>
            </a:r>
          </a:p>
        </p:txBody>
      </p:sp>
      <p:sp>
        <p:nvSpPr>
          <p:cNvPr id="12" name="TextBox 11"/>
          <p:cNvSpPr txBox="1"/>
          <p:nvPr/>
        </p:nvSpPr>
        <p:spPr>
          <a:xfrm>
            <a:off x="877824" y="2182215"/>
            <a:ext cx="6217920" cy="365760"/>
          </a:xfrm>
          <a:prstGeom prst="rect">
            <a:avLst/>
          </a:prstGeom>
          <a:noFill/>
        </p:spPr>
        <p:txBody>
          <a:bodyPr wrap="square" anchor="t">
            <a:spAutoFit/>
          </a:bodyPr>
          <a:lstStyle/>
          <a:p>
            <a:pPr algn="l">
              <a:lnSpc>
                <a:spcPct val="100000"/>
              </a:lnSpc>
              <a:spcAft>
                <a:spcPts val="400"/>
              </a:spcAft>
            </a:pPr>
            <a:r>
              <a:rPr sz="1700" b="1" i="0">
                <a:solidFill>
                  <a:srgbClr val="161B26"/>
                </a:solidFill>
                <a:latin typeface="Arial"/>
              </a:rPr>
              <a:t>Project Management Professional (PMP) 35 PDU</a:t>
            </a:r>
          </a:p>
        </p:txBody>
      </p:sp>
      <p:sp>
        <p:nvSpPr>
          <p:cNvPr id="13" name="TextBox 12"/>
          <p:cNvSpPr txBox="1"/>
          <p:nvPr/>
        </p:nvSpPr>
        <p:spPr>
          <a:xfrm>
            <a:off x="877824" y="2566263"/>
            <a:ext cx="6217920" cy="274320"/>
          </a:xfrm>
          <a:prstGeom prst="rect">
            <a:avLst/>
          </a:prstGeom>
          <a:noFill/>
        </p:spPr>
        <p:txBody>
          <a:bodyPr wrap="square" anchor="t">
            <a:spAutoFit/>
          </a:bodyPr>
          <a:lstStyle/>
          <a:p>
            <a:pPr algn="l">
              <a:lnSpc>
                <a:spcPct val="100000"/>
              </a:lnSpc>
              <a:spcAft>
                <a:spcPts val="400"/>
              </a:spcAft>
            </a:pPr>
            <a:r>
              <a:rPr sz="1150" b="0" i="0">
                <a:solidFill>
                  <a:srgbClr val="5B6372"/>
                </a:solidFill>
                <a:latin typeface="Arial"/>
              </a:rPr>
              <a:t>TGS-2024045797 · Course materials</a:t>
            </a:r>
          </a:p>
        </p:txBody>
      </p:sp>
      <p:sp>
        <p:nvSpPr>
          <p:cNvPr id="14" name="Rounded Rectangle 13"/>
          <p:cNvSpPr/>
          <p:nvPr/>
        </p:nvSpPr>
        <p:spPr>
          <a:xfrm>
            <a:off x="877824" y="2968599"/>
            <a:ext cx="6217920" cy="4206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87552" y="3060039"/>
            <a:ext cx="237744" cy="237744"/>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53312" y="3050895"/>
            <a:ext cx="4206240" cy="274320"/>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Trainer Slides</a:t>
            </a:r>
          </a:p>
        </p:txBody>
      </p:sp>
      <p:sp>
        <p:nvSpPr>
          <p:cNvPr id="17" name="TextBox 16"/>
          <p:cNvSpPr txBox="1"/>
          <p:nvPr/>
        </p:nvSpPr>
        <p:spPr>
          <a:xfrm>
            <a:off x="5961888" y="3050895"/>
            <a:ext cx="1005840" cy="274320"/>
          </a:xfrm>
          <a:prstGeom prst="rect">
            <a:avLst/>
          </a:prstGeom>
          <a:noFill/>
        </p:spPr>
        <p:txBody>
          <a:bodyPr wrap="square" anchor="t">
            <a:spAutoFit/>
          </a:bodyPr>
          <a:lstStyle/>
          <a:p>
            <a:pPr algn="r">
              <a:lnSpc>
                <a:spcPct val="100000"/>
              </a:lnSpc>
              <a:spcAft>
                <a:spcPts val="400"/>
              </a:spcAft>
            </a:pPr>
            <a:r>
              <a:rPr sz="1050" b="1" i="0">
                <a:solidFill>
                  <a:srgbClr val="1F6FEB"/>
                </a:solidFill>
                <a:latin typeface="Arial"/>
              </a:rPr>
              <a:t>PPTX</a:t>
            </a:r>
          </a:p>
        </p:txBody>
      </p:sp>
      <p:sp>
        <p:nvSpPr>
          <p:cNvPr id="18" name="Rounded Rectangle 17"/>
          <p:cNvSpPr/>
          <p:nvPr/>
        </p:nvSpPr>
        <p:spPr>
          <a:xfrm>
            <a:off x="877824" y="3444087"/>
            <a:ext cx="6217920" cy="4206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87552" y="3535527"/>
            <a:ext cx="237744" cy="237744"/>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53312" y="3526383"/>
            <a:ext cx="4206240" cy="274320"/>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Learner Slides</a:t>
            </a:r>
          </a:p>
        </p:txBody>
      </p:sp>
      <p:sp>
        <p:nvSpPr>
          <p:cNvPr id="21" name="TextBox 20"/>
          <p:cNvSpPr txBox="1"/>
          <p:nvPr/>
        </p:nvSpPr>
        <p:spPr>
          <a:xfrm>
            <a:off x="5961888" y="3526383"/>
            <a:ext cx="1005840" cy="274320"/>
          </a:xfrm>
          <a:prstGeom prst="rect">
            <a:avLst/>
          </a:prstGeom>
          <a:noFill/>
        </p:spPr>
        <p:txBody>
          <a:bodyPr wrap="square" anchor="t">
            <a:spAutoFit/>
          </a:bodyPr>
          <a:lstStyle/>
          <a:p>
            <a:pPr algn="r">
              <a:lnSpc>
                <a:spcPct val="100000"/>
              </a:lnSpc>
              <a:spcAft>
                <a:spcPts val="400"/>
              </a:spcAft>
            </a:pPr>
            <a:r>
              <a:rPr sz="1050" b="1" i="0">
                <a:solidFill>
                  <a:srgbClr val="10B981"/>
                </a:solidFill>
                <a:latin typeface="Arial"/>
              </a:rPr>
              <a:t>PDF</a:t>
            </a:r>
          </a:p>
        </p:txBody>
      </p:sp>
      <p:sp>
        <p:nvSpPr>
          <p:cNvPr id="22" name="Rounded Rectangle 21"/>
          <p:cNvSpPr/>
          <p:nvPr/>
        </p:nvSpPr>
        <p:spPr>
          <a:xfrm>
            <a:off x="877824" y="3919575"/>
            <a:ext cx="6217920" cy="4206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7552" y="4011015"/>
            <a:ext cx="237744" cy="237744"/>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53312" y="4001871"/>
            <a:ext cx="4206240" cy="274320"/>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Learner Guide</a:t>
            </a:r>
          </a:p>
        </p:txBody>
      </p:sp>
      <p:sp>
        <p:nvSpPr>
          <p:cNvPr id="25" name="TextBox 24"/>
          <p:cNvSpPr txBox="1"/>
          <p:nvPr/>
        </p:nvSpPr>
        <p:spPr>
          <a:xfrm>
            <a:off x="5961888" y="4001871"/>
            <a:ext cx="1005840" cy="274320"/>
          </a:xfrm>
          <a:prstGeom prst="rect">
            <a:avLst/>
          </a:prstGeom>
          <a:noFill/>
        </p:spPr>
        <p:txBody>
          <a:bodyPr wrap="square" anchor="t">
            <a:spAutoFit/>
          </a:bodyPr>
          <a:lstStyle/>
          <a:p>
            <a:pPr algn="r">
              <a:lnSpc>
                <a:spcPct val="100000"/>
              </a:lnSpc>
              <a:spcAft>
                <a:spcPts val="400"/>
              </a:spcAft>
            </a:pPr>
            <a:r>
              <a:rPr sz="1050" b="1" i="0">
                <a:solidFill>
                  <a:srgbClr val="7C3AED"/>
                </a:solidFill>
                <a:latin typeface="Arial"/>
              </a:rPr>
              <a:t>PDF</a:t>
            </a:r>
          </a:p>
        </p:txBody>
      </p:sp>
      <p:sp>
        <p:nvSpPr>
          <p:cNvPr id="26" name="Rounded Rectangle 25"/>
          <p:cNvSpPr/>
          <p:nvPr/>
        </p:nvSpPr>
        <p:spPr>
          <a:xfrm>
            <a:off x="877824" y="4395063"/>
            <a:ext cx="6217920" cy="4206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87552" y="4486503"/>
            <a:ext cx="237744" cy="237744"/>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53312" y="4477359"/>
            <a:ext cx="4206240" cy="274320"/>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Lesson Plan</a:t>
            </a:r>
          </a:p>
        </p:txBody>
      </p:sp>
      <p:sp>
        <p:nvSpPr>
          <p:cNvPr id="29" name="TextBox 28"/>
          <p:cNvSpPr txBox="1"/>
          <p:nvPr/>
        </p:nvSpPr>
        <p:spPr>
          <a:xfrm>
            <a:off x="5961888" y="4477359"/>
            <a:ext cx="1005840" cy="274320"/>
          </a:xfrm>
          <a:prstGeom prst="rect">
            <a:avLst/>
          </a:prstGeom>
          <a:noFill/>
        </p:spPr>
        <p:txBody>
          <a:bodyPr wrap="square" anchor="t">
            <a:spAutoFit/>
          </a:bodyPr>
          <a:lstStyle/>
          <a:p>
            <a:pPr algn="r">
              <a:lnSpc>
                <a:spcPct val="100000"/>
              </a:lnSpc>
              <a:spcAft>
                <a:spcPts val="400"/>
              </a:spcAft>
            </a:pPr>
            <a:r>
              <a:rPr sz="1050" b="1" i="0">
                <a:solidFill>
                  <a:srgbClr val="F59E0B"/>
                </a:solidFill>
                <a:latin typeface="Arial"/>
              </a:rPr>
              <a:t>PDF</a:t>
            </a:r>
          </a:p>
        </p:txBody>
      </p:sp>
      <p:sp>
        <p:nvSpPr>
          <p:cNvPr id="30" name="Rounded Rectangle 29"/>
          <p:cNvSpPr/>
          <p:nvPr/>
        </p:nvSpPr>
        <p:spPr>
          <a:xfrm>
            <a:off x="877824" y="4870551"/>
            <a:ext cx="6217920" cy="4206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87552" y="4961991"/>
            <a:ext cx="237744" cy="237744"/>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353312" y="4952847"/>
            <a:ext cx="4206240" cy="274320"/>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Lab worksheets</a:t>
            </a:r>
          </a:p>
        </p:txBody>
      </p:sp>
      <p:sp>
        <p:nvSpPr>
          <p:cNvPr id="33" name="TextBox 32"/>
          <p:cNvSpPr txBox="1"/>
          <p:nvPr/>
        </p:nvSpPr>
        <p:spPr>
          <a:xfrm>
            <a:off x="5961888" y="4952847"/>
            <a:ext cx="1005840" cy="274320"/>
          </a:xfrm>
          <a:prstGeom prst="rect">
            <a:avLst/>
          </a:prstGeom>
          <a:noFill/>
        </p:spPr>
        <p:txBody>
          <a:bodyPr wrap="square" anchor="t">
            <a:spAutoFit/>
          </a:bodyPr>
          <a:lstStyle/>
          <a:p>
            <a:pPr algn="r">
              <a:lnSpc>
                <a:spcPct val="100000"/>
              </a:lnSpc>
              <a:spcAft>
                <a:spcPts val="400"/>
              </a:spcAft>
            </a:pPr>
            <a:r>
              <a:rPr sz="1050" b="1" i="0">
                <a:solidFill>
                  <a:srgbClr val="06B6D4"/>
                </a:solidFill>
                <a:latin typeface="Arial"/>
              </a:rPr>
              <a:t>ZIP</a:t>
            </a:r>
          </a:p>
        </p:txBody>
      </p:sp>
      <p:sp>
        <p:nvSpPr>
          <p:cNvPr id="34" name="Rounded Rectangle 33"/>
          <p:cNvSpPr/>
          <p:nvPr/>
        </p:nvSpPr>
        <p:spPr>
          <a:xfrm>
            <a:off x="7699248" y="1432407"/>
            <a:ext cx="3922776" cy="882396"/>
          </a:xfrm>
          <a:prstGeom prst="roundRect">
            <a:avLst>
              <a:gd name="adj" fmla="val 10000"/>
            </a:avLst>
          </a:prstGeom>
          <a:solidFill>
            <a:srgbClr val="EDF3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882128" y="1578711"/>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82128" y="1615287"/>
            <a:ext cx="292608" cy="256032"/>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37" name="TextBox 36"/>
          <p:cNvSpPr txBox="1"/>
          <p:nvPr/>
        </p:nvSpPr>
        <p:spPr>
          <a:xfrm>
            <a:off x="8266176" y="1560423"/>
            <a:ext cx="3191256" cy="274320"/>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Sign in</a:t>
            </a:r>
          </a:p>
        </p:txBody>
      </p:sp>
      <p:sp>
        <p:nvSpPr>
          <p:cNvPr id="38" name="TextBox 37"/>
          <p:cNvSpPr txBox="1"/>
          <p:nvPr/>
        </p:nvSpPr>
        <p:spPr>
          <a:xfrm>
            <a:off x="8266176" y="1853031"/>
            <a:ext cx="3191256" cy="370332"/>
          </a:xfrm>
          <a:prstGeom prst="rect">
            <a:avLst/>
          </a:prstGeom>
          <a:noFill/>
        </p:spPr>
        <p:txBody>
          <a:bodyPr wrap="square" anchor="t">
            <a:spAutoFit/>
          </a:bodyPr>
          <a:lstStyle/>
          <a:p>
            <a:pPr algn="l">
              <a:lnSpc>
                <a:spcPct val="114000"/>
              </a:lnSpc>
              <a:spcAft>
                <a:spcPts val="400"/>
              </a:spcAft>
            </a:pPr>
            <a:r>
              <a:rPr sz="1050" b="0" i="0">
                <a:solidFill>
                  <a:srgbClr val="5B6372"/>
                </a:solidFill>
                <a:latin typeface="Arial"/>
              </a:rPr>
              <a:t>Use the account created with your registration email.</a:t>
            </a:r>
          </a:p>
        </p:txBody>
      </p:sp>
      <p:sp>
        <p:nvSpPr>
          <p:cNvPr id="39" name="Rounded Rectangle 38"/>
          <p:cNvSpPr/>
          <p:nvPr/>
        </p:nvSpPr>
        <p:spPr>
          <a:xfrm>
            <a:off x="7699248" y="2461107"/>
            <a:ext cx="3922776" cy="882396"/>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882128" y="2607411"/>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82128" y="2643987"/>
            <a:ext cx="292608" cy="256032"/>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42" name="TextBox 41"/>
          <p:cNvSpPr txBox="1"/>
          <p:nvPr/>
        </p:nvSpPr>
        <p:spPr>
          <a:xfrm>
            <a:off x="8266176" y="2589123"/>
            <a:ext cx="3191256" cy="274320"/>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Open this course</a:t>
            </a:r>
          </a:p>
        </p:txBody>
      </p:sp>
      <p:sp>
        <p:nvSpPr>
          <p:cNvPr id="43" name="TextBox 42"/>
          <p:cNvSpPr txBox="1"/>
          <p:nvPr/>
        </p:nvSpPr>
        <p:spPr>
          <a:xfrm>
            <a:off x="8266176" y="2881731"/>
            <a:ext cx="3191256" cy="370332"/>
          </a:xfrm>
          <a:prstGeom prst="rect">
            <a:avLst/>
          </a:prstGeom>
          <a:noFill/>
        </p:spPr>
        <p:txBody>
          <a:bodyPr wrap="square" anchor="t">
            <a:spAutoFit/>
          </a:bodyPr>
          <a:lstStyle/>
          <a:p>
            <a:pPr algn="l">
              <a:lnSpc>
                <a:spcPct val="114000"/>
              </a:lnSpc>
              <a:spcAft>
                <a:spcPts val="400"/>
              </a:spcAft>
            </a:pPr>
            <a:r>
              <a:rPr sz="1050" b="0" i="0">
                <a:solidFill>
                  <a:srgbClr val="5B6372"/>
                </a:solidFill>
                <a:latin typeface="Arial"/>
              </a:rPr>
              <a:t>Find it under My Courses using code TGS-2024045797.</a:t>
            </a:r>
          </a:p>
        </p:txBody>
      </p:sp>
      <p:sp>
        <p:nvSpPr>
          <p:cNvPr id="44" name="Rounded Rectangle 43"/>
          <p:cNvSpPr/>
          <p:nvPr/>
        </p:nvSpPr>
        <p:spPr>
          <a:xfrm>
            <a:off x="7699248" y="3489807"/>
            <a:ext cx="3922776" cy="882396"/>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882128" y="3636111"/>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82128" y="3672687"/>
            <a:ext cx="292608" cy="256032"/>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47" name="TextBox 46"/>
          <p:cNvSpPr txBox="1"/>
          <p:nvPr/>
        </p:nvSpPr>
        <p:spPr>
          <a:xfrm>
            <a:off x="8266176" y="3617823"/>
            <a:ext cx="3191256" cy="274320"/>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Download everything</a:t>
            </a:r>
          </a:p>
        </p:txBody>
      </p:sp>
      <p:sp>
        <p:nvSpPr>
          <p:cNvPr id="48" name="TextBox 47"/>
          <p:cNvSpPr txBox="1"/>
          <p:nvPr/>
        </p:nvSpPr>
        <p:spPr>
          <a:xfrm>
            <a:off x="8266176" y="3910431"/>
            <a:ext cx="3191256" cy="370332"/>
          </a:xfrm>
          <a:prstGeom prst="rect">
            <a:avLst/>
          </a:prstGeom>
          <a:noFill/>
        </p:spPr>
        <p:txBody>
          <a:bodyPr wrap="square" anchor="t">
            <a:spAutoFit/>
          </a:bodyPr>
          <a:lstStyle/>
          <a:p>
            <a:pPr algn="l">
              <a:lnSpc>
                <a:spcPct val="114000"/>
              </a:lnSpc>
              <a:spcAft>
                <a:spcPts val="400"/>
              </a:spcAft>
            </a:pPr>
            <a:r>
              <a:rPr sz="1050" b="0" i="0">
                <a:solidFill>
                  <a:srgbClr val="5B6372"/>
                </a:solidFill>
                <a:latin typeface="Arial"/>
              </a:rPr>
              <a:t>Slides, Learner Guide, Lesson Plan and labs.</a:t>
            </a:r>
          </a:p>
        </p:txBody>
      </p:sp>
      <p:sp>
        <p:nvSpPr>
          <p:cNvPr id="49" name="Rounded Rectangle 48"/>
          <p:cNvSpPr/>
          <p:nvPr/>
        </p:nvSpPr>
        <p:spPr>
          <a:xfrm>
            <a:off x="7699248" y="4518507"/>
            <a:ext cx="3922776" cy="882396"/>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882128" y="4664811"/>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82128" y="4701387"/>
            <a:ext cx="292608" cy="256032"/>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52" name="TextBox 51"/>
          <p:cNvSpPr txBox="1"/>
          <p:nvPr/>
        </p:nvSpPr>
        <p:spPr>
          <a:xfrm>
            <a:off x="8266176" y="4646523"/>
            <a:ext cx="3191256" cy="274320"/>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Keep your record</a:t>
            </a:r>
          </a:p>
        </p:txBody>
      </p:sp>
      <p:sp>
        <p:nvSpPr>
          <p:cNvPr id="53" name="TextBox 52"/>
          <p:cNvSpPr txBox="1"/>
          <p:nvPr/>
        </p:nvSpPr>
        <p:spPr>
          <a:xfrm>
            <a:off x="8266176" y="4939131"/>
            <a:ext cx="3191256" cy="370332"/>
          </a:xfrm>
          <a:prstGeom prst="rect">
            <a:avLst/>
          </a:prstGeom>
          <a:noFill/>
        </p:spPr>
        <p:txBody>
          <a:bodyPr wrap="square" anchor="t">
            <a:spAutoFit/>
          </a:bodyPr>
          <a:lstStyle/>
          <a:p>
            <a:pPr algn="l">
              <a:lnSpc>
                <a:spcPct val="114000"/>
              </a:lnSpc>
              <a:spcAft>
                <a:spcPts val="400"/>
              </a:spcAft>
            </a:pPr>
            <a:r>
              <a:rPr sz="1050" b="0" i="0">
                <a:solidFill>
                  <a:srgbClr val="5B6372"/>
                </a:solidFill>
                <a:latin typeface="Arial"/>
              </a:rPr>
              <a:t>Your completion record and certificate live here too.</a:t>
            </a:r>
          </a:p>
        </p:txBody>
      </p:sp>
      <p:sp>
        <p:nvSpPr>
          <p:cNvPr id="54" name="TextBox 53"/>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5" name="TextBox 54"/>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6" name="TextBox 55"/>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HOW WE WORK TOGETHER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Ground Rules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Phones on silent</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 calls outside the room so the session is not disrupted for others.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Participate actively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This course is built around labs and discussion — the more you contribute, the more you take away.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 question is too basic</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If something is unclear, ask. Others in the room almost certainly share the same question.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Punctuality after breaks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Return on time so we can cover the full ECO syllabus within the four days.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Respect differing views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Project management is contextual — disagreement is useful when handled with professional respect.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Confidentiality</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Workplace examples shared in class stay in the class; anonymise sensitive client or employer detail.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WSQ / SSG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Skills Framework Alignment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TSC Title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Project Management — the technical skill and competency this course is accredited against.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TSC Code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ICT-PMT-4026-1.1 — quote this reference in funding and HR records.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Course Code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TGS-2024045797 — the SSG course reference for this programme.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Proficiency level</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Level 4 — able to scope, plan and control medium-scale projects with limited supervision.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PDU value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35 contact hours, satisfying the PMI education prerequisite for the PMP application.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Assessment</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Written Assessment, 1 hour, plus a Case Study, 2 hours — both conducted on Day 4.</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BY THE END OF THIS COURSE YOU WILL BE ABLE TO</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Learning Outcomes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92059"/>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92059"/>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71151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4809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693227"/>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LO1</a:t>
            </a:r>
          </a:p>
        </p:txBody>
      </p:sp>
      <p:sp>
        <p:nvSpPr>
          <p:cNvPr id="10" name="TextBox 9"/>
          <p:cNvSpPr txBox="1"/>
          <p:nvPr/>
        </p:nvSpPr>
        <p:spPr>
          <a:xfrm>
            <a:off x="768096" y="2113851"/>
            <a:ext cx="500634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medium-scale project requirements to drive timely completions.</a:t>
            </a:r>
          </a:p>
        </p:txBody>
      </p:sp>
      <p:sp>
        <p:nvSpPr>
          <p:cNvPr id="11" name="Rounded Rectangle 10"/>
          <p:cNvSpPr/>
          <p:nvPr/>
        </p:nvSpPr>
        <p:spPr>
          <a:xfrm>
            <a:off x="6213348" y="1492059"/>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1492059"/>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171151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174809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1693227"/>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LO2</a:t>
            </a:r>
          </a:p>
        </p:txBody>
      </p:sp>
      <p:sp>
        <p:nvSpPr>
          <p:cNvPr id="16" name="TextBox 15"/>
          <p:cNvSpPr txBox="1"/>
          <p:nvPr/>
        </p:nvSpPr>
        <p:spPr>
          <a:xfrm>
            <a:off x="6414516" y="2113851"/>
            <a:ext cx="500634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Develop project plans based on realistic timelines and resource allocations.</a:t>
            </a:r>
          </a:p>
        </p:txBody>
      </p:sp>
      <p:sp>
        <p:nvSpPr>
          <p:cNvPr id="17" name="Rounded Rectangle 16"/>
          <p:cNvSpPr/>
          <p:nvPr/>
        </p:nvSpPr>
        <p:spPr>
          <a:xfrm>
            <a:off x="566928" y="3151094"/>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151094"/>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3370550"/>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40712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3352262"/>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LO3</a:t>
            </a:r>
          </a:p>
        </p:txBody>
      </p:sp>
      <p:sp>
        <p:nvSpPr>
          <p:cNvPr id="22" name="TextBox 21"/>
          <p:cNvSpPr txBox="1"/>
          <p:nvPr/>
        </p:nvSpPr>
        <p:spPr>
          <a:xfrm>
            <a:off x="768096" y="3772886"/>
            <a:ext cx="500634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Implement methodologies effectively to address project exigencies and derive solutions from identified root causes.</a:t>
            </a:r>
          </a:p>
        </p:txBody>
      </p:sp>
      <p:sp>
        <p:nvSpPr>
          <p:cNvPr id="23" name="Rounded Rectangle 22"/>
          <p:cNvSpPr/>
          <p:nvPr/>
        </p:nvSpPr>
        <p:spPr>
          <a:xfrm>
            <a:off x="6213348" y="3151094"/>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151094"/>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3370550"/>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340712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3352262"/>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LO4</a:t>
            </a:r>
          </a:p>
        </p:txBody>
      </p:sp>
      <p:sp>
        <p:nvSpPr>
          <p:cNvPr id="28" name="TextBox 27"/>
          <p:cNvSpPr txBox="1"/>
          <p:nvPr/>
        </p:nvSpPr>
        <p:spPr>
          <a:xfrm>
            <a:off x="6414516" y="3772886"/>
            <a:ext cx="500634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Analyze program risks and engage stakeholders through scheduled touchpoints to discuss potential issues.</a:t>
            </a:r>
          </a:p>
        </p:txBody>
      </p:sp>
      <p:sp>
        <p:nvSpPr>
          <p:cNvPr id="29" name="Rounded Rectangle 28"/>
          <p:cNvSpPr/>
          <p:nvPr/>
        </p:nvSpPr>
        <p:spPr>
          <a:xfrm>
            <a:off x="566928" y="4810129"/>
            <a:ext cx="540867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810129"/>
            <a:ext cx="540867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5029585"/>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06616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1133856" y="5011297"/>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LO5</a:t>
            </a:r>
          </a:p>
        </p:txBody>
      </p:sp>
      <p:sp>
        <p:nvSpPr>
          <p:cNvPr id="34" name="TextBox 33"/>
          <p:cNvSpPr txBox="1"/>
          <p:nvPr/>
        </p:nvSpPr>
        <p:spPr>
          <a:xfrm>
            <a:off x="768096" y="5431921"/>
            <a:ext cx="500634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Coordinate project deliverables against set objectives, costs, and timelines, and implement corrective actions.</a:t>
            </a:r>
          </a:p>
        </p:txBody>
      </p:sp>
      <p:sp>
        <p:nvSpPr>
          <p:cNvPr id="35" name="TextBox 3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6" name="TextBox 3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7" name="TextBox 3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WHAT THE EXAM ACTUALLY TESTS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PMP Exam Content Outline — July 2026</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People 33% — leading, aligning and communicating with the team and stakeholders.</a:t>
            </a:r>
          </a:p>
        </p:txBody>
      </p:sp>
      <p:sp>
        <p:nvSpPr>
          <p:cNvPr id="11" name="Oval 10"/>
          <p:cNvSpPr/>
          <p:nvPr/>
        </p:nvSpPr>
        <p:spPr>
          <a:xfrm>
            <a:off x="8403336" y="287258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Process 41% — planning, delivering, measuring and closing the work.</a:t>
            </a:r>
          </a:p>
        </p:txBody>
      </p:sp>
      <p:sp>
        <p:nvSpPr>
          <p:cNvPr id="13" name="Oval 12"/>
          <p:cNvSpPr/>
          <p:nvPr/>
        </p:nvSpPr>
        <p:spPr>
          <a:xfrm>
            <a:off x="8403336" y="361782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26383"/>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Business Environment 26% — governance, compliance, risk and change. Up sharply from the old 8%.</a:t>
            </a:r>
          </a:p>
        </p:txBody>
      </p:sp>
      <p:sp>
        <p:nvSpPr>
          <p:cNvPr id="15" name="Oval 14"/>
          <p:cNvSpPr/>
          <p:nvPr/>
        </p:nvSpPr>
        <p:spPr>
          <a:xfrm>
            <a:off x="8403336" y="455051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459071"/>
            <a:ext cx="2761488" cy="50292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Approach mix: ~40% predictive, 60% adaptive/agile and hybrid.</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UPDATE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Changed in the July 2026 Exam Update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Environment tripled</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Weighting rises from 8% to 26% — governance, compliance and external change are now central, not peripheral.</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People eased slightly</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From 42% to 33%, but the tasks are sharper: vision, conflict, expectations and knowledge transfer.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Process rebalanced</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From 50% to 41%, with new emphasis on value-based delivery and financial management.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Sustainability is examinable</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Named explicitly in compliance, quality (cost of quality) and risk response enablers.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Artificial intelligence enters scope</a:t>
            </a:r>
          </a:p>
        </p:txBody>
      </p:sp>
      <p:sp>
        <p:nvSpPr>
          <p:cNvPr id="34" name="TextBox 33"/>
          <p:cNvSpPr txBox="1"/>
          <p:nvPr/>
        </p:nvSpPr>
        <p:spPr>
          <a:xfrm>
            <a:off x="453237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JTA validated AI as a trend affecting practice — expect it in estimation, reporting and governance items.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Graphic-based questions are new</a:t>
            </a:r>
          </a:p>
        </p:txBody>
      </p:sp>
      <p:sp>
        <p:nvSpPr>
          <p:cNvPr id="40" name="TextBox 39"/>
          <p:cNvSpPr txBox="1"/>
          <p:nvPr/>
        </p:nvSpPr>
        <p:spPr>
          <a:xfrm>
            <a:off x="829665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will be asked to read charts, control charts and diagrams and answer from them — practise interpretation.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EXAM MECHANICS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PMP Exam Format at a Glance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328416"/>
        </p:xfrm>
        <a:graphic>
          <a:graphicData uri="http://schemas.openxmlformats.org/drawingml/2006/table">
            <a:tbl>
              <a:tblPr firstRow="1" bandRow="1">
                <a:tableStyleId>{5C22544A-7EE6-4342-B048-85BDC9FD1C3A}</a:tableStyleId>
              </a:tblPr>
              <a:tblGrid>
                <a:gridCol w="2352148"/>
                <a:gridCol w="3763436"/>
                <a:gridCol w="4939510"/>
              </a:tblGrid>
              <a:tr h="475488">
                <a:tc>
                  <a:txBody>
                    <a:bodyPr wrap="square" anchor="t"/>
                    <a:lstStyle/>
                    <a:p>
                      <a:pPr algn="l">
                        <a:lnSpc>
                          <a:spcPct val="100000"/>
                        </a:lnSpc>
                        <a:spcAft>
                          <a:spcPts val="0"/>
                        </a:spcAft>
                      </a:pPr>
                      <a:r>
                        <a:rPr sz="1150" b="1" i="0">
                          <a:solidFill>
                            <a:srgbClr val="FFFFFF"/>
                          </a:solidFill>
                          <a:latin typeface="Arial"/>
                        </a:rPr>
                        <a:t>Element</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Detail</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means for you</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Questions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180 total (170 scored + 10 pretest)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Unscored pretest items are indistinguishable — answer everything seriously.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Time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240 minutes (4 hours)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About 80 seconds per question — pace, do not linger.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Breaks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Two 10-minute breaks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First after the case-study section, second midway through the rest.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Section lock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No return after a break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Review your answers BEFORE you start a break.</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Approach mix</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About 40% predictive; the remaining 60% split between adaptive/agile and hybrid.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cannot pass on waterfall knowledge alone.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Delivery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Test centre or online proctored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Case study questions are available on all modalities.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SIX FORMATS YOU WILL MEET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PMP Exam Question Types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321576"/>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32157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54103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57760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52274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Multiple choice</a:t>
            </a:r>
          </a:p>
        </p:txBody>
      </p:sp>
      <p:sp>
        <p:nvSpPr>
          <p:cNvPr id="10" name="TextBox 9"/>
          <p:cNvSpPr txBox="1"/>
          <p:nvPr/>
        </p:nvSpPr>
        <p:spPr>
          <a:xfrm>
            <a:off x="768096" y="2943368"/>
            <a:ext cx="312420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best answer from four options — the bulk of the exam.</a:t>
            </a:r>
          </a:p>
        </p:txBody>
      </p:sp>
      <p:sp>
        <p:nvSpPr>
          <p:cNvPr id="11" name="Rounded Rectangle 10"/>
          <p:cNvSpPr/>
          <p:nvPr/>
        </p:nvSpPr>
        <p:spPr>
          <a:xfrm>
            <a:off x="4331208" y="2321576"/>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32157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54103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57760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52274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Multiple response</a:t>
            </a:r>
          </a:p>
        </p:txBody>
      </p:sp>
      <p:sp>
        <p:nvSpPr>
          <p:cNvPr id="16" name="TextBox 15"/>
          <p:cNvSpPr txBox="1"/>
          <p:nvPr/>
        </p:nvSpPr>
        <p:spPr>
          <a:xfrm>
            <a:off x="4532376" y="2943368"/>
            <a:ext cx="312420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More than one correct answer; the item tells you how many.</a:t>
            </a:r>
          </a:p>
        </p:txBody>
      </p:sp>
      <p:sp>
        <p:nvSpPr>
          <p:cNvPr id="17" name="Rounded Rectangle 16"/>
          <p:cNvSpPr/>
          <p:nvPr/>
        </p:nvSpPr>
        <p:spPr>
          <a:xfrm>
            <a:off x="8095488" y="2321576"/>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32157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54103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57760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52274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Matching</a:t>
            </a:r>
          </a:p>
        </p:txBody>
      </p:sp>
      <p:sp>
        <p:nvSpPr>
          <p:cNvPr id="22" name="TextBox 21"/>
          <p:cNvSpPr txBox="1"/>
          <p:nvPr/>
        </p:nvSpPr>
        <p:spPr>
          <a:xfrm>
            <a:off x="8296656" y="2943368"/>
            <a:ext cx="312420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Drag items from one column to match a second column.</a:t>
            </a:r>
          </a:p>
        </p:txBody>
      </p:sp>
      <p:sp>
        <p:nvSpPr>
          <p:cNvPr id="23" name="Rounded Rectangle 22"/>
          <p:cNvSpPr/>
          <p:nvPr/>
        </p:nvSpPr>
        <p:spPr>
          <a:xfrm>
            <a:off x="566928" y="3980611"/>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Enhanced matching</a:t>
            </a:r>
          </a:p>
        </p:txBody>
      </p:sp>
      <p:sp>
        <p:nvSpPr>
          <p:cNvPr id="28" name="TextBox 27"/>
          <p:cNvSpPr txBox="1"/>
          <p:nvPr/>
        </p:nvSpPr>
        <p:spPr>
          <a:xfrm>
            <a:off x="768096" y="4602403"/>
            <a:ext cx="312420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Matching that includes an image or diagram for context.</a:t>
            </a:r>
          </a:p>
        </p:txBody>
      </p:sp>
      <p:sp>
        <p:nvSpPr>
          <p:cNvPr id="29" name="Rounded Rectangle 28"/>
          <p:cNvSpPr/>
          <p:nvPr/>
        </p:nvSpPr>
        <p:spPr>
          <a:xfrm>
            <a:off x="4331208" y="3980611"/>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Graphic-based (NEW)</a:t>
            </a:r>
          </a:p>
        </p:txBody>
      </p:sp>
      <p:sp>
        <p:nvSpPr>
          <p:cNvPr id="34" name="TextBox 33"/>
          <p:cNvSpPr txBox="1"/>
          <p:nvPr/>
        </p:nvSpPr>
        <p:spPr>
          <a:xfrm>
            <a:off x="4532376" y="4602403"/>
            <a:ext cx="312420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Read a chart, graph, diagram or image, then answer from it.</a:t>
            </a:r>
          </a:p>
        </p:txBody>
      </p:sp>
      <p:sp>
        <p:nvSpPr>
          <p:cNvPr id="35" name="Rounded Rectangle 34"/>
          <p:cNvSpPr/>
          <p:nvPr/>
        </p:nvSpPr>
        <p:spPr>
          <a:xfrm>
            <a:off x="8095488" y="3980611"/>
            <a:ext cx="3526536" cy="142129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Case study</a:t>
            </a:r>
          </a:p>
        </p:txBody>
      </p:sp>
      <p:sp>
        <p:nvSpPr>
          <p:cNvPr id="40" name="TextBox 39"/>
          <p:cNvSpPr txBox="1"/>
          <p:nvPr/>
        </p:nvSpPr>
        <p:spPr>
          <a:xfrm>
            <a:off x="8296656" y="4602403"/>
            <a:ext cx="3124200" cy="67148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scenario with supporting visuals, then a series of linked questions.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WHERE WE ARE GOING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Course Outline — Topics 1 to 3</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429789"/>
            <a:ext cx="3526536" cy="28639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42978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64924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68582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630957"/>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1. Business Environment</a:t>
            </a:r>
          </a:p>
        </p:txBody>
      </p:sp>
      <p:sp>
        <p:nvSpPr>
          <p:cNvPr id="10" name="TextBox 9"/>
          <p:cNvSpPr txBox="1"/>
          <p:nvPr/>
        </p:nvSpPr>
        <p:spPr>
          <a:xfrm>
            <a:off x="768096" y="3289325"/>
            <a:ext cx="3124200" cy="187634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Where projects come from, why they are funded, and the governance, compliance and change context they must survive in.</a:t>
            </a:r>
          </a:p>
          <a:p>
            <a:pPr algn="l">
              <a:lnSpc>
                <a:spcPct val="118000"/>
              </a:lnSpc>
              <a:spcAft>
                <a:spcPts val="400"/>
              </a:spcAft>
            </a:pPr>
            <a:r>
              <a:rPr sz="1150" b="0" i="0">
                <a:solidFill>
                  <a:srgbClr val="5B6372"/>
                </a:solidFill>
                <a:latin typeface="Arial"/>
              </a:rPr>
              <a:t>Foundation and project fundamentals · Strategic alignment and business value · Development approaches: predictive, agile, hybrid</a:t>
            </a:r>
          </a:p>
        </p:txBody>
      </p:sp>
      <p:sp>
        <p:nvSpPr>
          <p:cNvPr id="11" name="Rounded Rectangle 10"/>
          <p:cNvSpPr/>
          <p:nvPr/>
        </p:nvSpPr>
        <p:spPr>
          <a:xfrm>
            <a:off x="4331208" y="2429789"/>
            <a:ext cx="3526536" cy="28639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42978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64924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68582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63095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2. Start the Project</a:t>
            </a:r>
          </a:p>
        </p:txBody>
      </p:sp>
      <p:sp>
        <p:nvSpPr>
          <p:cNvPr id="16" name="TextBox 15"/>
          <p:cNvSpPr txBox="1"/>
          <p:nvPr/>
        </p:nvSpPr>
        <p:spPr>
          <a:xfrm>
            <a:off x="4532376" y="3051581"/>
            <a:ext cx="3124200" cy="211409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Turning an idea into an authorised project: the business case, the charter, the stakeholders and the team.</a:t>
            </a:r>
          </a:p>
          <a:p>
            <a:pPr algn="l">
              <a:lnSpc>
                <a:spcPct val="118000"/>
              </a:lnSpc>
              <a:spcAft>
                <a:spcPts val="400"/>
              </a:spcAft>
            </a:pPr>
            <a:r>
              <a:rPr sz="1150" b="0" i="0">
                <a:solidFill>
                  <a:srgbClr val="5B6372"/>
                </a:solidFill>
                <a:latin typeface="Arial"/>
              </a:rPr>
              <a:t>Project integration and the charter · Business case, cost-benefit and benefits management · Identify, analyse and prioritise stakeholders</a:t>
            </a:r>
          </a:p>
        </p:txBody>
      </p:sp>
      <p:sp>
        <p:nvSpPr>
          <p:cNvPr id="17" name="Rounded Rectangle 16"/>
          <p:cNvSpPr/>
          <p:nvPr/>
        </p:nvSpPr>
        <p:spPr>
          <a:xfrm>
            <a:off x="8095488" y="2429789"/>
            <a:ext cx="3526536" cy="28639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42978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64924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68582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63095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3. Plan the Project</a:t>
            </a:r>
          </a:p>
        </p:txBody>
      </p:sp>
      <p:sp>
        <p:nvSpPr>
          <p:cNvPr id="22" name="TextBox 21"/>
          <p:cNvSpPr txBox="1"/>
          <p:nvPr/>
        </p:nvSpPr>
        <p:spPr>
          <a:xfrm>
            <a:off x="8296656" y="3051581"/>
            <a:ext cx="3124200" cy="211409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Building the integrated plan — scope, schedule, cost, quality, resources, communications, risk and procurement.</a:t>
            </a:r>
          </a:p>
          <a:p>
            <a:pPr algn="l">
              <a:lnSpc>
                <a:spcPct val="118000"/>
              </a:lnSpc>
              <a:spcAft>
                <a:spcPts val="400"/>
              </a:spcAft>
            </a:pPr>
            <a:r>
              <a:rPr sz="1150" b="0" i="0">
                <a:solidFill>
                  <a:srgbClr val="5B6372"/>
                </a:solidFill>
                <a:latin typeface="Arial"/>
              </a:rPr>
              <a:t>The integrated project management plan · Scope: requirements, WBS and baselines · Schedule: activities, dependencies, critical path</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WHERE WE ARE GOING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Course Outline — Topics 4 to 6</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546118"/>
            <a:ext cx="3526536" cy="263124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54611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76557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80215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74728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4. Lead the Project Team</a:t>
            </a:r>
          </a:p>
        </p:txBody>
      </p:sp>
      <p:sp>
        <p:nvSpPr>
          <p:cNvPr id="10" name="TextBox 9"/>
          <p:cNvSpPr txBox="1"/>
          <p:nvPr/>
        </p:nvSpPr>
        <p:spPr>
          <a:xfrm>
            <a:off x="768096" y="3405654"/>
            <a:ext cx="3124200" cy="164369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People domain in practice — leadership style, motivation, conflict, coaching and communication.</a:t>
            </a:r>
          </a:p>
          <a:p>
            <a:pPr algn="l">
              <a:lnSpc>
                <a:spcPct val="118000"/>
              </a:lnSpc>
              <a:spcAft>
                <a:spcPts val="400"/>
              </a:spcAft>
            </a:pPr>
            <a:r>
              <a:rPr sz="1150" b="0" i="0">
                <a:solidFill>
                  <a:srgbClr val="5B6372"/>
                </a:solidFill>
                <a:latin typeface="Arial"/>
              </a:rPr>
              <a:t>Direct and manage project work · Craft your leadership skills · Build a collaborative team environment</a:t>
            </a:r>
          </a:p>
        </p:txBody>
      </p:sp>
      <p:sp>
        <p:nvSpPr>
          <p:cNvPr id="11" name="Rounded Rectangle 10"/>
          <p:cNvSpPr/>
          <p:nvPr/>
        </p:nvSpPr>
        <p:spPr>
          <a:xfrm>
            <a:off x="4331208" y="2546118"/>
            <a:ext cx="3526536" cy="263124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54611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76557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80215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74728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5. Monitor and Control the Project</a:t>
            </a:r>
          </a:p>
        </p:txBody>
      </p:sp>
      <p:sp>
        <p:nvSpPr>
          <p:cNvPr id="16" name="TextBox 15"/>
          <p:cNvSpPr txBox="1"/>
          <p:nvPr/>
        </p:nvSpPr>
        <p:spPr>
          <a:xfrm>
            <a:off x="4532376" y="3405654"/>
            <a:ext cx="3124200" cy="164369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Measuring truth against plan: earned value, quality control, change control, issues and impediments.</a:t>
            </a:r>
          </a:p>
          <a:p>
            <a:pPr algn="l">
              <a:lnSpc>
                <a:spcPct val="118000"/>
              </a:lnSpc>
              <a:spcAft>
                <a:spcPts val="400"/>
              </a:spcAft>
            </a:pPr>
            <a:r>
              <a:rPr sz="1150" b="0" i="0">
                <a:solidFill>
                  <a:srgbClr val="5B6372"/>
                </a:solidFill>
                <a:latin typeface="Arial"/>
              </a:rPr>
              <a:t>Monitor and control project work · Evaluate project progress and earned value · Control quality with statistical tools</a:t>
            </a:r>
          </a:p>
        </p:txBody>
      </p:sp>
      <p:sp>
        <p:nvSpPr>
          <p:cNvPr id="17" name="Rounded Rectangle 16"/>
          <p:cNvSpPr/>
          <p:nvPr/>
        </p:nvSpPr>
        <p:spPr>
          <a:xfrm>
            <a:off x="8095488" y="2546118"/>
            <a:ext cx="3526536" cy="263124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54611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76557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80215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74728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Topic 6. Close the Project</a:t>
            </a:r>
          </a:p>
        </p:txBody>
      </p:sp>
      <p:sp>
        <p:nvSpPr>
          <p:cNvPr id="22" name="TextBox 21"/>
          <p:cNvSpPr txBox="1"/>
          <p:nvPr/>
        </p:nvSpPr>
        <p:spPr>
          <a:xfrm>
            <a:off x="8296656" y="3167910"/>
            <a:ext cx="3124200" cy="188143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Landing the project: acceptance, transition, benefits realisation and the knowledge that outlives the team.</a:t>
            </a:r>
          </a:p>
          <a:p>
            <a:pPr algn="l">
              <a:lnSpc>
                <a:spcPct val="118000"/>
              </a:lnSpc>
              <a:spcAft>
                <a:spcPts val="400"/>
              </a:spcAft>
            </a:pPr>
            <a:r>
              <a:rPr sz="1150" b="0" i="0">
                <a:solidFill>
                  <a:srgbClr val="5B6372"/>
                </a:solidFill>
                <a:latin typeface="Arial"/>
              </a:rPr>
              <a:t>Project and phase closure · Benefits realisation and value confirmation · Knowledge transfer and lessons learned</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LESSON PLAN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Four Days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747647"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4764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905581"/>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Day 1</a:t>
            </a:r>
          </a:p>
        </p:txBody>
      </p:sp>
      <p:sp>
        <p:nvSpPr>
          <p:cNvPr id="9" name="TextBox 8"/>
          <p:cNvSpPr txBox="1"/>
          <p:nvPr/>
        </p:nvSpPr>
        <p:spPr>
          <a:xfrm>
            <a:off x="658368" y="2221763"/>
            <a:ext cx="2580894" cy="417652"/>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Business Environment &amp; Starting the Project
Labs 01-08</a:t>
            </a:r>
          </a:p>
        </p:txBody>
      </p:sp>
      <p:sp>
        <p:nvSpPr>
          <p:cNvPr id="10" name="Oval 9"/>
          <p:cNvSpPr/>
          <p:nvPr/>
        </p:nvSpPr>
        <p:spPr>
          <a:xfrm>
            <a:off x="4511421"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1421"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3422142" y="3334359"/>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Day 2</a:t>
            </a:r>
          </a:p>
        </p:txBody>
      </p:sp>
      <p:sp>
        <p:nvSpPr>
          <p:cNvPr id="13" name="TextBox 12"/>
          <p:cNvSpPr txBox="1"/>
          <p:nvPr/>
        </p:nvSpPr>
        <p:spPr>
          <a:xfrm>
            <a:off x="3422142" y="3650541"/>
            <a:ext cx="2580894" cy="208826"/>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Planning the Project
Labs 09-14</a:t>
            </a:r>
          </a:p>
        </p:txBody>
      </p:sp>
      <p:sp>
        <p:nvSpPr>
          <p:cNvPr id="14" name="Oval 13"/>
          <p:cNvSpPr/>
          <p:nvPr/>
        </p:nvSpPr>
        <p:spPr>
          <a:xfrm>
            <a:off x="7275195"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75195"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6185916" y="1905581"/>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Day 3</a:t>
            </a:r>
          </a:p>
        </p:txBody>
      </p:sp>
      <p:sp>
        <p:nvSpPr>
          <p:cNvPr id="17" name="TextBox 16"/>
          <p:cNvSpPr txBox="1"/>
          <p:nvPr/>
        </p:nvSpPr>
        <p:spPr>
          <a:xfrm>
            <a:off x="6185916" y="2221763"/>
            <a:ext cx="2580894" cy="417652"/>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Leading the Team &amp; Controlling Delivery
Labs 15-22</a:t>
            </a:r>
          </a:p>
        </p:txBody>
      </p:sp>
      <p:sp>
        <p:nvSpPr>
          <p:cNvPr id="18" name="Oval 17"/>
          <p:cNvSpPr/>
          <p:nvPr/>
        </p:nvSpPr>
        <p:spPr>
          <a:xfrm>
            <a:off x="10038969"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89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8949690" y="3334359"/>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Day 4</a:t>
            </a:r>
          </a:p>
        </p:txBody>
      </p:sp>
      <p:sp>
        <p:nvSpPr>
          <p:cNvPr id="21" name="TextBox 20"/>
          <p:cNvSpPr txBox="1"/>
          <p:nvPr/>
        </p:nvSpPr>
        <p:spPr>
          <a:xfrm>
            <a:off x="8949690" y="3650541"/>
            <a:ext cx="2580894" cy="417652"/>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Closing, Exam Strategy &amp; Practice
Labs 23-24 + practice exam</a:t>
            </a:r>
          </a:p>
        </p:txBody>
      </p:sp>
      <p:sp>
        <p:nvSpPr>
          <p:cNvPr id="22" name="Rounded Rectangle 21"/>
          <p:cNvSpPr/>
          <p:nvPr/>
        </p:nvSpPr>
        <p:spPr>
          <a:xfrm>
            <a:off x="566928" y="5074920"/>
            <a:ext cx="11055096" cy="786384"/>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5074920"/>
            <a:ext cx="59436"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Each day runs 9:30am–6:30pm with a one-hour lunch break and two tea breaks. Roughly half of each day is hands-on lab work.</a:t>
            </a:r>
          </a:p>
        </p:txBody>
      </p:sp>
      <p:sp>
        <p:nvSpPr>
          <p:cNvPr id="25" name="TextBox 2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6" name="TextBox 2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7" name="TextBox 2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DAY 1 SCHEDULE</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 Plan — Day 1: Business Environment &amp; Starting the Project</a:t>
            </a:r>
          </a:p>
        </p:txBody>
      </p:sp>
      <p:sp>
        <p:nvSpPr>
          <p:cNvPr id="4" name="Rectangle 3"/>
          <p:cNvSpPr/>
          <p:nvPr/>
        </p:nvSpPr>
        <p:spPr>
          <a:xfrm>
            <a:off x="566928" y="1676095"/>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913839"/>
          <a:ext cx="11055095" cy="4413809"/>
        </p:xfrm>
        <a:graphic>
          <a:graphicData uri="http://schemas.openxmlformats.org/drawingml/2006/table">
            <a:tbl>
              <a:tblPr firstRow="1" bandRow="1">
                <a:tableStyleId>{5C22544A-7EE6-4342-B048-85BDC9FD1C3A}</a:tableStyleId>
              </a:tblPr>
              <a:tblGrid>
                <a:gridCol w="1658264"/>
                <a:gridCol w="3869283"/>
                <a:gridCol w="5527548"/>
              </a:tblGrid>
              <a:tr h="401255">
                <a:tc>
                  <a:txBody>
                    <a:bodyPr wrap="square" anchor="t"/>
                    <a:lstStyle/>
                    <a:p>
                      <a:pPr algn="l">
                        <a:lnSpc>
                          <a:spcPct val="100000"/>
                        </a:lnSpc>
                        <a:spcAft>
                          <a:spcPts val="0"/>
                        </a:spcAft>
                      </a:pPr>
                      <a:r>
                        <a:rPr sz="1150" b="1" i="0">
                          <a:solidFill>
                            <a:srgbClr val="FFFFFF"/>
                          </a:solidFill>
                          <a:latin typeface="Arial"/>
                        </a:rPr>
                        <a:t>Time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Session</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Activity</a:t>
                      </a:r>
                    </a:p>
                  </a:txBody>
                  <a:tcPr anchor="ctr">
                    <a:solidFill>
                      <a:srgbClr val="10B981"/>
                    </a:solidFill>
                  </a:tcPr>
                </a:tc>
              </a:tr>
              <a:tr h="401255">
                <a:tc>
                  <a:txBody>
                    <a:bodyPr wrap="square" anchor="t"/>
                    <a:lstStyle/>
                    <a:p>
                      <a:pPr algn="l">
                        <a:lnSpc>
                          <a:spcPct val="110000"/>
                        </a:lnSpc>
                        <a:spcAft>
                          <a:spcPts val="0"/>
                        </a:spcAft>
                      </a:pPr>
                      <a:r>
                        <a:rPr sz="1050" b="1" i="0">
                          <a:solidFill>
                            <a:srgbClr val="161B26"/>
                          </a:solidFill>
                          <a:latin typeface="Arial"/>
                        </a:rPr>
                        <a:t>9:30 – 10:00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Registration &amp; Digital Attendance (AM)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Course introduction, trainer and learner introductions, ground rules, learning outcomes, ECO 2026 orientation</a:t>
                      </a:r>
                    </a:p>
                  </a:txBody>
                  <a:tcPr anchor="ctr">
                    <a:solidFill>
                      <a:srgbClr val="FFFFFF"/>
                    </a:solidFill>
                  </a:tcPr>
                </a:tc>
              </a:tr>
              <a:tr h="401255">
                <a:tc>
                  <a:txBody>
                    <a:bodyPr wrap="square" anchor="t"/>
                    <a:lstStyle/>
                    <a:p>
                      <a:pPr algn="l">
                        <a:lnSpc>
                          <a:spcPct val="110000"/>
                        </a:lnSpc>
                        <a:spcAft>
                          <a:spcPts val="0"/>
                        </a:spcAft>
                      </a:pPr>
                      <a:r>
                        <a:rPr sz="1050" b="1" i="0">
                          <a:solidFill>
                            <a:srgbClr val="161B26"/>
                          </a:solidFill>
                          <a:latin typeface="Arial"/>
                        </a:rPr>
                        <a:t>10:00 – 11:15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1. Business Environment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01255">
                <a:tc>
                  <a:txBody>
                    <a:bodyPr wrap="square" anchor="t"/>
                    <a:lstStyle/>
                    <a:p>
                      <a:pPr algn="l">
                        <a:lnSpc>
                          <a:spcPct val="110000"/>
                        </a:lnSpc>
                        <a:spcAft>
                          <a:spcPts val="0"/>
                        </a:spcAft>
                      </a:pPr>
                      <a:r>
                        <a:rPr sz="1050" b="1" i="0">
                          <a:solidFill>
                            <a:srgbClr val="161B26"/>
                          </a:solidFill>
                          <a:latin typeface="Arial"/>
                        </a:rPr>
                        <a:t>11:15 – 11:30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01255">
                <a:tc>
                  <a:txBody>
                    <a:bodyPr wrap="square" anchor="t"/>
                    <a:lstStyle/>
                    <a:p>
                      <a:pPr algn="l">
                        <a:lnSpc>
                          <a:spcPct val="110000"/>
                        </a:lnSpc>
                        <a:spcAft>
                          <a:spcPts val="0"/>
                        </a:spcAft>
                      </a:pPr>
                      <a:r>
                        <a:rPr sz="1050" b="1" i="0">
                          <a:solidFill>
                            <a:srgbClr val="161B26"/>
                          </a:solidFill>
                          <a:latin typeface="Arial"/>
                        </a:rPr>
                        <a:t>11:30 – 13:00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2. Start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01255">
                <a:tc>
                  <a:txBody>
                    <a:bodyPr wrap="square" anchor="t"/>
                    <a:lstStyle/>
                    <a:p>
                      <a:pPr algn="l">
                        <a:lnSpc>
                          <a:spcPct val="110000"/>
                        </a:lnSpc>
                        <a:spcAft>
                          <a:spcPts val="0"/>
                        </a:spcAft>
                      </a:pPr>
                      <a:r>
                        <a:rPr sz="1050" b="1" i="0">
                          <a:solidFill>
                            <a:srgbClr val="161B26"/>
                          </a:solidFill>
                          <a:latin typeface="Arial"/>
                        </a:rPr>
                        <a:t>13:00 – 14:00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Lunch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01255">
                <a:tc>
                  <a:txBody>
                    <a:bodyPr wrap="square" anchor="t"/>
                    <a:lstStyle/>
                    <a:p>
                      <a:pPr algn="l">
                        <a:lnSpc>
                          <a:spcPct val="110000"/>
                        </a:lnSpc>
                        <a:spcAft>
                          <a:spcPts val="0"/>
                        </a:spcAft>
                      </a:pPr>
                      <a:r>
                        <a:rPr sz="1050" b="1" i="0">
                          <a:solidFill>
                            <a:srgbClr val="161B26"/>
                          </a:solidFill>
                          <a:latin typeface="Arial"/>
                        </a:rPr>
                        <a:t>14:00 – 14:15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Digital Attendance (PM)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Afternoon attendance scan</a:t>
                      </a:r>
                    </a:p>
                  </a:txBody>
                  <a:tcPr anchor="ctr">
                    <a:solidFill>
                      <a:srgbClr val="F5F8FC"/>
                    </a:solidFill>
                  </a:tcPr>
                </a:tc>
              </a:tr>
              <a:tr h="401255">
                <a:tc>
                  <a:txBody>
                    <a:bodyPr wrap="square" anchor="t"/>
                    <a:lstStyle/>
                    <a:p>
                      <a:pPr algn="l">
                        <a:lnSpc>
                          <a:spcPct val="110000"/>
                        </a:lnSpc>
                        <a:spcAft>
                          <a:spcPts val="0"/>
                        </a:spcAft>
                      </a:pPr>
                      <a:r>
                        <a:rPr sz="1050" b="1" i="0">
                          <a:solidFill>
                            <a:srgbClr val="161B26"/>
                          </a:solidFill>
                          <a:latin typeface="Arial"/>
                        </a:rPr>
                        <a:t>14:15 – 15:45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Hands-on Labs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 01, Lab 02, Lab 03, Lab 04 (LO1, LO3, LO4)</a:t>
                      </a:r>
                    </a:p>
                  </a:txBody>
                  <a:tcPr anchor="ctr">
                    <a:solidFill>
                      <a:srgbClr val="FFFFFF"/>
                    </a:solidFill>
                  </a:tcPr>
                </a:tc>
              </a:tr>
              <a:tr h="401255">
                <a:tc>
                  <a:txBody>
                    <a:bodyPr wrap="square" anchor="t"/>
                    <a:lstStyle/>
                    <a:p>
                      <a:pPr algn="l">
                        <a:lnSpc>
                          <a:spcPct val="110000"/>
                        </a:lnSpc>
                        <a:spcAft>
                          <a:spcPts val="0"/>
                        </a:spcAft>
                      </a:pPr>
                      <a:r>
                        <a:rPr sz="1050" b="1" i="0">
                          <a:solidFill>
                            <a:srgbClr val="161B26"/>
                          </a:solidFill>
                          <a:latin typeface="Arial"/>
                        </a:rPr>
                        <a:t>15:45 – 16:00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5F8FC"/>
                    </a:solidFill>
                  </a:tcPr>
                </a:tc>
              </a:tr>
              <a:tr h="401255">
                <a:tc>
                  <a:txBody>
                    <a:bodyPr wrap="square" anchor="t"/>
                    <a:lstStyle/>
                    <a:p>
                      <a:pPr algn="l">
                        <a:lnSpc>
                          <a:spcPct val="110000"/>
                        </a:lnSpc>
                        <a:spcAft>
                          <a:spcPts val="0"/>
                        </a:spcAft>
                      </a:pPr>
                      <a:r>
                        <a:rPr sz="1050" b="1" i="0">
                          <a:solidFill>
                            <a:srgbClr val="161B26"/>
                          </a:solidFill>
                          <a:latin typeface="Arial"/>
                        </a:rPr>
                        <a:t>16:00 – 17:30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Hands-on Labs (continued)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 05, Lab 06, Lab 07, Lab 08 — group share-back</a:t>
                      </a:r>
                    </a:p>
                  </a:txBody>
                  <a:tcPr anchor="ctr">
                    <a:solidFill>
                      <a:srgbClr val="FFFFFF"/>
                    </a:solidFill>
                  </a:tcPr>
                </a:tc>
              </a:tr>
              <a:tr h="401259">
                <a:tc>
                  <a:txBody>
                    <a:bodyPr wrap="square" anchor="t"/>
                    <a:lstStyle/>
                    <a:p>
                      <a:pPr algn="l">
                        <a:lnSpc>
                          <a:spcPct val="110000"/>
                        </a:lnSpc>
                        <a:spcAft>
                          <a:spcPts val="0"/>
                        </a:spcAft>
                      </a:pPr>
                      <a:r>
                        <a:rPr sz="1050" b="1" i="0">
                          <a:solidFill>
                            <a:srgbClr val="161B26"/>
                          </a:solidFill>
                          <a:latin typeface="Arial"/>
                        </a:rPr>
                        <a:t>17:30 – 18:30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Consolidation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Exam-style question drill on the day's material, recap and Q&amp;A</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DAY 2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 Plan — Day 2: Planning the Project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895241"/>
        </p:xfrm>
        <a:graphic>
          <a:graphicData uri="http://schemas.openxmlformats.org/drawingml/2006/table">
            <a:tbl>
              <a:tblPr firstRow="1" bandRow="1">
                <a:tableStyleId>{5C22544A-7EE6-4342-B048-85BDC9FD1C3A}</a:tableStyleId>
              </a:tblPr>
              <a:tblGrid>
                <a:gridCol w="1658264"/>
                <a:gridCol w="3869283"/>
                <a:gridCol w="5527548"/>
              </a:tblGrid>
              <a:tr h="445021">
                <a:tc>
                  <a:txBody>
                    <a:bodyPr wrap="square" anchor="t"/>
                    <a:lstStyle/>
                    <a:p>
                      <a:pPr algn="l">
                        <a:lnSpc>
                          <a:spcPct val="100000"/>
                        </a:lnSpc>
                        <a:spcAft>
                          <a:spcPts val="0"/>
                        </a:spcAft>
                      </a:pPr>
                      <a:r>
                        <a:rPr sz="1150" b="1" i="0">
                          <a:solidFill>
                            <a:srgbClr val="FFFFFF"/>
                          </a:solidFill>
                          <a:latin typeface="Arial"/>
                        </a:rPr>
                        <a:t>Time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Session</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Activity</a:t>
                      </a:r>
                    </a:p>
                  </a:txBody>
                  <a:tcPr anchor="ctr">
                    <a:solidFill>
                      <a:srgbClr val="7C3AED"/>
                    </a:solidFill>
                  </a:tcPr>
                </a:tc>
              </a:tr>
              <a:tr h="445021">
                <a:tc>
                  <a:txBody>
                    <a:bodyPr wrap="square" anchor="t"/>
                    <a:lstStyle/>
                    <a:p>
                      <a:pPr algn="l">
                        <a:lnSpc>
                          <a:spcPct val="110000"/>
                        </a:lnSpc>
                        <a:spcAft>
                          <a:spcPts val="0"/>
                        </a:spcAft>
                      </a:pPr>
                      <a:r>
                        <a:rPr sz="1050" b="1" i="0">
                          <a:solidFill>
                            <a:srgbClr val="161B26"/>
                          </a:solidFill>
                          <a:latin typeface="Arial"/>
                        </a:rPr>
                        <a:t>9:30 – 10:00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Registration &amp; Digital Attendance (AM)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Digital attendance (AM); recap of Day 1 and Q&amp;A</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10:00 – 11:15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3. Plan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11:15 – 11:30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11:30 – 13:00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3. Plan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13:00 – 14:00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Lunch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14:00 – 14:15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Digital Attendance (PM)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Afternoon attendance scan</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14:15 – 15:45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Hands-on Labs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 09, Lab 10, Lab 11 (LO1, LO2, LO4)</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15:45 – 16:00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16:00 – 17:30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Hands-on Labs (continued)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 12, Lab 13, Lab 14 — group share-back</a:t>
                      </a:r>
                    </a:p>
                  </a:txBody>
                  <a:tcPr anchor="ctr">
                    <a:solidFill>
                      <a:srgbClr val="FFFFFF"/>
                    </a:solidFill>
                  </a:tcPr>
                </a:tc>
              </a:tr>
              <a:tr h="445031">
                <a:tc>
                  <a:txBody>
                    <a:bodyPr wrap="square" anchor="t"/>
                    <a:lstStyle/>
                    <a:p>
                      <a:pPr algn="l">
                        <a:lnSpc>
                          <a:spcPct val="110000"/>
                        </a:lnSpc>
                        <a:spcAft>
                          <a:spcPts val="0"/>
                        </a:spcAft>
                      </a:pPr>
                      <a:r>
                        <a:rPr sz="1050" b="1" i="0">
                          <a:solidFill>
                            <a:srgbClr val="161B26"/>
                          </a:solidFill>
                          <a:latin typeface="Arial"/>
                        </a:rPr>
                        <a:t>17:30 – 18:30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Consolidation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Exam-style question drill on the day's material, recap and Q&amp;A</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DAY 3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 Plan — Day 3: Leading the Team &amp; Controlling Delivery</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895241"/>
        </p:xfrm>
        <a:graphic>
          <a:graphicData uri="http://schemas.openxmlformats.org/drawingml/2006/table">
            <a:tbl>
              <a:tblPr firstRow="1" bandRow="1">
                <a:tableStyleId>{5C22544A-7EE6-4342-B048-85BDC9FD1C3A}</a:tableStyleId>
              </a:tblPr>
              <a:tblGrid>
                <a:gridCol w="1658264"/>
                <a:gridCol w="3869283"/>
                <a:gridCol w="5527548"/>
              </a:tblGrid>
              <a:tr h="445021">
                <a:tc>
                  <a:txBody>
                    <a:bodyPr wrap="square" anchor="t"/>
                    <a:lstStyle/>
                    <a:p>
                      <a:pPr algn="l">
                        <a:lnSpc>
                          <a:spcPct val="100000"/>
                        </a:lnSpc>
                        <a:spcAft>
                          <a:spcPts val="0"/>
                        </a:spcAft>
                      </a:pPr>
                      <a:r>
                        <a:rPr sz="1150" b="1" i="0">
                          <a:solidFill>
                            <a:srgbClr val="FFFFFF"/>
                          </a:solidFill>
                          <a:latin typeface="Arial"/>
                        </a:rPr>
                        <a:t>Time</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Session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Activity</a:t>
                      </a:r>
                    </a:p>
                  </a:txBody>
                  <a:tcPr anchor="ctr">
                    <a:solidFill>
                      <a:srgbClr val="F59E0B"/>
                    </a:solidFill>
                  </a:tcPr>
                </a:tc>
              </a:tr>
              <a:tr h="445021">
                <a:tc>
                  <a:txBody>
                    <a:bodyPr wrap="square" anchor="t"/>
                    <a:lstStyle/>
                    <a:p>
                      <a:pPr algn="l">
                        <a:lnSpc>
                          <a:spcPct val="110000"/>
                        </a:lnSpc>
                        <a:spcAft>
                          <a:spcPts val="0"/>
                        </a:spcAft>
                      </a:pPr>
                      <a:r>
                        <a:rPr sz="1050" b="1" i="0">
                          <a:solidFill>
                            <a:srgbClr val="161B26"/>
                          </a:solidFill>
                          <a:latin typeface="Arial"/>
                        </a:rPr>
                        <a:t>9:30 – 10:00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Registration &amp; Digital Attendance (AM)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Digital attendance (AM); recap of Day 2 and Q&amp;A</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10:00 – 11:15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4. Lead the Project Team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11:15 – 11:30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11:30 – 13:00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5. Monitor and Control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worked examples and discussion</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13:00 – 14:00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Lunch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14:00 – 14:15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Digital Attendance (PM)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Afternoon attendance scan</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14:15 – 15:45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Hands-on Labs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 15, Lab 16, Lab 17, Lab 18 (LO2, LO3, LO4, LO5)</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15:45 – 16:00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16:00 – 17:30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Hands-on Labs (continued)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 19, Lab 20, Lab 21, Lab 22 — group share-back</a:t>
                      </a:r>
                    </a:p>
                  </a:txBody>
                  <a:tcPr anchor="ctr">
                    <a:solidFill>
                      <a:srgbClr val="FFFFFF"/>
                    </a:solidFill>
                  </a:tcPr>
                </a:tc>
              </a:tr>
              <a:tr h="445031">
                <a:tc>
                  <a:txBody>
                    <a:bodyPr wrap="square" anchor="t"/>
                    <a:lstStyle/>
                    <a:p>
                      <a:pPr algn="l">
                        <a:lnSpc>
                          <a:spcPct val="110000"/>
                        </a:lnSpc>
                        <a:spcAft>
                          <a:spcPts val="0"/>
                        </a:spcAft>
                      </a:pPr>
                      <a:r>
                        <a:rPr sz="1050" b="1" i="0">
                          <a:solidFill>
                            <a:srgbClr val="161B26"/>
                          </a:solidFill>
                          <a:latin typeface="Arial"/>
                        </a:rPr>
                        <a:t>17:30 – 18:30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Consolidation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Exam-style question drill on the day's material, recap and Q&amp;A</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DAY 4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 Plan — Day 4: Closing, Exam Strategy &amp; Practice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895241"/>
        </p:xfrm>
        <a:graphic>
          <a:graphicData uri="http://schemas.openxmlformats.org/drawingml/2006/table">
            <a:tbl>
              <a:tblPr firstRow="1" bandRow="1">
                <a:tableStyleId>{5C22544A-7EE6-4342-B048-85BDC9FD1C3A}</a:tableStyleId>
              </a:tblPr>
              <a:tblGrid>
                <a:gridCol w="1658264"/>
                <a:gridCol w="3869283"/>
                <a:gridCol w="5527548"/>
              </a:tblGrid>
              <a:tr h="445021">
                <a:tc>
                  <a:txBody>
                    <a:bodyPr wrap="square" anchor="t"/>
                    <a:lstStyle/>
                    <a:p>
                      <a:pPr algn="l">
                        <a:lnSpc>
                          <a:spcPct val="100000"/>
                        </a:lnSpc>
                        <a:spcAft>
                          <a:spcPts val="0"/>
                        </a:spcAft>
                      </a:pPr>
                      <a:r>
                        <a:rPr sz="1150" b="1" i="0">
                          <a:solidFill>
                            <a:srgbClr val="FFFFFF"/>
                          </a:solidFill>
                          <a:latin typeface="Arial"/>
                        </a:rPr>
                        <a:t>Time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Session</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Activity</a:t>
                      </a:r>
                    </a:p>
                  </a:txBody>
                  <a:tcPr anchor="ctr">
                    <a:solidFill>
                      <a:srgbClr val="06B6D4"/>
                    </a:solidFill>
                  </a:tcPr>
                </a:tc>
              </a:tr>
              <a:tr h="445021">
                <a:tc>
                  <a:txBody>
                    <a:bodyPr wrap="square" anchor="t"/>
                    <a:lstStyle/>
                    <a:p>
                      <a:pPr algn="l">
                        <a:lnSpc>
                          <a:spcPct val="110000"/>
                        </a:lnSpc>
                        <a:spcAft>
                          <a:spcPts val="0"/>
                        </a:spcAft>
                      </a:pPr>
                      <a:r>
                        <a:rPr sz="1050" b="1" i="0">
                          <a:solidFill>
                            <a:srgbClr val="161B26"/>
                          </a:solidFill>
                          <a:latin typeface="Arial"/>
                        </a:rPr>
                        <a:t>9:30 – 9:45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Digital Attendance (AM)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Digital attendance (AM); recap of Day 3 and Q&amp;A</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9:45 – 11:00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Topic 6. Close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Concept delivery: closure, benefits realisation, knowledge transfer</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11:00 – 11:15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11:15 – 13:00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Hands-on Labs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Lab 23 (LO1, LO2, LO3, LO4, LO5)</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13:00 – 14:00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Lunch Break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14:00 – 14:15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Digital Attendance (PM)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Afternoon attendance scan</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14:15 – 15:15</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Hands-on Labs (continued)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 24 — capstone consolidation and mock exam review</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15:15 – 15:30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Briefing for Assessment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Assessment rules, timing, materials and submission</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15:30 – 16:30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Written Assessment (WA)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Open-ended short-answer questions, K1–K5 (1 hour)</a:t>
                      </a:r>
                    </a:p>
                  </a:txBody>
                  <a:tcPr anchor="ctr">
                    <a:solidFill>
                      <a:srgbClr val="FFFFFF"/>
                    </a:solidFill>
                  </a:tcPr>
                </a:tc>
              </a:tr>
              <a:tr h="445031">
                <a:tc>
                  <a:txBody>
                    <a:bodyPr wrap="square" anchor="t"/>
                    <a:lstStyle/>
                    <a:p>
                      <a:pPr algn="l">
                        <a:lnSpc>
                          <a:spcPct val="110000"/>
                        </a:lnSpc>
                        <a:spcAft>
                          <a:spcPts val="0"/>
                        </a:spcAft>
                      </a:pPr>
                      <a:r>
                        <a:rPr sz="1050" b="1" i="0">
                          <a:solidFill>
                            <a:srgbClr val="161B26"/>
                          </a:solidFill>
                          <a:latin typeface="Arial"/>
                        </a:rPr>
                        <a:t>16:30 – 18:30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Case Study Assessment (CS)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Applied project scenario, A1–A8 (2 hours); digital attendance for the assessment session</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ASSESSMENT RULES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Briefing for Assessment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Open book</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Course slides, your Learner Guide and your lab artifacts may be used. Phones and bags go under the table.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 recording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Photographs and recordings of assessment papers are strictly prohibited.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 collaboration</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assessment is individual work; talking during the assessment ends your attempt.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 allocation</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Written Assessment 1 hour (3:30–4:30pm), then the Case Study 2 hours (4:30–6:30pm).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Ask before you start</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Clarify any instruction with the assessor before beginning — not midway through.</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Submit everything</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Hand in all question papers and answer scripts, including any rough working.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HOW YOU WILL BE ASSESSED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Assessment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Written Assessment — 1 hour</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Five open-ended short-answer questions (K1–K5) on the ECO domains, processes, formulas and terminology.</a:t>
            </a:r>
          </a:p>
          <a:p>
            <a:pPr algn="l">
              <a:lnSpc>
                <a:spcPct val="118000"/>
              </a:lnSpc>
              <a:spcAft>
                <a:spcPts val="400"/>
              </a:spcAft>
            </a:pPr>
            <a:r>
              <a:rPr sz="1150" b="0" i="0">
                <a:solidFill>
                  <a:srgbClr val="5B6372"/>
                </a:solidFill>
                <a:latin typeface="Arial"/>
              </a:rPr>
              <a:t>Day 4, 3:30pm–4:30pm. Open book, individual.</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Case Study — 2 hours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project scenario with five linked questions (A1–A8) requiring applied judgement rather than recall.</a:t>
            </a:r>
          </a:p>
          <a:p>
            <a:pPr algn="l">
              <a:lnSpc>
                <a:spcPct val="118000"/>
              </a:lnSpc>
              <a:spcAft>
                <a:spcPts val="400"/>
              </a:spcAft>
            </a:pPr>
            <a:r>
              <a:rPr sz="1150" b="0" i="0">
                <a:solidFill>
                  <a:srgbClr val="5B6372"/>
                </a:solidFill>
                <a:latin typeface="Arial"/>
              </a:rPr>
              <a:t>Day 4, 4:30pm–6:30pm. Open book, individual.</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Competency standard</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are assessed Competent (C) or Not Yet Competent (NYC) against the five learning outcomes.</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Re-assessment</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Learners assessed NYC are offered one re-assessment opportunity per the academy's assessment policy.</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to bring</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Photo identification, a non-programmable calculator, and your course materials — both papers are open book.</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Funding condition</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Completing the assessment is a mandatory condition of SSG funding, alongside the 75% attendance rate.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SSG REQUIREMENTS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Criteria for Funding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75% minimum attendance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Based on the SSG digital attendance record — both AM and PM scans, every day.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Complete the assessment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must attempt the Written Assessment and the Case Study on Day 4.</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Achieve Competent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Competent outcome across all learning outcomes is required for certification.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Complete TRAQOM</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mandatory quality survey must be submitted to release your certificate.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Employer-sponsored claims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Absentee payroll and course-fee claims follow your organisation's SkillsFuture submission process.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your records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Retain your certificate and course code for the PMI application — this course supplies the 35 contact hours.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EEF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10B981"/>
                </a:solidFill>
                <a:latin typeface="Arial"/>
              </a:rPr>
              <a:t>01</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10B981"/>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Business Environment</a:t>
            </a:r>
          </a:p>
        </p:txBody>
      </p:sp>
      <p:sp>
        <p:nvSpPr>
          <p:cNvPr id="7" name="TextBox 6"/>
          <p:cNvSpPr txBox="1"/>
          <p:nvPr/>
        </p:nvSpPr>
        <p:spPr>
          <a:xfrm>
            <a:off x="4709160" y="1481328"/>
            <a:ext cx="6858000" cy="1060704"/>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Where projects come from, why they are funded, and the governance, compliance and change context every project must survive in. This topic sets the vocabulary used for the rest of the course.</a:t>
            </a:r>
          </a:p>
        </p:txBody>
      </p:sp>
      <p:sp>
        <p:nvSpPr>
          <p:cNvPr id="8" name="Oval 7"/>
          <p:cNvSpPr/>
          <p:nvPr/>
        </p:nvSpPr>
        <p:spPr>
          <a:xfrm>
            <a:off x="4709160" y="2779776"/>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80720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276148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What a project is, and what project management actually delivers</a:t>
            </a:r>
          </a:p>
        </p:txBody>
      </p:sp>
      <p:sp>
        <p:nvSpPr>
          <p:cNvPr id="11" name="Oval 10"/>
          <p:cNvSpPr/>
          <p:nvPr/>
        </p:nvSpPr>
        <p:spPr>
          <a:xfrm>
            <a:off x="4709160" y="3291840"/>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31927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27355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The 12 PMI principles and what project success really depends on</a:t>
            </a:r>
          </a:p>
        </p:txBody>
      </p:sp>
      <p:sp>
        <p:nvSpPr>
          <p:cNvPr id="14" name="Oval 13"/>
          <p:cNvSpPr/>
          <p:nvPr/>
        </p:nvSpPr>
        <p:spPr>
          <a:xfrm>
            <a:off x="4709160" y="3803904"/>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83133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378561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Life cycles and development approaches: predictive, agile and hybrid</a:t>
            </a:r>
          </a:p>
        </p:txBody>
      </p:sp>
      <p:sp>
        <p:nvSpPr>
          <p:cNvPr id="17" name="Oval 16"/>
          <p:cNvSpPr/>
          <p:nvPr/>
        </p:nvSpPr>
        <p:spPr>
          <a:xfrm>
            <a:off x="4709160" y="4315968"/>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34340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29768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Organisational culture, EEFs, OPAs and structured change management</a:t>
            </a:r>
          </a:p>
        </p:txBody>
      </p:sp>
      <p:sp>
        <p:nvSpPr>
          <p:cNvPr id="20" name="Oval 19"/>
          <p:cNvSpPr/>
          <p:nvPr/>
        </p:nvSpPr>
        <p:spPr>
          <a:xfrm>
            <a:off x="4709160" y="4828032"/>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85546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480974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Project governance, escalation thresholds and phase gates</a:t>
            </a:r>
          </a:p>
        </p:txBody>
      </p:sp>
      <p:sp>
        <p:nvSpPr>
          <p:cNvPr id="23" name="Oval 22"/>
          <p:cNvSpPr/>
          <p:nvPr/>
        </p:nvSpPr>
        <p:spPr>
          <a:xfrm>
            <a:off x="4709160" y="5340096"/>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36752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32180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Compliance, sustainability and the responsible use of AI in projects</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DEFINITION OF A PROJECT</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foundation of everything that follows</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A project is a temporary endeavour undertaken to create a unique product, service or result.</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TEMPORARY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It has a definite start and a definite end — ending when objectives are met, or when it is clear they cannot be.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UNIQUE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output has never been produced in exactly this form before, so some degree of uncertainty is always present.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DELIVERS CHANGE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project moves the organisation from a current state to a future state that carries business value.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Projects versus operations — why the distinction matters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WORK</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Temporary, unique, change-driven</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a defined start and end date fixed by the charter</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a unique deliverable that did not previously exist</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Staffed by a team that is assembled and later released</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Success is measured against scope, schedule, cost and benefits</a:t>
            </a:r>
          </a:p>
        </p:txBody>
      </p:sp>
      <p:sp>
        <p:nvSpPr>
          <p:cNvPr id="17" name="Oval 16"/>
          <p:cNvSpPr/>
          <p:nvPr/>
        </p:nvSpPr>
        <p:spPr>
          <a:xfrm>
            <a:off x="786384" y="391957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Progressively elaborated as more information becomes known</a:t>
            </a:r>
          </a:p>
        </p:txBody>
      </p:sp>
      <p:sp>
        <p:nvSpPr>
          <p:cNvPr id="19" name="Oval 18"/>
          <p:cNvSpPr/>
          <p:nvPr/>
        </p:nvSpPr>
        <p:spPr>
          <a:xfrm>
            <a:off x="786384" y="423961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13903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Funded from a capital or change budget with a business case</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OPERATIONAL WORK</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Ongoing, repetitive, efficiency-driven</a:t>
            </a:r>
          </a:p>
        </p:txBody>
      </p:sp>
      <p:sp>
        <p:nvSpPr>
          <p:cNvPr id="25" name="Oval 24"/>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Continues indefinitely as long as the business needs the output</a:t>
            </a:r>
          </a:p>
        </p:txBody>
      </p:sp>
      <p:sp>
        <p:nvSpPr>
          <p:cNvPr id="27" name="Oval 26"/>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the same product or service repeatedly to a standard</a:t>
            </a:r>
          </a:p>
        </p:txBody>
      </p:sp>
      <p:sp>
        <p:nvSpPr>
          <p:cNvPr id="29" name="Oval 28"/>
          <p:cNvSpPr/>
          <p:nvPr/>
        </p:nvSpPr>
        <p:spPr>
          <a:xfrm>
            <a:off x="6451092"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Staffed by a permanent functional team reporting to a line manager</a:t>
            </a:r>
          </a:p>
        </p:txBody>
      </p:sp>
      <p:sp>
        <p:nvSpPr>
          <p:cNvPr id="31" name="Oval 30"/>
          <p:cNvSpPr/>
          <p:nvPr/>
        </p:nvSpPr>
        <p:spPr>
          <a:xfrm>
            <a:off x="6451092"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Success is measured against throughput, cost per unit and quality</a:t>
            </a:r>
          </a:p>
        </p:txBody>
      </p:sp>
      <p:sp>
        <p:nvSpPr>
          <p:cNvPr id="33" name="Oval 32"/>
          <p:cNvSpPr/>
          <p:nvPr/>
        </p:nvSpPr>
        <p:spPr>
          <a:xfrm>
            <a:off x="6451092"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Optimised for stability and predictable repetition, not novelty</a:t>
            </a:r>
          </a:p>
        </p:txBody>
      </p:sp>
      <p:sp>
        <p:nvSpPr>
          <p:cNvPr id="35" name="Oval 34"/>
          <p:cNvSpPr/>
          <p:nvPr/>
        </p:nvSpPr>
        <p:spPr>
          <a:xfrm>
            <a:off x="6451092" y="49345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8339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Funded from a recurring operating expense budget</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if the scenario describes work that never ends or simply repeats, it is operations — the correct answer usually involves transitioning the deliverable to operations, not extending the project.</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T8 · EVALUATE EXTERNAL BUSINESS ENVIRONMENT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counts as a project? Recognising project work in the wild</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Developing a software product</a:t>
            </a:r>
          </a:p>
        </p:txBody>
      </p:sp>
      <p:sp>
        <p:nvSpPr>
          <p:cNvPr id="10" name="TextBox 9"/>
          <p:cNvSpPr txBox="1"/>
          <p:nvPr/>
        </p:nvSpPr>
        <p:spPr>
          <a:xfrm>
            <a:off x="76809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Building a new mobile banking app from concept to launch — unique code, a fixed release date, and a team disbanded after go-live.</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Constructing a new office</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permits, build and fit-out of a physical asset, with heavy regulatory compliance and irreversible, expensive change late on.</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Filming a motion picture</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Highly creative, schedule-driven work with named talent constraints and a single big-bang delivery to distribution.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 advertising campaign</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Short, iterative, market-sensitive delivery where the external environment can invalidate the concept mid-flight.</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Redesigning a business process</a:t>
            </a:r>
          </a:p>
        </p:txBody>
      </p:sp>
      <p:sp>
        <p:nvSpPr>
          <p:cNvPr id="34" name="TextBox 33"/>
          <p:cNvSpPr txBox="1"/>
          <p:nvPr/>
        </p:nvSpPr>
        <p:spPr>
          <a:xfrm>
            <a:off x="453237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internal change project whose real deliverable is adoption by people, not a document — heavy change management content.</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Migrating to a cloud platform</a:t>
            </a:r>
          </a:p>
        </p:txBody>
      </p:sp>
      <p:sp>
        <p:nvSpPr>
          <p:cNvPr id="40" name="TextBox 39"/>
          <p:cNvSpPr txBox="1"/>
          <p:nvPr/>
        </p:nvSpPr>
        <p:spPr>
          <a:xfrm>
            <a:off x="829665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Technical transformation with security, data-residency and compliance obligations plus a hard decommission deadline.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PROJECT MANAGEMENT DEFINED</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What is project management?</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The application of knowledge, skills, tools and techniques to project activities to meet the project requirements.</a:t>
            </a:r>
          </a:p>
        </p:txBody>
      </p:sp>
      <p:sp>
        <p:nvSpPr>
          <p:cNvPr id="6" name="Rectangle 5"/>
          <p:cNvSpPr/>
          <p:nvPr/>
        </p:nvSpPr>
        <p:spPr>
          <a:xfrm>
            <a:off x="566928" y="4030218"/>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A DISCIPLINE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It spans initiating, planning, executing, monitoring and controlling, and closing — performed with intent, not by accident.</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A VALUE ENGINE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Projects are how strategy actually happens; without them an organisation's strategic plan stays a slide deck.</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 RISK REDUCER</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Structured management makes uncertainty visible early, when responding to it is still cheap.</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T1 · DEFINE AND ESTABLISH PROJECT GOVERNANCE</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role of the project manager — six jobs you are actually paid for</a:t>
            </a:r>
          </a:p>
        </p:txBody>
      </p:sp>
      <p:sp>
        <p:nvSpPr>
          <p:cNvPr id="4" name="Rectangle 3"/>
          <p:cNvSpPr/>
          <p:nvPr/>
        </p:nvSpPr>
        <p:spPr>
          <a:xfrm>
            <a:off x="566928" y="1676095"/>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96977"/>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1643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814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Integrator</a:t>
            </a:r>
          </a:p>
        </p:txBody>
      </p:sp>
      <p:sp>
        <p:nvSpPr>
          <p:cNvPr id="10" name="TextBox 9"/>
          <p:cNvSpPr txBox="1"/>
          <p:nvPr/>
        </p:nvSpPr>
        <p:spPr>
          <a:xfrm>
            <a:off x="768096" y="271876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Holds the whole picture together, making sure scope, schedule, cost, quality and risk decisions are consistent with one another.</a:t>
            </a:r>
          </a:p>
        </p:txBody>
      </p:sp>
      <p:sp>
        <p:nvSpPr>
          <p:cNvPr id="11" name="Rounded Rectangle 10"/>
          <p:cNvSpPr/>
          <p:nvPr/>
        </p:nvSpPr>
        <p:spPr>
          <a:xfrm>
            <a:off x="433120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96977"/>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1643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814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Communicator</a:t>
            </a:r>
          </a:p>
        </p:txBody>
      </p:sp>
      <p:sp>
        <p:nvSpPr>
          <p:cNvPr id="16" name="TextBox 15"/>
          <p:cNvSpPr txBox="1"/>
          <p:nvPr/>
        </p:nvSpPr>
        <p:spPr>
          <a:xfrm>
            <a:off x="4532376" y="271876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Spends roughly 90% of the working day communicating — translating between technical teams, sponsors and customers.</a:t>
            </a:r>
          </a:p>
        </p:txBody>
      </p:sp>
      <p:sp>
        <p:nvSpPr>
          <p:cNvPr id="17" name="Rounded Rectangle 16"/>
          <p:cNvSpPr/>
          <p:nvPr/>
        </p:nvSpPr>
        <p:spPr>
          <a:xfrm>
            <a:off x="809548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96977"/>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1643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814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Decision maker</a:t>
            </a:r>
          </a:p>
        </p:txBody>
      </p:sp>
      <p:sp>
        <p:nvSpPr>
          <p:cNvPr id="22" name="TextBox 21"/>
          <p:cNvSpPr txBox="1"/>
          <p:nvPr/>
        </p:nvSpPr>
        <p:spPr>
          <a:xfrm>
            <a:off x="8296656" y="271876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Makes calls within delegated authority and escalates cleanly and quickly when a threshold is breached.</a:t>
            </a:r>
          </a:p>
        </p:txBody>
      </p:sp>
      <p:sp>
        <p:nvSpPr>
          <p:cNvPr id="23" name="Rounded Rectangle 22"/>
          <p:cNvSpPr/>
          <p:nvPr/>
        </p:nvSpPr>
        <p:spPr>
          <a:xfrm>
            <a:off x="56692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221327"/>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44078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Servant leader</a:t>
            </a:r>
          </a:p>
        </p:txBody>
      </p:sp>
      <p:sp>
        <p:nvSpPr>
          <p:cNvPr id="28" name="TextBox 27"/>
          <p:cNvSpPr txBox="1"/>
          <p:nvPr/>
        </p:nvSpPr>
        <p:spPr>
          <a:xfrm>
            <a:off x="768096" y="484311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Removes impediments, protects the team from noise, and creates the conditions in which skilled people can do good work.</a:t>
            </a:r>
          </a:p>
        </p:txBody>
      </p:sp>
      <p:sp>
        <p:nvSpPr>
          <p:cNvPr id="29" name="Rounded Rectangle 28"/>
          <p:cNvSpPr/>
          <p:nvPr/>
        </p:nvSpPr>
        <p:spPr>
          <a:xfrm>
            <a:off x="433120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4221327"/>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440783"/>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owner</a:t>
            </a:r>
          </a:p>
        </p:txBody>
      </p:sp>
      <p:sp>
        <p:nvSpPr>
          <p:cNvPr id="34" name="TextBox 33"/>
          <p:cNvSpPr txBox="1"/>
          <p:nvPr/>
        </p:nvSpPr>
        <p:spPr>
          <a:xfrm>
            <a:off x="4532376" y="484311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Continuously scans internally and externally for threats and opportunities, and drives agreed responses to closure.</a:t>
            </a:r>
          </a:p>
        </p:txBody>
      </p:sp>
      <p:sp>
        <p:nvSpPr>
          <p:cNvPr id="35" name="Rounded Rectangle 34"/>
          <p:cNvSpPr/>
          <p:nvPr/>
        </p:nvSpPr>
        <p:spPr>
          <a:xfrm>
            <a:off x="809548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4221327"/>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440783"/>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steward</a:t>
            </a:r>
          </a:p>
        </p:txBody>
      </p:sp>
      <p:sp>
        <p:nvSpPr>
          <p:cNvPr id="40" name="TextBox 39"/>
          <p:cNvSpPr txBox="1"/>
          <p:nvPr/>
        </p:nvSpPr>
        <p:spPr>
          <a:xfrm>
            <a:off x="8296656" y="484311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Keeps the project honest about business value, stopping or reshaping work that no longer justifies its investment.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TRIPLE CONSTRAINT</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triple constraint — the physics of every project</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Scope, time and cost are joined; move one and at least one other must move, or quality silently absorbs the difference.</a:t>
            </a:r>
          </a:p>
        </p:txBody>
      </p:sp>
      <p:sp>
        <p:nvSpPr>
          <p:cNvPr id="6" name="Rectangle 5"/>
          <p:cNvSpPr/>
          <p:nvPr/>
        </p:nvSpPr>
        <p:spPr>
          <a:xfrm>
            <a:off x="566928" y="4030218"/>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SCOPE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work required and the features delivered. Uncontrolled growth here is scope creep and is the single most common project failure.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TIME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schedule and its milestones. Compressing time without adding cost or cutting scope only borrows quality from the future.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COST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approved budget including reserves. Cutting cost mid-flight usually means fewer people, which extends time.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Which constraint is fixed? Choosing your development approach from it</a:t>
            </a:r>
          </a:p>
        </p:txBody>
      </p:sp>
      <p:sp>
        <p:nvSpPr>
          <p:cNvPr id="4" name="Rectangle 3"/>
          <p:cNvSpPr/>
          <p:nvPr/>
        </p:nvSpPr>
        <p:spPr>
          <a:xfrm>
            <a:off x="566928" y="1676095"/>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207843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2206447"/>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Fixed date, vague scope</a:t>
            </a:r>
          </a:p>
        </p:txBody>
      </p:sp>
      <p:sp>
        <p:nvSpPr>
          <p:cNvPr id="7" name="TextBox 6"/>
          <p:cNvSpPr txBox="1"/>
          <p:nvPr/>
        </p:nvSpPr>
        <p:spPr>
          <a:xfrm>
            <a:off x="2478024" y="2801950"/>
            <a:ext cx="1700784" cy="1160145"/>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Use agile with a fixed timebox and a variable backlog. Deliver the highest-value slice by the date.</a:t>
            </a:r>
          </a:p>
        </p:txBody>
      </p:sp>
      <p:sp>
        <p:nvSpPr>
          <p:cNvPr id="8" name="Rounded Rectangle 7"/>
          <p:cNvSpPr/>
          <p:nvPr/>
        </p:nvSpPr>
        <p:spPr>
          <a:xfrm>
            <a:off x="4325112" y="207843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206447"/>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Fixed date, clear scope</a:t>
            </a:r>
          </a:p>
        </p:txBody>
      </p:sp>
      <p:sp>
        <p:nvSpPr>
          <p:cNvPr id="10" name="TextBox 9"/>
          <p:cNvSpPr txBox="1"/>
          <p:nvPr/>
        </p:nvSpPr>
        <p:spPr>
          <a:xfrm>
            <a:off x="4471416" y="2801950"/>
            <a:ext cx="1700784" cy="1160145"/>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Predictive delivery with a firm baseline and strong change control is the natural fit.</a:t>
            </a:r>
          </a:p>
        </p:txBody>
      </p:sp>
      <p:sp>
        <p:nvSpPr>
          <p:cNvPr id="11" name="Rounded Rectangle 10"/>
          <p:cNvSpPr/>
          <p:nvPr/>
        </p:nvSpPr>
        <p:spPr>
          <a:xfrm>
            <a:off x="2331720" y="4071823"/>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4199839"/>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Flexible date, vague scope</a:t>
            </a:r>
          </a:p>
        </p:txBody>
      </p:sp>
      <p:sp>
        <p:nvSpPr>
          <p:cNvPr id="13" name="TextBox 12"/>
          <p:cNvSpPr txBox="1"/>
          <p:nvPr/>
        </p:nvSpPr>
        <p:spPr>
          <a:xfrm>
            <a:off x="2478024" y="4795342"/>
            <a:ext cx="1700784" cy="1160145"/>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Exploratory or iterative work — prototype, learn, then commit once the problem is understood.</a:t>
            </a:r>
          </a:p>
        </p:txBody>
      </p:sp>
      <p:sp>
        <p:nvSpPr>
          <p:cNvPr id="14" name="Rounded Rectangle 13"/>
          <p:cNvSpPr/>
          <p:nvPr/>
        </p:nvSpPr>
        <p:spPr>
          <a:xfrm>
            <a:off x="4325112" y="4071823"/>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4199839"/>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Flexible date, clear scope</a:t>
            </a:r>
          </a:p>
        </p:txBody>
      </p:sp>
      <p:sp>
        <p:nvSpPr>
          <p:cNvPr id="16" name="TextBox 15"/>
          <p:cNvSpPr txBox="1"/>
          <p:nvPr/>
        </p:nvSpPr>
        <p:spPr>
          <a:xfrm>
            <a:off x="4471416" y="4795342"/>
            <a:ext cx="1700784" cy="1160145"/>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Incremental delivery lets the customer take value early while the remaining work continues.</a:t>
            </a:r>
          </a:p>
        </p:txBody>
      </p:sp>
      <p:sp>
        <p:nvSpPr>
          <p:cNvPr id="17" name="TextBox 16"/>
          <p:cNvSpPr txBox="1"/>
          <p:nvPr/>
        </p:nvSpPr>
        <p:spPr>
          <a:xfrm>
            <a:off x="2331720" y="6156655"/>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REQUIREMENTS CERTAINTY  →  high</a:t>
            </a:r>
          </a:p>
        </p:txBody>
      </p:sp>
      <p:sp>
        <p:nvSpPr>
          <p:cNvPr id="18" name="TextBox 17"/>
          <p:cNvSpPr txBox="1"/>
          <p:nvPr/>
        </p:nvSpPr>
        <p:spPr>
          <a:xfrm>
            <a:off x="457201" y="3888943"/>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DELIVERY DATE  →  fixed</a:t>
            </a:r>
          </a:p>
        </p:txBody>
      </p:sp>
      <p:sp>
        <p:nvSpPr>
          <p:cNvPr id="19" name="Rounded Rectangle 18"/>
          <p:cNvSpPr/>
          <p:nvPr/>
        </p:nvSpPr>
        <p:spPr>
          <a:xfrm>
            <a:off x="6583680" y="2169871"/>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2279599"/>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In agile the triple constraint inverts: cost and time are fixed by the sprint, and scope is the variable that flexes.</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PMI TALENT TRIANGLE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PMI Talent Triangle — three competency areas the PMP tests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9016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31210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31027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Ways of Working</a:t>
            </a:r>
          </a:p>
        </p:txBody>
      </p:sp>
      <p:sp>
        <p:nvSpPr>
          <p:cNvPr id="10" name="TextBox 9"/>
          <p:cNvSpPr txBox="1"/>
          <p:nvPr/>
        </p:nvSpPr>
        <p:spPr>
          <a:xfrm>
            <a:off x="768096" y="3523411"/>
            <a:ext cx="3124200" cy="117043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Technical mastery of the many methods available — predictive, agile, hybrid — and the judgement to tailor the method to the environment.</a:t>
            </a:r>
          </a:p>
        </p:txBody>
      </p:sp>
      <p:sp>
        <p:nvSpPr>
          <p:cNvPr id="11" name="Rounded Rectangle 10"/>
          <p:cNvSpPr/>
          <p:nvPr/>
        </p:nvSpPr>
        <p:spPr>
          <a:xfrm>
            <a:off x="433120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9016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31210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31027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Power Skills</a:t>
            </a:r>
          </a:p>
        </p:txBody>
      </p:sp>
      <p:sp>
        <p:nvSpPr>
          <p:cNvPr id="16" name="TextBox 15"/>
          <p:cNvSpPr txBox="1"/>
          <p:nvPr/>
        </p:nvSpPr>
        <p:spPr>
          <a:xfrm>
            <a:off x="4532376" y="3523411"/>
            <a:ext cx="3124200" cy="117043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Collaborative leadership, effective communication, empathy, conflict resolution and the influence needed without formal authority.</a:t>
            </a:r>
          </a:p>
        </p:txBody>
      </p:sp>
      <p:sp>
        <p:nvSpPr>
          <p:cNvPr id="17" name="Rounded Rectangle 16"/>
          <p:cNvSpPr/>
          <p:nvPr/>
        </p:nvSpPr>
        <p:spPr>
          <a:xfrm>
            <a:off x="809548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9016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31210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31027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Acumen</a:t>
            </a:r>
          </a:p>
        </p:txBody>
      </p:sp>
      <p:sp>
        <p:nvSpPr>
          <p:cNvPr id="22" name="TextBox 21"/>
          <p:cNvSpPr txBox="1"/>
          <p:nvPr/>
        </p:nvSpPr>
        <p:spPr>
          <a:xfrm>
            <a:off x="8296656" y="3523411"/>
            <a:ext cx="3124200" cy="117043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Understanding priority, cost versus benefit, industry context and how to make decisions that hold up commercially, not just technically.</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PMI PRINCIPLES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12 PMI project management principles (1 of 2)</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 a diligent, respectful, caring steward</a:t>
            </a:r>
          </a:p>
        </p:txBody>
      </p:sp>
      <p:sp>
        <p:nvSpPr>
          <p:cNvPr id="10" name="TextBox 9"/>
          <p:cNvSpPr txBox="1"/>
          <p:nvPr/>
        </p:nvSpPr>
        <p:spPr>
          <a:xfrm>
            <a:off x="76809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Act with integrity and in the organisation's and society's interest, honouring both internal and external obligations.</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 a collaborative team environment</a:t>
            </a:r>
          </a:p>
        </p:txBody>
      </p:sp>
      <p:sp>
        <p:nvSpPr>
          <p:cNvPr id="16" name="TextBox 15"/>
          <p:cNvSpPr txBox="1"/>
          <p:nvPr/>
        </p:nvSpPr>
        <p:spPr>
          <a:xfrm>
            <a:off x="453237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Teams that share agreements, structures and processes deliver more than individuals working in parallel silos.</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Effectively engage with stakeholders</a:t>
            </a:r>
          </a:p>
        </p:txBody>
      </p:sp>
      <p:sp>
        <p:nvSpPr>
          <p:cNvPr id="22" name="TextBox 21"/>
          <p:cNvSpPr txBox="1"/>
          <p:nvPr/>
        </p:nvSpPr>
        <p:spPr>
          <a:xfrm>
            <a:off x="829665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Engage proactively and to the degree needed to contribute to project success and customer satisfaction.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Focus on value</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Continually evaluate and adjust project alignment to business objectives and the intended benefits and value.</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Recognize and respond to system interactions</a:t>
            </a:r>
          </a:p>
        </p:txBody>
      </p:sp>
      <p:sp>
        <p:nvSpPr>
          <p:cNvPr id="34" name="TextBox 33"/>
          <p:cNvSpPr txBox="1"/>
          <p:nvPr/>
        </p:nvSpPr>
        <p:spPr>
          <a:xfrm>
            <a:off x="453237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See the project as a system of interacting parts; a change in one area has consequences elsewhere in the organisation.</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Demonstrate leadership behaviours</a:t>
            </a:r>
          </a:p>
        </p:txBody>
      </p:sp>
      <p:sp>
        <p:nvSpPr>
          <p:cNvPr id="40" name="TextBox 39"/>
          <p:cNvSpPr txBox="1"/>
          <p:nvPr/>
        </p:nvSpPr>
        <p:spPr>
          <a:xfrm>
            <a:off x="829665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Leadership is a behaviour anyone on the team can show, not a position on an organisation chart.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PMI PRINCIPLES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12 PMI project management principles (2 of 2)</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 based on context</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the delivery approach around the project's context, objectives, stakeholders, governance and environment.</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quality into processes and deliverables</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Quality is designed in and inspected continuously, not bolted on by testing at the end of the schedule.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Navigate complexity</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Continually evaluate and address complexity arising from human behaviour, system interactions, ambiguity and uncertainty.</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Optimize risk responses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Consistently evaluate exposure to both threats and opportunities, seeking responses proportional to the impact.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Embrace adaptability and resilience</a:t>
            </a:r>
          </a:p>
        </p:txBody>
      </p:sp>
      <p:sp>
        <p:nvSpPr>
          <p:cNvPr id="34" name="TextBox 33"/>
          <p:cNvSpPr txBox="1"/>
          <p:nvPr/>
        </p:nvSpPr>
        <p:spPr>
          <a:xfrm>
            <a:off x="453237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capacity to absorb impacts and recover quickly, so setbacks do not become project failures.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Enable change to achieve the future state</a:t>
            </a:r>
          </a:p>
        </p:txBody>
      </p:sp>
      <p:sp>
        <p:nvSpPr>
          <p:cNvPr id="40" name="TextBox 39"/>
          <p:cNvSpPr txBox="1"/>
          <p:nvPr/>
        </p:nvSpPr>
        <p:spPr>
          <a:xfrm>
            <a:off x="829665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Prepare those affected for adoption; a delivered output that nobody uses has produced zero value.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project success actually depends 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F59E0B"/>
                </a:solidFill>
                <a:latin typeface="Arial"/>
              </a:rPr>
              <a:t>WHAT IT TELLS YOU</a:t>
            </a:r>
          </a:p>
        </p:txBody>
      </p:sp>
      <p:sp>
        <p:nvSpPr>
          <p:cNvPr id="9" name="Oval 8"/>
          <p:cNvSpPr/>
          <p:nvPr/>
        </p:nvSpPr>
        <p:spPr>
          <a:xfrm>
            <a:off x="8403336" y="212735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Most failures trace back to solving the wrong problem well, not to weak execution of the right one.</a:t>
            </a:r>
          </a:p>
        </p:txBody>
      </p:sp>
      <p:sp>
        <p:nvSpPr>
          <p:cNvPr id="11" name="Oval 10"/>
          <p:cNvSpPr/>
          <p:nvPr/>
        </p:nvSpPr>
        <p:spPr>
          <a:xfrm>
            <a:off x="8403336" y="3060039"/>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68599"/>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Communication quality outranks tooling — no tool rescues a team that does not talk to its stakeholders.</a:t>
            </a:r>
          </a:p>
        </p:txBody>
      </p:sp>
      <p:sp>
        <p:nvSpPr>
          <p:cNvPr id="13" name="Oval 12"/>
          <p:cNvSpPr/>
          <p:nvPr/>
        </p:nvSpPr>
        <p:spPr>
          <a:xfrm>
            <a:off x="8403336" y="3992727"/>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90128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Organisational maturity sets the ceiling; a strong PM in an immature organisation still fights the system.</a:t>
            </a:r>
          </a:p>
        </p:txBody>
      </p:sp>
      <p:sp>
        <p:nvSpPr>
          <p:cNvPr id="15" name="Oval 14"/>
          <p:cNvSpPr/>
          <p:nvPr/>
        </p:nvSpPr>
        <p:spPr>
          <a:xfrm>
            <a:off x="8403336" y="4925415"/>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33975"/>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Funding matters, but adequate funding on the wrong scope simply buys a faster failure.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Two different life cycles — do not confuse them on the exam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LIFE CYCLE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phases the project passes through</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series of phases a project moves through from start to close</a:t>
            </a:r>
          </a:p>
        </p:txBody>
      </p:sp>
      <p:sp>
        <p:nvSpPr>
          <p:cNvPr id="11" name="Oval 10"/>
          <p:cNvSpPr/>
          <p:nvPr/>
        </p:nvSpPr>
        <p:spPr>
          <a:xfrm>
            <a:off x="786384" y="295945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phases: feasibility, design, build, test, deploy, close</a:t>
            </a:r>
          </a:p>
        </p:txBody>
      </p:sp>
      <p:sp>
        <p:nvSpPr>
          <p:cNvPr id="13" name="Oval 12"/>
          <p:cNvSpPr/>
          <p:nvPr/>
        </p:nvSpPr>
        <p:spPr>
          <a:xfrm>
            <a:off x="786384" y="345323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Phases usually end in a phase gate or stage-gate review</a:t>
            </a:r>
          </a:p>
        </p:txBody>
      </p:sp>
      <p:sp>
        <p:nvSpPr>
          <p:cNvPr id="15" name="Oval 14"/>
          <p:cNvSpPr/>
          <p:nvPr/>
        </p:nvSpPr>
        <p:spPr>
          <a:xfrm>
            <a:off x="786384" y="377327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At each gate the sponsor decides go, go-with-change, hold or kill</a:t>
            </a:r>
          </a:p>
        </p:txBody>
      </p:sp>
      <p:sp>
        <p:nvSpPr>
          <p:cNvPr id="17" name="Oval 16"/>
          <p:cNvSpPr/>
          <p:nvPr/>
        </p:nvSpPr>
        <p:spPr>
          <a:xfrm>
            <a:off x="786384" y="426704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16646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Defined by the organisation's methodology and governance</a:t>
            </a:r>
          </a:p>
        </p:txBody>
      </p:sp>
      <p:sp>
        <p:nvSpPr>
          <p:cNvPr id="19" name="Oval 18"/>
          <p:cNvSpPr/>
          <p:nvPr/>
        </p:nvSpPr>
        <p:spPr>
          <a:xfrm>
            <a:off x="786384" y="458708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48650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Answers the question: where are we in the journey?</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DEVELOPMENT LIFE CYCLE</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How the deliverable is actually produced</a:t>
            </a:r>
          </a:p>
        </p:txBody>
      </p:sp>
      <p:sp>
        <p:nvSpPr>
          <p:cNvPr id="25" name="Oval 24"/>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approach used to create the product inside those phases</a:t>
            </a:r>
          </a:p>
        </p:txBody>
      </p:sp>
      <p:sp>
        <p:nvSpPr>
          <p:cNvPr id="27" name="Oval 26"/>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Options: predictive, iterative, incremental, adaptive/agile, hybrid</a:t>
            </a:r>
          </a:p>
        </p:txBody>
      </p:sp>
      <p:sp>
        <p:nvSpPr>
          <p:cNvPr id="29" name="Oval 28"/>
          <p:cNvSpPr/>
          <p:nvPr/>
        </p:nvSpPr>
        <p:spPr>
          <a:xfrm>
            <a:off x="6451092" y="327949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Chosen from requirements certainty, risk and delivery cadence</a:t>
            </a:r>
          </a:p>
        </p:txBody>
      </p:sp>
      <p:sp>
        <p:nvSpPr>
          <p:cNvPr id="31" name="Oval 30"/>
          <p:cNvSpPr/>
          <p:nvPr/>
        </p:nvSpPr>
        <p:spPr>
          <a:xfrm>
            <a:off x="6451092" y="377327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 differ per deliverable within one and the same project</a:t>
            </a:r>
          </a:p>
        </p:txBody>
      </p:sp>
      <p:sp>
        <p:nvSpPr>
          <p:cNvPr id="33" name="Oval 32"/>
          <p:cNvSpPr/>
          <p:nvPr/>
        </p:nvSpPr>
        <p:spPr>
          <a:xfrm>
            <a:off x="6451092" y="409331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Defined by the team with the sponsor, and can be tailored</a:t>
            </a:r>
          </a:p>
        </p:txBody>
      </p:sp>
      <p:sp>
        <p:nvSpPr>
          <p:cNvPr id="35" name="Oval 34"/>
          <p:cNvSpPr/>
          <p:nvPr/>
        </p:nvSpPr>
        <p:spPr>
          <a:xfrm>
            <a:off x="6451092" y="441335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Answers the question: how are we building the thing?</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A single project can have a predictive project life cycle for governance while using an agile development life cycle inside the build phase — that combination is a hybrid.</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generic project life cycle and its effort profile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747647"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4764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Starting the project</a:t>
            </a:r>
          </a:p>
        </p:txBody>
      </p:sp>
      <p:sp>
        <p:nvSpPr>
          <p:cNvPr id="9" name="TextBox 8"/>
          <p:cNvSpPr txBox="1"/>
          <p:nvPr/>
        </p:nvSpPr>
        <p:spPr>
          <a:xfrm>
            <a:off x="658368" y="1894893"/>
            <a:ext cx="2580894"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Charter approved, sponsor named, high-level scope and stakeholders identified. Cost and staffing are low.</a:t>
            </a:r>
          </a:p>
        </p:txBody>
      </p:sp>
      <p:sp>
        <p:nvSpPr>
          <p:cNvPr id="10" name="Oval 9"/>
          <p:cNvSpPr/>
          <p:nvPr/>
        </p:nvSpPr>
        <p:spPr>
          <a:xfrm>
            <a:off x="4511421"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1421"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3422142" y="3334359"/>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Organising &amp; preparing</a:t>
            </a:r>
          </a:p>
        </p:txBody>
      </p:sp>
      <p:sp>
        <p:nvSpPr>
          <p:cNvPr id="13" name="TextBox 12"/>
          <p:cNvSpPr txBox="1"/>
          <p:nvPr/>
        </p:nvSpPr>
        <p:spPr>
          <a:xfrm>
            <a:off x="3422142" y="3650541"/>
            <a:ext cx="2580894"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The integrated plan is built. Effort ramps up and the ability to influence outcome is still high.</a:t>
            </a:r>
          </a:p>
        </p:txBody>
      </p:sp>
      <p:sp>
        <p:nvSpPr>
          <p:cNvPr id="14" name="Oval 13"/>
          <p:cNvSpPr/>
          <p:nvPr/>
        </p:nvSpPr>
        <p:spPr>
          <a:xfrm>
            <a:off x="7275195"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75195"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6185916" y="1696755"/>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Carrying out the work</a:t>
            </a:r>
          </a:p>
        </p:txBody>
      </p:sp>
      <p:sp>
        <p:nvSpPr>
          <p:cNvPr id="17" name="TextBox 16"/>
          <p:cNvSpPr txBox="1"/>
          <p:nvPr/>
        </p:nvSpPr>
        <p:spPr>
          <a:xfrm>
            <a:off x="6185916" y="2012937"/>
            <a:ext cx="2580894"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The bulk of cost and staffing. Changes here are expensive; risk decreases as work is completed.</a:t>
            </a:r>
          </a:p>
        </p:txBody>
      </p:sp>
      <p:sp>
        <p:nvSpPr>
          <p:cNvPr id="18" name="Oval 17"/>
          <p:cNvSpPr/>
          <p:nvPr/>
        </p:nvSpPr>
        <p:spPr>
          <a:xfrm>
            <a:off x="10038969"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389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8949690" y="3334359"/>
            <a:ext cx="2580894"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Ending the project</a:t>
            </a:r>
          </a:p>
        </p:txBody>
      </p:sp>
      <p:sp>
        <p:nvSpPr>
          <p:cNvPr id="21" name="TextBox 20"/>
          <p:cNvSpPr txBox="1"/>
          <p:nvPr/>
        </p:nvSpPr>
        <p:spPr>
          <a:xfrm>
            <a:off x="8949690" y="3650541"/>
            <a:ext cx="2580894"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Acceptance, transition, procurement and financial closure, lessons learned, release of the team.</a:t>
            </a:r>
          </a:p>
        </p:txBody>
      </p:sp>
      <p:sp>
        <p:nvSpPr>
          <p:cNvPr id="22" name="Rounded Rectangle 21"/>
          <p:cNvSpPr/>
          <p:nvPr/>
        </p:nvSpPr>
        <p:spPr>
          <a:xfrm>
            <a:off x="566928" y="5074920"/>
            <a:ext cx="11055096" cy="786384"/>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5074920"/>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Risk and stakeholder influence are highest at the start; the cost of change is highest at the end. That single relationship explains most of PMI's guidance on planning and early engagement.</a:t>
            </a:r>
          </a:p>
        </p:txBody>
      </p:sp>
      <p:sp>
        <p:nvSpPr>
          <p:cNvPr id="25" name="TextBox 2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6" name="TextBox 2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7" name="TextBox 2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T3 · HELP ENSURE VALUE-BASED DELIVERY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Why early decisions dominate: risk, influence and the cost of change</a:t>
            </a:r>
          </a:p>
        </p:txBody>
      </p:sp>
      <p:sp>
        <p:nvSpPr>
          <p:cNvPr id="4" name="Rectangle 3"/>
          <p:cNvSpPr/>
          <p:nvPr/>
        </p:nvSpPr>
        <p:spPr>
          <a:xfrm>
            <a:off x="566928" y="1676095"/>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913839"/>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913839"/>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913839"/>
            <a:ext cx="3438144"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2169871"/>
            <a:ext cx="3035808" cy="292608"/>
          </a:xfrm>
          <a:prstGeom prst="rect">
            <a:avLst/>
          </a:prstGeom>
          <a:noFill/>
        </p:spPr>
        <p:txBody>
          <a:bodyPr wrap="square" anchor="t">
            <a:spAutoFit/>
          </a:bodyPr>
          <a:lstStyle/>
          <a:p>
            <a:pPr algn="l">
              <a:lnSpc>
                <a:spcPct val="100000"/>
              </a:lnSpc>
              <a:spcAft>
                <a:spcPts val="400"/>
              </a:spcAft>
            </a:pPr>
            <a:r>
              <a:rPr sz="1050" b="1" i="0">
                <a:solidFill>
                  <a:srgbClr val="E11D48"/>
                </a:solidFill>
                <a:latin typeface="Arial"/>
              </a:rPr>
              <a:t>WHAT IT TELLS YOU</a:t>
            </a:r>
          </a:p>
        </p:txBody>
      </p:sp>
      <p:sp>
        <p:nvSpPr>
          <p:cNvPr id="9" name="Oval 8"/>
          <p:cNvSpPr/>
          <p:nvPr/>
        </p:nvSpPr>
        <p:spPr>
          <a:xfrm>
            <a:off x="8403336" y="2608783"/>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51734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two curves cross early — after that point, changes cost more than the influence they buy.</a:t>
            </a:r>
          </a:p>
        </p:txBody>
      </p:sp>
      <p:sp>
        <p:nvSpPr>
          <p:cNvPr id="11" name="Oval 10"/>
          <p:cNvSpPr/>
          <p:nvPr/>
        </p:nvSpPr>
        <p:spPr>
          <a:xfrm>
            <a:off x="8403336" y="3354019"/>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3262579"/>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This is the mathematical argument for investing in requirements and stakeholder engagement up front.</a:t>
            </a:r>
          </a:p>
        </p:txBody>
      </p:sp>
      <p:sp>
        <p:nvSpPr>
          <p:cNvPr id="13" name="Oval 12"/>
          <p:cNvSpPr/>
          <p:nvPr/>
        </p:nvSpPr>
        <p:spPr>
          <a:xfrm>
            <a:off x="8403336" y="4286707"/>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419526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Agile flattens the cost-of-change curve by keeping increments small and reversible rather than by planning harder.</a:t>
            </a:r>
          </a:p>
        </p:txBody>
      </p:sp>
      <p:sp>
        <p:nvSpPr>
          <p:cNvPr id="15" name="Oval 14"/>
          <p:cNvSpPr/>
          <p:nvPr/>
        </p:nvSpPr>
        <p:spPr>
          <a:xfrm>
            <a:off x="8403336" y="5219395"/>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512795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cue: 'the change was requested late in execution' signals a formal impact analysis, not immediate action.</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Common life cycle definitions — the vocabulary PMI uses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1961388"/>
                <a:gridCol w="2496311"/>
                <a:gridCol w="2318004"/>
                <a:gridCol w="4279392"/>
              </a:tblGrid>
              <a:tr h="475488">
                <a:tc>
                  <a:txBody>
                    <a:bodyPr wrap="square" anchor="t"/>
                    <a:lstStyle/>
                    <a:p>
                      <a:pPr algn="l">
                        <a:lnSpc>
                          <a:spcPct val="100000"/>
                        </a:lnSpc>
                        <a:spcAft>
                          <a:spcPts val="0"/>
                        </a:spcAft>
                      </a:pPr>
                      <a:r>
                        <a:rPr sz="1150" b="1" i="0">
                          <a:solidFill>
                            <a:srgbClr val="FFFFFF"/>
                          </a:solidFill>
                          <a:latin typeface="Arial"/>
                        </a:rPr>
                        <a:t>Life cycle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Requirements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Delivery</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Goal / when to use</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Predictive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Fixed and baselined up front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One delivery at the end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Manage cost — best when the solution is well understood and change is expensive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Iterative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Dynamic; refined each cycle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final delivery, repeated refinement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Correctness of the solution — prototype until the right thing is understood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Incremental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Dynamic; decomposed into slices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Frequent smaller usable deliveries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Speed to value — customer gets working capability before the whole is finished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Adaptive / agile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Dynamic, in a prioritised backlog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Frequent delivery via short timeboxes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Customer value through fast feedback — best under high uncertainty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Hybrid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Mixed by component or phase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Mixed cadence across the project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Fit the approach to each part — the most common shape in real organisations</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DF3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Memory hook: iterative improves the same thing repeatedly; incremental adds new usable pieces. Agile deliberately does both at once.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T3 · HELP ENSURE VALUE-BASED DELIVERY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development approach continuum, from most to least predictive</a:t>
            </a:r>
          </a:p>
        </p:txBody>
      </p:sp>
      <p:sp>
        <p:nvSpPr>
          <p:cNvPr id="4" name="Rectangle 3"/>
          <p:cNvSpPr/>
          <p:nvPr/>
        </p:nvSpPr>
        <p:spPr>
          <a:xfrm>
            <a:off x="566928" y="1676095"/>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2297887"/>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2398471"/>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Predictive</a:t>
            </a:r>
          </a:p>
        </p:txBody>
      </p:sp>
      <p:sp>
        <p:nvSpPr>
          <p:cNvPr id="8" name="TextBox 7"/>
          <p:cNvSpPr txBox="1"/>
          <p:nvPr/>
        </p:nvSpPr>
        <p:spPr>
          <a:xfrm>
            <a:off x="694944"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Full scope defined up front, single delivery at the end, change controlled formally through a change board.</a:t>
            </a:r>
          </a:p>
        </p:txBody>
      </p:sp>
      <p:sp>
        <p:nvSpPr>
          <p:cNvPr id="9" name="Pentagon 8"/>
          <p:cNvSpPr/>
          <p:nvPr/>
        </p:nvSpPr>
        <p:spPr>
          <a:xfrm>
            <a:off x="2801721" y="2297887"/>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2398471"/>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Iterative</a:t>
            </a:r>
          </a:p>
        </p:txBody>
      </p:sp>
      <p:sp>
        <p:nvSpPr>
          <p:cNvPr id="12" name="TextBox 11"/>
          <p:cNvSpPr txBox="1"/>
          <p:nvPr/>
        </p:nvSpPr>
        <p:spPr>
          <a:xfrm>
            <a:off x="2929737"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Repeated cycles refine one solution until it is right; the delivery to the customer still happens once.</a:t>
            </a:r>
          </a:p>
        </p:txBody>
      </p:sp>
      <p:sp>
        <p:nvSpPr>
          <p:cNvPr id="13" name="Pentagon 12"/>
          <p:cNvSpPr/>
          <p:nvPr/>
        </p:nvSpPr>
        <p:spPr>
          <a:xfrm>
            <a:off x="5036515" y="2297887"/>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2398471"/>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Incremental</a:t>
            </a:r>
          </a:p>
        </p:txBody>
      </p:sp>
      <p:sp>
        <p:nvSpPr>
          <p:cNvPr id="16" name="TextBox 15"/>
          <p:cNvSpPr txBox="1"/>
          <p:nvPr/>
        </p:nvSpPr>
        <p:spPr>
          <a:xfrm>
            <a:off x="5164531"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Successive usable slices are handed over, each adding functionality to what the customer already has.</a:t>
            </a:r>
          </a:p>
        </p:txBody>
      </p:sp>
      <p:sp>
        <p:nvSpPr>
          <p:cNvPr id="17" name="Pentagon 16"/>
          <p:cNvSpPr/>
          <p:nvPr/>
        </p:nvSpPr>
        <p:spPr>
          <a:xfrm>
            <a:off x="7271308" y="2297887"/>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2398471"/>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Adaptive / Agile</a:t>
            </a:r>
          </a:p>
        </p:txBody>
      </p:sp>
      <p:sp>
        <p:nvSpPr>
          <p:cNvPr id="20" name="TextBox 19"/>
          <p:cNvSpPr txBox="1"/>
          <p:nvPr/>
        </p:nvSpPr>
        <p:spPr>
          <a:xfrm>
            <a:off x="7399324"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Short timeboxes deliver working increments while the backlog is continuously reprioritised on feedback.</a:t>
            </a:r>
          </a:p>
        </p:txBody>
      </p:sp>
      <p:sp>
        <p:nvSpPr>
          <p:cNvPr id="21" name="Rounded Rectangle 20"/>
          <p:cNvSpPr/>
          <p:nvPr/>
        </p:nvSpPr>
        <p:spPr>
          <a:xfrm>
            <a:off x="9506102" y="2297887"/>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2398471"/>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608783"/>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Hybrid</a:t>
            </a:r>
          </a:p>
        </p:txBody>
      </p:sp>
      <p:sp>
        <p:nvSpPr>
          <p:cNvPr id="24" name="TextBox 23"/>
          <p:cNvSpPr txBox="1"/>
          <p:nvPr/>
        </p:nvSpPr>
        <p:spPr>
          <a:xfrm>
            <a:off x="9634118" y="3323843"/>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Deliberately combines approaches — for example predictive infrastructure alongside an agile application build.</a:t>
            </a:r>
          </a:p>
        </p:txBody>
      </p:sp>
      <p:sp>
        <p:nvSpPr>
          <p:cNvPr id="25" name="Rounded Rectangle 24"/>
          <p:cNvSpPr/>
          <p:nvPr/>
        </p:nvSpPr>
        <p:spPr>
          <a:xfrm>
            <a:off x="566928" y="4971077"/>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971077"/>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062517"/>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approach is a tailoring decision, not an identity. PMI expects you to justify it from requirements certainty, risk, regulatory constraint and how quickly value can be delivered.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cadence — the timing and frequency of delivery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Single delivery</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handover at the very end of the project. Typical of construction, regulated pharmaceuticals and large infrastructure.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Multiple deliveries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is separated into parts released as they complete, not necessarily in a fixed sequence or on a fixed calendar.</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Periodic delivery</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Multiple deliveries released on a fixed drumbeat — monthly, bi-monthly or every sprint — which makes planning predictable.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Continuous delivery</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accepted change flows to production as it is ready, supported by automated testing and deployment pipelines.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Cadence versus approach</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Cadence is about when the customer receives value; the development approach is about how the work is produced.</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matters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Cadence drives the release plan, the funding profile, and how often the benefits measurement system must be read.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AGILE FUNDAMENTALS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definition you must be able to state cold</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Agile is both incremental — small, regular releases of value — and iterative — reflecting and improving regularly.</a:t>
            </a:r>
          </a:p>
        </p:txBody>
      </p:sp>
      <p:sp>
        <p:nvSpPr>
          <p:cNvPr id="6" name="Rectangle 5"/>
          <p:cNvSpPr/>
          <p:nvPr/>
        </p:nvSpPr>
        <p:spPr>
          <a:xfrm>
            <a:off x="566928" y="4030218"/>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INCREMENTAL</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Each sprint hands over a potentially releasable increment, so the customer accrues real value long before the end.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ITERATIVE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Each sprint also revisits and refines what exists, and the retrospective refines how the team works.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THE COMBINATION</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Doing only one of the two is not agile: increments without reflection stagnate; reflection without increments stalls.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Predictive (waterfall) versus adaptive (agile) delivery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 WATERFALL</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Plan the work, then work the plan</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are gathered once, then baselined and frozen</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Design, build and test are performed once, in sequence</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Success is conformance to the approved scope, schedule and budget</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is a formal event requiring a change request and CCB approval</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Detailed documentation is produced and is itself a deliverable</a:t>
            </a:r>
          </a:p>
        </p:txBody>
      </p:sp>
      <p:sp>
        <p:nvSpPr>
          <p:cNvPr id="19" name="Oval 18"/>
          <p:cNvSpPr/>
          <p:nvPr/>
        </p:nvSpPr>
        <p:spPr>
          <a:xfrm>
            <a:off x="786384" y="458708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48650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Customer sees the working product late, usually at UAT</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ADAPTIVE / AGILE</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Inspect and adapt, every timebox</a:t>
            </a:r>
          </a:p>
        </p:txBody>
      </p:sp>
      <p:sp>
        <p:nvSpPr>
          <p:cNvPr id="25" name="Oval 24"/>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live in a backlog and are refined continuously</a:t>
            </a:r>
          </a:p>
        </p:txBody>
      </p:sp>
      <p:sp>
        <p:nvSpPr>
          <p:cNvPr id="27" name="Oval 26"/>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Design, build and test are performed once per increment</a:t>
            </a:r>
          </a:p>
        </p:txBody>
      </p:sp>
      <p:sp>
        <p:nvSpPr>
          <p:cNvPr id="29" name="Oval 28"/>
          <p:cNvSpPr/>
          <p:nvPr/>
        </p:nvSpPr>
        <p:spPr>
          <a:xfrm>
            <a:off x="6451092"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Success is working product and realised customer value</a:t>
            </a:r>
          </a:p>
        </p:txBody>
      </p:sp>
      <p:sp>
        <p:nvSpPr>
          <p:cNvPr id="31" name="Oval 30"/>
          <p:cNvSpPr/>
          <p:nvPr/>
        </p:nvSpPr>
        <p:spPr>
          <a:xfrm>
            <a:off x="6451092"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is expected and absorbed by reprioritising the backlog</a:t>
            </a:r>
          </a:p>
        </p:txBody>
      </p:sp>
      <p:sp>
        <p:nvSpPr>
          <p:cNvPr id="33" name="Oval 32"/>
          <p:cNvSpPr/>
          <p:nvPr/>
        </p:nvSpPr>
        <p:spPr>
          <a:xfrm>
            <a:off x="6451092" y="391957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Working software is favoured over comprehensive documentation</a:t>
            </a:r>
          </a:p>
        </p:txBody>
      </p:sp>
      <p:sp>
        <p:nvSpPr>
          <p:cNvPr id="35" name="Oval 34"/>
          <p:cNvSpPr/>
          <p:nvPr/>
        </p:nvSpPr>
        <p:spPr>
          <a:xfrm>
            <a:off x="6451092" y="441335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Customer sees working product at the end of every sprint</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Predictive performs the full life cycle once; adaptive performs it once per increment. That single sentence answers a surprising number of exam questions.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T3 · HELP ENSURE VALUE-BASED DELIVERY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Stacey model — matching approach to complexity and uncertainty</a:t>
            </a:r>
          </a:p>
        </p:txBody>
      </p:sp>
      <p:sp>
        <p:nvSpPr>
          <p:cNvPr id="4" name="Rectangle 3"/>
          <p:cNvSpPr/>
          <p:nvPr/>
        </p:nvSpPr>
        <p:spPr>
          <a:xfrm>
            <a:off x="566928" y="1676095"/>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207843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2206447"/>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Complicated</a:t>
            </a:r>
          </a:p>
        </p:txBody>
      </p:sp>
      <p:sp>
        <p:nvSpPr>
          <p:cNvPr id="7" name="TextBox 6"/>
          <p:cNvSpPr txBox="1"/>
          <p:nvPr/>
        </p:nvSpPr>
        <p:spPr>
          <a:xfrm>
            <a:off x="2478024" y="280195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Requirements are unclear but technology is known. Use iterative or incremental cycles to converge on the right scope.</a:t>
            </a:r>
          </a:p>
        </p:txBody>
      </p:sp>
      <p:sp>
        <p:nvSpPr>
          <p:cNvPr id="8" name="Rounded Rectangle 7"/>
          <p:cNvSpPr/>
          <p:nvPr/>
        </p:nvSpPr>
        <p:spPr>
          <a:xfrm>
            <a:off x="4325112" y="2078431"/>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2206447"/>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Complex</a:t>
            </a:r>
          </a:p>
        </p:txBody>
      </p:sp>
      <p:sp>
        <p:nvSpPr>
          <p:cNvPr id="10" name="TextBox 9"/>
          <p:cNvSpPr txBox="1"/>
          <p:nvPr/>
        </p:nvSpPr>
        <p:spPr>
          <a:xfrm>
            <a:off x="4471416" y="280195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Both what and how are uncertain. Agile with short feedback loops and small safe-to-fail experiments is the fit.</a:t>
            </a:r>
          </a:p>
        </p:txBody>
      </p:sp>
      <p:sp>
        <p:nvSpPr>
          <p:cNvPr id="11" name="Rounded Rectangle 10"/>
          <p:cNvSpPr/>
          <p:nvPr/>
        </p:nvSpPr>
        <p:spPr>
          <a:xfrm>
            <a:off x="2331720" y="4071823"/>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4199839"/>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Simple</a:t>
            </a:r>
          </a:p>
        </p:txBody>
      </p:sp>
      <p:sp>
        <p:nvSpPr>
          <p:cNvPr id="13" name="TextBox 12"/>
          <p:cNvSpPr txBox="1"/>
          <p:nvPr/>
        </p:nvSpPr>
        <p:spPr>
          <a:xfrm>
            <a:off x="2478024" y="4795342"/>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Both what and how are well understood. Predictive delivery is efficient and the cheapest option to govern.</a:t>
            </a:r>
          </a:p>
        </p:txBody>
      </p:sp>
      <p:sp>
        <p:nvSpPr>
          <p:cNvPr id="14" name="Rounded Rectangle 13"/>
          <p:cNvSpPr/>
          <p:nvPr/>
        </p:nvSpPr>
        <p:spPr>
          <a:xfrm>
            <a:off x="4325112" y="4071823"/>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4199839"/>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Complicated (technical)</a:t>
            </a:r>
          </a:p>
        </p:txBody>
      </p:sp>
      <p:sp>
        <p:nvSpPr>
          <p:cNvPr id="16" name="TextBox 15"/>
          <p:cNvSpPr txBox="1"/>
          <p:nvPr/>
        </p:nvSpPr>
        <p:spPr>
          <a:xfrm>
            <a:off x="4471416" y="4795342"/>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The what is clear but the how is not. Use spikes, prototypes and iterative technical proving.</a:t>
            </a:r>
          </a:p>
        </p:txBody>
      </p:sp>
      <p:sp>
        <p:nvSpPr>
          <p:cNvPr id="17" name="TextBox 16"/>
          <p:cNvSpPr txBox="1"/>
          <p:nvPr/>
        </p:nvSpPr>
        <p:spPr>
          <a:xfrm>
            <a:off x="2331720" y="6156655"/>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TECHNOLOGY / HOW  →  uncertain</a:t>
            </a:r>
          </a:p>
        </p:txBody>
      </p:sp>
      <p:sp>
        <p:nvSpPr>
          <p:cNvPr id="18" name="TextBox 17"/>
          <p:cNvSpPr txBox="1"/>
          <p:nvPr/>
        </p:nvSpPr>
        <p:spPr>
          <a:xfrm>
            <a:off x="457201" y="3888943"/>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REQUIREMENTS / WHAT  →  uncertain</a:t>
            </a:r>
          </a:p>
        </p:txBody>
      </p:sp>
      <p:sp>
        <p:nvSpPr>
          <p:cNvPr id="19" name="Rounded Rectangle 18"/>
          <p:cNvSpPr/>
          <p:nvPr/>
        </p:nvSpPr>
        <p:spPr>
          <a:xfrm>
            <a:off x="6583680" y="2169871"/>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2279599"/>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Agile is suited to high-uncertainty work. Using agile on genuinely simple, well-understood work adds ceremony without buying any information.</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AGILE MANIFESTO</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Agile Manifesto (2001) — four values, stated as preferences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WE VALUE MORE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left-hand side of each pairing</a:t>
            </a:r>
          </a:p>
        </p:txBody>
      </p:sp>
      <p:sp>
        <p:nvSpPr>
          <p:cNvPr id="9" name="Oval 8"/>
          <p:cNvSpPr/>
          <p:nvPr/>
        </p:nvSpPr>
        <p:spPr>
          <a:xfrm>
            <a:off x="786384"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Individuals and interactions</a:t>
            </a:r>
          </a:p>
        </p:txBody>
      </p:sp>
      <p:sp>
        <p:nvSpPr>
          <p:cNvPr id="11" name="Oval 10"/>
          <p:cNvSpPr/>
          <p:nvPr/>
        </p:nvSpPr>
        <p:spPr>
          <a:xfrm>
            <a:off x="786384"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Working software (working product)</a:t>
            </a:r>
          </a:p>
        </p:txBody>
      </p:sp>
      <p:sp>
        <p:nvSpPr>
          <p:cNvPr id="13" name="Oval 12"/>
          <p:cNvSpPr/>
          <p:nvPr/>
        </p:nvSpPr>
        <p:spPr>
          <a:xfrm>
            <a:off x="786384"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Customer collaboration</a:t>
            </a:r>
          </a:p>
        </p:txBody>
      </p:sp>
      <p:sp>
        <p:nvSpPr>
          <p:cNvPr id="15" name="Oval 14"/>
          <p:cNvSpPr/>
          <p:nvPr/>
        </p:nvSpPr>
        <p:spPr>
          <a:xfrm>
            <a:off x="786384"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Responding to change</a:t>
            </a:r>
          </a:p>
        </p:txBody>
      </p:sp>
      <p:sp>
        <p:nvSpPr>
          <p:cNvPr id="17" name="Oval 16"/>
          <p:cNvSpPr/>
          <p:nvPr/>
        </p:nvSpPr>
        <p:spPr>
          <a:xfrm>
            <a:off x="786384"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Seventeen practitioners agreed these in Snowbird, Utah in 2001</a:t>
            </a:r>
          </a:p>
        </p:txBody>
      </p:sp>
      <p:sp>
        <p:nvSpPr>
          <p:cNvPr id="19" name="Oval 18"/>
          <p:cNvSpPr/>
          <p:nvPr/>
        </p:nvSpPr>
        <p:spPr>
          <a:xfrm>
            <a:off x="786384" y="423961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13903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values sit above the 12 principles and all frameworks</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OVER</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right-hand side still has value</a:t>
            </a:r>
          </a:p>
        </p:txBody>
      </p:sp>
      <p:sp>
        <p:nvSpPr>
          <p:cNvPr id="25" name="Oval 24"/>
          <p:cNvSpPr/>
          <p:nvPr/>
        </p:nvSpPr>
        <p:spPr>
          <a:xfrm>
            <a:off x="6451092"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 over processes and tools</a:t>
            </a:r>
          </a:p>
        </p:txBody>
      </p:sp>
      <p:sp>
        <p:nvSpPr>
          <p:cNvPr id="27" name="Oval 26"/>
          <p:cNvSpPr/>
          <p:nvPr/>
        </p:nvSpPr>
        <p:spPr>
          <a:xfrm>
            <a:off x="6451092" y="278571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 over comprehensive documentation</a:t>
            </a:r>
          </a:p>
        </p:txBody>
      </p:sp>
      <p:sp>
        <p:nvSpPr>
          <p:cNvPr id="29" name="Oval 28"/>
          <p:cNvSpPr/>
          <p:nvPr/>
        </p:nvSpPr>
        <p:spPr>
          <a:xfrm>
            <a:off x="6451092" y="310575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 over contract negotiation</a:t>
            </a:r>
          </a:p>
        </p:txBody>
      </p:sp>
      <p:sp>
        <p:nvSpPr>
          <p:cNvPr id="31" name="Oval 30"/>
          <p:cNvSpPr/>
          <p:nvPr/>
        </p:nvSpPr>
        <p:spPr>
          <a:xfrm>
            <a:off x="6451092" y="342579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 over following a plan</a:t>
            </a:r>
          </a:p>
        </p:txBody>
      </p:sp>
      <p:sp>
        <p:nvSpPr>
          <p:cNvPr id="33" name="Oval 32"/>
          <p:cNvSpPr/>
          <p:nvPr/>
        </p:nvSpPr>
        <p:spPr>
          <a:xfrm>
            <a:off x="6451092" y="374583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'While there is value in the items on the right, we value the items on the left more'</a:t>
            </a:r>
          </a:p>
        </p:txBody>
      </p:sp>
      <p:sp>
        <p:nvSpPr>
          <p:cNvPr id="35" name="Oval 34"/>
          <p:cNvSpPr/>
          <p:nvPr/>
        </p:nvSpPr>
        <p:spPr>
          <a:xfrm>
            <a:off x="6451092" y="423961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13903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Agile never says documentation or plans are worthless</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trap: an option saying agile teams do not plan or do not document is always wrong. Agile teams plan more often, in smaller pieces, and document what is genuinely useful.</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AGILE PRINCIPLES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12 Agile Principles (1 of 2)</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Satisfy the customer early</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Highest priority is satisfying the customer through early and continuous delivery of valuable software.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Welcome changing requirements</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Even late in development; agile processes harness change for the customer's competitive advantage.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 frequently</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Deliver working product from a couple of weeks to a couple of months, with a preference for the shorter timescale.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and developers together</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Business people and developers must work together daily throughout the project, not meet at handover points.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around motivated individuals</a:t>
            </a:r>
          </a:p>
        </p:txBody>
      </p:sp>
      <p:sp>
        <p:nvSpPr>
          <p:cNvPr id="34" name="TextBox 33"/>
          <p:cNvSpPr txBox="1"/>
          <p:nvPr/>
        </p:nvSpPr>
        <p:spPr>
          <a:xfrm>
            <a:off x="453237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Give them the environment and support they need, and trust them to get the job done.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Face-to-face conversation</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most efficient and effective method of conveying information within a development team.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AGILE PRINCIPLES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12 Agile Principles (2 of 2)</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Working product is the measure</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Working software is the primary measure of progress — not percentage complete, not documents produced.</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Sustainable pace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Sponsors, developers and users should be able to maintain a constant pace indefinitely; heroics are a warning sign.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Technical excellence</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Continuous attention to technical excellence and good design enhances agility and keeps future change cheap.</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Simplicity</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art of maximising the amount of work not done — building only what is needed is essential.</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Self-organising teams</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best architectures, requirements and designs emerge from self-organising teams, not from imposed plans.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Reflect and adjust</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At regular intervals the team reflects on how to become more effective, then tunes and adjusts its behaviour.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SCRUM ROLES AND ARTIFACTS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Scrum — the most widely used agile framework</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Owner</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Owns and prioritises the product backlog, represents the business, and is accountable for maximising the value the team delivers.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Scrum Master</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Facilitates the events, coaches the team on Scrum, removes impediments, and shields the team from outside interference.</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Development Team</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Three to nine cross-functional people who self-organise to turn backlog items into a done increment each sprint.</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Backlog</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single ordered list of everything that might be needed, continuously refined and re-ordered by the Product Owner.</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Sprint Backlog</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subset the team commits to this sprint, plus the plan for delivering it; owned entirely by the development team.</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Increment</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sum of all completed backlog items this sprint plus all prior sprints, in a potentially releasable state.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sprint — Scrum events in the order they occur</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Sprint Planning</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team pulls backlog items into the sprint and agrees the sprint goal. Timeboxed to 8 hours for a month sprint.</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Daily Scrum</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 15-minute timeboxed sync where the team inspects progress toward the sprint goal and replans the next 24 hours.</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Development Work</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team builds the increment, refining the backlog for future sprints as it goes.</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Sprint Review</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team demonstrates the increment to stakeholders and the backlog is adapted based on their feedback.</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Sprint Retrospective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team inspects how it worked and commits to specific improvements for the next sprint.</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 sprint is a timebox of one month or less. Its length is fixed, its scope is not — the sprint end date never moves to accommodate unfinished work.</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ceremonies beyond the core Scrum events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strategy meeting</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Product Owner shares the product vision and roadmap so the team understands why the backlog is ordered the way it is.</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Backlog refinement (grooming)</a:t>
            </a:r>
          </a:p>
        </p:txBody>
      </p:sp>
      <p:sp>
        <p:nvSpPr>
          <p:cNvPr id="16" name="TextBox 15"/>
          <p:cNvSpPr txBox="1"/>
          <p:nvPr/>
        </p:nvSpPr>
        <p:spPr>
          <a:xfrm>
            <a:off x="453237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ongoing session where items are clarified, split, estimated and re-ordered so the top of the backlog is always ready.</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Daily standup</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Five to fifteen minutes, timeboxed, and not necessarily daily on every team — the purpose is coordination, not status reporting.</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planning</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Maps multiple sprints to a release date so stakeholders outside the team can plan marketing, training and operations.</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Project retrospective</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Held at the end of the project to review both the work and the process — the agile equivalent of lessons learned.</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Demo or showcase</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informal review with wider stakeholders, used to gather feedback before committing to the next block of 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Running a retrospective that actually changes behaviour</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Set the stage</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Establish psychological safety and remind everyone the aim is improvement of the system, not blame of individuals.</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Gather data</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Collect facts about the sprint — metrics, events, incidents — so opinions can be anchored to evidence.</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Generate insights</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Ask why the data looks as it does; use root cause tools such as 5 Whys or a fishbone diagram.</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Decide what to do</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Choose one or two improvements the team can genuinely complete in the next sprint.</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Close the retrospective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Confirm the actions, name owners, and put them into the next sprint backlog so they are real work.</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 retrospective with no action items in the next sprint backlog is theatre. Track improvement actions with the same rigour as feature work.</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PEOPLE AND TEAMS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project team — makeup, sourcing and skills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 composition</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Refers to the team's makeup and how members are brought together; it varies with organisational culture, location and project scope.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Full-time and part-time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Members may be dedicated or shared. Shared members multitask, which reduces throughput and increases handover risk.</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Generalists and specialists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Specialists bring depth for hard problems; generalists give the team the flexibility to redistribute work when plans change.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Avoid single points of failure</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If only one person holds a required skill, their absence stops the project — cross-train deliberately.</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Cross-functional teams</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team that contains every skill needed to take an item from idea to done removes waiting on external groups.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T-shaped people</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Generalising specialists with one deep specialty plus broad general skills — the most valuable shape for agile teams.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AGILE TEAMS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team characteristics and the agile team space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Small</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Typically three to twelve members. Communication paths grow quadratically, so large teams spend their capacity coordinating.</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Co-located or well-connected</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Physical or virtual co-location creates an osmotic environment where useful information is absorbed without a meeting.</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Dedicated</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100% allocated to one team to avoid multitasking, which is the single largest source of hidden delay in knowledge work.</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Information radiators</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Burndown charts, Kanban boards and impediment lists on display, so status is visible at a glance without a report.</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Pairing</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Two people work on one item together, checking each other's thinking and spreading knowledge as a side effect.</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Swarming</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Multiple team members converge on one blocked or high-value item to finish it fast rather than starting new 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AGILE ROLES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team roles and their traditional equivalents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294453"/>
                <a:gridCol w="5423254"/>
                <a:gridCol w="3337387"/>
              </a:tblGrid>
              <a:tr h="475488">
                <a:tc>
                  <a:txBody>
                    <a:bodyPr wrap="square" anchor="t"/>
                    <a:lstStyle/>
                    <a:p>
                      <a:pPr algn="l">
                        <a:lnSpc>
                          <a:spcPct val="100000"/>
                        </a:lnSpc>
                        <a:spcAft>
                          <a:spcPts val="0"/>
                        </a:spcAft>
                      </a:pPr>
                      <a:r>
                        <a:rPr sz="1150" b="1" i="0">
                          <a:solidFill>
                            <a:srgbClr val="FFFFFF"/>
                          </a:solidFill>
                          <a:latin typeface="Arial"/>
                        </a:rPr>
                        <a:t>Agile role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they do</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Closest predictive equivalent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Product Owner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Represents the customer and business, owns and prioritises the product backlog, accepts or rejects each increment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Business analyst plus sponsor's delegate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Team Facilitator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Also called Scrum Master, agile lead, team coach or servant leader; runs ceremonies, removes blockers, grows the team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Project manager (facilitation half of the role)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Cross-functional member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Generalising specialists — T-shaped people who self-organise to deliver the increment end to end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Team member from a functional department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Agile Coach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Works across several teams on practice maturity and organisational impediments beyond a single team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PMO methodology lead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Stakeholder / customer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Attends reviews, supplies the feedback that re-orders the backlog, and confirms value is real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Steering committee member or end user</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Note what is missing: agile has no role that assigns tasks to individuals. Work is pulled by the team, not pushed by a manager.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F59E0B"/>
                </a:solidFill>
                <a:latin typeface="Arial"/>
              </a:rPr>
              <a:t>ECO BUSINESS ENV T1 · DEFINE AND ESTABLISH PROJECT GOVERNANCE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Tailoring — the principle that makes everything else practical</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We can, and should, tailor anything on our project so it meets the outcomes and delivers business value.</a:t>
            </a:r>
          </a:p>
        </p:txBody>
      </p:sp>
      <p:sp>
        <p:nvSpPr>
          <p:cNvPr id="6" name="Rectangle 5"/>
          <p:cNvSpPr/>
          <p:nvPr/>
        </p:nvSpPr>
        <p:spPr>
          <a:xfrm>
            <a:off x="566928" y="4030218"/>
            <a:ext cx="21945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PROCESS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development approach, the number of phases, the depth of planning and the frequency of governance reviews.</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ARTIFACTS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Which plans, registers and reports genuinely help — and which exist only because a template said so.</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METHODS &amp; TOOLS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estimating techniques, meeting formats, tooling and metrics that fit this team and this context.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four-step tailoring approach</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674620" cy="2380181"/>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Select the initial approach</a:t>
            </a:r>
          </a:p>
        </p:txBody>
      </p:sp>
      <p:sp>
        <p:nvSpPr>
          <p:cNvPr id="8" name="TextBox 7"/>
          <p:cNvSpPr txBox="1"/>
          <p:nvPr/>
        </p:nvSpPr>
        <p:spPr>
          <a:xfrm>
            <a:off x="694944" y="28959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Choose predictive, adaptive or hybrid based on requirements certainty, risk and delivery cadence.</a:t>
            </a:r>
          </a:p>
        </p:txBody>
      </p:sp>
      <p:sp>
        <p:nvSpPr>
          <p:cNvPr id="9" name="Pentagon 8"/>
          <p:cNvSpPr/>
          <p:nvPr/>
        </p:nvSpPr>
        <p:spPr>
          <a:xfrm>
            <a:off x="3360420" y="1816455"/>
            <a:ext cx="2674620" cy="2380181"/>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8436"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3488436"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Tailor for the organisation</a:t>
            </a:r>
          </a:p>
        </p:txBody>
      </p:sp>
      <p:sp>
        <p:nvSpPr>
          <p:cNvPr id="12" name="TextBox 11"/>
          <p:cNvSpPr txBox="1"/>
          <p:nvPr/>
        </p:nvSpPr>
        <p:spPr>
          <a:xfrm>
            <a:off x="3488436" y="28959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Adjust for the organisation's methodology, PMO requirements, governance and regulatory obligations.</a:t>
            </a:r>
          </a:p>
        </p:txBody>
      </p:sp>
      <p:sp>
        <p:nvSpPr>
          <p:cNvPr id="13" name="Pentagon 12"/>
          <p:cNvSpPr/>
          <p:nvPr/>
        </p:nvSpPr>
        <p:spPr>
          <a:xfrm>
            <a:off x="6153912" y="1816455"/>
            <a:ext cx="2674620" cy="2380181"/>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1917039"/>
            <a:ext cx="1768221"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6281928"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Tailor for the project</a:t>
            </a:r>
          </a:p>
        </p:txBody>
      </p:sp>
      <p:sp>
        <p:nvSpPr>
          <p:cNvPr id="16" name="TextBox 15"/>
          <p:cNvSpPr txBox="1"/>
          <p:nvPr/>
        </p:nvSpPr>
        <p:spPr>
          <a:xfrm>
            <a:off x="6281928" y="28959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Adjust for product type, culture, team size and criticality — a safety-critical build needs more rigour.</a:t>
            </a:r>
          </a:p>
        </p:txBody>
      </p:sp>
      <p:sp>
        <p:nvSpPr>
          <p:cNvPr id="17" name="Rounded Rectangle 16"/>
          <p:cNvSpPr/>
          <p:nvPr/>
        </p:nvSpPr>
        <p:spPr>
          <a:xfrm>
            <a:off x="8947404" y="1816455"/>
            <a:ext cx="2674620" cy="2380181"/>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5420" y="1917039"/>
            <a:ext cx="1768221"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9075420"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Implement ongoing improvement</a:t>
            </a:r>
          </a:p>
        </p:txBody>
      </p:sp>
      <p:sp>
        <p:nvSpPr>
          <p:cNvPr id="20" name="TextBox 19"/>
          <p:cNvSpPr txBox="1"/>
          <p:nvPr/>
        </p:nvSpPr>
        <p:spPr>
          <a:xfrm>
            <a:off x="9075420" y="28959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Inspect the tailored process at retrospectives and adjust it as the project and team mature.</a:t>
            </a:r>
          </a:p>
        </p:txBody>
      </p:sp>
      <p:sp>
        <p:nvSpPr>
          <p:cNvPr id="21" name="Rounded Rectangle 20"/>
          <p:cNvSpPr/>
          <p:nvPr/>
        </p:nvSpPr>
        <p:spPr>
          <a:xfrm>
            <a:off x="566928" y="4416092"/>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416092"/>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507532"/>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Tailoring is not permission to skip work you find inconvenient. Every removal should be a reasoned decision you could defend to the sponsor or an auditor.</a:t>
            </a:r>
          </a:p>
        </p:txBody>
      </p:sp>
      <p:sp>
        <p:nvSpPr>
          <p:cNvPr id="24" name="TextBox 23"/>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5" name="TextBox 24"/>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6" name="TextBox 25"/>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Types of managers — who owns what in the organisation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Project Manager</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Assigned by the performing organisation to lead the team responsible for achieving the project objectives and delivering business value.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Functional Manager</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Manages a functional or business unit and provides the people, skills and physical resources the project consumes.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Operations Manager</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Responsible for ensuring ongoing business operations run efficiently, and receives the project's output at transition.</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Program Manager</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Coordinates related projects to obtain benefits not available from managing them individually, and resolves cross-project conflicts.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Portfolio Manager</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Selects and balances the mix of programs and projects so the investment aligns with organisational strategy.</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Manager</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Owns a product across its whole life — well before a project starts and long after it closes — driving the roadmap and value.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Product management versus project management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PRODUCT MANAGEMENT</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Continuous, value-and-market driven</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Spans the entire product life cycle, potentially for years</a:t>
            </a:r>
          </a:p>
        </p:txBody>
      </p:sp>
      <p:sp>
        <p:nvSpPr>
          <p:cNvPr id="11" name="Oval 10"/>
          <p:cNvSpPr/>
          <p:nvPr/>
        </p:nvSpPr>
        <p:spPr>
          <a:xfrm>
            <a:off x="786384"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Owns the vision, roadmap and the ordered backlog of value</a:t>
            </a:r>
          </a:p>
        </p:txBody>
      </p:sp>
      <p:sp>
        <p:nvSpPr>
          <p:cNvPr id="13" name="Oval 12"/>
          <p:cNvSpPr/>
          <p:nvPr/>
        </p:nvSpPr>
        <p:spPr>
          <a:xfrm>
            <a:off x="786384"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Measures success by adoption, revenue, retention and outcomes</a:t>
            </a:r>
          </a:p>
        </p:txBody>
      </p:sp>
      <p:sp>
        <p:nvSpPr>
          <p:cNvPr id="15" name="Oval 14"/>
          <p:cNvSpPr/>
          <p:nvPr/>
        </p:nvSpPr>
        <p:spPr>
          <a:xfrm>
            <a:off x="786384" y="359953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Funding is often a standing capacity, not a one-off approval</a:t>
            </a:r>
          </a:p>
        </p:txBody>
      </p:sp>
      <p:sp>
        <p:nvSpPr>
          <p:cNvPr id="17" name="Oval 16"/>
          <p:cNvSpPr/>
          <p:nvPr/>
        </p:nvSpPr>
        <p:spPr>
          <a:xfrm>
            <a:off x="786384" y="391957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Ends only when the product is retired from the market</a:t>
            </a:r>
          </a:p>
        </p:txBody>
      </p:sp>
      <p:sp>
        <p:nvSpPr>
          <p:cNvPr id="19" name="Oval 18"/>
          <p:cNvSpPr/>
          <p:nvPr/>
        </p:nvSpPr>
        <p:spPr>
          <a:xfrm>
            <a:off x="786384" y="423961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13903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Asks: are we building the right thing?</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MANAGEMENT</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Temporary, delivery-and-constraint driven</a:t>
            </a:r>
          </a:p>
        </p:txBody>
      </p:sp>
      <p:sp>
        <p:nvSpPr>
          <p:cNvPr id="25" name="Oval 24"/>
          <p:cNvSpPr/>
          <p:nvPr/>
        </p:nvSpPr>
        <p:spPr>
          <a:xfrm>
            <a:off x="6451092"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Spans one temporary endeavour with a defined start and end</a:t>
            </a:r>
          </a:p>
        </p:txBody>
      </p:sp>
      <p:sp>
        <p:nvSpPr>
          <p:cNvPr id="27" name="Oval 26"/>
          <p:cNvSpPr/>
          <p:nvPr/>
        </p:nvSpPr>
        <p:spPr>
          <a:xfrm>
            <a:off x="6451092"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Owns the plan, the baselines and the delivery of agreed scope</a:t>
            </a:r>
          </a:p>
        </p:txBody>
      </p:sp>
      <p:sp>
        <p:nvSpPr>
          <p:cNvPr id="29" name="Oval 28"/>
          <p:cNvSpPr/>
          <p:nvPr/>
        </p:nvSpPr>
        <p:spPr>
          <a:xfrm>
            <a:off x="6451092"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Measures success by scope, schedule, cost, quality and benefits</a:t>
            </a:r>
          </a:p>
        </p:txBody>
      </p:sp>
      <p:sp>
        <p:nvSpPr>
          <p:cNvPr id="31" name="Oval 30"/>
          <p:cNvSpPr/>
          <p:nvPr/>
        </p:nvSpPr>
        <p:spPr>
          <a:xfrm>
            <a:off x="6451092" y="377327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Funding is approved against a specific business case</a:t>
            </a:r>
          </a:p>
        </p:txBody>
      </p:sp>
      <p:sp>
        <p:nvSpPr>
          <p:cNvPr id="33" name="Oval 32"/>
          <p:cNvSpPr/>
          <p:nvPr/>
        </p:nvSpPr>
        <p:spPr>
          <a:xfrm>
            <a:off x="6451092"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Ends at acceptance, transition and administrative closure</a:t>
            </a:r>
          </a:p>
        </p:txBody>
      </p:sp>
      <p:sp>
        <p:nvSpPr>
          <p:cNvPr id="35" name="Oval 34"/>
          <p:cNvSpPr/>
          <p:nvPr/>
        </p:nvSpPr>
        <p:spPr>
          <a:xfrm>
            <a:off x="6451092" y="441335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Asks: are we building the thing right?</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Organisations increasingly fund persistent product teams rather than discrete projects — the PMP now expects you to operate comfortably in both models.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Organisational structure and project manager authority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328416"/>
        </p:xfrm>
        <a:graphic>
          <a:graphicData uri="http://schemas.openxmlformats.org/drawingml/2006/table">
            <a:tbl>
              <a:tblPr firstRow="1" bandRow="1">
                <a:tableStyleId>{5C22544A-7EE6-4342-B048-85BDC9FD1C3A}</a:tableStyleId>
              </a:tblPr>
              <a:tblGrid>
                <a:gridCol w="2145018"/>
                <a:gridCol w="1980017"/>
                <a:gridCol w="2970025"/>
                <a:gridCol w="3960034"/>
              </a:tblGrid>
              <a:tr h="475488">
                <a:tc>
                  <a:txBody>
                    <a:bodyPr wrap="square" anchor="t"/>
                    <a:lstStyle/>
                    <a:p>
                      <a:pPr algn="l">
                        <a:lnSpc>
                          <a:spcPct val="100000"/>
                        </a:lnSpc>
                        <a:spcAft>
                          <a:spcPts val="0"/>
                        </a:spcAft>
                      </a:pPr>
                      <a:r>
                        <a:rPr sz="1150" b="1" i="0">
                          <a:solidFill>
                            <a:srgbClr val="FFFFFF"/>
                          </a:solidFill>
                          <a:latin typeface="Arial"/>
                        </a:rPr>
                        <a:t>Structure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PM authority</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PM role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Resource control</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Functional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Little or none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Part-time coordinator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Functional manager controls the budget and the people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Weak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Low</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Part-time expediter or coordinator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Functional manager still controls the budget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Balanced matrix</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Low to moderate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Full-time project manager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Budget is shared between PM and functional manager</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Strong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Moderate to high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Full-time project manager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Project manager controls the budget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Projectised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 to almost total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Full-time project manager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Project manager controls budget and staff entirely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Hybrid / composite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Varies by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Varies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Mixed — the most common real-world arrangement</a:t>
                      </a:r>
                    </a:p>
                  </a:txBody>
                  <a:tcPr anchor="ctr">
                    <a:solidFill>
                      <a:srgbClr val="F5F8FC"/>
                    </a:solidFill>
                  </a:tcPr>
                </a:tc>
              </a:tr>
            </a:tbl>
          </a:graphicData>
        </a:graphic>
      </p:graphicFrame>
      <p:sp>
        <p:nvSpPr>
          <p:cNvPr id="6" name="Rounded Rectangle 5"/>
          <p:cNvSpPr/>
          <p:nvPr/>
        </p:nvSpPr>
        <p:spPr>
          <a:xfrm>
            <a:off x="566928" y="4925415"/>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998567"/>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If an exam scenario says the PM has no authority over resources, you are in a functional or weak matrix — the correct action is almost always to negotiate with the functional manager.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Management Office types and their degree of control</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456688"/>
                <a:gridCol w="2983121"/>
                <a:gridCol w="5615286"/>
              </a:tblGrid>
              <a:tr h="475488">
                <a:tc>
                  <a:txBody>
                    <a:bodyPr wrap="square" anchor="t"/>
                    <a:lstStyle/>
                    <a:p>
                      <a:pPr algn="l">
                        <a:lnSpc>
                          <a:spcPct val="100000"/>
                        </a:lnSpc>
                        <a:spcAft>
                          <a:spcPts val="0"/>
                        </a:spcAft>
                      </a:pPr>
                      <a:r>
                        <a:rPr sz="1150" b="1" i="0">
                          <a:solidFill>
                            <a:srgbClr val="FFFFFF"/>
                          </a:solidFill>
                          <a:latin typeface="Arial"/>
                        </a:rPr>
                        <a:t>PMO type</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Authority and control</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it provides</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Supportive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Low degree of control — consultative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Serves as a project repository; supplies templates, best practices, training and information from other projects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Controlling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Moderate degree of control — compliance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Provides support and ensures compliance through adoption of methods, frameworks, specific templates, forms and tools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Directive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 degree of control — direct management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Takes control by directly managing the projects; project managers are assigned by and report into the PMO</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Agile / value delivery office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Enabling rather than controlling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Coaches teams, removes organisational impediments and reports on flow and benefits rather than on plan conformance</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Memory hook: Supportive suggests, Controlling checks, Directive directs. The exam tests which one owns the project manager.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T8 · EVALUATE EXTERNAL BUSINESS ENVIRONMENT CHANGES</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Reading the external business environment: PESTLE, TECOP and VUCA</a:t>
            </a:r>
          </a:p>
        </p:txBody>
      </p:sp>
      <p:sp>
        <p:nvSpPr>
          <p:cNvPr id="4" name="Rectangle 3"/>
          <p:cNvSpPr/>
          <p:nvPr/>
        </p:nvSpPr>
        <p:spPr>
          <a:xfrm>
            <a:off x="566928" y="1676095"/>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96977"/>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1643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814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PESTLE</a:t>
            </a:r>
          </a:p>
        </p:txBody>
      </p:sp>
      <p:sp>
        <p:nvSpPr>
          <p:cNvPr id="10" name="TextBox 9"/>
          <p:cNvSpPr txBox="1"/>
          <p:nvPr/>
        </p:nvSpPr>
        <p:spPr>
          <a:xfrm>
            <a:off x="768096" y="271876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Political, Economic, Socio-cultural, Technological, Legal and Environmental forces — the standard scan of the macro environment.</a:t>
            </a:r>
          </a:p>
        </p:txBody>
      </p:sp>
      <p:sp>
        <p:nvSpPr>
          <p:cNvPr id="11" name="Rounded Rectangle 10"/>
          <p:cNvSpPr/>
          <p:nvPr/>
        </p:nvSpPr>
        <p:spPr>
          <a:xfrm>
            <a:off x="433120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96977"/>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1643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814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TECOP</a:t>
            </a:r>
          </a:p>
        </p:txBody>
      </p:sp>
      <p:sp>
        <p:nvSpPr>
          <p:cNvPr id="16" name="TextBox 15"/>
          <p:cNvSpPr txBox="1"/>
          <p:nvPr/>
        </p:nvSpPr>
        <p:spPr>
          <a:xfrm>
            <a:off x="4532376" y="271876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Technical, Environmental, Commercial, Operational and Political — a risk-oriented scan used heavily in engineering and construction.</a:t>
            </a:r>
          </a:p>
        </p:txBody>
      </p:sp>
      <p:sp>
        <p:nvSpPr>
          <p:cNvPr id="17" name="Rounded Rectangle 16"/>
          <p:cNvSpPr/>
          <p:nvPr/>
        </p:nvSpPr>
        <p:spPr>
          <a:xfrm>
            <a:off x="8095488" y="209697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96977"/>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1643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5300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814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VUCA</a:t>
            </a:r>
          </a:p>
        </p:txBody>
      </p:sp>
      <p:sp>
        <p:nvSpPr>
          <p:cNvPr id="22" name="TextBox 21"/>
          <p:cNvSpPr txBox="1"/>
          <p:nvPr/>
        </p:nvSpPr>
        <p:spPr>
          <a:xfrm>
            <a:off x="8296656" y="271876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Volatility, Uncertainty, Complexity and Ambiguity — describes the character of the environment rather than listing its factors.</a:t>
            </a:r>
          </a:p>
        </p:txBody>
      </p:sp>
      <p:sp>
        <p:nvSpPr>
          <p:cNvPr id="23" name="Rounded Rectangle 22"/>
          <p:cNvSpPr/>
          <p:nvPr/>
        </p:nvSpPr>
        <p:spPr>
          <a:xfrm>
            <a:off x="56692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221327"/>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44078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the PM does this</a:t>
            </a:r>
          </a:p>
        </p:txBody>
      </p:sp>
      <p:sp>
        <p:nvSpPr>
          <p:cNvPr id="28" name="TextBox 27"/>
          <p:cNvSpPr txBox="1"/>
          <p:nvPr/>
        </p:nvSpPr>
        <p:spPr>
          <a:xfrm>
            <a:off x="768096" y="484311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External change can invalidate the business case mid-project; scanning turns an ambush into a managed risk with a response.</a:t>
            </a:r>
          </a:p>
        </p:txBody>
      </p:sp>
      <p:sp>
        <p:nvSpPr>
          <p:cNvPr id="29" name="Rounded Rectangle 28"/>
          <p:cNvSpPr/>
          <p:nvPr/>
        </p:nvSpPr>
        <p:spPr>
          <a:xfrm>
            <a:off x="433120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4221327"/>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440783"/>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How often</a:t>
            </a:r>
          </a:p>
        </p:txBody>
      </p:sp>
      <p:sp>
        <p:nvSpPr>
          <p:cNvPr id="34" name="TextBox 33"/>
          <p:cNvSpPr txBox="1"/>
          <p:nvPr/>
        </p:nvSpPr>
        <p:spPr>
          <a:xfrm>
            <a:off x="4532376" y="484311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Not once at initiation. ECO T8 requires the PM to continually review the external environment for impacts to scope and backlog.</a:t>
            </a:r>
          </a:p>
        </p:txBody>
      </p:sp>
      <p:sp>
        <p:nvSpPr>
          <p:cNvPr id="35" name="Rounded Rectangle 34"/>
          <p:cNvSpPr/>
          <p:nvPr/>
        </p:nvSpPr>
        <p:spPr>
          <a:xfrm>
            <a:off x="8095488" y="4221327"/>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4221327"/>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440783"/>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you do with it</a:t>
            </a:r>
          </a:p>
        </p:txBody>
      </p:sp>
      <p:sp>
        <p:nvSpPr>
          <p:cNvPr id="40" name="TextBox 39"/>
          <p:cNvSpPr txBox="1"/>
          <p:nvPr/>
        </p:nvSpPr>
        <p:spPr>
          <a:xfrm>
            <a:off x="8296656" y="4843119"/>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Feed findings into the risk register, reprioritise the backlog, and escalate anything that threatens the business case.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T8 · EVALUATE EXTERNAL BUSINESS ENVIRONMENT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Responding to a change in the external business environment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3941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Survey</a:t>
            </a:r>
          </a:p>
        </p:txBody>
      </p:sp>
      <p:sp>
        <p:nvSpPr>
          <p:cNvPr id="8" name="TextBox 7"/>
          <p:cNvSpPr txBox="1"/>
          <p:nvPr/>
        </p:nvSpPr>
        <p:spPr>
          <a:xfrm>
            <a:off x="69494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Continuously scan regulations, technology, geopolitics, competitors and market conditions relevant to the project.</a:t>
            </a:r>
          </a:p>
        </p:txBody>
      </p:sp>
      <p:sp>
        <p:nvSpPr>
          <p:cNvPr id="9" name="Pentagon 8"/>
          <p:cNvSpPr/>
          <p:nvPr/>
        </p:nvSpPr>
        <p:spPr>
          <a:xfrm>
            <a:off x="2801721" y="1816455"/>
            <a:ext cx="2115921" cy="263941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Assess impact</a:t>
            </a:r>
          </a:p>
        </p:txBody>
      </p:sp>
      <p:sp>
        <p:nvSpPr>
          <p:cNvPr id="12" name="TextBox 11"/>
          <p:cNvSpPr txBox="1"/>
          <p:nvPr/>
        </p:nvSpPr>
        <p:spPr>
          <a:xfrm>
            <a:off x="2929737"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Determine what the change does to scope, backlog, business case, benefits, risk exposure and compliance obligations.</a:t>
            </a:r>
          </a:p>
        </p:txBody>
      </p:sp>
      <p:sp>
        <p:nvSpPr>
          <p:cNvPr id="13" name="Pentagon 12"/>
          <p:cNvSpPr/>
          <p:nvPr/>
        </p:nvSpPr>
        <p:spPr>
          <a:xfrm>
            <a:off x="5036515" y="1816455"/>
            <a:ext cx="2115921" cy="263941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Prioritise</a:t>
            </a:r>
          </a:p>
        </p:txBody>
      </p:sp>
      <p:sp>
        <p:nvSpPr>
          <p:cNvPr id="16" name="TextBox 15"/>
          <p:cNvSpPr txBox="1"/>
          <p:nvPr/>
        </p:nvSpPr>
        <p:spPr>
          <a:xfrm>
            <a:off x="5164531"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Rank the impact against other demands; not every external change deserves a response this quarter.</a:t>
            </a:r>
          </a:p>
        </p:txBody>
      </p:sp>
      <p:sp>
        <p:nvSpPr>
          <p:cNvPr id="17" name="Pentagon 16"/>
          <p:cNvSpPr/>
          <p:nvPr/>
        </p:nvSpPr>
        <p:spPr>
          <a:xfrm>
            <a:off x="7271308" y="1816455"/>
            <a:ext cx="2115921" cy="263941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Act or escalate</a:t>
            </a:r>
          </a:p>
        </p:txBody>
      </p:sp>
      <p:sp>
        <p:nvSpPr>
          <p:cNvPr id="20" name="TextBox 19"/>
          <p:cNvSpPr txBox="1"/>
          <p:nvPr/>
        </p:nvSpPr>
        <p:spPr>
          <a:xfrm>
            <a:off x="739932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Reprioritise the backlog within your authority, or raise a change request and escalate beyond your threshold.</a:t>
            </a:r>
          </a:p>
        </p:txBody>
      </p:sp>
      <p:sp>
        <p:nvSpPr>
          <p:cNvPr id="21" name="Rounded Rectangle 20"/>
          <p:cNvSpPr/>
          <p:nvPr/>
        </p:nvSpPr>
        <p:spPr>
          <a:xfrm>
            <a:off x="9506102" y="1816455"/>
            <a:ext cx="2115921" cy="263941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Review continually</a:t>
            </a:r>
          </a:p>
        </p:txBody>
      </p:sp>
      <p:sp>
        <p:nvSpPr>
          <p:cNvPr id="24" name="TextBox 23"/>
          <p:cNvSpPr txBox="1"/>
          <p:nvPr/>
        </p:nvSpPr>
        <p:spPr>
          <a:xfrm>
            <a:off x="9634118"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Re-check the environment on a defined cadence and update the risk register and the plan accordingly.</a:t>
            </a:r>
          </a:p>
        </p:txBody>
      </p:sp>
      <p:sp>
        <p:nvSpPr>
          <p:cNvPr id="25" name="Rounded Rectangle 24"/>
          <p:cNvSpPr/>
          <p:nvPr/>
        </p:nvSpPr>
        <p:spPr>
          <a:xfrm>
            <a:off x="566928" y="467532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7532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6676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Classic exam scenario: a new regulation is announced mid-project. The best first action is to assess the impact on the project — not to stop work, and not to immediately change scope.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T1 · DEFINE AND ESTABLISH PROJECT GOVERNANCE</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Enterprise Environmental Factors versus Organizational Process Assets</a:t>
            </a:r>
          </a:p>
        </p:txBody>
      </p:sp>
      <p:sp>
        <p:nvSpPr>
          <p:cNvPr id="4" name="Rectangle 3"/>
          <p:cNvSpPr/>
          <p:nvPr/>
        </p:nvSpPr>
        <p:spPr>
          <a:xfrm>
            <a:off x="566928" y="1676095"/>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5390388" cy="3499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23567"/>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EEF — conditions you must live with</a:t>
            </a:r>
          </a:p>
        </p:txBody>
      </p:sp>
      <p:sp>
        <p:nvSpPr>
          <p:cNvPr id="8" name="TextBox 7"/>
          <p:cNvSpPr txBox="1"/>
          <p:nvPr/>
        </p:nvSpPr>
        <p:spPr>
          <a:xfrm>
            <a:off x="786384" y="2371039"/>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Usually inputs; largely outside your control</a:t>
            </a:r>
          </a:p>
        </p:txBody>
      </p:sp>
      <p:sp>
        <p:nvSpPr>
          <p:cNvPr id="9" name="Oval 8"/>
          <p:cNvSpPr/>
          <p:nvPr/>
        </p:nvSpPr>
        <p:spPr>
          <a:xfrm>
            <a:off x="786384" y="29471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846527"/>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Internal: resource capabilities, organisational culture, IT systems, distribution of facilities, employee capability</a:t>
            </a:r>
          </a:p>
        </p:txBody>
      </p:sp>
      <p:sp>
        <p:nvSpPr>
          <p:cNvPr id="11" name="Oval 10"/>
          <p:cNvSpPr/>
          <p:nvPr/>
        </p:nvSpPr>
        <p:spPr>
          <a:xfrm>
            <a:off x="786384" y="3436633"/>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3336049"/>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External: marketplace conditions, laws, regulations and standards</a:t>
            </a:r>
          </a:p>
        </p:txBody>
      </p:sp>
      <p:sp>
        <p:nvSpPr>
          <p:cNvPr id="13" name="Oval 12"/>
          <p:cNvSpPr/>
          <p:nvPr/>
        </p:nvSpPr>
        <p:spPr>
          <a:xfrm>
            <a:off x="786384" y="3926156"/>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825572"/>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External: operating conditions, social and cultural influences</a:t>
            </a:r>
          </a:p>
        </p:txBody>
      </p:sp>
      <p:sp>
        <p:nvSpPr>
          <p:cNvPr id="15" name="Oval 14"/>
          <p:cNvSpPr/>
          <p:nvPr/>
        </p:nvSpPr>
        <p:spPr>
          <a:xfrm>
            <a:off x="786384" y="4415678"/>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4315094"/>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Government or industry standards you cannot negotiate away</a:t>
            </a:r>
          </a:p>
        </p:txBody>
      </p:sp>
      <p:sp>
        <p:nvSpPr>
          <p:cNvPr id="17" name="Oval 16"/>
          <p:cNvSpPr/>
          <p:nvPr/>
        </p:nvSpPr>
        <p:spPr>
          <a:xfrm>
            <a:off x="786384" y="473296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632377"/>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Risk tolerances and the organisation's appetite for change</a:t>
            </a:r>
          </a:p>
        </p:txBody>
      </p:sp>
      <p:sp>
        <p:nvSpPr>
          <p:cNvPr id="19" name="Oval 18"/>
          <p:cNvSpPr/>
          <p:nvPr/>
        </p:nvSpPr>
        <p:spPr>
          <a:xfrm>
            <a:off x="786384" y="5050244"/>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949660"/>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You adapt the project to EEFs; you rarely change them</a:t>
            </a:r>
          </a:p>
        </p:txBody>
      </p:sp>
      <p:sp>
        <p:nvSpPr>
          <p:cNvPr id="21" name="Rounded Rectangle 20"/>
          <p:cNvSpPr/>
          <p:nvPr/>
        </p:nvSpPr>
        <p:spPr>
          <a:xfrm>
            <a:off x="6231636" y="1913839"/>
            <a:ext cx="5390388" cy="3499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913839"/>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2023567"/>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OPA — knowledge you can reuse</a:t>
            </a:r>
          </a:p>
        </p:txBody>
      </p:sp>
      <p:sp>
        <p:nvSpPr>
          <p:cNvPr id="24" name="TextBox 23"/>
          <p:cNvSpPr txBox="1"/>
          <p:nvPr/>
        </p:nvSpPr>
        <p:spPr>
          <a:xfrm>
            <a:off x="6451092" y="2371039"/>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Inputs and outputs; you can and should update them</a:t>
            </a:r>
          </a:p>
        </p:txBody>
      </p:sp>
      <p:sp>
        <p:nvSpPr>
          <p:cNvPr id="25" name="Oval 24"/>
          <p:cNvSpPr/>
          <p:nvPr/>
        </p:nvSpPr>
        <p:spPr>
          <a:xfrm>
            <a:off x="6451092" y="294711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46527"/>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Processes, policies and procedures: organisational charts, procurement rules, hiring and onboarding procedures</a:t>
            </a:r>
          </a:p>
        </p:txBody>
      </p:sp>
      <p:sp>
        <p:nvSpPr>
          <p:cNvPr id="27" name="Oval 26"/>
          <p:cNvSpPr/>
          <p:nvPr/>
        </p:nvSpPr>
        <p:spPr>
          <a:xfrm>
            <a:off x="6451092" y="343663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36049"/>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Templates, checklists, standardised WBS structures and forms</a:t>
            </a:r>
          </a:p>
        </p:txBody>
      </p:sp>
      <p:sp>
        <p:nvSpPr>
          <p:cNvPr id="29" name="Oval 28"/>
          <p:cNvSpPr/>
          <p:nvPr/>
        </p:nvSpPr>
        <p:spPr>
          <a:xfrm>
            <a:off x="6451092" y="3753916"/>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53332"/>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Organisational knowledge bases: engineering wikis, libraries, archives</a:t>
            </a:r>
          </a:p>
        </p:txBody>
      </p:sp>
      <p:sp>
        <p:nvSpPr>
          <p:cNvPr id="31" name="Oval 30"/>
          <p:cNvSpPr/>
          <p:nvPr/>
        </p:nvSpPr>
        <p:spPr>
          <a:xfrm>
            <a:off x="6451092" y="42434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42855"/>
            <a:ext cx="4677156" cy="472494"/>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Lessons learned repositories and historical estimating databases</a:t>
            </a:r>
          </a:p>
        </p:txBody>
      </p:sp>
      <p:sp>
        <p:nvSpPr>
          <p:cNvPr id="33" name="Oval 32"/>
          <p:cNvSpPr/>
          <p:nvPr/>
        </p:nvSpPr>
        <p:spPr>
          <a:xfrm>
            <a:off x="6451092" y="473296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4632377"/>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Configuration management and financial control procedures</a:t>
            </a:r>
          </a:p>
        </p:txBody>
      </p:sp>
      <p:sp>
        <p:nvSpPr>
          <p:cNvPr id="35" name="Oval 34"/>
          <p:cNvSpPr/>
          <p:nvPr/>
        </p:nvSpPr>
        <p:spPr>
          <a:xfrm>
            <a:off x="6451092" y="5050244"/>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949660"/>
            <a:ext cx="4677156" cy="300255"/>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ECO T6 requires you to update OPAs — they are an output too</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Fastest test: can the project change it? If yes it is usually an OPA. If the project must simply conform to it, it is an EEF.</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EEF VS OPA</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drill: classify these as EEF or OPA</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Economic demand for a new shopping area; local neighbourhood demand for a better town centre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EEF — external marketplace and social conditions the project must respond to but cannot change.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Historical society conservation building regulations affecting the site</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EEF — a legal and regulatory constraint from outside the organisation; it becomes a compliance requirement.</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An archive of past large infrastructure projects held by your company</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OPA — a knowledge base and historical information repository you can mine for estimates and lessons.</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approved vendor and contractor list, and the tenant selection process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OPA — internal processes, policies and procedures the organisation maintains and the project must apply.</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T7 · SUPPORT ORGANIZATIONAL CHANGE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Assessing organisational culture — what to actually look at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Leadership, hierarchy and authority</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decisions get made and how far they must travel. This directly sets your realistic escalation lead time.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Shared vision, beliefs and expectations</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people believe the organisation is for. A project that contradicts this will meet quiet, persistent resistance.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Diversity, equity and inclusion practices</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Whether varied perspectives are genuinely sought; this shapes team formation and the quality of risk identification.</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tolerance and appetite</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much uncertainty the organisation will accept determines your reserve levels and your response strategies.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Regulations, policies and code of conduct</a:t>
            </a:r>
          </a:p>
        </p:txBody>
      </p:sp>
      <p:sp>
        <p:nvSpPr>
          <p:cNvPr id="34" name="TextBox 33"/>
          <p:cNvSpPr txBox="1"/>
          <p:nvPr/>
        </p:nvSpPr>
        <p:spPr>
          <a:xfrm>
            <a:off x="453237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formal rules of the road, including the ethical standards the team is expected to uphold without supervision.</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Motivation and reward systems</a:t>
            </a:r>
          </a:p>
        </p:txBody>
      </p:sp>
      <p:sp>
        <p:nvSpPr>
          <p:cNvPr id="40" name="TextBox 39"/>
          <p:cNvSpPr txBox="1"/>
          <p:nvPr/>
        </p:nvSpPr>
        <p:spPr>
          <a:xfrm>
            <a:off x="829665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behaviour actually gets rewarded. If individuals are rewarded, a team incentive scheme will not stick.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BUSINESS ENV T7 · SUPPORT ORGANIZATIONAL CHANGE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change management belongs to the project manager</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Organisational change requires individual change — a delivered output that nobody adopts has produced exactly zero value.</a:t>
            </a:r>
          </a:p>
        </p:txBody>
      </p:sp>
      <p:sp>
        <p:nvSpPr>
          <p:cNvPr id="6" name="Rectangle 5"/>
          <p:cNvSpPr/>
          <p:nvPr/>
        </p:nvSpPr>
        <p:spPr>
          <a:xfrm>
            <a:off x="566928" y="4030218"/>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YOU ARE A CHANGEMAKER</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Whether or not your organisation has a PMO, the project manager is the person driving change into the business.</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TAILOR THE STRATEGY</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Change approach must fit the circumstances, the people affected and the timing — there is no universal script.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USE A ROBUST APPROACH</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Structured models such as ADKAR give you a checklist you can measure adoption against, not just good intentions.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T7 · SUPPORT ORGANIZATIONAL CHANGE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ADKAR model — five milestones an individual must reach</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3976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Awareness</a:t>
            </a:r>
          </a:p>
        </p:txBody>
      </p:sp>
      <p:sp>
        <p:nvSpPr>
          <p:cNvPr id="8" name="TextBox 7"/>
          <p:cNvSpPr txBox="1"/>
          <p:nvPr/>
        </p:nvSpPr>
        <p:spPr>
          <a:xfrm>
            <a:off x="69494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person understands why the change is needed. Address this with communication from a credible, senior sponsor.</a:t>
            </a:r>
          </a:p>
        </p:txBody>
      </p:sp>
      <p:sp>
        <p:nvSpPr>
          <p:cNvPr id="9" name="Pentagon 8"/>
          <p:cNvSpPr/>
          <p:nvPr/>
        </p:nvSpPr>
        <p:spPr>
          <a:xfrm>
            <a:off x="2801721" y="1816455"/>
            <a:ext cx="2115921" cy="223976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Desire</a:t>
            </a:r>
          </a:p>
        </p:txBody>
      </p:sp>
      <p:sp>
        <p:nvSpPr>
          <p:cNvPr id="12" name="TextBox 11"/>
          <p:cNvSpPr txBox="1"/>
          <p:nvPr/>
        </p:nvSpPr>
        <p:spPr>
          <a:xfrm>
            <a:off x="2929737"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person chooses to support the change. Address this by making the personal 'what's in it for me' explicit and honest.</a:t>
            </a:r>
          </a:p>
        </p:txBody>
      </p:sp>
      <p:sp>
        <p:nvSpPr>
          <p:cNvPr id="13" name="Pentagon 12"/>
          <p:cNvSpPr/>
          <p:nvPr/>
        </p:nvSpPr>
        <p:spPr>
          <a:xfrm>
            <a:off x="5036515" y="1816455"/>
            <a:ext cx="2115921" cy="223976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Knowledge</a:t>
            </a:r>
          </a:p>
        </p:txBody>
      </p:sp>
      <p:sp>
        <p:nvSpPr>
          <p:cNvPr id="16" name="TextBox 15"/>
          <p:cNvSpPr txBox="1"/>
          <p:nvPr/>
        </p:nvSpPr>
        <p:spPr>
          <a:xfrm>
            <a:off x="5164531"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person knows how to change. Address this with training, documentation and worked examples.</a:t>
            </a:r>
          </a:p>
        </p:txBody>
      </p:sp>
      <p:sp>
        <p:nvSpPr>
          <p:cNvPr id="17" name="Pentagon 16"/>
          <p:cNvSpPr/>
          <p:nvPr/>
        </p:nvSpPr>
        <p:spPr>
          <a:xfrm>
            <a:off x="7271308" y="1816455"/>
            <a:ext cx="2115921" cy="223976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Ability</a:t>
            </a:r>
          </a:p>
        </p:txBody>
      </p:sp>
      <p:sp>
        <p:nvSpPr>
          <p:cNvPr id="20" name="TextBox 19"/>
          <p:cNvSpPr txBox="1"/>
          <p:nvPr/>
        </p:nvSpPr>
        <p:spPr>
          <a:xfrm>
            <a:off x="739932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person can demonstrate the new skills and behaviours. Address this with coaching, practice time and hands-on support.</a:t>
            </a:r>
          </a:p>
        </p:txBody>
      </p:sp>
      <p:sp>
        <p:nvSpPr>
          <p:cNvPr id="21" name="Rounded Rectangle 20"/>
          <p:cNvSpPr/>
          <p:nvPr/>
        </p:nvSpPr>
        <p:spPr>
          <a:xfrm>
            <a:off x="9506102" y="1816455"/>
            <a:ext cx="2115921" cy="223976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Reinforcement</a:t>
            </a:r>
          </a:p>
        </p:txBody>
      </p:sp>
      <p:sp>
        <p:nvSpPr>
          <p:cNvPr id="24" name="TextBox 23"/>
          <p:cNvSpPr txBox="1"/>
          <p:nvPr/>
        </p:nvSpPr>
        <p:spPr>
          <a:xfrm>
            <a:off x="9634118"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change sticks. Address this with recognition, metrics and removal of the old way of working.</a:t>
            </a:r>
          </a:p>
        </p:txBody>
      </p:sp>
      <p:sp>
        <p:nvSpPr>
          <p:cNvPr id="25" name="Rounded Rectangle 24"/>
          <p:cNvSpPr/>
          <p:nvPr/>
        </p:nvSpPr>
        <p:spPr>
          <a:xfrm>
            <a:off x="566928" y="427567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27567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6711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Diagnostic power: if adoption is failing, find the first milestone the person has not reached. More training will never fix a Desire problem.</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T7 · SUPPORT ORGANIZATIONAL CHANGE</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for change — the practical activities to build into your plan</a:t>
            </a:r>
          </a:p>
        </p:txBody>
      </p:sp>
      <p:sp>
        <p:nvSpPr>
          <p:cNvPr id="4" name="Rectangle 3"/>
          <p:cNvSpPr/>
          <p:nvPr/>
        </p:nvSpPr>
        <p:spPr>
          <a:xfrm>
            <a:off x="566928" y="1676095"/>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8602"/>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8602"/>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88058"/>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24634"/>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9770"/>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Define readiness activities</a:t>
            </a:r>
          </a:p>
        </p:txBody>
      </p:sp>
      <p:sp>
        <p:nvSpPr>
          <p:cNvPr id="10" name="TextBox 9"/>
          <p:cNvSpPr txBox="1"/>
          <p:nvPr/>
        </p:nvSpPr>
        <p:spPr>
          <a:xfrm>
            <a:off x="768096" y="2690394"/>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Specify the knowledge transfer, training and readiness work required to implement the change the project brings.</a:t>
            </a:r>
          </a:p>
        </p:txBody>
      </p:sp>
      <p:sp>
        <p:nvSpPr>
          <p:cNvPr id="11" name="Rounded Rectangle 10"/>
          <p:cNvSpPr/>
          <p:nvPr/>
        </p:nvSpPr>
        <p:spPr>
          <a:xfrm>
            <a:off x="4331208" y="2068602"/>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8602"/>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88058"/>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24634"/>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9770"/>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Run an attitudinal survey</a:t>
            </a:r>
          </a:p>
        </p:txBody>
      </p:sp>
      <p:sp>
        <p:nvSpPr>
          <p:cNvPr id="16" name="TextBox 15"/>
          <p:cNvSpPr txBox="1"/>
          <p:nvPr/>
        </p:nvSpPr>
        <p:spPr>
          <a:xfrm>
            <a:off x="4532376" y="2690394"/>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Find out how affected people actually feel before go-live, so resistance is measured rather than assumed away.</a:t>
            </a:r>
          </a:p>
        </p:txBody>
      </p:sp>
      <p:sp>
        <p:nvSpPr>
          <p:cNvPr id="17" name="Rounded Rectangle 16"/>
          <p:cNvSpPr/>
          <p:nvPr/>
        </p:nvSpPr>
        <p:spPr>
          <a:xfrm>
            <a:off x="8095488" y="2068602"/>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8602"/>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88058"/>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24634"/>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9770"/>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 an information campaign</a:t>
            </a:r>
          </a:p>
        </p:txBody>
      </p:sp>
      <p:sp>
        <p:nvSpPr>
          <p:cNvPr id="22" name="TextBox 21"/>
          <p:cNvSpPr txBox="1"/>
          <p:nvPr/>
        </p:nvSpPr>
        <p:spPr>
          <a:xfrm>
            <a:off x="8296656" y="2928138"/>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Familiarise people with the coming change over time; a single announcement email is not a communication plan.</a:t>
            </a:r>
          </a:p>
        </p:txBody>
      </p:sp>
      <p:sp>
        <p:nvSpPr>
          <p:cNvPr id="23" name="Rounded Rectangle 22"/>
          <p:cNvSpPr/>
          <p:nvPr/>
        </p:nvSpPr>
        <p:spPr>
          <a:xfrm>
            <a:off x="566928" y="4221327"/>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221327"/>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44078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 open about effects</a:t>
            </a:r>
          </a:p>
        </p:txBody>
      </p:sp>
      <p:sp>
        <p:nvSpPr>
          <p:cNvPr id="28" name="TextBox 27"/>
          <p:cNvSpPr txBox="1"/>
          <p:nvPr/>
        </p:nvSpPr>
        <p:spPr>
          <a:xfrm>
            <a:off x="768096" y="4843119"/>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Transparent about the potential negative effects too — hidden bad news destroys the trust the change depends on.</a:t>
            </a:r>
          </a:p>
        </p:txBody>
      </p:sp>
      <p:sp>
        <p:nvSpPr>
          <p:cNvPr id="29" name="Rounded Rectangle 28"/>
          <p:cNvSpPr/>
          <p:nvPr/>
        </p:nvSpPr>
        <p:spPr>
          <a:xfrm>
            <a:off x="4331208" y="4221327"/>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4221327"/>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440783"/>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 a rollout plan</a:t>
            </a:r>
          </a:p>
        </p:txBody>
      </p:sp>
      <p:sp>
        <p:nvSpPr>
          <p:cNvPr id="34" name="TextBox 33"/>
          <p:cNvSpPr txBox="1"/>
          <p:nvPr/>
        </p:nvSpPr>
        <p:spPr>
          <a:xfrm>
            <a:off x="4532376" y="4843119"/>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Sequence adoption by group, region or business unit so support capacity matches the number of people changing at once.</a:t>
            </a:r>
          </a:p>
        </p:txBody>
      </p:sp>
      <p:sp>
        <p:nvSpPr>
          <p:cNvPr id="35" name="Rounded Rectangle 34"/>
          <p:cNvSpPr/>
          <p:nvPr/>
        </p:nvSpPr>
        <p:spPr>
          <a:xfrm>
            <a:off x="8095488" y="4221327"/>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4221327"/>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440783"/>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47735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42249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Measure adoption</a:t>
            </a:r>
          </a:p>
        </p:txBody>
      </p:sp>
      <p:sp>
        <p:nvSpPr>
          <p:cNvPr id="40" name="TextBox 39"/>
          <p:cNvSpPr txBox="1"/>
          <p:nvPr/>
        </p:nvSpPr>
        <p:spPr>
          <a:xfrm>
            <a:off x="8296656" y="4843119"/>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 adoption metrics up front and track them after go-live; benefits realisation depends on them, not on delivery.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T7 · SUPPORT ORGANIZATIONAL CHANGE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When the organisation changes around your project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Reorganisations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new reporting structure can remove your sponsor or reassign your team mid-flight; re-confirm authority immediately.</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Strategy or priority shifts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change in strategic direction can reprioritise value, including removing deliverables you have already built.</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deliverables demanded</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Internal business changes frequently create a need for deliverables that were never in the approved baseline.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Process changes</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New internal processes may change how you must procure, hire, report or release — check them before you are blocked.</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Stay informed</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PM, sponsor or product owner must be familiar with business plans, reorganisations and other internal activity.</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Recommend options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 the impact, then recommend options for changes to the project rather than presenting a single fait accompli.</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BUSINESS ENV T1 · DEFINE AND ESTABLISH PROJECT GOVERNANCE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Project governance</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The framework of structures, rules, procedures, reporting and ethics within which project decisions are legitimately made.</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SINGLE ACCOUNTABILITY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Governance offers one clear point of accountability for the project, so decisions do not orbit unowned.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SPANS THE LIFE CYCLE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It encompasses the whole project life cycle, from authorisation through phase gates to closure.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ALREADY EXISTS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Governance is typically already in place — established by a PMO or aligned to organisational policy; you inherit it.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governance board and what it is responsible for</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 sits on it</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Typically the project sponsor, senior managers from affected business units, and PMO resources; sometimes customer representatives.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Provides oversight</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Independent oversight of whether the project remains viable, compliant and aligned to the strategy that funded it.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Reviews key deliverables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Formally reviews and accepts major deliverables at defined checkpoints rather than only at the very end.</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Guides project decisions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Provides direction on decisions that exceed the project manager's delegated authority or cross business unit boundaries.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Approves changes above threshold</a:t>
            </a:r>
          </a:p>
        </p:txBody>
      </p:sp>
      <p:sp>
        <p:nvSpPr>
          <p:cNvPr id="34" name="TextBox 33"/>
          <p:cNvSpPr txBox="1"/>
          <p:nvPr/>
        </p:nvSpPr>
        <p:spPr>
          <a:xfrm>
            <a:off x="453237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Acts as, or feeds into, the change control board for changes larger than the PM can approve alone.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Governance varies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Its type and intensity depend on the project's strategic importance, constraints and external oversight requirements.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Governance defines escalation — the thresholds decision path</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3941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Detect the deviation</a:t>
            </a:r>
          </a:p>
        </p:txBody>
      </p:sp>
      <p:sp>
        <p:nvSpPr>
          <p:cNvPr id="8" name="TextBox 7"/>
          <p:cNvSpPr txBox="1"/>
          <p:nvPr/>
        </p:nvSpPr>
        <p:spPr>
          <a:xfrm>
            <a:off x="69494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 issue, risk or change is identified that may push the project outside its agreed tolerance.</a:t>
            </a:r>
          </a:p>
        </p:txBody>
      </p:sp>
      <p:sp>
        <p:nvSpPr>
          <p:cNvPr id="9" name="Pentagon 8"/>
          <p:cNvSpPr/>
          <p:nvPr/>
        </p:nvSpPr>
        <p:spPr>
          <a:xfrm>
            <a:off x="2801721" y="1816455"/>
            <a:ext cx="2115921" cy="263941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Test against threshold</a:t>
            </a:r>
          </a:p>
        </p:txBody>
      </p:sp>
      <p:sp>
        <p:nvSpPr>
          <p:cNvPr id="12" name="TextBox 11"/>
          <p:cNvSpPr txBox="1"/>
          <p:nvPr/>
        </p:nvSpPr>
        <p:spPr>
          <a:xfrm>
            <a:off x="2929737"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Compare the impact to the documented tolerance for cost, schedule, scope, quality and risk.</a:t>
            </a:r>
          </a:p>
        </p:txBody>
      </p:sp>
      <p:sp>
        <p:nvSpPr>
          <p:cNvPr id="13" name="Pentagon 12"/>
          <p:cNvSpPr/>
          <p:nvPr/>
        </p:nvSpPr>
        <p:spPr>
          <a:xfrm>
            <a:off x="5036515" y="1816455"/>
            <a:ext cx="2115921" cy="263941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Within threshold</a:t>
            </a:r>
          </a:p>
        </p:txBody>
      </p:sp>
      <p:sp>
        <p:nvSpPr>
          <p:cNvPr id="16" name="TextBox 15"/>
          <p:cNvSpPr txBox="1"/>
          <p:nvPr/>
        </p:nvSpPr>
        <p:spPr>
          <a:xfrm>
            <a:off x="5164531"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Work with the team to find a resolution and record the decision; do not consume sponsor attention unnecessarily.</a:t>
            </a:r>
          </a:p>
        </p:txBody>
      </p:sp>
      <p:sp>
        <p:nvSpPr>
          <p:cNvPr id="17" name="Pentagon 16"/>
          <p:cNvSpPr/>
          <p:nvPr/>
        </p:nvSpPr>
        <p:spPr>
          <a:xfrm>
            <a:off x="7271308" y="1816455"/>
            <a:ext cx="2115921" cy="263941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Outside threshold</a:t>
            </a:r>
          </a:p>
        </p:txBody>
      </p:sp>
      <p:sp>
        <p:nvSpPr>
          <p:cNvPr id="20" name="TextBox 19"/>
          <p:cNvSpPr txBox="1"/>
          <p:nvPr/>
        </p:nvSpPr>
        <p:spPr>
          <a:xfrm>
            <a:off x="739932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Escalate to the stakeholder who is authorised to act, with options and a recommendation, not just a problem.</a:t>
            </a:r>
          </a:p>
        </p:txBody>
      </p:sp>
      <p:sp>
        <p:nvSpPr>
          <p:cNvPr id="21" name="Rounded Rectangle 20"/>
          <p:cNvSpPr/>
          <p:nvPr/>
        </p:nvSpPr>
        <p:spPr>
          <a:xfrm>
            <a:off x="9506102" y="1816455"/>
            <a:ext cx="2115921" cy="263941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Record and communicate</a:t>
            </a:r>
          </a:p>
        </p:txBody>
      </p:sp>
      <p:sp>
        <p:nvSpPr>
          <p:cNvPr id="24" name="TextBox 23"/>
          <p:cNvSpPr txBox="1"/>
          <p:nvPr/>
        </p:nvSpPr>
        <p:spPr>
          <a:xfrm>
            <a:off x="9634118"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Log the decision, update the plan and registers, and inform everyone affected by the outcome.</a:t>
            </a:r>
          </a:p>
        </p:txBody>
      </p:sp>
      <p:sp>
        <p:nvSpPr>
          <p:cNvPr id="25" name="Rounded Rectangle 24"/>
          <p:cNvSpPr/>
          <p:nvPr/>
        </p:nvSpPr>
        <p:spPr>
          <a:xfrm>
            <a:off x="566928" y="467532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7532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6676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Escalating everything makes you look incapable; escalating nothing makes you look reckless. The written threshold is what makes the difference defensible.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Defining project success metrics that governance can act 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performance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SPI = EV ÷ PV</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Below 1.00 means the project is earning value more slowly than planned; a common governance threshold is SPI below 0.90.</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performance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CPI = EV ÷ AC</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Below 1.00 means each dollar spent is buying less value than planned; often escalated when CPI falls below 0.90.</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Benefit realisation</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BRR = Actual ÷ Planned benefit</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Measured after transition to operations; it is the metric that proves the business case was real, not merely persuasive.</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Return on investment</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ROI = (Benefit − Cost) ÷ Cost</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financial justification governance used to fund the project; re-check it whenever scope or cost changes materially.</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Compliance level</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 requirements evidenced</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share of identified compliance requirements with current, auditable evidence — the measure ECO T2 asks for.</a:t>
            </a:r>
          </a:p>
        </p:txBody>
      </p:sp>
      <p:sp>
        <p:nvSpPr>
          <p:cNvPr id="35" name="Rounded Rectangle 34"/>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ECO Business Environment T1 explicitly requires you to define success metrics and escalation thresholds. Vague metrics make governance ceremonial.</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Governance checkpoints: phase gates in a predictive project</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71269"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712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Concept gate</a:t>
            </a:r>
          </a:p>
        </p:txBody>
      </p:sp>
      <p:sp>
        <p:nvSpPr>
          <p:cNvPr id="9" name="TextBox 8"/>
          <p:cNvSpPr txBox="1"/>
          <p:nvPr/>
        </p:nvSpPr>
        <p:spPr>
          <a:xfrm>
            <a:off x="658368" y="1894893"/>
            <a:ext cx="2028139" cy="1044130"/>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Is the idea worth investigating? The business case is outline only and the estimate is order-of-magnitude.</a:t>
            </a:r>
          </a:p>
        </p:txBody>
      </p:sp>
      <p:sp>
        <p:nvSpPr>
          <p:cNvPr id="10" name="Oval 9"/>
          <p:cNvSpPr/>
          <p:nvPr/>
        </p:nvSpPr>
        <p:spPr>
          <a:xfrm>
            <a:off x="3682288"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8228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869387"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Planning gate</a:t>
            </a:r>
          </a:p>
        </p:txBody>
      </p:sp>
      <p:sp>
        <p:nvSpPr>
          <p:cNvPr id="13" name="TextBox 12"/>
          <p:cNvSpPr txBox="1"/>
          <p:nvPr/>
        </p:nvSpPr>
        <p:spPr>
          <a:xfrm>
            <a:off x="2869387" y="3650541"/>
            <a:ext cx="2028139" cy="1044130"/>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Is the plan credible and funded? Baselines are approved and the estimate tightens to a definitive range.</a:t>
            </a:r>
          </a:p>
        </p:txBody>
      </p:sp>
      <p:sp>
        <p:nvSpPr>
          <p:cNvPr id="14" name="Oval 13"/>
          <p:cNvSpPr/>
          <p:nvPr/>
        </p:nvSpPr>
        <p:spPr>
          <a:xfrm>
            <a:off x="5893308"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330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5080406"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Build gate</a:t>
            </a:r>
          </a:p>
        </p:txBody>
      </p:sp>
      <p:sp>
        <p:nvSpPr>
          <p:cNvPr id="17" name="TextBox 16"/>
          <p:cNvSpPr txBox="1"/>
          <p:nvPr/>
        </p:nvSpPr>
        <p:spPr>
          <a:xfrm>
            <a:off x="5080406" y="1894893"/>
            <a:ext cx="2028139" cy="1044130"/>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Is the solution being produced to spec? Design is frozen and major deliverables are formally reviewed.</a:t>
            </a:r>
          </a:p>
        </p:txBody>
      </p:sp>
      <p:sp>
        <p:nvSpPr>
          <p:cNvPr id="18" name="Oval 17"/>
          <p:cNvSpPr/>
          <p:nvPr/>
        </p:nvSpPr>
        <p:spPr>
          <a:xfrm>
            <a:off x="8104327"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432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7291425"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Readiness gate</a:t>
            </a:r>
          </a:p>
        </p:txBody>
      </p:sp>
      <p:sp>
        <p:nvSpPr>
          <p:cNvPr id="21" name="TextBox 20"/>
          <p:cNvSpPr txBox="1"/>
          <p:nvPr/>
        </p:nvSpPr>
        <p:spPr>
          <a:xfrm>
            <a:off x="7291425"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Is the organisation ready to receive it? Testing, training and compliance evidence are confirmed.</a:t>
            </a:r>
          </a:p>
        </p:txBody>
      </p:sp>
      <p:sp>
        <p:nvSpPr>
          <p:cNvPr id="22" name="Oval 21"/>
          <p:cNvSpPr/>
          <p:nvPr/>
        </p:nvSpPr>
        <p:spPr>
          <a:xfrm>
            <a:off x="10315346"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1534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9502444"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Closure gate</a:t>
            </a:r>
          </a:p>
        </p:txBody>
      </p:sp>
      <p:sp>
        <p:nvSpPr>
          <p:cNvPr id="25" name="TextBox 24"/>
          <p:cNvSpPr txBox="1"/>
          <p:nvPr/>
        </p:nvSpPr>
        <p:spPr>
          <a:xfrm>
            <a:off x="9502444" y="1894893"/>
            <a:ext cx="2028139" cy="1044130"/>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Have benefits started and is everything transitioned? Contracts, finances and lessons learned are closed out.</a:t>
            </a:r>
          </a:p>
        </p:txBody>
      </p:sp>
      <p:sp>
        <p:nvSpPr>
          <p:cNvPr id="26" name="Rounded Rectangle 25"/>
          <p:cNvSpPr/>
          <p:nvPr/>
        </p:nvSpPr>
        <p:spPr>
          <a:xfrm>
            <a:off x="566928" y="5074920"/>
            <a:ext cx="11055096" cy="786384"/>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074920"/>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At every gate the decision is one of four: continue, continue with modification, hold and re-plan, or terminate. 'Continue because we have already spent the money' is the sunk cost fallacy.</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phase relationships — sequential versus overlapping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SEQUENTIAL PHASES</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One phase completes before the next begins</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Each phase ends at a gate that must be passed to continue</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Lowest risk of rework because each stage is confirmed before build</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Longest overall duration — no phase runs in parallel</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Preferred where safety, regulation or irreversibility dominates</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Clearest governance because decisions are discrete events</a:t>
            </a:r>
          </a:p>
        </p:txBody>
      </p:sp>
      <p:sp>
        <p:nvSpPr>
          <p:cNvPr id="19" name="Oval 18"/>
          <p:cNvSpPr/>
          <p:nvPr/>
        </p:nvSpPr>
        <p:spPr>
          <a:xfrm>
            <a:off x="786384" y="441335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late in the sequence is the most expensive kind</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OVERLAPPING PHASES</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next phase starts before the prior one ends</a:t>
            </a:r>
          </a:p>
        </p:txBody>
      </p:sp>
      <p:sp>
        <p:nvSpPr>
          <p:cNvPr id="25" name="Oval 24"/>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Known as fast tracking; used to compress the total schedule</a:t>
            </a:r>
          </a:p>
        </p:txBody>
      </p:sp>
      <p:sp>
        <p:nvSpPr>
          <p:cNvPr id="27" name="Oval 26"/>
          <p:cNvSpPr/>
          <p:nvPr/>
        </p:nvSpPr>
        <p:spPr>
          <a:xfrm>
            <a:off x="6451092"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Increases risk of rework because assumptions may prove wrong</a:t>
            </a:r>
          </a:p>
        </p:txBody>
      </p:sp>
      <p:sp>
        <p:nvSpPr>
          <p:cNvPr id="29" name="Oval 28"/>
          <p:cNvSpPr/>
          <p:nvPr/>
        </p:nvSpPr>
        <p:spPr>
          <a:xfrm>
            <a:off x="6451092"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Requires far more communication between the overlapping teams</a:t>
            </a:r>
          </a:p>
        </p:txBody>
      </p:sp>
      <p:sp>
        <p:nvSpPr>
          <p:cNvPr id="31" name="Oval 30"/>
          <p:cNvSpPr/>
          <p:nvPr/>
        </p:nvSpPr>
        <p:spPr>
          <a:xfrm>
            <a:off x="6451092" y="359953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Governance gates become partial or conditional approvals</a:t>
            </a:r>
          </a:p>
        </p:txBody>
      </p:sp>
      <p:sp>
        <p:nvSpPr>
          <p:cNvPr id="33" name="Oval 32"/>
          <p:cNvSpPr/>
          <p:nvPr/>
        </p:nvSpPr>
        <p:spPr>
          <a:xfrm>
            <a:off x="6451092" y="391957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Common in construction and product development under time pressure</a:t>
            </a:r>
          </a:p>
        </p:txBody>
      </p:sp>
      <p:sp>
        <p:nvSpPr>
          <p:cNvPr id="35" name="Oval 34"/>
          <p:cNvSpPr/>
          <p:nvPr/>
        </p:nvSpPr>
        <p:spPr>
          <a:xfrm>
            <a:off x="6451092" y="441335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31276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PM must explicitly accept and reserve for the rework risk</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In adaptive delivery, the equivalent checkpoint is the sprint review — governance moves from a rare heavyweight gate to a frequent lightweight inspection of a working increment.</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Applying governance in predictive versus adaptive projects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GOVERNANCE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Few, heavy, document-based checkpoints</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Phase gate reviews at defined milestones in the schedule</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Evidence is documentation: plans, designs, test reports, sign-offs</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control board approves deviations from the baseline</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Status reported against percentage complete and earned value</a:t>
            </a:r>
          </a:p>
        </p:txBody>
      </p:sp>
      <p:sp>
        <p:nvSpPr>
          <p:cNvPr id="17" name="Oval 16"/>
          <p:cNvSpPr/>
          <p:nvPr/>
        </p:nvSpPr>
        <p:spPr>
          <a:xfrm>
            <a:off x="786384" y="391957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Escalation follows a documented threshold and hierarchy</a:t>
            </a:r>
          </a:p>
        </p:txBody>
      </p:sp>
      <p:sp>
        <p:nvSpPr>
          <p:cNvPr id="19" name="Oval 18"/>
          <p:cNvSpPr/>
          <p:nvPr/>
        </p:nvSpPr>
        <p:spPr>
          <a:xfrm>
            <a:off x="786384" y="423961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13903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Benefits are typically confirmed after the whole project closes</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ADAPTIVE GOVERNANCE</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Many, light, product-based checkpoints</a:t>
            </a:r>
          </a:p>
        </p:txBody>
      </p:sp>
      <p:sp>
        <p:nvSpPr>
          <p:cNvPr id="25" name="Oval 24"/>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Sprint review at the end of every timebox, with stakeholders present</a:t>
            </a:r>
          </a:p>
        </p:txBody>
      </p:sp>
      <p:sp>
        <p:nvSpPr>
          <p:cNvPr id="27" name="Oval 26"/>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Evidence is a working increment that can be inspected directly</a:t>
            </a:r>
          </a:p>
        </p:txBody>
      </p:sp>
      <p:sp>
        <p:nvSpPr>
          <p:cNvPr id="29" name="Oval 28"/>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Product Owner reprioritises the backlog instead of raising CRs</a:t>
            </a:r>
          </a:p>
        </p:txBody>
      </p:sp>
      <p:sp>
        <p:nvSpPr>
          <p:cNvPr id="31" name="Oval 30"/>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Status reported through burndown, velocity and cumulative flow</a:t>
            </a:r>
          </a:p>
        </p:txBody>
      </p:sp>
      <p:sp>
        <p:nvSpPr>
          <p:cNvPr id="33" name="Oval 32"/>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Impediments escalated immediately by the team facilitator</a:t>
            </a:r>
          </a:p>
        </p:txBody>
      </p:sp>
      <p:sp>
        <p:nvSpPr>
          <p:cNvPr id="35" name="Oval 34"/>
          <p:cNvSpPr/>
          <p:nvPr/>
        </p:nvSpPr>
        <p:spPr>
          <a:xfrm>
            <a:off x="6451092" y="476082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66023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Benefits can be measured from the first released increment</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The governance obligation is identical in both; only the frequency, the artefacts and the evidence change. Regulated industries still require agile teams to produce audit trails.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PROCESS T3 · HELP ENSURE VALUE-BASED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Value-based delivery — the reason the project exists</a:t>
            </a:r>
          </a:p>
        </p:txBody>
      </p:sp>
      <p:sp>
        <p:nvSpPr>
          <p:cNvPr id="5" name="TextBox 4"/>
          <p:cNvSpPr txBox="1"/>
          <p:nvPr/>
        </p:nvSpPr>
        <p:spPr>
          <a:xfrm>
            <a:off x="566928" y="1810512"/>
            <a:ext cx="10881360" cy="1895379"/>
          </a:xfrm>
          <a:prstGeom prst="rect">
            <a:avLst/>
          </a:prstGeom>
          <a:noFill/>
        </p:spPr>
        <p:txBody>
          <a:bodyPr wrap="square" anchor="t">
            <a:spAutoFit/>
          </a:bodyPr>
          <a:lstStyle/>
          <a:p>
            <a:pPr algn="l">
              <a:lnSpc>
                <a:spcPct val="110000"/>
              </a:lnSpc>
              <a:spcAft>
                <a:spcPts val="400"/>
              </a:spcAft>
            </a:pPr>
            <a:r>
              <a:rPr sz="3350" b="1" i="0">
                <a:solidFill>
                  <a:srgbClr val="161B26"/>
                </a:solidFill>
                <a:latin typeface="Arial"/>
              </a:rPr>
              <a:t>Value is the worth, importance or usefulness of the output to the organisation and its stakeholders — not the volume of work completed.</a:t>
            </a:r>
          </a:p>
        </p:txBody>
      </p:sp>
      <p:sp>
        <p:nvSpPr>
          <p:cNvPr id="6" name="Rectangle 5"/>
          <p:cNvSpPr/>
          <p:nvPr/>
        </p:nvSpPr>
        <p:spPr>
          <a:xfrm>
            <a:off x="566928" y="3888771"/>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IDENTIFY VALUE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Agree the value components with key stakeholders early, in measurable terms, so 'success' is not decided retrospectively.</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PRIORITISE BY VALUE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Order the work by value and stakeholder feedback so the most valuable capability is delivered first.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VERIFY MEASUREMENT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Confirm a measurement system is in place to track benefits — you cannot claim value you never measured.</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Delivering and evaluating project value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Identify components</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Work with key stakeholders to name the value components and how each will be recognised.</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Prioritise the work</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Order the backlog or scope by value and stakeholder feedback rather than by ease or by who shouted loudest.</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Deliver incrementally</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Assess every opportunity to release value earlier in smaller pieces rather than banking it all to the end.</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Measure benefits</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Verify the measurement system is live and read it; track actual benefit against the business case forecast.</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Re-examine value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Continually examine whether the business value still justifies the remaining investment, and re-plan if not.</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 project that is on time and on budget but delivers no measured benefit has failed. PMI's value-delivery view treats the business case as a live document, not an entry ticket.</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compliance — who is responsible for what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External standards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Government regulations, industry standards, privacy law and any licensing the product or the organisation requires.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Internal standards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Corporate policies, the quality management system, the code of conduct and the organisation's own methodology.</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PMO's role</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Monitors compliance at organisational level, maintains the standards and audits projects against them.</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project team's role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Responsible for compliance in project activity — quality of processes and deliverables, and the work done by vendors.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Procurement compliance</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Vendor work must meet the same obligations; contracts must pass the requirement down and give you audit rights.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PM's stewardship</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Compliance stewardship is your personal responsibility — it is an ethical obligation under the PMI Code of Conduct.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Classifying compliance categories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6" cy="3328416"/>
        </p:xfrm>
        <a:graphic>
          <a:graphicData uri="http://schemas.openxmlformats.org/drawingml/2006/table">
            <a:tbl>
              <a:tblPr firstRow="1" bandRow="1">
                <a:tableStyleId>{5C22544A-7EE6-4342-B048-85BDC9FD1C3A}</a:tableStyleId>
              </a:tblPr>
              <a:tblGrid>
                <a:gridCol w="2496312"/>
                <a:gridCol w="4279392"/>
                <a:gridCol w="4279392"/>
              </a:tblGrid>
              <a:tr h="475488">
                <a:tc>
                  <a:txBody>
                    <a:bodyPr wrap="square" anchor="t"/>
                    <a:lstStyle/>
                    <a:p>
                      <a:pPr algn="l">
                        <a:lnSpc>
                          <a:spcPct val="100000"/>
                        </a:lnSpc>
                        <a:spcAft>
                          <a:spcPts val="0"/>
                        </a:spcAft>
                      </a:pPr>
                      <a:r>
                        <a:rPr sz="1150" b="1" i="0">
                          <a:solidFill>
                            <a:srgbClr val="FFFFFF"/>
                          </a:solidFill>
                          <a:latin typeface="Arial"/>
                        </a:rPr>
                        <a:t>Category</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Typical requirements</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Consequence of failure</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Environmental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Emissions limits, waste handling, environmental impact assessment, site remediation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Fines, forced remediation, loss of operating licence, reputational damage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Workplace health and safety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Risk assessments, permits to work, protective equipment, incident reporting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Injury, prosecution of individuals, stop-work orders, insurance loss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Ethical and anti-corruption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Anti-bribery policy, conflict of interest declarations, gift registers, procurement fairness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Criminal liability, contract voiding, blacklisting from public tenders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Data protection and security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Consent, data residency, encryption, breach notification, access control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Regulatory fines, breach notification cost, customer attrition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Social responsibility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Labour standards in the supply chain, accessibility, inclusion, community obligations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Reputational harm, activist and investor pressure, contract loss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Quality and process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Standards conformance, documented process rigour, traceability of test evidence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Rework, product recall, refused acceptance, warranty exposure</a:t>
                      </a:r>
                    </a:p>
                  </a:txBody>
                  <a:tcPr anchor="ctr">
                    <a:solidFill>
                      <a:srgbClr val="F5F8FC"/>
                    </a:solidFill>
                  </a:tcPr>
                </a:tc>
              </a:tr>
            </a:tbl>
          </a:graphicData>
        </a:graphic>
      </p:graphicFrame>
      <p:sp>
        <p:nvSpPr>
          <p:cNvPr id="6" name="Rounded Rectangle 5"/>
          <p:cNvSpPr/>
          <p:nvPr/>
        </p:nvSpPr>
        <p:spPr>
          <a:xfrm>
            <a:off x="566928" y="4925415"/>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998567"/>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Categories vary with industry, solution scope and the organisation's unique legal and regulatory exposure — classify them for your project, not from a template.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Confirming compliance requirements for your project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Legal and regulatory constraints</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Requirements for specific practices, mandatory standards, privacy laws and rules for handling sensitive information.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compliance is owned</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Identify who in the organisation handles compliance — legal, quality, security, or an external regulator's inspector.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quality policy</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the organisation's quality policy and how much process rigour and quality control it demands of this project.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 the rigour</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much control is genuinely relevant here? A safety-critical system and an internal reporting tool do not need the same rigour.</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Awareness across the team</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Confirm the team and stakeholders actually know the compliance matters that apply — assumed knowledge is a common failure.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Evidence, not intention</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requirement needs a named owner, a control and auditable evidence that the control is actually operating.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Prioritising threats to compliance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Monitor closely</a:t>
            </a:r>
          </a:p>
        </p:txBody>
      </p:sp>
      <p:sp>
        <p:nvSpPr>
          <p:cNvPr id="7" name="TextBox 6"/>
          <p:cNvSpPr txBox="1"/>
          <p:nvPr/>
        </p:nvSpPr>
        <p:spPr>
          <a:xfrm>
            <a:off x="2478024" y="2068486"/>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Severe but unlikely — for example a major data breach. Maintain preventive controls and a tested response plan.</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Act immediately</a:t>
            </a:r>
          </a:p>
        </p:txBody>
      </p:sp>
      <p:sp>
        <p:nvSpPr>
          <p:cNvPr id="10" name="TextBox 9"/>
          <p:cNvSpPr txBox="1"/>
          <p:nvPr/>
        </p:nvSpPr>
        <p:spPr>
          <a:xfrm>
            <a:off x="4471416" y="2068486"/>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Severe and likely — for example missing a known regulatory deadline. Escalate and fund a response now.</a:t>
            </a:r>
          </a:p>
        </p:txBody>
      </p:sp>
      <p:sp>
        <p:nvSpPr>
          <p:cNvPr id="11" name="Rounded Rectangle 10"/>
          <p:cNvSpPr/>
          <p:nvPr/>
        </p:nvSpPr>
        <p:spPr>
          <a:xfrm>
            <a:off x="2331720"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Accept and log</a:t>
            </a:r>
          </a:p>
        </p:txBody>
      </p:sp>
      <p:sp>
        <p:nvSpPr>
          <p:cNvPr id="13" name="TextBox 12"/>
          <p:cNvSpPr txBox="1"/>
          <p:nvPr/>
        </p:nvSpPr>
        <p:spPr>
          <a:xfrm>
            <a:off x="2478024" y="4061878"/>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Minor and unlikely — record in the register, review periodically, and do not spend scarce control effort here.</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Fix the process</a:t>
            </a:r>
          </a:p>
        </p:txBody>
      </p:sp>
      <p:sp>
        <p:nvSpPr>
          <p:cNvPr id="16" name="TextBox 15"/>
          <p:cNvSpPr txBox="1"/>
          <p:nvPr/>
        </p:nvSpPr>
        <p:spPr>
          <a:xfrm>
            <a:off x="4471416" y="4061878"/>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Minor but frequent — for example repeated missing sign-offs. Correct the underlying process, not each instance.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LIKELIHOOD OF OCCURRING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SEVERITY OF CONSEQUENCE  →  high</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Analyse the consequences of non-compliance before choosing the response, and measure the extent to which the project is compliant on a defined cadence.</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Methods that support compliance through the project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Documentation</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Maintain a compliance register of requirements, owners, controls and evidence, updated as obligations change.</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Risk planning</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Prioritise compliance risks explicitly in the risk register with named responses, not as generic assumptions.</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Compliance council</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Convene quality and audit specialists plus relevant legal and technical experts to rule on grey areas.</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Compliance audit</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Run a formal audit at defined checkpoints to test that controls actually operate as designed.</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Stewardship</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Model and enforce compliance behaviour in the team every day — it is ultimately your personal responsibility.</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Measure compliance the way you measure schedule: the percentage of identified requirements with current evidence, trended over time and reported to governance.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BUSINESS ENV T2 · PLAN AND MANAGE PROJECT COMPLIANCE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Sustainability is now a compliance and a value dimension</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The 2026 ECO makes sustainability an explicit information requirement, a quality obligation and a category of project risk.</a:t>
            </a:r>
          </a:p>
        </p:txBody>
      </p:sp>
      <p:sp>
        <p:nvSpPr>
          <p:cNvPr id="6" name="Rectangle 5"/>
          <p:cNvSpPr/>
          <p:nvPr/>
        </p:nvSpPr>
        <p:spPr>
          <a:xfrm>
            <a:off x="566928" y="4030218"/>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ENVIRONMENTAL</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Carbon footprint of the solution, energy and water use, materials, waste and end-of-life disposal of what you build.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SOCIAL</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Labour conditions across the supply chain, accessibility of the deliverable, and impact on the surrounding community.</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GOVERNANCE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Transparent reporting of sustainability claims, ethical procurement, and avoidance of greenwashing in benefit claims.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Where sustainability appears in the 2026 ECO</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2983121"/>
                <a:gridCol w="4035987"/>
                <a:gridCol w="4035987"/>
              </a:tblGrid>
              <a:tr h="475488">
                <a:tc>
                  <a:txBody>
                    <a:bodyPr wrap="square" anchor="t"/>
                    <a:lstStyle/>
                    <a:p>
                      <a:pPr algn="l">
                        <a:lnSpc>
                          <a:spcPct val="100000"/>
                        </a:lnSpc>
                        <a:spcAft>
                          <a:spcPts val="0"/>
                        </a:spcAft>
                      </a:pPr>
                      <a:r>
                        <a:rPr sz="1150" b="1" i="0">
                          <a:solidFill>
                            <a:srgbClr val="FFFFFF"/>
                          </a:solidFill>
                          <a:latin typeface="Arial"/>
                        </a:rPr>
                        <a:t>ECO reference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What it requires</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What you actually do</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Process T1 — integrated plan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Determine critical information requirements, explicitly including sustainability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Add sustainability criteria to the plan and to the definition of done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Process T7 — quality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Manage cost of quality and sustainability together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Cost sustainable options in the business case rather than as an afterthought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Business Env T2 — compliance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Confirm sustainability among the compliance requirement categories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Register environmental and social obligations with owners and evidence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Business Env T5 — risk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Execute risk responses for security and sustainability risks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Log sustainability risks in the register with real, funded responses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Business Env T8 — external change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Survey regulatory change in the external environment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Track emerging disclosure and reporting regulation affecting the deliverable</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framing: sustainability is treated as a legitimate constraint and benefit, so 'ignore it because it is not in scope' is never the best answer.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T8 · EVALUATE EXTERNAL BUSINESS ENVIRONMENT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AI in project management — where it genuinely helps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Estimation</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Models trained on historical project data produce range estimates and flag where your estimate diverges from comparable past work.</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detection</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Pattern analysis across schedule, issue logs and communications surfaces emerging risks earlier than a monthly review would.</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Status reporting</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Automated generation of status narratives from tool data, freeing PM time for stakeholder work rather than slide assembly.</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Schedule optimisation</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Scenario simulation across thousands of resource and sequence permutations to test compression options before committing.</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Requirements analysis</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Clustering and de-duplicating large volumes of stakeholder input, and flagging ambiguous or untestable requirements.</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Meeting and knowledge capture</a:t>
            </a:r>
          </a:p>
        </p:txBody>
      </p:sp>
      <p:sp>
        <p:nvSpPr>
          <p:cNvPr id="40" name="TextBox 39"/>
          <p:cNvSpPr txBox="1"/>
          <p:nvPr/>
        </p:nvSpPr>
        <p:spPr>
          <a:xfrm>
            <a:off x="829665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Transcription, action extraction and searchable project memory that makes lessons learned findable rather than archived.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Governing AI use on your project — the risks you own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Data confidentiality</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Client data, contracts and personal information pasted into external tools may leave your control and breach your obligations.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Accuracy and hallucination</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Generated estimates, text and analysis can be confidently wrong; a human must own and verify anything that reaches a stakeholder.</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Bias in the training data</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model trained on past projects reproduces past bias — in vendor selection, in estimating, and in performance judgement.</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Transparency and disclosure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Stakeholders should know when analysis or reporting they rely on was machine-generated; concealment is an ethics failure.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Accountability stays human</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Delegating a task to AI never delegates the accountability; the project manager remains answerable for the decision.</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Regulatory exposure</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AI-specific regulation is emerging quickly — treat it as an external environment change to survey under ECO T8.</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T7 · SUPPORT ORGANIZATIONAL CHANGE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Introducing AI into your project practice responsibly</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67703"/>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Define the use case</a:t>
            </a:r>
          </a:p>
        </p:txBody>
      </p:sp>
      <p:sp>
        <p:nvSpPr>
          <p:cNvPr id="8" name="TextBox 7"/>
          <p:cNvSpPr txBox="1"/>
          <p:nvPr/>
        </p:nvSpPr>
        <p:spPr>
          <a:xfrm>
            <a:off x="694944"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Name the specific decision or task AI will support, and the measurable improvement you expect from it.</a:t>
            </a:r>
          </a:p>
        </p:txBody>
      </p:sp>
      <p:sp>
        <p:nvSpPr>
          <p:cNvPr id="9" name="Pentagon 8"/>
          <p:cNvSpPr/>
          <p:nvPr/>
        </p:nvSpPr>
        <p:spPr>
          <a:xfrm>
            <a:off x="2801721" y="1816455"/>
            <a:ext cx="2115921" cy="2667703"/>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Check policy and law</a:t>
            </a:r>
          </a:p>
        </p:txBody>
      </p:sp>
      <p:sp>
        <p:nvSpPr>
          <p:cNvPr id="12" name="TextBox 11"/>
          <p:cNvSpPr txBox="1"/>
          <p:nvPr/>
        </p:nvSpPr>
        <p:spPr>
          <a:xfrm>
            <a:off x="2929737"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Confirm what your organisation's AI policy, contracts and applicable regulation permit before any data moves.</a:t>
            </a:r>
          </a:p>
        </p:txBody>
      </p:sp>
      <p:sp>
        <p:nvSpPr>
          <p:cNvPr id="13" name="Pentagon 12"/>
          <p:cNvSpPr/>
          <p:nvPr/>
        </p:nvSpPr>
        <p:spPr>
          <a:xfrm>
            <a:off x="5036515" y="1816455"/>
            <a:ext cx="2115921" cy="2667703"/>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Classify the data</a:t>
            </a:r>
          </a:p>
        </p:txBody>
      </p:sp>
      <p:sp>
        <p:nvSpPr>
          <p:cNvPr id="16" name="TextBox 15"/>
          <p:cNvSpPr txBox="1"/>
          <p:nvPr/>
        </p:nvSpPr>
        <p:spPr>
          <a:xfrm>
            <a:off x="5164531"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Determine what data may be used, where it may be processed, and what must never leave your environment.</a:t>
            </a:r>
          </a:p>
        </p:txBody>
      </p:sp>
      <p:sp>
        <p:nvSpPr>
          <p:cNvPr id="17" name="Pentagon 16"/>
          <p:cNvSpPr/>
          <p:nvPr/>
        </p:nvSpPr>
        <p:spPr>
          <a:xfrm>
            <a:off x="7271308" y="1816455"/>
            <a:ext cx="2115921" cy="2667703"/>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Pilot with a human in the loop</a:t>
            </a:r>
          </a:p>
        </p:txBody>
      </p:sp>
      <p:sp>
        <p:nvSpPr>
          <p:cNvPr id="20" name="TextBox 19"/>
          <p:cNvSpPr txBox="1"/>
          <p:nvPr/>
        </p:nvSpPr>
        <p:spPr>
          <a:xfrm>
            <a:off x="7399324"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Run the AI output alongside the existing method and compare; never switch over blind.</a:t>
            </a:r>
          </a:p>
        </p:txBody>
      </p:sp>
      <p:sp>
        <p:nvSpPr>
          <p:cNvPr id="21" name="Rounded Rectangle 20"/>
          <p:cNvSpPr/>
          <p:nvPr/>
        </p:nvSpPr>
        <p:spPr>
          <a:xfrm>
            <a:off x="9506102" y="1816455"/>
            <a:ext cx="2115921" cy="2667703"/>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Measure and govern</a:t>
            </a:r>
          </a:p>
        </p:txBody>
      </p:sp>
      <p:sp>
        <p:nvSpPr>
          <p:cNvPr id="24" name="TextBox 23"/>
          <p:cNvSpPr txBox="1"/>
          <p:nvPr/>
        </p:nvSpPr>
        <p:spPr>
          <a:xfrm>
            <a:off x="9634118" y="3056380"/>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Track accuracy and benefit, disclose usage to stakeholders, and review at the governance checkpoint.</a:t>
            </a:r>
          </a:p>
        </p:txBody>
      </p:sp>
      <p:sp>
        <p:nvSpPr>
          <p:cNvPr id="25" name="Rounded Rectangle 24"/>
          <p:cNvSpPr/>
          <p:nvPr/>
        </p:nvSpPr>
        <p:spPr>
          <a:xfrm>
            <a:off x="566928" y="4703614"/>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703614"/>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95054"/>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AI adoption is itself an organisational change project. Everything you learned about ADKAR applies to getting your own team to use it well.</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Business Environment traps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new law is announced that affects your project mid-execution</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Assess the impact on the project first, then raise a change request through the defined governance path.</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An issue arises that exceeds your documented tolerance level</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Escalate to the stakeholder authorised to act, presenting options and a recommendation — do not decide alone.</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stakeholder asks you to skip a compliance step to hit the date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Refuse and escalate. Compliance stewardship is non-negotiable and is an ethical obligation under the Code of Conduct.</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organisation reorganises and your sponsor is replaced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Assess the impact on the project, then re-confirm the charter, authority and priorities with the new sponsor.</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approach, governance and value traps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are unclear and are expected to keep evolving</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Recommend an adaptive or hybrid approach with short feedback loops — not a longer, more detailed requirements phase.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sponsor asks why the project should continue after a market shift</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Re-examine the business value against the remaining investment and present the options, including terminating.</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team wants to drop retrospectives because they feel unproductive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Fix the retrospective, do not remove it — check whether actions are actually reaching the next sprint backlog.</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are told 'we are agile so we do not need documentation'</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Wrong. Agile values working product over comprehensive documentation; regulated projects still require compliance evidence.</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T1 · DEFINE AND ESTABLISH PROJECT GOVERNANCE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Where Business Environment sits in the July 2026 exam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3495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Business Environment is roughly 44 of the 170 scored questions — too many to treat as a side topic.</a:t>
            </a:r>
          </a:p>
        </p:txBody>
      </p:sp>
      <p:sp>
        <p:nvSpPr>
          <p:cNvPr id="11" name="Oval 10"/>
          <p:cNvSpPr/>
          <p:nvPr/>
        </p:nvSpPr>
        <p:spPr>
          <a:xfrm>
            <a:off x="8403336" y="300671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15271"/>
            <a:ext cx="2761488" cy="1011687"/>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Its eight tasks cover governance, compliance, change control, impediments, risk, improvement, org change and external change.</a:t>
            </a:r>
          </a:p>
        </p:txBody>
      </p:sp>
      <p:sp>
        <p:nvSpPr>
          <p:cNvPr id="13" name="Oval 12"/>
          <p:cNvSpPr/>
          <p:nvPr/>
        </p:nvSpPr>
        <p:spPr>
          <a:xfrm>
            <a:off x="8403336" y="4062806"/>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971366"/>
            <a:ext cx="2761488" cy="83495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This topic delivers T1, T2, T7 and T8; the remaining tasks appear in Topics 5 and 6 of this course.</a:t>
            </a:r>
          </a:p>
        </p:txBody>
      </p:sp>
      <p:sp>
        <p:nvSpPr>
          <p:cNvPr id="15" name="Oval 14"/>
          <p:cNvSpPr/>
          <p:nvPr/>
        </p:nvSpPr>
        <p:spPr>
          <a:xfrm>
            <a:off x="8403336" y="4942166"/>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50726"/>
            <a:ext cx="2761488" cy="83495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About 40% of the exam is predictive and 60% adaptive or hybrid, so answer in the context each scenario states.</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1 recap — Business Environment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 project is temporary and unique</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It delivers change and business value, and ends when objectives are met or are shown to be unachievable.</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Triple constraint and tailoring</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Scope, time and cost are joined; tailor process, artifacts and methods to the context rather than applying a template.</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Two life cycles, five approaches</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The project life cycle is the phases; the development life cycle is predictive, iterative, incremental, agile or hybrid.</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Agile is incremental plus iterative</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Four Manifesto values and twelve principles; Scrum supplies the roles, events and artifacts most teams actually use.</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EEFs constrain, OPAs are reusable</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You conform to EEFs; you apply and then update OPAs — updating them is an explicit ECO obligation.</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Change needs individuals to change</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ADKAR gives five milestones — awareness, desire, knowledge, ability and reinforcement — to diagnose adoption failure.</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Governance sets thresholds</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Escalate outside tolerance with options; resolve inside tolerance with the team. Phase gates decide go, change, hold or kill.</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Compliance and sustainability are owned by you</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Classify requirements, analyse threats, evidence controls, and treat sustainability as both constraint and benefit.</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Value, not activity, defines success</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Prioritise by value, deliver incrementally, verify a benefits measurement system exists and read it.</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AI helps but never takes accountability</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Use it for estimation, risk detection and reporting under an explicit policy, with a human verifying every output.</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1</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01. PMP Exam Orientation and 35-PDU Study Plan</a:t>
            </a:r>
          </a:p>
        </p:txBody>
      </p:sp>
      <p:sp>
        <p:nvSpPr>
          <p:cNvPr id="10" name="TextBox 9"/>
          <p:cNvSpPr txBox="1"/>
          <p:nvPr/>
        </p:nvSpPr>
        <p:spPr>
          <a:xfrm>
            <a:off x="768096" y="2920079"/>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All domains · LO1 · 20 min in class + 25 min self-study</a:t>
            </a:r>
          </a:p>
          <a:p>
            <a:pPr algn="l">
              <a:lnSpc>
                <a:spcPct val="118000"/>
              </a:lnSpc>
              <a:spcAft>
                <a:spcPts val="400"/>
              </a:spcAft>
            </a:pPr>
            <a:r>
              <a:rPr sz="1150" b="0" i="0">
                <a:solidFill>
                  <a:srgbClr val="5B6372"/>
                </a:solidFill>
                <a:latin typeface="Arial"/>
              </a:rPr>
              <a:t>Produces: Personal study plan, Domain self-assessment</a:t>
            </a:r>
          </a:p>
        </p:txBody>
      </p:sp>
      <p:sp>
        <p:nvSpPr>
          <p:cNvPr id="11" name="Rounded Rectangle 10"/>
          <p:cNvSpPr/>
          <p:nvPr/>
        </p:nvSpPr>
        <p:spPr>
          <a:xfrm>
            <a:off x="621334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2060543"/>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2261711"/>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02. PESTLE and TECOP External Environment Scan</a:t>
            </a:r>
          </a:p>
        </p:txBody>
      </p:sp>
      <p:sp>
        <p:nvSpPr>
          <p:cNvPr id="16" name="TextBox 15"/>
          <p:cNvSpPr txBox="1"/>
          <p:nvPr/>
        </p:nvSpPr>
        <p:spPr>
          <a:xfrm>
            <a:off x="6414516" y="2920079"/>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T8 · LO1 · 20 min in class + 25 min self-study</a:t>
            </a:r>
          </a:p>
          <a:p>
            <a:pPr algn="l">
              <a:lnSpc>
                <a:spcPct val="118000"/>
              </a:lnSpc>
              <a:spcAft>
                <a:spcPts val="400"/>
              </a:spcAft>
            </a:pPr>
            <a:r>
              <a:rPr sz="1150" b="0" i="0">
                <a:solidFill>
                  <a:srgbClr val="5B6372"/>
                </a:solidFill>
                <a:latin typeface="Arial"/>
              </a:rPr>
              <a:t>Produces: PESTLE scan, TECOP risk themes</a:t>
            </a:r>
          </a:p>
        </p:txBody>
      </p:sp>
      <p:sp>
        <p:nvSpPr>
          <p:cNvPr id="17" name="Rounded Rectangle 16"/>
          <p:cNvSpPr/>
          <p:nvPr/>
        </p:nvSpPr>
        <p:spPr>
          <a:xfrm>
            <a:off x="56692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80611"/>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2000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03. EEF/OPA Inventory with Governance and Escalation Thresholds</a:t>
            </a:r>
          </a:p>
        </p:txBody>
      </p:sp>
      <p:sp>
        <p:nvSpPr>
          <p:cNvPr id="22" name="TextBox 21"/>
          <p:cNvSpPr txBox="1"/>
          <p:nvPr/>
        </p:nvSpPr>
        <p:spPr>
          <a:xfrm>
            <a:off x="76809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T1 · LO1 · 20 min in class + 25 min self-study</a:t>
            </a:r>
          </a:p>
          <a:p>
            <a:pPr algn="l">
              <a:lnSpc>
                <a:spcPct val="118000"/>
              </a:lnSpc>
              <a:spcAft>
                <a:spcPts val="400"/>
              </a:spcAft>
            </a:pPr>
            <a:r>
              <a:rPr sz="1150" b="0" i="0">
                <a:solidFill>
                  <a:srgbClr val="5B6372"/>
                </a:solidFill>
                <a:latin typeface="Arial"/>
              </a:rPr>
              <a:t>Produces: EEF/OPA inventory, Escalation threshold table</a:t>
            </a:r>
          </a:p>
        </p:txBody>
      </p:sp>
      <p:sp>
        <p:nvSpPr>
          <p:cNvPr id="23" name="Rounded Rectangle 22"/>
          <p:cNvSpPr/>
          <p:nvPr/>
        </p:nvSpPr>
        <p:spPr>
          <a:xfrm>
            <a:off x="621334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980611"/>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04. Compliance, Sustainability and AI Governance Register</a:t>
            </a:r>
          </a:p>
        </p:txBody>
      </p:sp>
      <p:sp>
        <p:nvSpPr>
          <p:cNvPr id="28" name="TextBox 27"/>
          <p:cNvSpPr txBox="1"/>
          <p:nvPr/>
        </p:nvSpPr>
        <p:spPr>
          <a:xfrm>
            <a:off x="641451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T2 · LO4 · 20 min in class + 25 min self-study</a:t>
            </a:r>
          </a:p>
          <a:p>
            <a:pPr algn="l">
              <a:lnSpc>
                <a:spcPct val="118000"/>
              </a:lnSpc>
              <a:spcAft>
                <a:spcPts val="400"/>
              </a:spcAft>
            </a:pPr>
            <a:r>
              <a:rPr sz="1150" b="0" i="0">
                <a:solidFill>
                  <a:srgbClr val="5B6372"/>
                </a:solidFill>
                <a:latin typeface="Arial"/>
              </a:rPr>
              <a:t>Produces: Compliance register, AI governance controls</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01. PMP Exam Orientation and 35-PDU Study Plan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All domains · LO1. Produces Personal study plan, Domain self-assessment.</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your PMP eligibility route: degree plus 36 months leading projects, or diploma plus 60 months, and confirm the 35 contact hours this course supplies.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Score yourself 1-5 on each of the three ECO domains — People, Process and Business Environment — to expose where your knowledge is thinnest.</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Weight your available study hours by the exam percentages: Process 41%, People 33%, Business Environment 26%.</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Block an eight-week study calendar with named topics per week, not vague 'revision' entries.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Schedule three full 180-question mock exams into that calendar, spaced at weeks 4, 6 and 8.</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down your target exam date and work backwards to confirm the plan is actually achievable.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Personal study plan, Domain self-assessment</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02. PESTLE and TECOP External Environment Scan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T8 · LO1. Produces PESTLE scan, TECOP risk themes.</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the Contoso project's external drivers under each PESTLE heading: political, economic, socio-cultural, technological, legal, environmental.</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Mind Mapping tool and branch each PESTLE factor into the specific effect it has on the training portal project.</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Repeat the scan using TECOP — technical, environmental, commercial, operational, political — and note which factors only TECOP surfaced.</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Rate every factor for likelihood and impact on a 1-5 scale, then rank them.</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the three factors most likely to force a scope or schedule change.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a one-paragraph environmental summary suitable for the project charter's assumptions and constraints section.</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PESTLE scan, TECOP risk themes</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Mind Mapping</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alfredang.github.io/mindmapping/</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03. EEF/OPA Inventory with Governance and Escalation Thresholds</a:t>
            </a:r>
          </a:p>
        </p:txBody>
      </p:sp>
      <p:sp>
        <p:nvSpPr>
          <p:cNvPr id="4" name="Rectangle 3"/>
          <p:cNvSpPr/>
          <p:nvPr/>
        </p:nvSpPr>
        <p:spPr>
          <a:xfrm>
            <a:off x="566928" y="1676095"/>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05279"/>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T1 · LO1. Produces EEF/OPA inventory, Escalation threshold table.</a:t>
            </a:r>
          </a:p>
        </p:txBody>
      </p:sp>
      <p:sp>
        <p:nvSpPr>
          <p:cNvPr id="8" name="Rounded Rectangle 7"/>
          <p:cNvSpPr/>
          <p:nvPr/>
        </p:nvSpPr>
        <p:spPr>
          <a:xfrm>
            <a:off x="9692640" y="2041855"/>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133295"/>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809951"/>
            <a:ext cx="50292" cy="67878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947111"/>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883103"/>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Inventory the enterprise environmental factors constraining Contoso: existing systems, culture, staff capability, market and regulation.</a:t>
            </a:r>
          </a:p>
        </p:txBody>
      </p:sp>
      <p:sp>
        <p:nvSpPr>
          <p:cNvPr id="15" name="Rounded Rectangle 14"/>
          <p:cNvSpPr/>
          <p:nvPr/>
        </p:nvSpPr>
        <p:spPr>
          <a:xfrm>
            <a:off x="621334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809951"/>
            <a:ext cx="50292" cy="67878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947111"/>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883103"/>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Inventory the organisational process assets available to reuse: templates, historical data, procurement rules, lessons learned.</a:t>
            </a:r>
          </a:p>
        </p:txBody>
      </p:sp>
      <p:sp>
        <p:nvSpPr>
          <p:cNvPr id="20" name="Rounded Rectangle 19"/>
          <p:cNvSpPr/>
          <p:nvPr/>
        </p:nvSpPr>
        <p:spPr>
          <a:xfrm>
            <a:off x="56692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98468"/>
            <a:ext cx="50292" cy="67878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7356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671620"/>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Classify each item explicitly as EEF or OPA and justify the classification in one line — this is a heavily examined distinction.</a:t>
            </a:r>
          </a:p>
        </p:txBody>
      </p:sp>
      <p:sp>
        <p:nvSpPr>
          <p:cNvPr id="25" name="Rounded Rectangle 24"/>
          <p:cNvSpPr/>
          <p:nvPr/>
        </p:nvSpPr>
        <p:spPr>
          <a:xfrm>
            <a:off x="621334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598468"/>
            <a:ext cx="50292" cy="67878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73562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671620"/>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Define the governance structure: who sponsors, who sits on the steering committee, and what the project manager may decide alone.</a:t>
            </a:r>
          </a:p>
        </p:txBody>
      </p:sp>
      <p:sp>
        <p:nvSpPr>
          <p:cNvPr id="30" name="Rounded Rectangle 29"/>
          <p:cNvSpPr/>
          <p:nvPr/>
        </p:nvSpPr>
        <p:spPr>
          <a:xfrm>
            <a:off x="56692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86986"/>
            <a:ext cx="50292" cy="67878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52414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460138"/>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Set numeric escalation thresholds for cost variance, schedule slip and risk severity, stating what triggers escalation to whom.</a:t>
            </a:r>
          </a:p>
        </p:txBody>
      </p:sp>
      <p:sp>
        <p:nvSpPr>
          <p:cNvPr id="35" name="Rounded Rectangle 34"/>
          <p:cNvSpPr/>
          <p:nvPr/>
        </p:nvSpPr>
        <p:spPr>
          <a:xfrm>
            <a:off x="621334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386986"/>
            <a:ext cx="50292" cy="678789"/>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52414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460138"/>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Define the phase gates and the go / no-go criteria applied at each.</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EEF/OPA inventory, Escalation threshold table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04. Compliance, Sustainability and AI Governance Register</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T2 · LO4. Produces Compliance register, AI governance controls.</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every compliance requirement touching the portal: data protection, accessibility, financial audit, and workplace health and safety.</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Classify each requirement into a compliance category and name its owner inside the organisation.</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Assess the consequence of non-compliance for each — financial penalty, reputational damage, or inability to launch.</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Add sustainability requirements: energy use of the hosting platform, e-waste from decommissioned hardware, and supplier sustainability criteria.</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Register the AI governance controls: where AI is used in the project, what data it consumes, and how its output is reviewed before acting on it.</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how compliance will be MEASURED, not merely asserted — the 2026 outline expects a metric.</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Compliance register, AI governance controls</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F5F1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7C3AED"/>
                </a:solidFill>
                <a:latin typeface="Arial"/>
              </a:rPr>
              <a:t>02</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7C3AED"/>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Start the Project</a:t>
            </a:r>
          </a:p>
        </p:txBody>
      </p:sp>
      <p:sp>
        <p:nvSpPr>
          <p:cNvPr id="7" name="TextBox 6"/>
          <p:cNvSpPr txBox="1"/>
          <p:nvPr/>
        </p:nvSpPr>
        <p:spPr>
          <a:xfrm>
            <a:off x="4709160" y="1481328"/>
            <a:ext cx="6858000" cy="795528"/>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Turning an idea into an authorised project: the business case that justifies it, the charter that authorises it, the stakeholders who judge it, and the team that will build it.</a:t>
            </a:r>
          </a:p>
        </p:txBody>
      </p:sp>
      <p:sp>
        <p:nvSpPr>
          <p:cNvPr id="8" name="Oval 7"/>
          <p:cNvSpPr/>
          <p:nvPr/>
        </p:nvSpPr>
        <p:spPr>
          <a:xfrm>
            <a:off x="4709160" y="267004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69748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265176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Project integration and the Develop Project Charter process</a:t>
            </a:r>
          </a:p>
        </p:txBody>
      </p:sp>
      <p:sp>
        <p:nvSpPr>
          <p:cNvPr id="11" name="Oval 10"/>
          <p:cNvSpPr/>
          <p:nvPr/>
        </p:nvSpPr>
        <p:spPr>
          <a:xfrm>
            <a:off x="4709160" y="3182112"/>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20954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16382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Business value, business case, cost-benefit and benefits management</a:t>
            </a:r>
          </a:p>
        </p:txBody>
      </p:sp>
      <p:sp>
        <p:nvSpPr>
          <p:cNvPr id="14" name="Oval 13"/>
          <p:cNvSpPr/>
          <p:nvPr/>
        </p:nvSpPr>
        <p:spPr>
          <a:xfrm>
            <a:off x="4709160" y="3694176"/>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72160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367588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Identify, analyse and prioritise stakeholders</a:t>
            </a:r>
          </a:p>
        </p:txBody>
      </p:sp>
      <p:sp>
        <p:nvSpPr>
          <p:cNvPr id="17" name="Oval 16"/>
          <p:cNvSpPr/>
          <p:nvPr/>
        </p:nvSpPr>
        <p:spPr>
          <a:xfrm>
            <a:off x="4709160" y="4206240"/>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23367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18795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Align and manage stakeholder expectations (ECO 2026 People T5/T6)</a:t>
            </a:r>
          </a:p>
        </p:txBody>
      </p:sp>
      <p:sp>
        <p:nvSpPr>
          <p:cNvPr id="20" name="Oval 19"/>
          <p:cNvSpPr/>
          <p:nvPr/>
        </p:nvSpPr>
        <p:spPr>
          <a:xfrm>
            <a:off x="4709160" y="471830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74573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470001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Form the team, agree the team charter and kick off</a:t>
            </a:r>
          </a:p>
        </p:txBody>
      </p:sp>
      <p:sp>
        <p:nvSpPr>
          <p:cNvPr id="23" name="Oval 22"/>
          <p:cNvSpPr/>
          <p:nvPr/>
        </p:nvSpPr>
        <p:spPr>
          <a:xfrm>
            <a:off x="4709160" y="523036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25780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21208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Recommend the development approach for the integrated plan</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TOPIC 2 LEARNING OUTCOMES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You Will Be Able To Do After Topic 2</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Draft a project charter</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Write a charter that names the sponsor and PM, states measurable objectives, and authorises the PM to apply organisational resources.</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Justify a project financially</a:t>
            </a:r>
          </a:p>
        </p:txBody>
      </p:sp>
      <p:sp>
        <p:nvSpPr>
          <p:cNvPr id="16" name="TextBox 15"/>
          <p:cNvSpPr txBox="1"/>
          <p:nvPr/>
        </p:nvSpPr>
        <p:spPr>
          <a:xfrm>
            <a:off x="453237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a cost-benefit analysis and read payback, NPV, IRR, ROI and BCR well enough to defend the selection decision to a steering committee.</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every stakeholder</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an organisation breakdown structure and document analysis to find who is affected, then record them properly in a stakeholder register.</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Analyse and prioritise</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Apply power/interest and power/influence grids, the stakeholder cube and the salience model to decide who gets how much of your attention.</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Align expectations</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Facilitate discussions that surface conflicting expectations early and converge them onto one agreed set of project objectives.</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Start the team well</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Co-create a team charter, set ground rules and run a kick-off that leaves everyone sharing the same vision of success.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initiation deserves this much time</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Projects are not lost at the end.
They are lost at the start.</a:t>
            </a:r>
          </a:p>
        </p:txBody>
      </p:sp>
      <p:sp>
        <p:nvSpPr>
          <p:cNvPr id="6" name="Rectangle 5"/>
          <p:cNvSpPr/>
          <p:nvPr/>
        </p:nvSpPr>
        <p:spPr>
          <a:xfrm>
            <a:off x="566928" y="350215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Wrong problem</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project with no validated business case delivers perfectly against an objective nobody needed.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Wrong people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stakeholder discovered in month six brings requirements that should have shaped month one.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Wrong authority</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Without a signed charter the PM has responsibility without the power to apply resources.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Integration Management: The Unifying Discipline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integration is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work of identifying, defining, combining, unifying and coordinating the other knowledge areas so they behave as one system, not ten silos.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exists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schedule, cost, quality, resources, communications, risk and procurement all trade against each other; someone must own the trade-off.</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 owns it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Integration is the one area the project manager cannot delegate — it is the definition of the PM role in the PMBOK Guide.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through-line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researched business case, an approved charter and a well-planned project management plan tie every decision back to business value.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test of integration</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Change a date and you can immediately state the cost, scope, quality and risk consequence — that is an integrated project.</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failure mode</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Silo optimisation: each function hits its own target while the project as a whole misses the business outcome entirely.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Key Benefits of Project Integration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Strategic alignment</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deliverable can be traced upward to an organisational objective, so the project earns its funding rather than merely consuming it.</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 single decision point</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Competing demands from stakeholders arrive at one integrating role that can weigh them against the whole rather than a part.</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Coherent baselines</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schedule and cost baselines are built to be consistent with each other, so variance analysis measures reality rather than mismatch.</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Controlled change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Changes are assessed for their ripple effect across all knowledge areas before approval, not discovered downstream.</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Value assurance</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Business value is examined throughout the life cycle, so a project whose case has evaporated can be stopped honestly.</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Clean handover</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Integration carries the project through to transition, so benefits are actually realised by operations after the team disbands.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From Idea to Authorised Project: The Initiation Flow</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683648"/>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Need or opportunity</a:t>
            </a:r>
          </a:p>
        </p:txBody>
      </p:sp>
      <p:sp>
        <p:nvSpPr>
          <p:cNvPr id="8" name="TextBox 7"/>
          <p:cNvSpPr txBox="1"/>
          <p:nvPr/>
        </p:nvSpPr>
        <p:spPr>
          <a:xfrm>
            <a:off x="694944"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 market demand, regulation, technology shift or customer request creates pressure for change.</a:t>
            </a:r>
          </a:p>
        </p:txBody>
      </p:sp>
      <p:sp>
        <p:nvSpPr>
          <p:cNvPr id="9" name="Pentagon 8"/>
          <p:cNvSpPr/>
          <p:nvPr/>
        </p:nvSpPr>
        <p:spPr>
          <a:xfrm>
            <a:off x="2429256" y="1816455"/>
            <a:ext cx="1743456" cy="2683648"/>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Business case</a:t>
            </a:r>
          </a:p>
        </p:txBody>
      </p:sp>
      <p:sp>
        <p:nvSpPr>
          <p:cNvPr id="12" name="TextBox 11"/>
          <p:cNvSpPr txBox="1"/>
          <p:nvPr/>
        </p:nvSpPr>
        <p:spPr>
          <a:xfrm>
            <a:off x="2557272"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Economic feasibility is studied; costs, benefits and alternatives are documented for a decision.</a:t>
            </a:r>
          </a:p>
        </p:txBody>
      </p:sp>
      <p:sp>
        <p:nvSpPr>
          <p:cNvPr id="13" name="Pentagon 12"/>
          <p:cNvSpPr/>
          <p:nvPr/>
        </p:nvSpPr>
        <p:spPr>
          <a:xfrm>
            <a:off x="4291584" y="1816455"/>
            <a:ext cx="1743456" cy="2683648"/>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Selection decision</a:t>
            </a:r>
          </a:p>
        </p:txBody>
      </p:sp>
      <p:sp>
        <p:nvSpPr>
          <p:cNvPr id="16" name="TextBox 15"/>
          <p:cNvSpPr txBox="1"/>
          <p:nvPr/>
        </p:nvSpPr>
        <p:spPr>
          <a:xfrm>
            <a:off x="4419600"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Governance compares candidates using payback, NPV, IRR, ROI and strategic fit, then funds one.</a:t>
            </a:r>
          </a:p>
        </p:txBody>
      </p:sp>
      <p:sp>
        <p:nvSpPr>
          <p:cNvPr id="17" name="Pentagon 16"/>
          <p:cNvSpPr/>
          <p:nvPr/>
        </p:nvSpPr>
        <p:spPr>
          <a:xfrm>
            <a:off x="6153912" y="1816455"/>
            <a:ext cx="1743456" cy="2683648"/>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Charter developed</a:t>
            </a:r>
          </a:p>
        </p:txBody>
      </p:sp>
      <p:sp>
        <p:nvSpPr>
          <p:cNvPr id="20" name="TextBox 19"/>
          <p:cNvSpPr txBox="1"/>
          <p:nvPr/>
        </p:nvSpPr>
        <p:spPr>
          <a:xfrm>
            <a:off x="6281928"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sponsor issues a charter naming the PM and authorising resources against stated objectives.</a:t>
            </a:r>
          </a:p>
        </p:txBody>
      </p:sp>
      <p:sp>
        <p:nvSpPr>
          <p:cNvPr id="21" name="Pentagon 20"/>
          <p:cNvSpPr/>
          <p:nvPr/>
        </p:nvSpPr>
        <p:spPr>
          <a:xfrm>
            <a:off x="8016240" y="1816455"/>
            <a:ext cx="1743456" cy="2683648"/>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Stakeholders identified</a:t>
            </a:r>
          </a:p>
        </p:txBody>
      </p:sp>
      <p:sp>
        <p:nvSpPr>
          <p:cNvPr id="24" name="TextBox 23"/>
          <p:cNvSpPr txBox="1"/>
          <p:nvPr/>
        </p:nvSpPr>
        <p:spPr>
          <a:xfrm>
            <a:off x="8144256"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Everyone affected is found, analysed and recorded before planning assumptions harden.</a:t>
            </a:r>
          </a:p>
        </p:txBody>
      </p:sp>
      <p:sp>
        <p:nvSpPr>
          <p:cNvPr id="25" name="Rounded Rectangle 24"/>
          <p:cNvSpPr/>
          <p:nvPr/>
        </p:nvSpPr>
        <p:spPr>
          <a:xfrm>
            <a:off x="9878568" y="1816455"/>
            <a:ext cx="1743456" cy="2683648"/>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Kick-off</a:t>
            </a:r>
          </a:p>
        </p:txBody>
      </p:sp>
      <p:sp>
        <p:nvSpPr>
          <p:cNvPr id="28" name="TextBox 27"/>
          <p:cNvSpPr txBox="1"/>
          <p:nvPr/>
        </p:nvSpPr>
        <p:spPr>
          <a:xfrm>
            <a:off x="10006584" y="2788918"/>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Team and stakeholders align on vision, roles and approach, and planning begins in earnest.</a:t>
            </a:r>
          </a:p>
        </p:txBody>
      </p:sp>
      <p:sp>
        <p:nvSpPr>
          <p:cNvPr id="29" name="Rounded Rectangle 28"/>
          <p:cNvSpPr/>
          <p:nvPr/>
        </p:nvSpPr>
        <p:spPr>
          <a:xfrm>
            <a:off x="566928" y="4719559"/>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19559"/>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810999"/>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Exam cue: the charter is an OUTPUT of initiating, not of planning. Nothing in the project management plan may be baselined before the charter authorises the project to exist.</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 Project Charter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to produce a document that formally authorises the existence of the project and gives the project manager authority to apply organisational resources to project activities.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Business documents (business case, benefits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(contracts, MOUs, SLAs, letters of intent)</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(market, standards, culture)</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(templates, historical data, policies)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(strategy, industry, technical, legal)</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brainstorming, focus groups, interviews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facilitation</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notably the charter workshop with sponsor and key stakeholders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the authorising document</a:t>
            </a:r>
          </a:p>
        </p:txBody>
      </p:sp>
      <p:sp>
        <p:nvSpPr>
          <p:cNvPr id="37" name="Oval 36"/>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Assumption log — assumptions and constraints captured from day one</a:t>
            </a:r>
          </a:p>
        </p:txBody>
      </p:sp>
      <p:sp>
        <p:nvSpPr>
          <p:cNvPr id="39" name="Oval 38"/>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charter feeds every subsequent planning process)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Project Charter Actually Does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Authorises the project</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is the formal statement that this project exists and may consume organisational resources — issued by a sponsor senior enough to fund it.</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Empowers the project manager</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names the PM and states their authority level, converting a job title into the right to direct people, spend money and make decisions.</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Defines rationale and need</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records why the organisation is doing this, so the reasoning survives sponsor turnover and mid-project pressure to change direction.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Verifies strategic alignment</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links the project explicitly to strategic goals, which is what makes the funding defensible at portfolio review.</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Sets the shared vision</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gives every stakeholder one short reference for what success looks like, supporting ECO People T1 — develop a common vision.</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Anchors change control</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Later change requests are assessed against charter objectives; a change that breaks the charter needs sponsor, not PM, approval.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Is Included in the Project Charter</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803904"/>
        </p:xfrm>
        <a:graphic>
          <a:graphicData uri="http://schemas.openxmlformats.org/drawingml/2006/table">
            <a:tbl>
              <a:tblPr firstRow="1" bandRow="1">
                <a:tableStyleId>{5C22544A-7EE6-4342-B048-85BDC9FD1C3A}</a:tableStyleId>
              </a:tblPr>
              <a:tblGrid>
                <a:gridCol w="2211019"/>
                <a:gridCol w="4422038"/>
                <a:gridCol w="4422038"/>
              </a:tblGrid>
              <a:tr h="475488">
                <a:tc>
                  <a:txBody>
                    <a:bodyPr wrap="square" anchor="t"/>
                    <a:lstStyle/>
                    <a:p>
                      <a:pPr algn="l">
                        <a:lnSpc>
                          <a:spcPct val="100000"/>
                        </a:lnSpc>
                        <a:spcAft>
                          <a:spcPts val="0"/>
                        </a:spcAft>
                      </a:pPr>
                      <a:r>
                        <a:rPr sz="1150" b="1" i="0">
                          <a:solidFill>
                            <a:srgbClr val="FFFFFF"/>
                          </a:solidFill>
                          <a:latin typeface="Arial"/>
                        </a:rPr>
                        <a:t>Charter element</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goes in it</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Why it matters</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Names and roles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Project sponsor, project manager, key stakeholders and their authority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Removes ambiguity about who decides and who must be consulted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Project description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High-level product description plus preliminary requirements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Bounds the solution space before detailed requirements work</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Measurable objectives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Objectives with success criteria that can be objectively tested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Makes acceptance at closure a measurement, not an argument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Business need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problem or opportunity, plus financial goals or milestones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Preserves the 'why' when the 'what' comes under pressure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Summary schedule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High-level milestones and any externally imposed dates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Signals feasibility and exposes immovable constraints early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Assumptions and constraints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Boundaries, overall project risk, approval requirements, approved budget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Seeds the assumption log and the initial risk register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Exit criteria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Success criteria and the conditions under which the project is stopped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Makes cancelling a failing project a planned option, not a failure</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a Charter Gets Approved</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Draft with the sponsor</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PM facilitates; the sponsor owns the content and the authority behind it.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Validate with stakeholders</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Key stakeholders confirm objectives and success criteria are the ones they will be judged on.</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Governance review</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Portfolio or steering body confirms strategic fit, funding and priority against other work.</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Sponsor signs</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Signature converts a proposal into an authorisation, releasing budget and named resources.</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Publish and socialise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charter is communicated widely so the vision is shared, not filed in a drawer.</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project manager does not approve their own charter. If an exam option has the PM signing off the charter, it is wrong — the sponsor or initiating authority signs.</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Business Value: The Six Reasons Organisations Fund Projects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23603"/>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62360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4305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7963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82477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Financial gain</a:t>
            </a:r>
          </a:p>
        </p:txBody>
      </p:sp>
      <p:sp>
        <p:nvSpPr>
          <p:cNvPr id="10" name="TextBox 9"/>
          <p:cNvSpPr txBox="1"/>
          <p:nvPr/>
        </p:nvSpPr>
        <p:spPr>
          <a:xfrm>
            <a:off x="768096" y="2245395"/>
            <a:ext cx="3124200" cy="136945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Direct revenue increase or cost reduction, usually the easiest form of value to quantify and therefore the easiest to defend.</a:t>
            </a:r>
          </a:p>
        </p:txBody>
      </p:sp>
      <p:sp>
        <p:nvSpPr>
          <p:cNvPr id="11" name="Rounded Rectangle 10"/>
          <p:cNvSpPr/>
          <p:nvPr/>
        </p:nvSpPr>
        <p:spPr>
          <a:xfrm>
            <a:off x="4331208" y="1623603"/>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62360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4305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7963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82477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customers</a:t>
            </a:r>
          </a:p>
        </p:txBody>
      </p:sp>
      <p:sp>
        <p:nvSpPr>
          <p:cNvPr id="16" name="TextBox 15"/>
          <p:cNvSpPr txBox="1"/>
          <p:nvPr/>
        </p:nvSpPr>
        <p:spPr>
          <a:xfrm>
            <a:off x="4532376" y="2245395"/>
            <a:ext cx="3124200" cy="136945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Access to a new segment, geography or channel, where the value is in the lifetime revenue of the relationship rather than the first sale.</a:t>
            </a:r>
          </a:p>
        </p:txBody>
      </p:sp>
      <p:sp>
        <p:nvSpPr>
          <p:cNvPr id="17" name="Rounded Rectangle 16"/>
          <p:cNvSpPr/>
          <p:nvPr/>
        </p:nvSpPr>
        <p:spPr>
          <a:xfrm>
            <a:off x="8095488" y="1623603"/>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62360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4305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7963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82477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Social benefit</a:t>
            </a:r>
          </a:p>
        </p:txBody>
      </p:sp>
      <p:sp>
        <p:nvSpPr>
          <p:cNvPr id="22" name="TextBox 21"/>
          <p:cNvSpPr txBox="1"/>
          <p:nvPr/>
        </p:nvSpPr>
        <p:spPr>
          <a:xfrm>
            <a:off x="8296656" y="2245395"/>
            <a:ext cx="3124200" cy="136945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Community, environmental or sustainability outcomes that build licence to operate — increasingly explicit in ECO 2026 sustainability language.</a:t>
            </a:r>
          </a:p>
        </p:txBody>
      </p:sp>
      <p:sp>
        <p:nvSpPr>
          <p:cNvPr id="23" name="Rounded Rectangle 22"/>
          <p:cNvSpPr/>
          <p:nvPr/>
        </p:nvSpPr>
        <p:spPr>
          <a:xfrm>
            <a:off x="566928" y="3980611"/>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First to market</a:t>
            </a:r>
          </a:p>
        </p:txBody>
      </p:sp>
      <p:sp>
        <p:nvSpPr>
          <p:cNvPr id="28" name="TextBox 27"/>
          <p:cNvSpPr txBox="1"/>
          <p:nvPr/>
        </p:nvSpPr>
        <p:spPr>
          <a:xfrm>
            <a:off x="768096" y="4602403"/>
            <a:ext cx="3124200" cy="136945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Speed itself is the value: capturing share, setting the standard or shaping customer expectations before competitors arrive.</a:t>
            </a:r>
          </a:p>
        </p:txBody>
      </p:sp>
      <p:sp>
        <p:nvSpPr>
          <p:cNvPr id="29" name="Rounded Rectangle 28"/>
          <p:cNvSpPr/>
          <p:nvPr/>
        </p:nvSpPr>
        <p:spPr>
          <a:xfrm>
            <a:off x="4331208" y="3980611"/>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Improvement</a:t>
            </a:r>
          </a:p>
        </p:txBody>
      </p:sp>
      <p:sp>
        <p:nvSpPr>
          <p:cNvPr id="34" name="TextBox 33"/>
          <p:cNvSpPr txBox="1"/>
          <p:nvPr/>
        </p:nvSpPr>
        <p:spPr>
          <a:xfrm>
            <a:off x="4532376" y="4602403"/>
            <a:ext cx="3124200" cy="136945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Technological or process uplift that raises capability, reduces cycle time or removes chronic defects in how work is done.</a:t>
            </a:r>
          </a:p>
        </p:txBody>
      </p:sp>
      <p:sp>
        <p:nvSpPr>
          <p:cNvPr id="35" name="Rounded Rectangle 34"/>
          <p:cNvSpPr/>
          <p:nvPr/>
        </p:nvSpPr>
        <p:spPr>
          <a:xfrm>
            <a:off x="8095488" y="3980611"/>
            <a:ext cx="3526536" cy="211926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Regularization</a:t>
            </a:r>
          </a:p>
        </p:txBody>
      </p:sp>
      <p:sp>
        <p:nvSpPr>
          <p:cNvPr id="40" name="TextBox 39"/>
          <p:cNvSpPr txBox="1"/>
          <p:nvPr/>
        </p:nvSpPr>
        <p:spPr>
          <a:xfrm>
            <a:off x="8296656" y="4602403"/>
            <a:ext cx="3124200" cy="136945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Alignment or compliance with standards and regulations, where the value is the avoided penalty, avoided shutdown or preserved certification.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Tangible vs Intangible Business Value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TANGIBLE VALUE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Countable, auditable, defensible in a business case</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Monetary assets and direct revenue from new sales</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Stockholder equity and improved market capitalisation</a:t>
            </a:r>
          </a:p>
        </p:txBody>
      </p:sp>
      <p:sp>
        <p:nvSpPr>
          <p:cNvPr id="13" name="Oval 12"/>
          <p:cNvSpPr/>
          <p:nvPr/>
        </p:nvSpPr>
        <p:spPr>
          <a:xfrm>
            <a:off x="786384"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Utility, fixtures, tools and physical assets acquired</a:t>
            </a:r>
          </a:p>
        </p:txBody>
      </p:sp>
      <p:sp>
        <p:nvSpPr>
          <p:cNvPr id="15" name="Oval 14"/>
          <p:cNvSpPr/>
          <p:nvPr/>
        </p:nvSpPr>
        <p:spPr>
          <a:xfrm>
            <a:off x="786384"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Market share expressed as a measurable percentage</a:t>
            </a:r>
          </a:p>
        </p:txBody>
      </p:sp>
      <p:sp>
        <p:nvSpPr>
          <p:cNvPr id="17" name="Oval 16"/>
          <p:cNvSpPr/>
          <p:nvPr/>
        </p:nvSpPr>
        <p:spPr>
          <a:xfrm>
            <a:off x="786384"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Cost avoidance and hard headcount or licence savings</a:t>
            </a:r>
          </a:p>
        </p:txBody>
      </p:sp>
      <p:sp>
        <p:nvSpPr>
          <p:cNvPr id="19" name="Oval 18"/>
          <p:cNvSpPr/>
          <p:nvPr/>
        </p:nvSpPr>
        <p:spPr>
          <a:xfrm>
            <a:off x="786384" y="40658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Measured cycle-time or defect-rate improvement</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INTANGIBLE VALUE</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Real but harder to measure — still must be tracked</a:t>
            </a:r>
          </a:p>
        </p:txBody>
      </p:sp>
      <p:sp>
        <p:nvSpPr>
          <p:cNvPr id="25" name="Oval 24"/>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Goodwill and brand recognition in the market</a:t>
            </a:r>
          </a:p>
        </p:txBody>
      </p:sp>
      <p:sp>
        <p:nvSpPr>
          <p:cNvPr id="27" name="Oval 26"/>
          <p:cNvSpPr/>
          <p:nvPr/>
        </p:nvSpPr>
        <p:spPr>
          <a:xfrm>
            <a:off x="6451092"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Public benefit, sustainability and community standing</a:t>
            </a:r>
          </a:p>
        </p:txBody>
      </p:sp>
      <p:sp>
        <p:nvSpPr>
          <p:cNvPr id="29" name="Oval 28"/>
          <p:cNvSpPr/>
          <p:nvPr/>
        </p:nvSpPr>
        <p:spPr>
          <a:xfrm>
            <a:off x="6451092"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Trademarks, patents and other intellectual property</a:t>
            </a:r>
          </a:p>
        </p:txBody>
      </p:sp>
      <p:sp>
        <p:nvSpPr>
          <p:cNvPr id="31" name="Oval 30"/>
          <p:cNvSpPr/>
          <p:nvPr/>
        </p:nvSpPr>
        <p:spPr>
          <a:xfrm>
            <a:off x="6451092"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Strategic alignment and organisational reputation</a:t>
            </a:r>
          </a:p>
        </p:txBody>
      </p:sp>
      <p:sp>
        <p:nvSpPr>
          <p:cNvPr id="33" name="Oval 32"/>
          <p:cNvSpPr/>
          <p:nvPr/>
        </p:nvSpPr>
        <p:spPr>
          <a:xfrm>
            <a:off x="6451092"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Employee capability, morale and retention</a:t>
            </a:r>
          </a:p>
        </p:txBody>
      </p:sp>
      <p:sp>
        <p:nvSpPr>
          <p:cNvPr id="35" name="Oval 34"/>
          <p:cNvSpPr/>
          <p:nvPr/>
        </p:nvSpPr>
        <p:spPr>
          <a:xfrm>
            <a:off x="6451092" y="40658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Customer satisfaction and loyalty</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count. ECO Process T3 asks you to identify value components WITH key stakeholders and to verify a measurement system exists — including for the intangibles.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Three Business Documents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9016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31210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31027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case</a:t>
            </a:r>
          </a:p>
        </p:txBody>
      </p:sp>
      <p:sp>
        <p:nvSpPr>
          <p:cNvPr id="10" name="TextBox 9"/>
          <p:cNvSpPr txBox="1"/>
          <p:nvPr/>
        </p:nvSpPr>
        <p:spPr>
          <a:xfrm>
            <a:off x="768096" y="3523411"/>
            <a:ext cx="3124200" cy="117043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documented economic feasibility study that justifies the investment and establishes the benefits the project work is expected to deliver.</a:t>
            </a:r>
          </a:p>
        </p:txBody>
      </p:sp>
      <p:sp>
        <p:nvSpPr>
          <p:cNvPr id="11" name="Rounded Rectangle 10"/>
          <p:cNvSpPr/>
          <p:nvPr/>
        </p:nvSpPr>
        <p:spPr>
          <a:xfrm>
            <a:off x="433120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9016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31210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31027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Cost-benefit analysis</a:t>
            </a:r>
          </a:p>
        </p:txBody>
      </p:sp>
      <p:sp>
        <p:nvSpPr>
          <p:cNvPr id="16" name="TextBox 15"/>
          <p:cNvSpPr txBox="1"/>
          <p:nvPr/>
        </p:nvSpPr>
        <p:spPr>
          <a:xfrm>
            <a:off x="4532376" y="3523411"/>
            <a:ext cx="3124200" cy="117043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quantitative core of the business case: all costs against all benefits over a defined horizon, used to compare candidate projects.</a:t>
            </a:r>
          </a:p>
        </p:txBody>
      </p:sp>
      <p:sp>
        <p:nvSpPr>
          <p:cNvPr id="17" name="Rounded Rectangle 16"/>
          <p:cNvSpPr/>
          <p:nvPr/>
        </p:nvSpPr>
        <p:spPr>
          <a:xfrm>
            <a:off x="8095488" y="2901619"/>
            <a:ext cx="3526536" cy="192024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9016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31210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31576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31027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management plan</a:t>
            </a:r>
          </a:p>
        </p:txBody>
      </p:sp>
      <p:sp>
        <p:nvSpPr>
          <p:cNvPr id="22" name="TextBox 21"/>
          <p:cNvSpPr txBox="1"/>
          <p:nvPr/>
        </p:nvSpPr>
        <p:spPr>
          <a:xfrm>
            <a:off x="8296656" y="3523411"/>
            <a:ext cx="3124200" cy="117043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benefits will be created, maximised and sustained after delivery, with owners, metrics and time frames for realisation.</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Business Documents: Who Owns Them and When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OWNED BY THE SPONSOR / ORGANISATION</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Created before the project — the PM is a consumer, not an author</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business case is developed by the sponsor or a business analyst</a:t>
            </a:r>
          </a:p>
        </p:txBody>
      </p:sp>
      <p:sp>
        <p:nvSpPr>
          <p:cNvPr id="11" name="Oval 10"/>
          <p:cNvSpPr/>
          <p:nvPr/>
        </p:nvSpPr>
        <p:spPr>
          <a:xfrm>
            <a:off x="786384" y="295945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benefits management plan is owned by a benefits owner</a:t>
            </a:r>
          </a:p>
        </p:txBody>
      </p:sp>
      <p:sp>
        <p:nvSpPr>
          <p:cNvPr id="13" name="Oval 12"/>
          <p:cNvSpPr/>
          <p:nvPr/>
        </p:nvSpPr>
        <p:spPr>
          <a:xfrm>
            <a:off x="786384" y="327949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Both predate the charter and are inputs to Develop Project Charter</a:t>
            </a:r>
          </a:p>
        </p:txBody>
      </p:sp>
      <p:sp>
        <p:nvSpPr>
          <p:cNvPr id="15" name="Oval 14"/>
          <p:cNvSpPr/>
          <p:nvPr/>
        </p:nvSpPr>
        <p:spPr>
          <a:xfrm>
            <a:off x="786384" y="377327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PM may recommend updates but does not unilaterally change them</a:t>
            </a:r>
          </a:p>
        </p:txBody>
      </p:sp>
      <p:sp>
        <p:nvSpPr>
          <p:cNvPr id="17" name="Oval 16"/>
          <p:cNvSpPr/>
          <p:nvPr/>
        </p:nvSpPr>
        <p:spPr>
          <a:xfrm>
            <a:off x="786384" y="4267047"/>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They are maintained beyond project closure into benefits realisation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USED BY THE PROJECT MANAGER</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Consumed continuously to keep the project honest about value</a:t>
            </a:r>
          </a:p>
        </p:txBody>
      </p:sp>
      <p:sp>
        <p:nvSpPr>
          <p:cNvPr id="23" name="Oval 22"/>
          <p:cNvSpPr/>
          <p:nvPr/>
        </p:nvSpPr>
        <p:spPr>
          <a:xfrm>
            <a:off x="6451092"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Source the charter's rationale, objectives and success criteria</a:t>
            </a:r>
          </a:p>
        </p:txBody>
      </p:sp>
      <p:sp>
        <p:nvSpPr>
          <p:cNvPr id="25" name="Oval 24"/>
          <p:cNvSpPr/>
          <p:nvPr/>
        </p:nvSpPr>
        <p:spPr>
          <a:xfrm>
            <a:off x="6451092" y="295945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Test every significant change request against continued value</a:t>
            </a:r>
          </a:p>
        </p:txBody>
      </p:sp>
      <p:sp>
        <p:nvSpPr>
          <p:cNvPr id="27" name="Oval 26"/>
          <p:cNvSpPr/>
          <p:nvPr/>
        </p:nvSpPr>
        <p:spPr>
          <a:xfrm>
            <a:off x="6451092" y="345323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Feed the value discussion at each phase gate or stage review</a:t>
            </a:r>
          </a:p>
        </p:txBody>
      </p:sp>
      <p:sp>
        <p:nvSpPr>
          <p:cNvPr id="29" name="Oval 28"/>
          <p:cNvSpPr/>
          <p:nvPr/>
        </p:nvSpPr>
        <p:spPr>
          <a:xfrm>
            <a:off x="6451092" y="377327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Trigger an escalation when the business case no longer holds</a:t>
            </a:r>
          </a:p>
        </p:txBody>
      </p:sp>
      <p:sp>
        <p:nvSpPr>
          <p:cNvPr id="31" name="Oval 30"/>
          <p:cNvSpPr/>
          <p:nvPr/>
        </p:nvSpPr>
        <p:spPr>
          <a:xfrm>
            <a:off x="6451092" y="409331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Provide the acceptance and exit criteria used at closure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'the business case no longer supports the project' means escalate to the sponsor for a stop/continue decision — not quietly re-plan.</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to Run a Cost-Benefit Analysis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703879"/>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Define the horizon</a:t>
            </a:r>
          </a:p>
        </p:txBody>
      </p:sp>
      <p:sp>
        <p:nvSpPr>
          <p:cNvPr id="8" name="TextBox 7"/>
          <p:cNvSpPr txBox="1"/>
          <p:nvPr/>
        </p:nvSpPr>
        <p:spPr>
          <a:xfrm>
            <a:off x="694944"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Fix the period over which costs and benefits will be counted, typically three to five years.</a:t>
            </a:r>
          </a:p>
        </p:txBody>
      </p:sp>
      <p:sp>
        <p:nvSpPr>
          <p:cNvPr id="9" name="Pentagon 8"/>
          <p:cNvSpPr/>
          <p:nvPr/>
        </p:nvSpPr>
        <p:spPr>
          <a:xfrm>
            <a:off x="2429256" y="1816455"/>
            <a:ext cx="1743456" cy="2703879"/>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Enumerate all costs</a:t>
            </a:r>
          </a:p>
        </p:txBody>
      </p:sp>
      <p:sp>
        <p:nvSpPr>
          <p:cNvPr id="12" name="TextBox 11"/>
          <p:cNvSpPr txBox="1"/>
          <p:nvPr/>
        </p:nvSpPr>
        <p:spPr>
          <a:xfrm>
            <a:off x="2557272"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Capital, implementation, licensing, training, change management and ongoing operating cost.</a:t>
            </a:r>
          </a:p>
        </p:txBody>
      </p:sp>
      <p:sp>
        <p:nvSpPr>
          <p:cNvPr id="13" name="Pentagon 12"/>
          <p:cNvSpPr/>
          <p:nvPr/>
        </p:nvSpPr>
        <p:spPr>
          <a:xfrm>
            <a:off x="4291584" y="1816455"/>
            <a:ext cx="1743456" cy="2703879"/>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Quantify benefits</a:t>
            </a:r>
          </a:p>
        </p:txBody>
      </p:sp>
      <p:sp>
        <p:nvSpPr>
          <p:cNvPr id="16" name="TextBox 15"/>
          <p:cNvSpPr txBox="1"/>
          <p:nvPr/>
        </p:nvSpPr>
        <p:spPr>
          <a:xfrm>
            <a:off x="4419600"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Revenue uplift, cost avoidance and quantified proxies for intangible benefits, per period.</a:t>
            </a:r>
          </a:p>
        </p:txBody>
      </p:sp>
      <p:sp>
        <p:nvSpPr>
          <p:cNvPr id="17" name="Pentagon 16"/>
          <p:cNvSpPr/>
          <p:nvPr/>
        </p:nvSpPr>
        <p:spPr>
          <a:xfrm>
            <a:off x="6153912" y="1816455"/>
            <a:ext cx="1743456" cy="2703879"/>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Discount to present value</a:t>
            </a:r>
          </a:p>
        </p:txBody>
      </p:sp>
      <p:sp>
        <p:nvSpPr>
          <p:cNvPr id="20" name="TextBox 19"/>
          <p:cNvSpPr txBox="1"/>
          <p:nvPr/>
        </p:nvSpPr>
        <p:spPr>
          <a:xfrm>
            <a:off x="6281928"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Apply the organisation's discount rate so future money is compared fairly with today's spend.</a:t>
            </a:r>
          </a:p>
        </p:txBody>
      </p:sp>
      <p:sp>
        <p:nvSpPr>
          <p:cNvPr id="21" name="Pentagon 20"/>
          <p:cNvSpPr/>
          <p:nvPr/>
        </p:nvSpPr>
        <p:spPr>
          <a:xfrm>
            <a:off x="8016240" y="1816455"/>
            <a:ext cx="1743456" cy="2703879"/>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Compute the metrics</a:t>
            </a:r>
          </a:p>
        </p:txBody>
      </p:sp>
      <p:sp>
        <p:nvSpPr>
          <p:cNvPr id="24" name="TextBox 23"/>
          <p:cNvSpPr txBox="1"/>
          <p:nvPr/>
        </p:nvSpPr>
        <p:spPr>
          <a:xfrm>
            <a:off x="8144256"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Payback period, NPV, IRR, ROI and benefit-cost ratio for the selection decision.</a:t>
            </a:r>
          </a:p>
        </p:txBody>
      </p:sp>
      <p:sp>
        <p:nvSpPr>
          <p:cNvPr id="25" name="Rounded Rectangle 24"/>
          <p:cNvSpPr/>
          <p:nvPr/>
        </p:nvSpPr>
        <p:spPr>
          <a:xfrm>
            <a:off x="9878568" y="1816455"/>
            <a:ext cx="1743456" cy="2703879"/>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Test sensitivity</a:t>
            </a:r>
          </a:p>
        </p:txBody>
      </p:sp>
      <p:sp>
        <p:nvSpPr>
          <p:cNvPr id="28" name="TextBox 27"/>
          <p:cNvSpPr txBox="1"/>
          <p:nvPr/>
        </p:nvSpPr>
        <p:spPr>
          <a:xfrm>
            <a:off x="10006584" y="2985057"/>
            <a:ext cx="1069848" cy="1462125"/>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Re-run with pessimistic assumptions to see how fragile the conclusion really is.</a:t>
            </a:r>
          </a:p>
        </p:txBody>
      </p:sp>
      <p:sp>
        <p:nvSpPr>
          <p:cNvPr id="29" name="Rounded Rectangle 28"/>
          <p:cNvSpPr/>
          <p:nvPr/>
        </p:nvSpPr>
        <p:spPr>
          <a:xfrm>
            <a:off x="566928" y="4739790"/>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39790"/>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831230"/>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Sunk costs are irrelevant to a go/no-go decision. Money already spent cannot be recovered by continuing; only future costs and future benefits belong in the analysis.</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Business Case as an Economic Feasibility Study</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Documented, not verbal</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is a written study that can be reviewed, challenged and audited — an enthusiastic sponsor's confidence is not a business case.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Establishes the benefits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states specifically what benefits the project work will produce, in units that can later be measured against reality.</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Basis for authorisation</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provides the justification on which further project activities are authorised — no case, no charter, no funding.</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Includes alternatives</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Do nothing, buy, build and partial-scope options are compared, so the chosen route is a decision rather than a default.</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States success criteria</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what 'it worked' will mean, which flows into charter objectives and eventually into acceptance at closure.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Is revisited, not filed</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Process T3 requires examining business value throughout the project, so the case is a live document across the life cycle.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Benefits Management Plan — Required Contents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803904"/>
        </p:xfrm>
        <a:graphic>
          <a:graphicData uri="http://schemas.openxmlformats.org/drawingml/2006/table">
            <a:tbl>
              <a:tblPr firstRow="1" bandRow="1">
                <a:tableStyleId>{5C22544A-7EE6-4342-B048-85BDC9FD1C3A}</a:tableStyleId>
              </a:tblPr>
              <a:tblGrid>
                <a:gridCol w="2211019"/>
                <a:gridCol w="4643140"/>
                <a:gridCol w="4200936"/>
              </a:tblGrid>
              <a:tr h="475488">
                <a:tc>
                  <a:txBody>
                    <a:bodyPr wrap="square" anchor="t"/>
                    <a:lstStyle/>
                    <a:p>
                      <a:pPr algn="l">
                        <a:lnSpc>
                          <a:spcPct val="100000"/>
                        </a:lnSpc>
                        <a:spcAft>
                          <a:spcPts val="0"/>
                        </a:spcAft>
                      </a:pPr>
                      <a:r>
                        <a:rPr sz="1150" b="1" i="0">
                          <a:solidFill>
                            <a:srgbClr val="FFFFFF"/>
                          </a:solidFill>
                          <a:latin typeface="Arial"/>
                        </a:rPr>
                        <a:t>Element</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it specifies</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Typical example</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Target benefits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value expected, expressed in measurable terms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Reduce order-processing cost by 18% per transaction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Strategic alignment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Which organisational objective the benefit serves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Supports the 'digital-first operations' strategic pillar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Time frame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When short-term and long-term benefits will be realised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40% at go-live, full run-rate 12 months post-transition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Benefits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accountable person who monitors and reports realisation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Head of Operations, named by the sponsor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Metrics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Direct and indirect measures used to demonstrate realisation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 per order, error rate, customer satisfaction score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Assumptions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Conditions that must hold for the benefits to appear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Volumes remain within +/-10% of forecast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Risks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Threats to benefit realisation, distinct from delivery risks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Operations does not adopt the new process after handover</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Benefits Owner: An Accountability Beyond Delivery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Works alongside the PM</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Partners with the project manager or team lead during delivery to ensure planned benefits are actively managed as they are delivered.</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Owns the transition</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Assists in transitioning the requested benefits to the receiving organisation so value is not lost at handover.</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Establishes measurement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Ensures measurement metrics and methods are established, baselined and monitored — you cannot claim a benefit you never measured.</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Reports realised value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Reports to management on the realised results of delivered benefits, often long after the project team has been released.</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 holds the role</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Typically a business analyst, the sponsor or an operations manager — a business-side role, not a project-side one.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 adaptive contexts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product owner is responsible for making sure the work reaps benefits for the organisation, prioritising the backlog by value.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Benefit Measurement Formulas You Must Recognise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Return on investment</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ROI = (Benefit − Cost) / Cost</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Expressed as a percentage. Bigger is better. Ignores the timing of cash flows entirely.</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Benefit-cost ratio</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BCR = Benefits / Costs</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Greater than 1.0 means benefits exceed costs. Bigger is better; used to rank competing proposals.</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Net present value</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NPV = Σ CFt / (1+r)^t − C0</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Today's value of all future cash flows minus the investment. Positive NPV means proceed; choose the highest.</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Payback period</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Payback = Cost / Annual net inflow</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How long until you recover the investment. Smaller is better; ignores everything after payback.</a:t>
            </a:r>
          </a:p>
        </p:txBody>
      </p:sp>
      <p:sp>
        <p:nvSpPr>
          <p:cNvPr id="29" name="Rounded Rectangle 28"/>
          <p:cNvSpPr/>
          <p:nvPr/>
        </p:nvSpPr>
        <p:spPr>
          <a:xfrm>
            <a:off x="566928" y="5596128"/>
            <a:ext cx="11055096" cy="603504"/>
          </a:xfrm>
          <a:prstGeom prst="roundRect">
            <a:avLst>
              <a:gd name="adj" fmla="val 10000"/>
            </a:avLst>
          </a:prstGeom>
          <a:solidFill>
            <a:srgbClr val="FCE8EC"/>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Rule of thumb for the exam: financial-return measures (NPV, IRR, ROI, BCR) are 'bigger is better'; time and cost measures (payback period, opportunity cost) are 'smaller is better'.</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Benefit Measurement Methods Compared</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328416"/>
        </p:xfrm>
        <a:graphic>
          <a:graphicData uri="http://schemas.openxmlformats.org/drawingml/2006/table">
            <a:tbl>
              <a:tblPr firstRow="1" bandRow="1">
                <a:tableStyleId>{5C22544A-7EE6-4342-B048-85BDC9FD1C3A}</a:tableStyleId>
              </a:tblPr>
              <a:tblGrid>
                <a:gridCol w="1879366"/>
                <a:gridCol w="3205977"/>
                <a:gridCol w="2653223"/>
                <a:gridCol w="3316528"/>
              </a:tblGrid>
              <a:tr h="475488">
                <a:tc>
                  <a:txBody>
                    <a:bodyPr wrap="square" anchor="t"/>
                    <a:lstStyle/>
                    <a:p>
                      <a:pPr algn="l">
                        <a:lnSpc>
                          <a:spcPct val="100000"/>
                        </a:lnSpc>
                        <a:spcAft>
                          <a:spcPts val="0"/>
                        </a:spcAft>
                      </a:pPr>
                      <a:r>
                        <a:rPr sz="1150" b="1" i="0">
                          <a:solidFill>
                            <a:srgbClr val="FFFFFF"/>
                          </a:solidFill>
                          <a:latin typeface="Arial"/>
                        </a:rPr>
                        <a:t>Method</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What it answers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Decision rule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Main weakness</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Payback period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How fast do we get our money back?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Choose the shortest duration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Ignores all cash flow after payback and the time value of money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Opportunity cost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What is the value of the option we gave up?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Choose the option with the smaller opportunity cost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Depends entirely on which alternative you compare against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Net present value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is this worth in today's dollars?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Choose the highest positive NPV</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Highly sensitive to the discount rate chosen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Internal rate of return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What effective interest rate does it earn?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Choose the highest IRR above the hurdle rate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Misleads when comparing projects of very different sizes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Return on investment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percentage return on money spent?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Choose the highest ROI</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Ignores timing, duration and risk of the cash flows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Benefit-cost ratio</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many dollars of benefit per dollar spent?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Choose the highest ratio, must exceed 1.0</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Sensitive to whether an item is classed as cost or negative benefit</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Payback Period: Cumulative Cash Flow of a $500k Project</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0B981"/>
                </a:solidFill>
                <a:latin typeface="Arial"/>
              </a:rPr>
              <a:t>WHAT IT TELLS YOU</a:t>
            </a:r>
          </a:p>
        </p:txBody>
      </p:sp>
      <p:sp>
        <p:nvSpPr>
          <p:cNvPr id="9" name="Oval 8"/>
          <p:cNvSpPr/>
          <p:nvPr/>
        </p:nvSpPr>
        <p:spPr>
          <a:xfrm>
            <a:off x="8403336" y="2127351"/>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Project A crosses zero during year 3 — payback is roughly 2.8 years, the shorter and therefore preferred payback.</a:t>
            </a:r>
          </a:p>
        </p:txBody>
      </p:sp>
      <p:sp>
        <p:nvSpPr>
          <p:cNvPr id="11" name="Oval 10"/>
          <p:cNvSpPr/>
          <p:nvPr/>
        </p:nvSpPr>
        <p:spPr>
          <a:xfrm>
            <a:off x="8403336" y="3050895"/>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Project B pays back later but ends higher, so a payback-only rule would reject the project with more total value.</a:t>
            </a:r>
          </a:p>
        </p:txBody>
      </p:sp>
      <p:sp>
        <p:nvSpPr>
          <p:cNvPr id="13" name="Oval 12"/>
          <p:cNvSpPr/>
          <p:nvPr/>
        </p:nvSpPr>
        <p:spPr>
          <a:xfrm>
            <a:off x="8403336" y="3974439"/>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This is exactly why payback is never used alone: pair it with NPV, which counts everything after the crossover point.</a:t>
            </a:r>
          </a:p>
        </p:txBody>
      </p:sp>
      <p:sp>
        <p:nvSpPr>
          <p:cNvPr id="15" name="Oval 14"/>
          <p:cNvSpPr/>
          <p:nvPr/>
        </p:nvSpPr>
        <p:spPr>
          <a:xfrm>
            <a:off x="8403336" y="4897983"/>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Shorter payback also means less exposure to forecast error, which matters most in volatile business environments.</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NPV of Four Competing Project Proposals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Proposal B has the highest NPV and is the correct selection on financial grounds alone.</a:t>
            </a:r>
          </a:p>
        </p:txBody>
      </p:sp>
      <p:sp>
        <p:nvSpPr>
          <p:cNvPr id="11" name="Oval 10"/>
          <p:cNvSpPr/>
          <p:nvPr/>
        </p:nvSpPr>
        <p:spPr>
          <a:xfrm>
            <a:off x="8403336" y="2872587"/>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Proposal C has a negative NPV — it destroys value and should not be funded regardless of how attractive it sounds.</a:t>
            </a:r>
          </a:p>
        </p:txBody>
      </p:sp>
      <p:sp>
        <p:nvSpPr>
          <p:cNvPr id="13" name="Oval 12"/>
          <p:cNvSpPr/>
          <p:nvPr/>
        </p:nvSpPr>
        <p:spPr>
          <a:xfrm>
            <a:off x="8403336" y="380527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NPV is additive across projects, which is why portfolios are built on NPV rather than on IRR or ROI percentages.</a:t>
            </a:r>
          </a:p>
        </p:txBody>
      </p:sp>
      <p:sp>
        <p:nvSpPr>
          <p:cNvPr id="15" name="Oval 14"/>
          <p:cNvSpPr/>
          <p:nvPr/>
        </p:nvSpPr>
        <p:spPr>
          <a:xfrm>
            <a:off x="8403336" y="473796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Financial ranking is only one input: strategic fit, risk and capacity can still override the highest NPV.</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Project Selection and Business Documents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Two projects, one has higher NPV and the other has shorter payback</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Choose the higher NPV — it accounts for the full value of every cash flow, not just the recovery point.</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large sum has already been spent and the project now looks unviable</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Ignore the sunk cost. Decide on future costs versus future benefits and escalate a stop recommendation to the sponsor.</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are asked who writes the business case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sponsor or business analyst — it exists before the project, and the PM is a consumer of it, not its author.</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stakeholder wants a change that breaks the charter objectives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Escalate to the sponsor. The PM cannot approve a change that invalidates the authorising document.</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Project Vision Statement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Created by the sponsor</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Written by the project sponsor or an executive, because vision requires the authority to commit the organisation to a direction.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Describes desired objectives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States clearly what the desired end state looks like, in language a non-specialist stakeholder can repeat accurately.</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Shows strategic alignment</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Makes explicit which organisational strategic goal this project advances, so the vision is anchored rather than aspirational.</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Referred to throughout</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Revisited at every major decision point to maintain alignment — a vision used once at kick-off is decoration.</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Kept current</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People T1 requires keeping the vision current: when the business environment shifts, the vision is updated, not ignored.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Root-cause the drift</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people act inconsistently with the vision, break the situation down to find the root cause of the misunderstanding rather than blaming.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PEOPLE T1 · DEVELOP A COMMON VISION</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ECO People Task 1 — Develop a Common Vision</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A vision only exists if the team
can state it without reading it.</a:t>
            </a:r>
          </a:p>
        </p:txBody>
      </p:sp>
      <p:sp>
        <p:nvSpPr>
          <p:cNvPr id="6" name="Rectangle 5"/>
          <p:cNvSpPr/>
          <p:nvPr/>
        </p:nvSpPr>
        <p:spPr>
          <a:xfrm>
            <a:off x="566928" y="3502152"/>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Help ensure it is shared</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Co-create the vision with key stakeholders so they own it rather than receive it.</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Promote it actively</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Repeat the vision at stand-ups, reviews and steering meetings until it becomes the team's default language.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Keep it current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Revalidate the vision whenever strategy, market or sponsorship changes; a stale vision misdirects everyone.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Predictive Charter vs Agile Team Charter</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PROJECT CHARTER</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Authorisation document, issued top-down by the sponsor</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Purpose: authorise the project and empower the PM</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Author: sponsor or initiating authority signs it</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Contains measurable objectives and approved budget</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Contains summary milestones and approval requirements</a:t>
            </a:r>
          </a:p>
        </p:txBody>
      </p:sp>
      <p:sp>
        <p:nvSpPr>
          <p:cNvPr id="17" name="Oval 16"/>
          <p:cNvSpPr/>
          <p:nvPr/>
        </p:nvSpPr>
        <p:spPr>
          <a:xfrm>
            <a:off x="786384"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Changes require formal sponsor approval</a:t>
            </a:r>
          </a:p>
        </p:txBody>
      </p:sp>
      <p:sp>
        <p:nvSpPr>
          <p:cNvPr id="19" name="Oval 18"/>
          <p:cNvSpPr/>
          <p:nvPr/>
        </p:nvSpPr>
        <p:spPr>
          <a:xfrm>
            <a:off x="786384" y="40658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Written once, referenced throughout the life cycle</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AGILE TEAM CHARTER</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Working agreement, created bottom-up by the team itself</a:t>
            </a:r>
          </a:p>
        </p:txBody>
      </p:sp>
      <p:sp>
        <p:nvSpPr>
          <p:cNvPr id="25" name="Oval 24"/>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Purpose: define how this team will work together</a:t>
            </a:r>
          </a:p>
        </p:txBody>
      </p:sp>
      <p:sp>
        <p:nvSpPr>
          <p:cNvPr id="27" name="Oval 26"/>
          <p:cNvSpPr/>
          <p:nvPr/>
        </p:nvSpPr>
        <p:spPr>
          <a:xfrm>
            <a:off x="6451092"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Author: the whole team, facilitated by the servant leader</a:t>
            </a:r>
          </a:p>
        </p:txBody>
      </p:sp>
      <p:sp>
        <p:nvSpPr>
          <p:cNvPr id="29" name="Oval 28"/>
          <p:cNvSpPr/>
          <p:nvPr/>
        </p:nvSpPr>
        <p:spPr>
          <a:xfrm>
            <a:off x="6451092"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Team vision or mission in the team's own words</a:t>
            </a:r>
          </a:p>
        </p:txBody>
      </p:sp>
      <p:sp>
        <p:nvSpPr>
          <p:cNvPr id="31" name="Oval 30"/>
          <p:cNvSpPr/>
          <p:nvPr/>
        </p:nvSpPr>
        <p:spPr>
          <a:xfrm>
            <a:off x="6451092"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Team roles, responsibilities and the stakeholders served</a:t>
            </a:r>
          </a:p>
        </p:txBody>
      </p:sp>
      <p:sp>
        <p:nvSpPr>
          <p:cNvPr id="33" name="Oval 32"/>
          <p:cNvSpPr/>
          <p:nvPr/>
        </p:nvSpPr>
        <p:spPr>
          <a:xfrm>
            <a:off x="6451092"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Team values and the ceremonies the team commits to</a:t>
            </a:r>
          </a:p>
        </p:txBody>
      </p:sp>
      <p:sp>
        <p:nvSpPr>
          <p:cNvPr id="35" name="Oval 34"/>
          <p:cNvSpPr/>
          <p:nvPr/>
        </p:nvSpPr>
        <p:spPr>
          <a:xfrm>
            <a:off x="6451092" y="40658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Revisited at retrospectives and amended as the team learns</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They are complements, not alternatives. A hybrid project commonly has both: a signed project charter for authority and a team charter for day-to-day working agreements.</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Choosing the Development Approach</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Adaptive / Agile</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Volatile requirements and unfamiliar technology. Deliver in short increments, inspect and adapt, expect the plan to change.</a:t>
            </a:r>
          </a:p>
        </p:txBody>
      </p:sp>
      <p:sp>
        <p:nvSpPr>
          <p:cNvPr id="8" name="Rounded Rectangle 7"/>
          <p:cNvSpPr/>
          <p:nvPr/>
        </p:nvSpPr>
        <p:spPr>
          <a:xfrm>
            <a:off x="4325112"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Iterative</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Technology is unfamiliar but the goal is clear. Prototype and refine the solution through repeated passes.</a:t>
            </a:r>
          </a:p>
        </p:txBody>
      </p:sp>
      <p:sp>
        <p:nvSpPr>
          <p:cNvPr id="11" name="Rounded Rectangle 10"/>
          <p:cNvSpPr/>
          <p:nvPr/>
        </p:nvSpPr>
        <p:spPr>
          <a:xfrm>
            <a:off x="2331720"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Incremental</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Technology is well understood but stakeholders need value early. Ship usable slices in sequence.</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Predictive / Waterfall</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Stable requirements and proven technology. Plan fully, baseline, and control change through a formal process.</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REQUIREMENTS STABILITY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high  ←  TECHNICAL UNCERTAINTY</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ECO Process T1 asks you to assess project needs, complexity and magnitude, then RECOMMEND an approach. The recommendation must be justified by the project's characteristics, not by fashion.</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06B6D4"/>
                </a:solidFill>
                <a:latin typeface="Arial"/>
              </a:rPr>
              <a:t>ECO PEOPLE T4 · ENGAGE STAKEHOLDERS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Stakeholder Definition</a:t>
            </a:r>
          </a:p>
        </p:txBody>
      </p:sp>
      <p:sp>
        <p:nvSpPr>
          <p:cNvPr id="5" name="TextBox 4"/>
          <p:cNvSpPr txBox="1"/>
          <p:nvPr/>
        </p:nvSpPr>
        <p:spPr>
          <a:xfrm>
            <a:off x="566928" y="1810512"/>
            <a:ext cx="10881360" cy="1357884"/>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A stakeholder is anyone affected —
or who believes they are affected —
by your project.</a:t>
            </a:r>
          </a:p>
        </p:txBody>
      </p:sp>
      <p:sp>
        <p:nvSpPr>
          <p:cNvPr id="6" name="Rectangle 5"/>
          <p:cNvSpPr/>
          <p:nvPr/>
        </p:nvSpPr>
        <p:spPr>
          <a:xfrm>
            <a:off x="566928" y="3351276"/>
            <a:ext cx="21945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Perception counts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Someone who merely believes they are affected can still block you, so they are a real stakeholder.</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The outcome we want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Productive relationships in which stakeholders actively support project objectives rather than merely tolerate them.</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The five-step cycle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Identify, analyse, prioritise and engage stakeholders — then monitor their engagement continuously.</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Stakeholder Engagement Cycle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3976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Identify</a:t>
            </a:r>
          </a:p>
        </p:txBody>
      </p:sp>
      <p:sp>
        <p:nvSpPr>
          <p:cNvPr id="8" name="TextBox 7"/>
          <p:cNvSpPr txBox="1"/>
          <p:nvPr/>
        </p:nvSpPr>
        <p:spPr>
          <a:xfrm>
            <a:off x="69494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Find everyone affected using the OBS, document analysis, contracts and expert judgement.</a:t>
            </a:r>
          </a:p>
        </p:txBody>
      </p:sp>
      <p:sp>
        <p:nvSpPr>
          <p:cNvPr id="9" name="Pentagon 8"/>
          <p:cNvSpPr/>
          <p:nvPr/>
        </p:nvSpPr>
        <p:spPr>
          <a:xfrm>
            <a:off x="2801721" y="1816455"/>
            <a:ext cx="2115921" cy="223976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Analyse</a:t>
            </a:r>
          </a:p>
        </p:txBody>
      </p:sp>
      <p:sp>
        <p:nvSpPr>
          <p:cNvPr id="12" name="TextBox 11"/>
          <p:cNvSpPr txBox="1"/>
          <p:nvPr/>
        </p:nvSpPr>
        <p:spPr>
          <a:xfrm>
            <a:off x="2929737"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Assess each stakeholder's power, interest, influence, attitude and expectations of the project.</a:t>
            </a:r>
          </a:p>
        </p:txBody>
      </p:sp>
      <p:sp>
        <p:nvSpPr>
          <p:cNvPr id="13" name="Pentagon 12"/>
          <p:cNvSpPr/>
          <p:nvPr/>
        </p:nvSpPr>
        <p:spPr>
          <a:xfrm>
            <a:off x="5036515" y="1816455"/>
            <a:ext cx="2115921" cy="223976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Prioritise</a:t>
            </a:r>
          </a:p>
        </p:txBody>
      </p:sp>
      <p:sp>
        <p:nvSpPr>
          <p:cNvPr id="16" name="TextBox 15"/>
          <p:cNvSpPr txBox="1"/>
          <p:nvPr/>
        </p:nvSpPr>
        <p:spPr>
          <a:xfrm>
            <a:off x="5164531"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Classify with grids, the cube or the salience model to decide where engagement effort goes.</a:t>
            </a:r>
          </a:p>
        </p:txBody>
      </p:sp>
      <p:sp>
        <p:nvSpPr>
          <p:cNvPr id="17" name="Pentagon 16"/>
          <p:cNvSpPr/>
          <p:nvPr/>
        </p:nvSpPr>
        <p:spPr>
          <a:xfrm>
            <a:off x="7271308" y="1816455"/>
            <a:ext cx="2115921" cy="223976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Engage</a:t>
            </a:r>
          </a:p>
        </p:txBody>
      </p:sp>
      <p:sp>
        <p:nvSpPr>
          <p:cNvPr id="20" name="TextBox 19"/>
          <p:cNvSpPr txBox="1"/>
          <p:nvPr/>
        </p:nvSpPr>
        <p:spPr>
          <a:xfrm>
            <a:off x="739932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Execute the stakeholder engagement plan with tailored communication and relationship building.</a:t>
            </a:r>
          </a:p>
        </p:txBody>
      </p:sp>
      <p:sp>
        <p:nvSpPr>
          <p:cNvPr id="21" name="Rounded Rectangle 20"/>
          <p:cNvSpPr/>
          <p:nvPr/>
        </p:nvSpPr>
        <p:spPr>
          <a:xfrm>
            <a:off x="9506102" y="1816455"/>
            <a:ext cx="2115921" cy="223976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Monitor</a:t>
            </a:r>
          </a:p>
        </p:txBody>
      </p:sp>
      <p:sp>
        <p:nvSpPr>
          <p:cNvPr id="24" name="TextBox 23"/>
          <p:cNvSpPr txBox="1"/>
          <p:nvPr/>
        </p:nvSpPr>
        <p:spPr>
          <a:xfrm>
            <a:off x="9634118"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Track actual versus desired engagement and adjust strategies as relationships shift.</a:t>
            </a:r>
          </a:p>
        </p:txBody>
      </p:sp>
      <p:sp>
        <p:nvSpPr>
          <p:cNvPr id="25" name="Rounded Rectangle 24"/>
          <p:cNvSpPr/>
          <p:nvPr/>
        </p:nvSpPr>
        <p:spPr>
          <a:xfrm>
            <a:off x="566928" y="427567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27567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6711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This cycle repeats. New stakeholders appear at every phase boundary, reorganisation and change of sponsor — identification is a continuous activity, not an initiating-phase task you complete once.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Identify Stakeholders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to identify project stakeholders and analyse and document relevant information about their interests, involvement, interdependencies, influence and potential impact on project success.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charter (names sponsor and key stakeholders)</a:t>
            </a:r>
          </a:p>
        </p:txBody>
      </p:sp>
      <p:sp>
        <p:nvSpPr>
          <p:cNvPr id="13" name="Oval 12"/>
          <p:cNvSpPr/>
          <p:nvPr/>
        </p:nvSpPr>
        <p:spPr>
          <a:xfrm>
            <a:off x="749808" y="347243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380993"/>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Business documents (business case, benefits management plan)</a:t>
            </a:r>
          </a:p>
        </p:txBody>
      </p:sp>
      <p:sp>
        <p:nvSpPr>
          <p:cNvPr id="15" name="Oval 14"/>
          <p:cNvSpPr/>
          <p:nvPr/>
        </p:nvSpPr>
        <p:spPr>
          <a:xfrm>
            <a:off x="749808" y="399455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03115"/>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management plan (communications and risk management plans)</a:t>
            </a:r>
          </a:p>
        </p:txBody>
      </p:sp>
      <p:sp>
        <p:nvSpPr>
          <p:cNvPr id="17" name="Oval 16"/>
          <p:cNvSpPr/>
          <p:nvPr/>
        </p:nvSpPr>
        <p:spPr>
          <a:xfrm>
            <a:off x="749808" y="451667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25237"/>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documents (change log, issue log, requirements documentation)</a:t>
            </a:r>
          </a:p>
        </p:txBody>
      </p:sp>
      <p:sp>
        <p:nvSpPr>
          <p:cNvPr id="19" name="Oval 18"/>
          <p:cNvSpPr/>
          <p:nvPr/>
        </p:nvSpPr>
        <p:spPr>
          <a:xfrm>
            <a:off x="749808" y="503879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947359"/>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Agreements — contracting parties are always stakeholders</a:t>
            </a:r>
          </a:p>
        </p:txBody>
      </p:sp>
      <p:sp>
        <p:nvSpPr>
          <p:cNvPr id="21" name="Oval 20"/>
          <p:cNvSpPr/>
          <p:nvPr/>
        </p:nvSpPr>
        <p:spPr>
          <a:xfrm>
            <a:off x="749808" y="556092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469481"/>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Enterprise environmental factors and organizational process assets</a:t>
            </a:r>
          </a:p>
        </p:txBody>
      </p:sp>
      <p:sp>
        <p:nvSpPr>
          <p:cNvPr id="23" name="Chevron 22"/>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7" name="Oval 26"/>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on organisational politics and industry context</a:t>
            </a:r>
          </a:p>
        </p:txBody>
      </p:sp>
      <p:sp>
        <p:nvSpPr>
          <p:cNvPr id="29" name="Oval 28"/>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questionnaires and surveys, brainstorming</a:t>
            </a:r>
          </a:p>
        </p:txBody>
      </p:sp>
      <p:sp>
        <p:nvSpPr>
          <p:cNvPr id="31" name="Oval 30"/>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stakeholder analysis, document analysis</a:t>
            </a:r>
          </a:p>
        </p:txBody>
      </p:sp>
      <p:sp>
        <p:nvSpPr>
          <p:cNvPr id="33" name="Oval 32"/>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stakeholder mapping and representation</a:t>
            </a:r>
          </a:p>
        </p:txBody>
      </p:sp>
      <p:sp>
        <p:nvSpPr>
          <p:cNvPr id="35" name="Oval 34"/>
          <p:cNvSpPr/>
          <p:nvPr/>
        </p:nvSpPr>
        <p:spPr>
          <a:xfrm>
            <a:off x="4593336" y="51156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0241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profile workshops with the sponsor and team</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Stakeholder register — the central artefact of this process</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(after the first pass)</a:t>
            </a:r>
          </a:p>
        </p:txBody>
      </p:sp>
      <p:sp>
        <p:nvSpPr>
          <p:cNvPr id="45" name="Oval 44"/>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7" name="Oval 46"/>
          <p:cNvSpPr/>
          <p:nvPr/>
        </p:nvSpPr>
        <p:spPr>
          <a:xfrm>
            <a:off x="8436864" y="415183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06039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updates (assumption log, issue log, risk register)</a:t>
            </a:r>
          </a:p>
        </p:txBody>
      </p:sp>
      <p:sp>
        <p:nvSpPr>
          <p:cNvPr id="49" name="TextBox 4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0" name="TextBox 4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1" name="TextBox 5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Identification in Practice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Start early, repeat often</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Identify and analyse engagement early and throughout the project — the cost of a missed stakeholder rises steeply with every planning decision.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the OBS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Walk the organisational breakdown structure top to bottom to find the initial population of internal stakeholders systematically.</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Mine the documents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Contracts, regulations, prior lessons learned and the business case each name parties who have a stake in the outcome.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Ask the stakeholders you have</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Snowball sampling: every stakeholder you interview can name two more you had not considered, especially external ones.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Look outward deliberately</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Regulators, unions, communities, suppliers and end users rarely appear on an internal org chart but can stop a project cold.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Record it, do not remember it</a:t>
            </a:r>
          </a:p>
        </p:txBody>
      </p:sp>
      <p:sp>
        <p:nvSpPr>
          <p:cNvPr id="40" name="TextBox 39"/>
          <p:cNvSpPr txBox="1"/>
          <p:nvPr/>
        </p:nvSpPr>
        <p:spPr>
          <a:xfrm>
            <a:off x="829665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Everything found goes into the stakeholder register so the knowledge survives handover and team changes.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Stakeholder Register — Fields and Purpose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279392"/>
        </p:xfrm>
        <a:graphic>
          <a:graphicData uri="http://schemas.openxmlformats.org/drawingml/2006/table">
            <a:tbl>
              <a:tblPr firstRow="1" bandRow="1">
                <a:tableStyleId>{5C22544A-7EE6-4342-B048-85BDC9FD1C3A}</a:tableStyleId>
              </a:tblPr>
              <a:tblGrid>
                <a:gridCol w="2211019"/>
                <a:gridCol w="4422038"/>
                <a:gridCol w="4422038"/>
              </a:tblGrid>
              <a:tr h="475488">
                <a:tc>
                  <a:txBody>
                    <a:bodyPr wrap="square" anchor="t"/>
                    <a:lstStyle/>
                    <a:p>
                      <a:pPr algn="l">
                        <a:lnSpc>
                          <a:spcPct val="100000"/>
                        </a:lnSpc>
                        <a:spcAft>
                          <a:spcPts val="0"/>
                        </a:spcAft>
                      </a:pPr>
                      <a:r>
                        <a:rPr sz="1150" b="1" i="0">
                          <a:solidFill>
                            <a:srgbClr val="FFFFFF"/>
                          </a:solidFill>
                          <a:latin typeface="Arial"/>
                        </a:rPr>
                        <a:t>Field</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you record</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Why you need it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Name and organisation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Identity, department, employer and contact details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Basic addressability — you cannot engage whom you cannot reach</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Role on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Sponsor, customer, end user, regulator, supplier, team member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Sets the default expectations and rights of that party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Power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Authority to grant, withhold or reverse decisions and resources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Determines how much of the PM's personal attention is warranted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Interest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much the stakeholder cares about the project outcome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Predicts how actively they will seek involvement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Influence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Ability to affect the project through others, formally or informally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Reveals people with little authority but high real effect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Expectations and needs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What this stakeholder believes success looks like for them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raw material for aligning expectations (ECO People T5)</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Communication requirements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Preferred content, format, channel, frequency and language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Drives the communications management plan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Attitude / classification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Unaware, resistant, neutral, supportive or leading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Feeds the stakeholder engagement assessment matrix</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Typical Project Stakeholders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End users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people who will actually operate the product daily; their adoption decides whether benefits are realised or the system is worked around.</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Customers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Those who acquire or pay for the product — sometimes but not always the same people as the end users, a distinction worth making explicit.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Employees and the team</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Those doing the work and those whose jobs change because of it; both populations need engagement, not just the project team.</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Sponsors and managers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sponsor funds and champions; functional managers control the resources you must borrow and can quietly withdraw them.</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Business partners and suppliers</a:t>
            </a:r>
          </a:p>
        </p:txBody>
      </p:sp>
      <p:sp>
        <p:nvSpPr>
          <p:cNvPr id="34" name="TextBox 33"/>
          <p:cNvSpPr txBox="1"/>
          <p:nvPr/>
        </p:nvSpPr>
        <p:spPr>
          <a:xfrm>
            <a:off x="453237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Contractors, vendors and integrators whose commitments become your constraints and whose performance becomes your risk.</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Government and community</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Regulators, standards bodies and affected communities who cannot be negotiated with but must be satisfied.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Organisation Breakdown Structure as an Identification Tool</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an OBS is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hierarchical decomposition of the organisation by department and reporting line, mirroring how the WBS decomposes the work.</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works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Walking it forces a systematic sweep of every function rather than listing the stakeholders who happen to be top of mind.</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Map work to units</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Cross the OBS against the WBS to see which organisational unit owns each work package — those owners are stakeholders by definition.</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Find the silent affected</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Departments that receive the output but do no project work — finance, legal, support — surface only through this sweep.</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Its blind spot</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OBS only shows internal parties; regulators, customers and community groups must be found by other means.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it alive</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Reorganisations change the OBS mid-project, which is a trigger to re-run stakeholder identification.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and Communications Artefacts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2653223"/>
                <a:gridCol w="4422038"/>
                <a:gridCol w="3979834"/>
              </a:tblGrid>
              <a:tr h="475488">
                <a:tc>
                  <a:txBody>
                    <a:bodyPr wrap="square" anchor="t"/>
                    <a:lstStyle/>
                    <a:p>
                      <a:pPr algn="l">
                        <a:lnSpc>
                          <a:spcPct val="100000"/>
                        </a:lnSpc>
                        <a:spcAft>
                          <a:spcPts val="0"/>
                        </a:spcAft>
                      </a:pPr>
                      <a:r>
                        <a:rPr sz="1150" b="1" i="0">
                          <a:solidFill>
                            <a:srgbClr val="FFFFFF"/>
                          </a:solidFill>
                          <a:latin typeface="Arial"/>
                        </a:rPr>
                        <a:t>Artefact</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What it holds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When it is used</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Stakeholder register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Identity, role, power, interest, influence, expectations, attitude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Created in Identify Stakeholders; updated continuously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Stakeholder engagement plan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Strategies and actions to move each stakeholder to the desired level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Part of the project management plan; drives daily engagement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Communications management plan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Who receives what information, in what format, how often, by whom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Executed throughout; the operational half of engagement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Stakeholder engagement assessment matrix (SEAM)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Current (C) versus desired (D) engagement per stakeholder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Reviewed in Monitor Stakeholder Engagement to target effort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Assessment grids and models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Power/interest, power/influence, impact/influence, cube, salience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Used during analysis to prioritise and classify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Issue log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Stakeholder-raised issues, owners and resolution status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Continuous — unresolved issues erode engagement fast</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Assess Stakeholders: Data Gathering and Data Analysis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DATA GATHERING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Collecting raw information about stakeholders</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Questionnaires and surveys reach large, dispersed populations cheaply</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Surveys work well for end-user expectations across many sites</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Brainstorming with the team surfaces stakeholders nobody listed</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Brainwriting lets quieter contributors add names without pressure</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Interviews go deep with high-power individuals</a:t>
            </a:r>
          </a:p>
        </p:txBody>
      </p:sp>
      <p:sp>
        <p:nvSpPr>
          <p:cNvPr id="19" name="Oval 18"/>
          <p:cNvSpPr/>
          <p:nvPr/>
        </p:nvSpPr>
        <p:spPr>
          <a:xfrm>
            <a:off x="786384" y="476082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66023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Focus groups expose disagreements between stakeholder groups</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DATA ANALYSIS</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Turning raw information into engagement decisions</a:t>
            </a:r>
          </a:p>
        </p:txBody>
      </p:sp>
      <p:sp>
        <p:nvSpPr>
          <p:cNvPr id="25" name="Oval 24"/>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Stakeholder analysis produces a list of interests and their weight</a:t>
            </a:r>
          </a:p>
        </p:txBody>
      </p:sp>
      <p:sp>
        <p:nvSpPr>
          <p:cNvPr id="27" name="Oval 26"/>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It classifies each party by power, interest, influence and attitude</a:t>
            </a:r>
          </a:p>
        </p:txBody>
      </p:sp>
      <p:sp>
        <p:nvSpPr>
          <p:cNvPr id="29" name="Oval 28"/>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Document analysis mines charters, contracts and lessons learned</a:t>
            </a:r>
          </a:p>
        </p:txBody>
      </p:sp>
      <p:sp>
        <p:nvSpPr>
          <p:cNvPr id="31" name="Oval 30"/>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4642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Root-cause analysis explains WHY a stakeholder is resistant</a:t>
            </a:r>
          </a:p>
        </p:txBody>
      </p:sp>
      <p:sp>
        <p:nvSpPr>
          <p:cNvPr id="33" name="Oval 32"/>
          <p:cNvSpPr/>
          <p:nvPr/>
        </p:nvSpPr>
        <p:spPr>
          <a:xfrm>
            <a:off x="6451092" y="426704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Assumption and constraint analysis tests what we believe about them</a:t>
            </a:r>
          </a:p>
        </p:txBody>
      </p:sp>
      <p:sp>
        <p:nvSpPr>
          <p:cNvPr id="35" name="Oval 34"/>
          <p:cNvSpPr/>
          <p:nvPr/>
        </p:nvSpPr>
        <p:spPr>
          <a:xfrm>
            <a:off x="6451092" y="476082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466023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Output feeds directly into the register and the engagement plan</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Gathering tells you who they are and what they say they want; analysis tells you what to do about it. The exam frequently asks you to sort a technique into the correct bucket.</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Data Representation: Five Ways to Map Stakeholders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2D grid: power/interest</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authority to act against level of concern — the default grid, giving manage-closely, keep-satisfied, keep-informed, monitor.</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2D grid: power/influence</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formal authority against active involvement, useful when informal networks matter more than the org chart.</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2D grid: impact/influence</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ability to cause change against active involvement, best when the risk is disruption rather than opposition.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3D grid: the stakeholder cube</a:t>
            </a:r>
          </a:p>
        </p:txBody>
      </p:sp>
      <p:sp>
        <p:nvSpPr>
          <p:cNvPr id="28" name="TextBox 27"/>
          <p:cNvSpPr txBox="1"/>
          <p:nvPr/>
        </p:nvSpPr>
        <p:spPr>
          <a:xfrm>
            <a:off x="76809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Combines three dimensions at once so a stakeholder is a point in a volume, capturing combinations a flat grid flattens away.</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Salience model</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power, legitimacy and urgency, producing seven classes and identifying the definitive stakeholder who has all three.</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Directions of influence</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Classifies by where the stakeholder sits relative to the PM — upward, downward, sideward or outward — shaping the engagement style.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Power / Interest Grid</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Keep satisfied</a:t>
            </a:r>
          </a:p>
        </p:txBody>
      </p:sp>
      <p:sp>
        <p:nvSpPr>
          <p:cNvPr id="7" name="TextBox 6"/>
          <p:cNvSpPr txBox="1"/>
          <p:nvPr/>
        </p:nvSpPr>
        <p:spPr>
          <a:xfrm>
            <a:off x="2478024" y="2068486"/>
            <a:ext cx="1700784" cy="1412177"/>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High power, low interest. Sponsors' peers and senior executives. Brief them concisely and do not overload them; sudden interest is dangerous.</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Manage closely</a:t>
            </a:r>
          </a:p>
        </p:txBody>
      </p:sp>
      <p:sp>
        <p:nvSpPr>
          <p:cNvPr id="10" name="TextBox 9"/>
          <p:cNvSpPr txBox="1"/>
          <p:nvPr/>
        </p:nvSpPr>
        <p:spPr>
          <a:xfrm>
            <a:off x="4471416" y="2068486"/>
            <a:ext cx="1700784" cy="1412177"/>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High power, high interest. The sponsor and key customers. Involve them in decisions, meet frequently and never surprise them.</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Monitor</a:t>
            </a:r>
          </a:p>
        </p:txBody>
      </p:sp>
      <p:sp>
        <p:nvSpPr>
          <p:cNvPr id="13" name="TextBox 12"/>
          <p:cNvSpPr txBox="1"/>
          <p:nvPr/>
        </p:nvSpPr>
        <p:spPr>
          <a:xfrm>
            <a:off x="2478024" y="4061878"/>
            <a:ext cx="1700784" cy="1412177"/>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Low power, low interest. Peripheral departments. Minimal effort, but re-check periodically since positions change.</a:t>
            </a:r>
          </a:p>
        </p:txBody>
      </p:sp>
      <p:sp>
        <p:nvSpPr>
          <p:cNvPr id="14" name="Rounded Rectangle 13"/>
          <p:cNvSpPr/>
          <p:nvPr/>
        </p:nvSpPr>
        <p:spPr>
          <a:xfrm>
            <a:off x="4325112"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Keep informed</a:t>
            </a:r>
          </a:p>
        </p:txBody>
      </p:sp>
      <p:sp>
        <p:nvSpPr>
          <p:cNvPr id="16" name="TextBox 15"/>
          <p:cNvSpPr txBox="1"/>
          <p:nvPr/>
        </p:nvSpPr>
        <p:spPr>
          <a:xfrm>
            <a:off x="4471416" y="4061878"/>
            <a:ext cx="1700784" cy="1412177"/>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Low power, high interest. End users and subject experts. Communicate regularly; they are your best source of requirement detail.</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INTEREST IN THE OUTCOME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high  ←  POWER OVER THE PROJECT</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Power is the authority to impose your will. Interest is how much you care about the outcome. A stakeholder's position moves as the project progresses, so re-plot at every phase gate.</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Power / Influence Grid</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Latent authority</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High power, low involvement. Can intervene decisively but currently does not. Keep the relationship warm before you need it.</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Decision makers</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High power, high involvement. They both can and do shape the project. Engage constantly and build genuine trust here.</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Bystanders</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Low power, low involvement. Monitor for changes in either dimension rather than investing engagement effort now.</a:t>
            </a:r>
          </a:p>
        </p:txBody>
      </p:sp>
      <p:sp>
        <p:nvSpPr>
          <p:cNvPr id="14" name="Rounded Rectangle 13"/>
          <p:cNvSpPr/>
          <p:nvPr/>
        </p:nvSpPr>
        <p:spPr>
          <a:xfrm>
            <a:off x="4325112" y="359039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Opinion shapers</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Low power, high involvement. No formal authority but they move opinion through networks. Underestimating them is a classic failure.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ACTIVE INVOLVEMENT (INFLUENCE)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high  ←  FORMAL AUTHORITY (POWER)</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Power and influence are not the same thing. A respected long-serving engineer may have no authority and enormous influence — the power/influence grid exists precisely to expose that person.</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Impact / Influence Grid</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High impact, low influence</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Can force change to the project but is not currently involved — for example a regulator. Engage proactively before they act.</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High impact, high influence</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Can both cause change and is actively involved. This is where your engagement plan must be strongest and most personal.</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Low impact, low influence</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Little ability to change the project and little involvement. Standard project communications are sufficient here.</a:t>
            </a:r>
          </a:p>
        </p:txBody>
      </p:sp>
      <p:sp>
        <p:nvSpPr>
          <p:cNvPr id="14" name="Rounded Rectangle 13"/>
          <p:cNvSpPr/>
          <p:nvPr/>
        </p:nvSpPr>
        <p:spPr>
          <a:xfrm>
            <a:off x="4325112"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Low impact, high influence</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Actively involved but cannot force change. Valuable allies and useful advocates — recruit them deliberately.</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INFLUENCE — ACTIVE INVOLVEMENT  →  high</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high  ←  IMPACT — ABILITY TO CAUSE CHANGE</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Impact asks 'can they change the project?' Influence asks 'are they in the room?' The dangerous quadrant is high impact with low influence — they act without warning.</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Stakeholder Cube — Three Dimensions at Once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a cube</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Two-dimensional grids lose information: two stakeholders can share a quadrant yet need completely different engagement approaches.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Dimension one: power</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stakeholder's level of authority to impose decisions on the project or withhold what the project needs.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Dimension two: interest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degree to which the stakeholder cares about and attends to the project's outcome.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Dimension three: attitude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Whether the stakeholder is supportive, neutral or resistant — the dimension flat grids most often omit.</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reveals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high-power, high-interest, resistant stakeholder is a very different problem from a high-power, high-interest supporter.</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How to use it</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each cell as a distinct engagement archetype and write a tailored strategy per archetype in the engagement plan.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Salience Model — Power, Legitimacy, Urgency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Dominant (power + legitimacy)</a:t>
            </a:r>
          </a:p>
        </p:txBody>
      </p:sp>
      <p:sp>
        <p:nvSpPr>
          <p:cNvPr id="7" name="TextBox 6"/>
          <p:cNvSpPr txBox="1"/>
          <p:nvPr/>
        </p:nvSpPr>
        <p:spPr>
          <a:xfrm>
            <a:off x="2478024" y="2572549"/>
            <a:ext cx="1700784" cy="908114"/>
          </a:xfrm>
          <a:prstGeom prst="rect">
            <a:avLst/>
          </a:prstGeom>
          <a:noFill/>
        </p:spPr>
        <p:txBody>
          <a:bodyPr wrap="square" anchor="t">
            <a:spAutoFit/>
          </a:bodyPr>
          <a:lstStyle/>
          <a:p>
            <a:pPr algn="l">
              <a:lnSpc>
                <a:spcPct val="118000"/>
              </a:lnSpc>
              <a:spcAft>
                <a:spcPts val="400"/>
              </a:spcAft>
            </a:pPr>
            <a:r>
              <a:rPr sz="850" b="0" i="0">
                <a:solidFill>
                  <a:srgbClr val="161B26"/>
                </a:solidFill>
                <a:latin typeface="Arial"/>
              </a:rPr>
              <a:t>Real authority and a proper claim, but no time pressure. Sponsors and steering members. Engage on a planned cadence.</a:t>
            </a:r>
          </a:p>
        </p:txBody>
      </p:sp>
      <p:sp>
        <p:nvSpPr>
          <p:cNvPr id="8" name="Rounded Rectangle 7"/>
          <p:cNvSpPr/>
          <p:nvPr/>
        </p:nvSpPr>
        <p:spPr>
          <a:xfrm>
            <a:off x="4325112" y="1596999"/>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Definitive (all three)</a:t>
            </a:r>
          </a:p>
        </p:txBody>
      </p:sp>
      <p:sp>
        <p:nvSpPr>
          <p:cNvPr id="10" name="TextBox 9"/>
          <p:cNvSpPr txBox="1"/>
          <p:nvPr/>
        </p:nvSpPr>
        <p:spPr>
          <a:xfrm>
            <a:off x="4471416" y="2572549"/>
            <a:ext cx="1700784" cy="908114"/>
          </a:xfrm>
          <a:prstGeom prst="rect">
            <a:avLst/>
          </a:prstGeom>
          <a:noFill/>
        </p:spPr>
        <p:txBody>
          <a:bodyPr wrap="square" anchor="t">
            <a:spAutoFit/>
          </a:bodyPr>
          <a:lstStyle/>
          <a:p>
            <a:pPr algn="l">
              <a:lnSpc>
                <a:spcPct val="118000"/>
              </a:lnSpc>
              <a:spcAft>
                <a:spcPts val="400"/>
              </a:spcAft>
            </a:pPr>
            <a:r>
              <a:rPr sz="850" b="0" i="0">
                <a:solidFill>
                  <a:srgbClr val="161B26"/>
                </a:solidFill>
                <a:latin typeface="Arial"/>
              </a:rPr>
              <a:t>Power, legitimacy AND urgency together. The highest-salience class — act on their claims immediately and personally.</a:t>
            </a:r>
          </a:p>
        </p:txBody>
      </p:sp>
      <p:sp>
        <p:nvSpPr>
          <p:cNvPr id="11" name="Rounded Rectangle 10"/>
          <p:cNvSpPr/>
          <p:nvPr/>
        </p:nvSpPr>
        <p:spPr>
          <a:xfrm>
            <a:off x="2331720" y="3590391"/>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Discretionary (legitimacy only)</a:t>
            </a:r>
          </a:p>
        </p:txBody>
      </p:sp>
      <p:sp>
        <p:nvSpPr>
          <p:cNvPr id="13" name="TextBox 12"/>
          <p:cNvSpPr txBox="1"/>
          <p:nvPr/>
        </p:nvSpPr>
        <p:spPr>
          <a:xfrm>
            <a:off x="2478024" y="4565941"/>
            <a:ext cx="1700784" cy="908114"/>
          </a:xfrm>
          <a:prstGeom prst="rect">
            <a:avLst/>
          </a:prstGeom>
          <a:noFill/>
        </p:spPr>
        <p:txBody>
          <a:bodyPr wrap="square" anchor="t">
            <a:spAutoFit/>
          </a:bodyPr>
          <a:lstStyle/>
          <a:p>
            <a:pPr algn="l">
              <a:lnSpc>
                <a:spcPct val="118000"/>
              </a:lnSpc>
              <a:spcAft>
                <a:spcPts val="400"/>
              </a:spcAft>
            </a:pPr>
            <a:r>
              <a:rPr sz="850" b="0" i="0">
                <a:solidFill>
                  <a:srgbClr val="161B26"/>
                </a:solidFill>
                <a:latin typeface="Arial"/>
              </a:rPr>
              <a:t>A proper claim but no power or urgency, such as a community group. Engagement here is a choice, often an ethical one.</a:t>
            </a:r>
          </a:p>
        </p:txBody>
      </p:sp>
      <p:sp>
        <p:nvSpPr>
          <p:cNvPr id="14" name="Rounded Rectangle 13"/>
          <p:cNvSpPr/>
          <p:nvPr/>
        </p:nvSpPr>
        <p:spPr>
          <a:xfrm>
            <a:off x="4325112"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Dependent (legitimacy + urgency)</a:t>
            </a:r>
          </a:p>
        </p:txBody>
      </p:sp>
      <p:sp>
        <p:nvSpPr>
          <p:cNvPr id="16" name="TextBox 15"/>
          <p:cNvSpPr txBox="1"/>
          <p:nvPr/>
        </p:nvSpPr>
        <p:spPr>
          <a:xfrm>
            <a:off x="4471416" y="4565941"/>
            <a:ext cx="1700784" cy="908114"/>
          </a:xfrm>
          <a:prstGeom prst="rect">
            <a:avLst/>
          </a:prstGeom>
          <a:noFill/>
        </p:spPr>
        <p:txBody>
          <a:bodyPr wrap="square" anchor="t">
            <a:spAutoFit/>
          </a:bodyPr>
          <a:lstStyle/>
          <a:p>
            <a:pPr algn="l">
              <a:lnSpc>
                <a:spcPct val="118000"/>
              </a:lnSpc>
              <a:spcAft>
                <a:spcPts val="400"/>
              </a:spcAft>
            </a:pPr>
            <a:r>
              <a:rPr sz="850" b="0" i="0">
                <a:solidFill>
                  <a:srgbClr val="161B26"/>
                </a:solidFill>
                <a:latin typeface="Arial"/>
              </a:rPr>
              <a:t>A legitimate, pressing claim but no power to enforce it — end users. They depend on an advocate; often the PM.</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LEGITIMACY — IS THE CLAIM APPROPRIATE?  →</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  POWER TO IMPOSE WILL</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Seven classes exist in total. The other three are single-attribute: Dormant (power only), Demanding (urgency only) and Dangerous (power + urgency but no legitimacy — coercive, watch closely).</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Seven Salience Classes in Full</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803904"/>
        </p:xfrm>
        <a:graphic>
          <a:graphicData uri="http://schemas.openxmlformats.org/drawingml/2006/table">
            <a:tbl>
              <a:tblPr firstRow="1" bandRow="1">
                <a:tableStyleId>{5C22544A-7EE6-4342-B048-85BDC9FD1C3A}</a:tableStyleId>
              </a:tblPr>
              <a:tblGrid>
                <a:gridCol w="1768815"/>
                <a:gridCol w="2653223"/>
                <a:gridCol w="3316528"/>
                <a:gridCol w="3316528"/>
              </a:tblGrid>
              <a:tr h="475488">
                <a:tc>
                  <a:txBody>
                    <a:bodyPr wrap="square" anchor="t"/>
                    <a:lstStyle/>
                    <a:p>
                      <a:pPr algn="l">
                        <a:lnSpc>
                          <a:spcPct val="100000"/>
                        </a:lnSpc>
                        <a:spcAft>
                          <a:spcPts val="0"/>
                        </a:spcAft>
                      </a:pPr>
                      <a:r>
                        <a:rPr sz="1150" b="1" i="0">
                          <a:solidFill>
                            <a:srgbClr val="FFFFFF"/>
                          </a:solidFill>
                          <a:latin typeface="Arial"/>
                        </a:rPr>
                        <a:t>Class</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Attributes held</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Typical example</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Engagement response</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Dormant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Power only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regulator not yet engaged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Monitor; the power can activate at any time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Discretionary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Legitimacy only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community or charity group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Engage by choice; usually a reputational decision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Demanding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Urgency only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vocal individual user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Acknowledge but do not let noise set priority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Dominant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Power + legitimacy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Sponsor, steering committee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Formal, planned, regular engagement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Dangerous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Power + urgency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coercive group applying pressure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Manage carefully; escalate; involve governance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Dependent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Legitimacy + urgency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End users needing an advocate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Give them a voice through a powerful sponsor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Definitive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Power + legitimacy + urgency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Customer at a crisis point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Immediate, personal, highest-priority attention</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Directions of Influence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Upward</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Senior management, the sponsor and the steering committee. Engage with concise, decision-ready information and never surprise them in public.</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Downward</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project team and specialists providing knowledge or skills. Engage by clarifying purpose, removing impediments and empowering decisions.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Sideward</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Peers of the project manager and other middle managers who control the resources you borrow. Engage through negotiation and reciprocity.</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Outward</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Suppliers, users, government departments and the public. Engage through formal agreements, structured consultation and compliance evidence.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direction matters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same message needs a different form in each direction; a status report that satisfies the sponsor will not motivate the team.</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PMs under-invest</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Sideward influence is the most commonly neglected direction, and it is where resource conflicts are actually resolved.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Mapping, Step by Step</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List from the register</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Take every identified stakeholder as a candidate — do not pre-filter by who seems important.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Score each dimension</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Rate power, interest, influence and attitude on a consistent scale, with the team, not alone.</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Plot on the grid</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Place each stakeholder on the chosen model so the pattern becomes visible rather than anecdotal.</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Derive strategies</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Write a specific engagement action per quadrant, naming who does what and how often.</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Re-plot each phase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Positions shift as the project progresses; a stale map produces misdirected effort.</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Keep the completed map confidential. A grid that labels a named executive as low-power, high-resistance is professionally damaging if it circulates — this is an ethics point as well as a practical one.</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T6 · MANAGE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Engagement Assessment Matrix (SEAM)</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3251498"/>
                <a:gridCol w="1517366"/>
                <a:gridCol w="1517366"/>
                <a:gridCol w="1517366"/>
                <a:gridCol w="1734132"/>
                <a:gridCol w="1517366"/>
              </a:tblGrid>
              <a:tr h="475488">
                <a:tc>
                  <a:txBody>
                    <a:bodyPr wrap="square" anchor="t"/>
                    <a:lstStyle/>
                    <a:p>
                      <a:pPr algn="l">
                        <a:lnSpc>
                          <a:spcPct val="100000"/>
                        </a:lnSpc>
                        <a:spcAft>
                          <a:spcPts val="0"/>
                        </a:spcAft>
                      </a:pPr>
                      <a:r>
                        <a:rPr sz="1150" b="1" i="0">
                          <a:solidFill>
                            <a:srgbClr val="FFFFFF"/>
                          </a:solidFill>
                          <a:latin typeface="Arial"/>
                        </a:rPr>
                        <a:t>Stakeholder</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Unaware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Resistant</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Neutral</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Supportive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Leading</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Operations Director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Finance Manager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End-user representative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 / 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External regulator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IT Infrastructure lead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 marks current engagement, D marks desired. Every gap between C and D is an action item for the stakeholder engagement plan. Where C equals D, protect the position rather than invest further.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T6 · MANAGE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Engagement Levels Across the Stakeholder Population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06B6D4"/>
                </a:solidFill>
                <a:latin typeface="Arial"/>
              </a:rPr>
              <a:t>WHAT IT TELLS YOU</a:t>
            </a:r>
          </a:p>
        </p:txBody>
      </p:sp>
      <p:sp>
        <p:nvSpPr>
          <p:cNvPr id="9" name="Oval 8"/>
          <p:cNvSpPr/>
          <p:nvPr/>
        </p:nvSpPr>
        <p:spPr>
          <a:xfrm>
            <a:off x="8403336" y="2127351"/>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Six unaware stakeholders is an identification and communication failure, not an attitude problem — inform them first.</a:t>
            </a:r>
          </a:p>
        </p:txBody>
      </p:sp>
      <p:sp>
        <p:nvSpPr>
          <p:cNvPr id="11" name="Oval 10"/>
          <p:cNvSpPr/>
          <p:nvPr/>
        </p:nvSpPr>
        <p:spPr>
          <a:xfrm>
            <a:off x="8403336" y="3050895"/>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Eight resistant stakeholders need root-cause analysis: resistance usually signals an unaddressed expectation, not obstinacy.</a:t>
            </a:r>
          </a:p>
        </p:txBody>
      </p:sp>
      <p:sp>
        <p:nvSpPr>
          <p:cNvPr id="13" name="Oval 12"/>
          <p:cNvSpPr/>
          <p:nvPr/>
        </p:nvSpPr>
        <p:spPr>
          <a:xfrm>
            <a:off x="8403336" y="3974439"/>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desired profile deliberately keeps two resistant: total consensus is unrealistic and often means dissent is hidden.</a:t>
            </a:r>
          </a:p>
        </p:txBody>
      </p:sp>
      <p:sp>
        <p:nvSpPr>
          <p:cNvPr id="15" name="Oval 14"/>
          <p:cNvSpPr/>
          <p:nvPr/>
        </p:nvSpPr>
        <p:spPr>
          <a:xfrm>
            <a:off x="8403336" y="4897983"/>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Moving fourteen neutrals to supportive is the highest-leverage engagement investment available on this project.</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T6 · MANAGE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Stakeholder Engagement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the process does</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Monitors project stakeholder relationships and tailors strategies for engaging stakeholders through modification of plans and approaches.</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Key input: the SEAM</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current-versus-desired matrix is re-scored regularly; movement in the wrong direction is an early warning signal.</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Watch the issue log</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rising count of unresolved stakeholder issues predicts a drop in engagement long before anyone says so openly.</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Watch participation</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Declining attendance at reviews, slow sign-offs and delegated attendance are behavioural signals of falling engagement.</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 satisfaction explicitly</a:t>
            </a:r>
          </a:p>
        </p:txBody>
      </p:sp>
      <p:sp>
        <p:nvSpPr>
          <p:cNvPr id="34" name="TextBox 33"/>
          <p:cNvSpPr txBox="1"/>
          <p:nvPr/>
        </p:nvSpPr>
        <p:spPr>
          <a:xfrm>
            <a:off x="4532376" y="4840147"/>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People T6 requires monitoring internal and external customer satisfaction and expectations — and responding as needed.</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Outputs</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performance information, change requests, and updates to the plan, the register, the issue log and the risk register.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PEOPLE T5 · ALIGN STAKEHOLDER EXPECTATIONS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ECO 2026 People Task 5 — Align Stakeholder Expectations</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Most project conflict is not
disagreement. It is two people
holding different definitions of done.</a:t>
            </a:r>
          </a:p>
        </p:txBody>
      </p:sp>
      <p:sp>
        <p:nvSpPr>
          <p:cNvPr id="6" name="Rectangle 5"/>
          <p:cNvSpPr/>
          <p:nvPr/>
        </p:nvSpPr>
        <p:spPr>
          <a:xfrm>
            <a:off x="566928" y="4030218"/>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Categorize stakeholders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Group them so expectations can be surfaced and reconciled by group rather than one conversation at a time.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Identify expectations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Ask directly what each group believes success looks like — do not infer it from the requirements document.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Facilitate alignment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Bring conflicting parties into the same conversation and converge them on one agreed definition.</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T5 · ALIGN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Facilitating an Expectation-Alignment Session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82023"/>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Surface privately first</a:t>
            </a:r>
          </a:p>
        </p:txBody>
      </p:sp>
      <p:sp>
        <p:nvSpPr>
          <p:cNvPr id="8" name="TextBox 7"/>
          <p:cNvSpPr txBox="1"/>
          <p:nvPr/>
        </p:nvSpPr>
        <p:spPr>
          <a:xfrm>
            <a:off x="694944"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Interview each group separately so positions are honest before they become public and defended.</a:t>
            </a:r>
          </a:p>
        </p:txBody>
      </p:sp>
      <p:sp>
        <p:nvSpPr>
          <p:cNvPr id="9" name="Pentagon 8"/>
          <p:cNvSpPr/>
          <p:nvPr/>
        </p:nvSpPr>
        <p:spPr>
          <a:xfrm>
            <a:off x="2801721" y="1816455"/>
            <a:ext cx="2115921" cy="2482023"/>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Categorise the gaps</a:t>
            </a:r>
          </a:p>
        </p:txBody>
      </p:sp>
      <p:sp>
        <p:nvSpPr>
          <p:cNvPr id="12" name="TextBox 11"/>
          <p:cNvSpPr txBox="1"/>
          <p:nvPr/>
        </p:nvSpPr>
        <p:spPr>
          <a:xfrm>
            <a:off x="2929737"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Group differences by theme — scope, quality, timing, cost — so the session has structure.</a:t>
            </a:r>
          </a:p>
        </p:txBody>
      </p:sp>
      <p:sp>
        <p:nvSpPr>
          <p:cNvPr id="13" name="Pentagon 12"/>
          <p:cNvSpPr/>
          <p:nvPr/>
        </p:nvSpPr>
        <p:spPr>
          <a:xfrm>
            <a:off x="5036515" y="1816455"/>
            <a:ext cx="2115921" cy="2482023"/>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Convene the parties</a:t>
            </a:r>
          </a:p>
        </p:txBody>
      </p:sp>
      <p:sp>
        <p:nvSpPr>
          <p:cNvPr id="16" name="TextBox 15"/>
          <p:cNvSpPr txBox="1"/>
          <p:nvPr/>
        </p:nvSpPr>
        <p:spPr>
          <a:xfrm>
            <a:off x="5164531"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Bring conflicting stakeholders together with the sponsor present to supply decision authority.</a:t>
            </a:r>
          </a:p>
        </p:txBody>
      </p:sp>
      <p:sp>
        <p:nvSpPr>
          <p:cNvPr id="17" name="Pentagon 16"/>
          <p:cNvSpPr/>
          <p:nvPr/>
        </p:nvSpPr>
        <p:spPr>
          <a:xfrm>
            <a:off x="7271308" y="1816455"/>
            <a:ext cx="2115921" cy="2482023"/>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Converge to one definition</a:t>
            </a:r>
          </a:p>
        </p:txBody>
      </p:sp>
      <p:sp>
        <p:nvSpPr>
          <p:cNvPr id="20" name="TextBox 19"/>
          <p:cNvSpPr txBox="1"/>
          <p:nvPr/>
        </p:nvSpPr>
        <p:spPr>
          <a:xfrm>
            <a:off x="7399324"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Drive to a single written statement of objectives and acceptance criteria that all parties sign.</a:t>
            </a:r>
          </a:p>
        </p:txBody>
      </p:sp>
      <p:sp>
        <p:nvSpPr>
          <p:cNvPr id="21" name="Rounded Rectangle 20"/>
          <p:cNvSpPr/>
          <p:nvPr/>
        </p:nvSpPr>
        <p:spPr>
          <a:xfrm>
            <a:off x="9506102" y="1816455"/>
            <a:ext cx="2115921" cy="2482023"/>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855877"/>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Document and republish</a:t>
            </a:r>
          </a:p>
        </p:txBody>
      </p:sp>
      <p:sp>
        <p:nvSpPr>
          <p:cNvPr id="24" name="TextBox 23"/>
          <p:cNvSpPr txBox="1"/>
          <p:nvPr/>
        </p:nvSpPr>
        <p:spPr>
          <a:xfrm>
            <a:off x="9634118" y="3056380"/>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Update the charter, register and requirements so the agreement survives memory and staff turnover.</a:t>
            </a:r>
          </a:p>
        </p:txBody>
      </p:sp>
      <p:sp>
        <p:nvSpPr>
          <p:cNvPr id="25" name="Rounded Rectangle 24"/>
          <p:cNvSpPr/>
          <p:nvPr/>
        </p:nvSpPr>
        <p:spPr>
          <a:xfrm>
            <a:off x="566928" y="4517934"/>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517934"/>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609374"/>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ECO People T5 also lists 'organize and act on mentoring opportunities'. Alignment sessions are where a PM can mentor stakeholders in how project trade-offs actually work.</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T6 · MANAGE STAKEHOLDER EXPECTATIONS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People Task 6 — Manage Stakeholder Expectations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customer expectations</a:t>
            </a:r>
          </a:p>
        </p:txBody>
      </p:sp>
      <p:sp>
        <p:nvSpPr>
          <p:cNvPr id="10" name="TextBox 9"/>
          <p:cNvSpPr txBox="1"/>
          <p:nvPr/>
        </p:nvSpPr>
        <p:spPr>
          <a:xfrm>
            <a:off x="76809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Distinguish internal customers (other departments receiving the output) from external customers (paying clients and end users) explicitly.</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Align outcomes continuously</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Maintain the fit between what is being built and what customers expect, rather than confirming alignment only at acceptance.</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 satisfaction</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surveys, net promoter scores, review attendance and complaint rates as running indicators of customer satisfaction.</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Respond as needed</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enabler explicitly requires response, not just measurement — a satisfaction survey nobody acts on is worse than none.</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 expectation drift</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Expectations inflate over a long project; periodic re-confirmation against the charter prevents a scope surprise at acceptance.</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Under-promise deliberately</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Committing to what you can reliably deliver protects trust far more than an optimistic commitment that slips.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Building Trust and Influence Without Authority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Trust is the engagement multiplier</a:t>
            </a:r>
          </a:p>
        </p:txBody>
      </p:sp>
      <p:sp>
        <p:nvSpPr>
          <p:cNvPr id="10" name="TextBox 9"/>
          <p:cNvSpPr txBox="1"/>
          <p:nvPr/>
        </p:nvSpPr>
        <p:spPr>
          <a:xfrm>
            <a:off x="76809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People T4 explicitly requires building trust and influencing stakeholders to accomplish project objectives — it is an assessed skill.</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Competence</a:t>
            </a:r>
          </a:p>
        </p:txBody>
      </p:sp>
      <p:sp>
        <p:nvSpPr>
          <p:cNvPr id="16" name="TextBox 15"/>
          <p:cNvSpPr txBox="1"/>
          <p:nvPr/>
        </p:nvSpPr>
        <p:spPr>
          <a:xfrm>
            <a:off x="453237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Demonstrate that your estimates, forecasts and status reports have been accurate before; credibility is built from a track record.</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Consistency</a:t>
            </a:r>
          </a:p>
        </p:txBody>
      </p:sp>
      <p:sp>
        <p:nvSpPr>
          <p:cNvPr id="22" name="TextBox 21"/>
          <p:cNvSpPr txBox="1"/>
          <p:nvPr/>
        </p:nvSpPr>
        <p:spPr>
          <a:xfrm>
            <a:off x="829665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Behave the same way under pressure as you do in calm periods; inconsistency is what stakeholders read as risk.</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Transparency</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Report bad news early and unvarnished. A PM who hides a slip once is never fully believed again.</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Reciprocity</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Help peers with their problems before you need help with yours — this is the currency of sideward influence.</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Follow-through</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Close every commitment visibly. Small kept promises compound into the influence you need when the stakes are large.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Stakeholders and Engagement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previously unknown stakeholder appears mid-project with requirements</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Add them to the stakeholder register and analyse them first, before assessing the impact of their requirements.</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key stakeholder is resistant and you must decide what to do</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Meet them to understand the root cause of the resistance. Do not escalate, exclude, or simply add more reports.</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are asked which model uses power, legitimacy and urgency</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salience model. Power/interest, power/influence and impact/influence are all two-dimensional grids.</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Stakeholders disagree about what the project should deliver</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Facilitate a discussion to align expectations against the charter — alignment first, change request only if truly needed.</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Communication Channels and Why Team Size Matters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Communication channels</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N × (N − 1) / 2</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 is the number of people. Channels grow quadratically, which is why small teams communicate so much more cheaply.</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Team of 5</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5 × 4 / 2 = 10</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Ten channels — everyone can plausibly stay in sync through informal conversation alone.</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Team of 10</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10 × 9 / 2 = 45</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Forty-five channels. Informal alignment starts failing; explicit communication planning becomes necessary.</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Adding one person to 10</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55 − 45 = 10 new channels</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eleventh person adds ten channels, not one — the arithmetic behind 'adding people to a late project makes it later'.</a:t>
            </a:r>
          </a:p>
        </p:txBody>
      </p:sp>
      <p:sp>
        <p:nvSpPr>
          <p:cNvPr id="29" name="Rounded Rectangle 28"/>
          <p:cNvSpPr/>
          <p:nvPr/>
        </p:nvSpPr>
        <p:spPr>
          <a:xfrm>
            <a:off x="566928" y="5596128"/>
            <a:ext cx="11055096" cy="603504"/>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tip: if a question adds or removes people, compute channels before and after and report the DIFFERENCE — that is usually what is being asked, not the absolute number.</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Considerations for Starting Well</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whole-team approach</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All skills needed to deliver sit inside one team, removing the hand-off delays and the finger-pointing that cross-functional silos create.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Small teams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Typically three to nine people, keeping communication channels low enough that alignment happens naturally rather than by process.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Co-location</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Physical or deliberate virtual co-location maximises the osmotic communication that makes small teams fast.</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customers</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customer representative available continuously replaces long requirement documents with short conversations and fast feedback.</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Information radiators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Big visible charts — task boards, burndowns, impediment lists — in the team space so status is pulled, not reported.</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Osmotic communication</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Useful information overheard in a shared space; team members absorb context without anyone scheduling a meeting to transmit it.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Traditional Management vs Servant Leadership</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TRADITIONAL COMMAND AND CONTROL</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manager holds the plan and issues the assignments</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manager assigns tasks to named individuals</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Decisions escalate up and instructions come back down</a:t>
            </a:r>
          </a:p>
        </p:txBody>
      </p:sp>
      <p:sp>
        <p:nvSpPr>
          <p:cNvPr id="13" name="Oval 12"/>
          <p:cNvSpPr/>
          <p:nvPr/>
        </p:nvSpPr>
        <p:spPr>
          <a:xfrm>
            <a:off x="786384"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Status is reported to the manager who consolidates it</a:t>
            </a:r>
          </a:p>
        </p:txBody>
      </p:sp>
      <p:sp>
        <p:nvSpPr>
          <p:cNvPr id="15" name="Oval 14"/>
          <p:cNvSpPr/>
          <p:nvPr/>
        </p:nvSpPr>
        <p:spPr>
          <a:xfrm>
            <a:off x="786384"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manager owns the estimates and commits on the team's behalf</a:t>
            </a:r>
          </a:p>
        </p:txBody>
      </p:sp>
      <p:sp>
        <p:nvSpPr>
          <p:cNvPr id="17" name="Oval 16"/>
          <p:cNvSpPr/>
          <p:nvPr/>
        </p:nvSpPr>
        <p:spPr>
          <a:xfrm>
            <a:off x="786384" y="391957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Problems are solved by the manager and communicated as decisions</a:t>
            </a:r>
          </a:p>
        </p:txBody>
      </p:sp>
      <p:sp>
        <p:nvSpPr>
          <p:cNvPr id="19" name="Oval 18"/>
          <p:cNvSpPr/>
          <p:nvPr/>
        </p:nvSpPr>
        <p:spPr>
          <a:xfrm>
            <a:off x="786384" y="441335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3127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Performance is managed individually against assigned tasks</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SERVANT LEADERSHIP</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leader removes impediments so the team can lead itself</a:t>
            </a:r>
          </a:p>
        </p:txBody>
      </p:sp>
      <p:sp>
        <p:nvSpPr>
          <p:cNvPr id="25" name="Oval 24"/>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pulls work from a prioritised backlog</a:t>
            </a:r>
          </a:p>
        </p:txBody>
      </p:sp>
      <p:sp>
        <p:nvSpPr>
          <p:cNvPr id="27" name="Oval 26"/>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Decisions are made at the level with the most information</a:t>
            </a:r>
          </a:p>
        </p:txBody>
      </p:sp>
      <p:sp>
        <p:nvSpPr>
          <p:cNvPr id="29" name="Oval 28"/>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Status is visible to everyone on a radiator, always current</a:t>
            </a:r>
          </a:p>
        </p:txBody>
      </p:sp>
      <p:sp>
        <p:nvSpPr>
          <p:cNvPr id="31" name="Oval 30"/>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estimates and commits to what it believes it can do</a:t>
            </a:r>
          </a:p>
        </p:txBody>
      </p:sp>
      <p:sp>
        <p:nvSpPr>
          <p:cNvPr id="33" name="Oval 32"/>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leader's first question is 'what is blocking you?'</a:t>
            </a:r>
          </a:p>
        </p:txBody>
      </p:sp>
      <p:sp>
        <p:nvSpPr>
          <p:cNvPr id="35" name="Oval 34"/>
          <p:cNvSpPr/>
          <p:nvPr/>
        </p:nvSpPr>
        <p:spPr>
          <a:xfrm>
            <a:off x="6451092" y="40658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39652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Performance is a team outcome, improved through retrospectives</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Servant leadership: the practice of leading by understanding and addressing the needs and development of team members, in order to enable the highest possible team performance.</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Self-Organising Teams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definition</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cross-functional team in which people fluidly assume leadership as needed to achieve the team's objectives, rather than by fixed title.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Cross-functional by design</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team collectively holds every skill required to take an item from idea to done, so no external hand-off is needed.</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Leadership is situational</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Whoever has the most relevant expertise leads that decision, then hands leadership on — authority follows knowledge.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leader still matters</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Self-organising does not mean unled: the servant leader sets boundaries, protects focus and removes impediments from outside.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requires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Psychological safety, a clear goal, real decision authority and time — teams do not become self-organising by being told to be.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is faster</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Decisions are made where the information already is, eliminating the escalate-and-wait cycle that dominates traditional structures.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Team Roles You Must Distinguish</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2432121"/>
                <a:gridCol w="4422038"/>
                <a:gridCol w="4200936"/>
              </a:tblGrid>
              <a:tr h="475488">
                <a:tc>
                  <a:txBody>
                    <a:bodyPr wrap="square" anchor="t"/>
                    <a:lstStyle/>
                    <a:p>
                      <a:pPr algn="l">
                        <a:lnSpc>
                          <a:spcPct val="100000"/>
                        </a:lnSpc>
                        <a:spcAft>
                          <a:spcPts val="0"/>
                        </a:spcAft>
                      </a:pPr>
                      <a:r>
                        <a:rPr sz="1150" b="1" i="0">
                          <a:solidFill>
                            <a:srgbClr val="FFFFFF"/>
                          </a:solidFill>
                          <a:latin typeface="Arial"/>
                        </a:rPr>
                        <a:t>Role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Accountable for</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Not accountable for</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Project manager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Integration, the plan, stakeholder engagement and delivery of objectives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Doing the technical work or approving their own charter</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Project sponsor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Funding, the business case, charter approval and removing senior blockers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Day-to-day management of the project team</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Team members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Producing the deliverables and estimating their own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Setting priority between competing business needs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Product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Backlog priority, maximising value and representing the customer voice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Telling the team how to build it or managing their performance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Scrum master / facilitator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Process health, removing impediments, coaching and shielding the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Assigning work, estimating for the team or setting priority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Functional manager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Supplying skilled resources and developing their people's capability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Directing project scope or accepting project deliverables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T-Shaped People and Why Teams Want Them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95228"/>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146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96396"/>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T-shaped means</a:t>
            </a:r>
          </a:p>
        </p:txBody>
      </p:sp>
      <p:sp>
        <p:nvSpPr>
          <p:cNvPr id="10" name="TextBox 9"/>
          <p:cNvSpPr txBox="1"/>
          <p:nvPr/>
        </p:nvSpPr>
        <p:spPr>
          <a:xfrm>
            <a:off x="768096" y="2217020"/>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Deep expertise in one discipline — the vertical stroke — plus working competence across several others, the horizontal stroke.</a:t>
            </a:r>
          </a:p>
        </p:txBody>
      </p:sp>
      <p:sp>
        <p:nvSpPr>
          <p:cNvPr id="11" name="Rounded Rectangle 10"/>
          <p:cNvSpPr/>
          <p:nvPr/>
        </p:nvSpPr>
        <p:spPr>
          <a:xfrm>
            <a:off x="433120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95228"/>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8146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Individual value and versatility</a:t>
            </a:r>
          </a:p>
        </p:txBody>
      </p:sp>
      <p:sp>
        <p:nvSpPr>
          <p:cNvPr id="16" name="TextBox 15"/>
          <p:cNvSpPr txBox="1"/>
          <p:nvPr/>
        </p:nvSpPr>
        <p:spPr>
          <a:xfrm>
            <a:off x="453237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T-shaped people contribute their specialism at full depth while still being able to pick up adjacent work when the queue demands it.</a:t>
            </a:r>
          </a:p>
        </p:txBody>
      </p:sp>
      <p:sp>
        <p:nvSpPr>
          <p:cNvPr id="17" name="Rounded Rectangle 16"/>
          <p:cNvSpPr/>
          <p:nvPr/>
        </p:nvSpPr>
        <p:spPr>
          <a:xfrm>
            <a:off x="8095488" y="1595228"/>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95228"/>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8146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51260"/>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96396"/>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Flexibility for the organisation</a:t>
            </a:r>
          </a:p>
        </p:txBody>
      </p:sp>
      <p:sp>
        <p:nvSpPr>
          <p:cNvPr id="22" name="TextBox 21"/>
          <p:cNvSpPr txBox="1"/>
          <p:nvPr/>
        </p:nvSpPr>
        <p:spPr>
          <a:xfrm>
            <a:off x="8296656" y="2454764"/>
            <a:ext cx="3124200" cy="116008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Teams can rebalance around a bottleneck without waiting for a new hire or a formal resource request.</a:t>
            </a:r>
          </a:p>
        </p:txBody>
      </p:sp>
      <p:sp>
        <p:nvSpPr>
          <p:cNvPr id="23" name="Rounded Rectangle 22"/>
          <p:cNvSpPr/>
          <p:nvPr/>
        </p:nvSpPr>
        <p:spPr>
          <a:xfrm>
            <a:off x="56692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Avoids work stoppages</a:t>
            </a:r>
          </a:p>
        </p:txBody>
      </p:sp>
      <p:sp>
        <p:nvSpPr>
          <p:cNvPr id="28" name="TextBox 27"/>
          <p:cNvSpPr txBox="1"/>
          <p:nvPr/>
        </p:nvSpPr>
        <p:spPr>
          <a:xfrm>
            <a:off x="76809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Reduces the key-person dependency that halts a whole team when one specialist takes leave or resigns.</a:t>
            </a:r>
          </a:p>
        </p:txBody>
      </p:sp>
      <p:sp>
        <p:nvSpPr>
          <p:cNvPr id="29" name="Rounded Rectangle 28"/>
          <p:cNvSpPr/>
          <p:nvPr/>
        </p:nvSpPr>
        <p:spPr>
          <a:xfrm>
            <a:off x="433120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Built deliberately</a:t>
            </a:r>
          </a:p>
        </p:txBody>
      </p:sp>
      <p:sp>
        <p:nvSpPr>
          <p:cNvPr id="34" name="TextBox 33"/>
          <p:cNvSpPr txBox="1"/>
          <p:nvPr/>
        </p:nvSpPr>
        <p:spPr>
          <a:xfrm>
            <a:off x="453237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Train and coach team members to become T-shaped through pairing, rotation and shadowing — it does not happen by accident.</a:t>
            </a:r>
          </a:p>
        </p:txBody>
      </p:sp>
      <p:sp>
        <p:nvSpPr>
          <p:cNvPr id="35" name="Rounded Rectangle 34"/>
          <p:cNvSpPr/>
          <p:nvPr/>
        </p:nvSpPr>
        <p:spPr>
          <a:xfrm>
            <a:off x="8095488" y="3980611"/>
            <a:ext cx="3526536" cy="214763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contrast</a:t>
            </a:r>
          </a:p>
        </p:txBody>
      </p:sp>
      <p:sp>
        <p:nvSpPr>
          <p:cNvPr id="40" name="TextBox 39"/>
          <p:cNvSpPr txBox="1"/>
          <p:nvPr/>
        </p:nvSpPr>
        <p:spPr>
          <a:xfrm>
            <a:off x="8296656" y="4602403"/>
            <a:ext cx="3124200" cy="139783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I-shaped specialists create hand-off queues; generalists without depth create quality problems. T-shaped is the balance.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Team Charter and Ground Rules — What Goes In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108857"/>
        </p:xfrm>
        <a:graphic>
          <a:graphicData uri="http://schemas.openxmlformats.org/drawingml/2006/table">
            <a:tbl>
              <a:tblPr firstRow="1" bandRow="1">
                <a:tableStyleId>{5C22544A-7EE6-4342-B048-85BDC9FD1C3A}</a:tableStyleId>
              </a:tblPr>
              <a:tblGrid>
                <a:gridCol w="2432121"/>
                <a:gridCol w="4422038"/>
                <a:gridCol w="4200936"/>
              </a:tblGrid>
              <a:tr h="456539">
                <a:tc>
                  <a:txBody>
                    <a:bodyPr wrap="square" anchor="t"/>
                    <a:lstStyle/>
                    <a:p>
                      <a:pPr algn="l">
                        <a:lnSpc>
                          <a:spcPct val="100000"/>
                        </a:lnSpc>
                        <a:spcAft>
                          <a:spcPts val="0"/>
                        </a:spcAft>
                      </a:pPr>
                      <a:r>
                        <a:rPr sz="1150" b="1" i="0">
                          <a:solidFill>
                            <a:srgbClr val="FFFFFF"/>
                          </a:solidFill>
                          <a:latin typeface="Arial"/>
                        </a:rPr>
                        <a:t>Section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the team agrees</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Example agreement</a:t>
                      </a:r>
                    </a:p>
                  </a:txBody>
                  <a:tcPr anchor="ctr">
                    <a:solidFill>
                      <a:srgbClr val="F59E0B"/>
                    </a:solidFill>
                  </a:tcPr>
                </a:tc>
              </a:tr>
              <a:tr h="456539">
                <a:tc>
                  <a:txBody>
                    <a:bodyPr wrap="square" anchor="t"/>
                    <a:lstStyle/>
                    <a:p>
                      <a:pPr algn="l">
                        <a:lnSpc>
                          <a:spcPct val="110000"/>
                        </a:lnSpc>
                        <a:spcAft>
                          <a:spcPts val="0"/>
                        </a:spcAft>
                      </a:pPr>
                      <a:r>
                        <a:rPr sz="1050" b="1" i="0">
                          <a:solidFill>
                            <a:srgbClr val="161B26"/>
                          </a:solidFill>
                          <a:latin typeface="Arial"/>
                        </a:rPr>
                        <a:t>Shared values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principles the team holds itself to</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We surface bad news early and without blame</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Behaviour guidelines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members treat each other day to day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conversation at a time; no interrupting</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Communication and tools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Which channel is used for what and expected response times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Chat for the day, email for decisions, board for status</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Decision-making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the team decides and what needs consensus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Fist-of-five; a two-thirds majority carries technical decisions</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Performance expectations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good contribution looks like on this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Definition of done applies to every item, no exceptions</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Conflict resolution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agreed path when disagreement escalates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Direct conversation, then the team, then the servant leader</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Meetings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Time, frequency and channel of each ceremony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Stand-up 09:15 daily, 15 minutes, cameras on</a:t>
                      </a:r>
                    </a:p>
                  </a:txBody>
                  <a:tcPr anchor="ctr">
                    <a:solidFill>
                      <a:srgbClr val="FFFFFF"/>
                    </a:solidFill>
                  </a:tcPr>
                </a:tc>
              </a:tr>
              <a:tr h="456545">
                <a:tc>
                  <a:txBody>
                    <a:bodyPr wrap="square" anchor="t"/>
                    <a:lstStyle/>
                    <a:p>
                      <a:pPr algn="l">
                        <a:lnSpc>
                          <a:spcPct val="110000"/>
                        </a:lnSpc>
                        <a:spcAft>
                          <a:spcPts val="0"/>
                        </a:spcAft>
                      </a:pPr>
                      <a:r>
                        <a:rPr sz="1050" b="1" i="0">
                          <a:solidFill>
                            <a:srgbClr val="161B26"/>
                          </a:solidFill>
                          <a:latin typeface="Arial"/>
                        </a:rPr>
                        <a:t>Other agreements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Shared core hours, improvement time and team norms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Core hours 10:00-16:00; Friday afternoon for improvement work</a:t>
                      </a:r>
                    </a:p>
                  </a:txBody>
                  <a:tcPr anchor="ctr">
                    <a:solidFill>
                      <a:srgbClr val="F5F8FC"/>
                    </a:solidFill>
                  </a:tcPr>
                </a:tc>
              </a:tr>
            </a:tbl>
          </a:graphicData>
        </a:graphic>
      </p:graphicFrame>
      <p:sp>
        <p:nvSpPr>
          <p:cNvPr id="6" name="Rounded Rectangle 5"/>
          <p:cNvSpPr/>
          <p:nvPr/>
        </p:nvSpPr>
        <p:spPr>
          <a:xfrm>
            <a:off x="566928" y="5705856"/>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5779008"/>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Critical point: the team charter is created WITH the team, not issued to it. A charter written by the PM alone produces compliance, not commitment — and ground rules nobody helped write get broken.</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Making Ground Rules Actually Work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Make it visible</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electronic document or a poster on the team wall — ground rules filed in a shared drive stop influencing behaviour within a week.</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Co-create it</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Rules the team wrote itself are enforced by the team; rules imposed on the team are enforced only by the manager, and only when watching.</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it short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Six to ten rules the team can recall beats a thirty-item document nobody has finished reading.</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Address violations early</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People T2 requires managing and rectifying ground-rule violations — an unaddressed breach becomes the new de facto rule.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Model it from the top</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project manager who breaks a ground rule cancels it for everyone, regardless of what the poster says.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Revisit at retrospectives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Rules that no longer serve the team are removed and new ones added as the team's context changes.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Kick-Off Meeting: Two Distinct Audiences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ORGANISATIONAL / PUBLIC KICK-OFF</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Announcing the project to the wider organisation</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Formally announce project initiation to the organisation</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Share a common understanding of the high-level vision and purpose</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State the business value the project will deliver</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Identify the sponsor, key stakeholders and the project manager</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 high-level items drawn from the project charter</a:t>
            </a:r>
          </a:p>
        </p:txBody>
      </p:sp>
      <p:sp>
        <p:nvSpPr>
          <p:cNvPr id="19" name="Oval 18"/>
          <p:cNvSpPr/>
          <p:nvPr/>
        </p:nvSpPr>
        <p:spPr>
          <a:xfrm>
            <a:off x="786384" y="441335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42416" y="431276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Signal executive commitment so the project is taken seriously</a:t>
            </a:r>
          </a:p>
        </p:txBody>
      </p:sp>
      <p:sp>
        <p:nvSpPr>
          <p:cNvPr id="21" name="Rounded Rectangle 20"/>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INTERNAL / TEAM KICK-OFF</a:t>
            </a:r>
          </a:p>
        </p:txBody>
      </p:sp>
      <p:sp>
        <p:nvSpPr>
          <p:cNvPr id="24" name="TextBox 23"/>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Turning a group of assigned people into a project team</a:t>
            </a:r>
          </a:p>
        </p:txBody>
      </p:sp>
      <p:sp>
        <p:nvSpPr>
          <p:cNvPr id="25" name="Oval 24"/>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Give an overview of the project charter and its objectives</a:t>
            </a:r>
          </a:p>
        </p:txBody>
      </p:sp>
      <p:sp>
        <p:nvSpPr>
          <p:cNvPr id="27" name="Oval 26"/>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Clarify each team member's role and responsibilities</a:t>
            </a:r>
          </a:p>
        </p:txBody>
      </p:sp>
      <p:sp>
        <p:nvSpPr>
          <p:cNvPr id="29" name="Oval 28"/>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 the results of planning efforts completed so far</a:t>
            </a:r>
          </a:p>
        </p:txBody>
      </p:sp>
      <p:sp>
        <p:nvSpPr>
          <p:cNvPr id="31" name="Oval 30"/>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Initiate the product backlog or the initial work breakdown</a:t>
            </a:r>
          </a:p>
        </p:txBody>
      </p:sp>
      <p:sp>
        <p:nvSpPr>
          <p:cNvPr id="33" name="Oval 32"/>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Agree the team charter and ground rules together</a:t>
            </a:r>
          </a:p>
        </p:txBody>
      </p:sp>
      <p:sp>
        <p:nvSpPr>
          <p:cNvPr id="35" name="Oval 34"/>
          <p:cNvSpPr/>
          <p:nvPr/>
        </p:nvSpPr>
        <p:spPr>
          <a:xfrm>
            <a:off x="6451092" y="40658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07124" y="39652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Establish the ceremony cadence and communication norms</a:t>
            </a:r>
          </a:p>
        </p:txBody>
      </p:sp>
      <p:sp>
        <p:nvSpPr>
          <p:cNvPr id="37" name="Rounded Rectangle 36"/>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Purpose of any kick-off: establish project context, assist in team formation, and align team and stakeholders with the project vision.</a:t>
            </a:r>
          </a:p>
        </p:txBody>
      </p:sp>
      <p:sp>
        <p:nvSpPr>
          <p:cNvPr id="40" name="TextBox 39"/>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1" name="TextBox 40"/>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2" name="TextBox 41"/>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When Kick-Off Happens in Each Approach</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71269"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712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Predictive</a:t>
            </a:r>
          </a:p>
        </p:txBody>
      </p:sp>
      <p:sp>
        <p:nvSpPr>
          <p:cNvPr id="9" name="TextBox 8"/>
          <p:cNvSpPr txBox="1"/>
          <p:nvPr/>
        </p:nvSpPr>
        <p:spPr>
          <a:xfrm>
            <a:off x="658368"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One kick-off after planning is largely complete, because the plan is what is being communicated.</a:t>
            </a:r>
          </a:p>
        </p:txBody>
      </p:sp>
      <p:sp>
        <p:nvSpPr>
          <p:cNvPr id="10" name="Oval 9"/>
          <p:cNvSpPr/>
          <p:nvPr/>
        </p:nvSpPr>
        <p:spPr>
          <a:xfrm>
            <a:off x="3682288"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8228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869387"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Iterative</a:t>
            </a:r>
          </a:p>
        </p:txBody>
      </p:sp>
      <p:sp>
        <p:nvSpPr>
          <p:cNvPr id="13" name="TextBox 12"/>
          <p:cNvSpPr txBox="1"/>
          <p:nvPr/>
        </p:nvSpPr>
        <p:spPr>
          <a:xfrm>
            <a:off x="2869387"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Kick-off at the start, then a re-alignment at each major iteration boundary as the solution takes shape.</a:t>
            </a:r>
          </a:p>
        </p:txBody>
      </p:sp>
      <p:sp>
        <p:nvSpPr>
          <p:cNvPr id="14" name="Oval 13"/>
          <p:cNvSpPr/>
          <p:nvPr/>
        </p:nvSpPr>
        <p:spPr>
          <a:xfrm>
            <a:off x="5893308"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330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5080406"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Incremental</a:t>
            </a:r>
          </a:p>
        </p:txBody>
      </p:sp>
      <p:sp>
        <p:nvSpPr>
          <p:cNvPr id="17" name="TextBox 16"/>
          <p:cNvSpPr txBox="1"/>
          <p:nvPr/>
        </p:nvSpPr>
        <p:spPr>
          <a:xfrm>
            <a:off x="5080406"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Kick-off at the start plus a short launch for each increment, focused on the value being shipped.</a:t>
            </a:r>
          </a:p>
        </p:txBody>
      </p:sp>
      <p:sp>
        <p:nvSpPr>
          <p:cNvPr id="18" name="Oval 17"/>
          <p:cNvSpPr/>
          <p:nvPr/>
        </p:nvSpPr>
        <p:spPr>
          <a:xfrm>
            <a:off x="8104327"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432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7291425"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Agile / adaptive</a:t>
            </a:r>
          </a:p>
        </p:txBody>
      </p:sp>
      <p:sp>
        <p:nvSpPr>
          <p:cNvPr id="21" name="TextBox 20"/>
          <p:cNvSpPr txBox="1"/>
          <p:nvPr/>
        </p:nvSpPr>
        <p:spPr>
          <a:xfrm>
            <a:off x="7291425"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A short project kick-off, then effectively a mini kick-off every sprint at sprint planning.</a:t>
            </a:r>
          </a:p>
        </p:txBody>
      </p:sp>
      <p:sp>
        <p:nvSpPr>
          <p:cNvPr id="22" name="Oval 21"/>
          <p:cNvSpPr/>
          <p:nvPr/>
        </p:nvSpPr>
        <p:spPr>
          <a:xfrm>
            <a:off x="10315346"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1534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9502444"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Hybrid</a:t>
            </a:r>
          </a:p>
        </p:txBody>
      </p:sp>
      <p:sp>
        <p:nvSpPr>
          <p:cNvPr id="25" name="TextBox 24"/>
          <p:cNvSpPr txBox="1"/>
          <p:nvPr/>
        </p:nvSpPr>
        <p:spPr>
          <a:xfrm>
            <a:off x="9502444"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A formal organisational kick-off for governance, plus agile ceremonies for the delivery team.</a:t>
            </a:r>
          </a:p>
        </p:txBody>
      </p:sp>
      <p:sp>
        <p:nvSpPr>
          <p:cNvPr id="26" name="Rounded Rectangle 25"/>
          <p:cNvSpPr/>
          <p:nvPr/>
        </p:nvSpPr>
        <p:spPr>
          <a:xfrm>
            <a:off x="566928" y="5074920"/>
            <a:ext cx="11055096" cy="786384"/>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074920"/>
            <a:ext cx="59436"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Exam cue: in predictive projects the kick-off usually occurs at the END of planning; in adaptive projects it occurs at the start of execution and repeats each iteration.</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Charter, Team and Kick-Off</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are newly assigned as PM and asked what to do first</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Read the project charter and the business documents to understand objectives, then identify stakeholders.</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team member asks who assigns work on an agile team</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Nobody assigns it. The team self-organises and pulls work from the prioritised backlog.</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is repeatedly missing agreed stand-up times</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Address the ground-rule violation with the team and revisit the team charter together — do not escalate first.</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predictive project asks when the kick-off should be held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At the end of planning, once there is an integrated plan worth communicating to stakeholders.</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2 Recap — Start the Project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Integration is the PM's job</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Unifying scope, schedule, cost, quality, risk and stakeholders so they deliver one coherent business value.</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The charter authorises</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Signed by the sponsor, it empowers the PM, states measurable objectives and anchors all later change control.</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Business documents justify</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Business case, cost-benefit analysis and benefits management plan exist before the project and outlive it.</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Know the six value drivers</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Financial gain, new customers, social benefit, first to market, improvement and regularization.</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Financial metrics rank options</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Bigger is better for NPV, IRR, ROI and BCR; smaller is better for payback period and opportunity cost.</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Identify stakeholders early</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Use the OBS, document analysis and brainstorming, and record everything in the stakeholder register.</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Analyse before you engage</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Power/interest, power/influence, impact/influence, the cube and the salience model each answer a different question.</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Align, then manage expectations</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ECO People T5 and T6: surface expectations, converge them, then monitor customer satisfaction and respond.</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Start the team deliberately</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Co-create the team charter and ground rules; build T-shaped, self-organising capability through servant leadership.</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Kick off with purpose</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Establish context, form the team and align everyone with the project vision before execution begins.</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2</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05. Business Case and Cost-Benefit Analysis</a:t>
            </a:r>
          </a:p>
        </p:txBody>
      </p:sp>
      <p:sp>
        <p:nvSpPr>
          <p:cNvPr id="10" name="TextBox 9"/>
          <p:cNvSpPr txBox="1"/>
          <p:nvPr/>
        </p:nvSpPr>
        <p:spPr>
          <a:xfrm>
            <a:off x="768096" y="2682335"/>
            <a:ext cx="500634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T3 · LO1 · 25 min in class + 25 min self-study</a:t>
            </a:r>
          </a:p>
          <a:p>
            <a:pPr algn="l">
              <a:lnSpc>
                <a:spcPct val="118000"/>
              </a:lnSpc>
              <a:spcAft>
                <a:spcPts val="400"/>
              </a:spcAft>
            </a:pPr>
            <a:r>
              <a:rPr sz="1150" b="0" i="0">
                <a:solidFill>
                  <a:srgbClr val="5B6372"/>
                </a:solidFill>
                <a:latin typeface="Arial"/>
              </a:rPr>
              <a:t>Produces: Business case, NPV/ROI/payback model</a:t>
            </a:r>
          </a:p>
        </p:txBody>
      </p:sp>
      <p:sp>
        <p:nvSpPr>
          <p:cNvPr id="11" name="Rounded Rectangle 10"/>
          <p:cNvSpPr/>
          <p:nvPr/>
        </p:nvSpPr>
        <p:spPr>
          <a:xfrm>
            <a:off x="621334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2060543"/>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2261711"/>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06. Project Charter</a:t>
            </a:r>
          </a:p>
        </p:txBody>
      </p:sp>
      <p:sp>
        <p:nvSpPr>
          <p:cNvPr id="16" name="TextBox 15"/>
          <p:cNvSpPr txBox="1"/>
          <p:nvPr/>
        </p:nvSpPr>
        <p:spPr>
          <a:xfrm>
            <a:off x="6414516" y="2682335"/>
            <a:ext cx="500634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T1 · LO1 · 20 min in class + 25 min self-study</a:t>
            </a:r>
          </a:p>
          <a:p>
            <a:pPr algn="l">
              <a:lnSpc>
                <a:spcPct val="118000"/>
              </a:lnSpc>
              <a:spcAft>
                <a:spcPts val="400"/>
              </a:spcAft>
            </a:pPr>
            <a:r>
              <a:rPr sz="1150" b="0" i="0">
                <a:solidFill>
                  <a:srgbClr val="5B6372"/>
                </a:solidFill>
                <a:latin typeface="Arial"/>
              </a:rPr>
              <a:t>Produces: Approved project charter</a:t>
            </a:r>
          </a:p>
        </p:txBody>
      </p:sp>
      <p:sp>
        <p:nvSpPr>
          <p:cNvPr id="17" name="Rounded Rectangle 16"/>
          <p:cNvSpPr/>
          <p:nvPr/>
        </p:nvSpPr>
        <p:spPr>
          <a:xfrm>
            <a:off x="56692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80611"/>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2000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07. Stakeholder Register, Power/Interest Grid and Salience Model</a:t>
            </a:r>
          </a:p>
        </p:txBody>
      </p:sp>
      <p:sp>
        <p:nvSpPr>
          <p:cNvPr id="22" name="TextBox 21"/>
          <p:cNvSpPr txBox="1"/>
          <p:nvPr/>
        </p:nvSpPr>
        <p:spPr>
          <a:xfrm>
            <a:off x="76809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T4, T5 · LO4 · 25 min in class + 25 min self-study</a:t>
            </a:r>
          </a:p>
          <a:p>
            <a:pPr algn="l">
              <a:lnSpc>
                <a:spcPct val="118000"/>
              </a:lnSpc>
              <a:spcAft>
                <a:spcPts val="400"/>
              </a:spcAft>
            </a:pPr>
            <a:r>
              <a:rPr sz="1150" b="0" i="0">
                <a:solidFill>
                  <a:srgbClr val="5B6372"/>
                </a:solidFill>
                <a:latin typeface="Arial"/>
              </a:rPr>
              <a:t>Produces: Stakeholder register, Power/interest grid, Salience classification</a:t>
            </a:r>
          </a:p>
        </p:txBody>
      </p:sp>
      <p:sp>
        <p:nvSpPr>
          <p:cNvPr id="23" name="Rounded Rectangle 22"/>
          <p:cNvSpPr/>
          <p:nvPr/>
        </p:nvSpPr>
        <p:spPr>
          <a:xfrm>
            <a:off x="621334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980611"/>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08. Team Charter, Ground Rules and Shared Vision</a:t>
            </a:r>
          </a:p>
        </p:txBody>
      </p:sp>
      <p:sp>
        <p:nvSpPr>
          <p:cNvPr id="28" name="TextBox 27"/>
          <p:cNvSpPr txBox="1"/>
          <p:nvPr/>
        </p:nvSpPr>
        <p:spPr>
          <a:xfrm>
            <a:off x="641451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T1, T2 · LO3 · 30 min in class + 15 min self-study</a:t>
            </a:r>
          </a:p>
          <a:p>
            <a:pPr algn="l">
              <a:lnSpc>
                <a:spcPct val="118000"/>
              </a:lnSpc>
              <a:spcAft>
                <a:spcPts val="400"/>
              </a:spcAft>
            </a:pPr>
            <a:r>
              <a:rPr sz="1150" b="0" i="0">
                <a:solidFill>
                  <a:srgbClr val="5B6372"/>
                </a:solidFill>
                <a:latin typeface="Arial"/>
              </a:rPr>
              <a:t>Produces: Team charter, Ground rules, Vision statement</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05. Business Case and Cost-Benefit Analysis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T3 · LO1. Produces Business case, NPV/ROI/payback model.</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State the business problem in one sentence and the opportunity in one more.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three options including 'do nothing', with the cost and benefit of each.</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Build the cash-flow table: initial investment, annual benefit, and running net position across five years.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payback period, NPV at a 6% discount rate, ROI and the benefit-cost ratio using the Statistics tool.</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the non-financial benefits and state how each will be measured.</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the recommendation, naming the benefits owner accountable after the project closes.</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Business case, NPV/ROI/payback model</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Statistics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alfredang.github.io/novastats/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06. Project Charter</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T1 · LO1. Produces Approved project charter.</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Draft the charter's purpose statement and its measurable success criteria — numbers, not adjectives.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high-level requirements and explicitly list what is OUT of scope.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Name the sponsor, project manager and key stakeholders, and state the authority delegated to the project manager.</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Add the summary milestone schedule and the high-level budget with its confidence range.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assumptions, constraints and the top five high-level risks.</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the approval criteria and who signs the charter into effect.</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Approved project charter</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07. Stakeholder Register, Power/Interest Grid and Salience Model</a:t>
            </a:r>
          </a:p>
        </p:txBody>
      </p:sp>
      <p:sp>
        <p:nvSpPr>
          <p:cNvPr id="4" name="Rectangle 3"/>
          <p:cNvSpPr/>
          <p:nvPr/>
        </p:nvSpPr>
        <p:spPr>
          <a:xfrm>
            <a:off x="566928" y="1676095"/>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05279"/>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T4, T5 · LO4. Produces Stakeholder register, Power/interest grid, Salience classification.</a:t>
            </a:r>
          </a:p>
        </p:txBody>
      </p:sp>
      <p:sp>
        <p:nvSpPr>
          <p:cNvPr id="8" name="Rounded Rectangle 7"/>
          <p:cNvSpPr/>
          <p:nvPr/>
        </p:nvSpPr>
        <p:spPr>
          <a:xfrm>
            <a:off x="9692640" y="2041855"/>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133295"/>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809951"/>
            <a:ext cx="50292" cy="67878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947111"/>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883103"/>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List every stakeholder affected by the portal upgrade, including those who merely believe they are affected.</a:t>
            </a:r>
          </a:p>
        </p:txBody>
      </p:sp>
      <p:sp>
        <p:nvSpPr>
          <p:cNvPr id="15" name="Rounded Rectangle 14"/>
          <p:cNvSpPr/>
          <p:nvPr/>
        </p:nvSpPr>
        <p:spPr>
          <a:xfrm>
            <a:off x="621334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809951"/>
            <a:ext cx="50292" cy="67878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947111"/>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883103"/>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For each, record interest, influence, expectations and their current attitude toward the project.</a:t>
            </a:r>
          </a:p>
        </p:txBody>
      </p:sp>
      <p:sp>
        <p:nvSpPr>
          <p:cNvPr id="20" name="Rounded Rectangle 19"/>
          <p:cNvSpPr/>
          <p:nvPr/>
        </p:nvSpPr>
        <p:spPr>
          <a:xfrm>
            <a:off x="56692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98468"/>
            <a:ext cx="50292" cy="67878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7356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671620"/>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Plot all stakeholders on a power/interest grid and assign the four strategies: manage closely, keep satisfied, keep informed, monitor.</a:t>
            </a:r>
          </a:p>
        </p:txBody>
      </p:sp>
      <p:sp>
        <p:nvSpPr>
          <p:cNvPr id="25" name="Rounded Rectangle 24"/>
          <p:cNvSpPr/>
          <p:nvPr/>
        </p:nvSpPr>
        <p:spPr>
          <a:xfrm>
            <a:off x="621334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598468"/>
            <a:ext cx="50292" cy="67878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73562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671620"/>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Re-classify the top eight using the salience model — power, legitimacy and urgency — and note where it disagrees with the grid.</a:t>
            </a:r>
          </a:p>
        </p:txBody>
      </p:sp>
      <p:sp>
        <p:nvSpPr>
          <p:cNvPr id="30" name="Rounded Rectangle 29"/>
          <p:cNvSpPr/>
          <p:nvPr/>
        </p:nvSpPr>
        <p:spPr>
          <a:xfrm>
            <a:off x="56692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86986"/>
            <a:ext cx="50292" cy="67878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52414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460138"/>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Complete a SEAM recording Current (C) and Desired (D) engagement for each key stakeholder.</a:t>
            </a:r>
          </a:p>
        </p:txBody>
      </p:sp>
      <p:sp>
        <p:nvSpPr>
          <p:cNvPr id="35" name="Rounded Rectangle 34"/>
          <p:cNvSpPr/>
          <p:nvPr/>
        </p:nvSpPr>
        <p:spPr>
          <a:xfrm>
            <a:off x="621334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386986"/>
            <a:ext cx="50292" cy="678789"/>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52414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460138"/>
            <a:ext cx="4713732" cy="532485"/>
          </a:xfrm>
          <a:prstGeom prst="rect">
            <a:avLst/>
          </a:prstGeom>
          <a:noFill/>
        </p:spPr>
        <p:txBody>
          <a:bodyPr wrap="square" anchor="ctr">
            <a:spAutoFit/>
          </a:bodyPr>
          <a:lstStyle/>
          <a:p>
            <a:pPr algn="l">
              <a:lnSpc>
                <a:spcPct val="114000"/>
              </a:lnSpc>
              <a:spcAft>
                <a:spcPts val="400"/>
              </a:spcAft>
            </a:pPr>
            <a:r>
              <a:rPr sz="1050" b="0" i="0">
                <a:solidFill>
                  <a:srgbClr val="161B26"/>
                </a:solidFill>
                <a:latin typeface="Arial"/>
              </a:rPr>
              <a:t>Write the engagement action that moves each stakeholder from C to D, with an owner and a date.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Stakeholder register, Power/interest grid, Salience classification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08. Team Charter, Ground Rules and Shared Vision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T1, T2 · LO3. Produces Team charter, Ground rules, Vision statement.</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Draft the team's shared vision in a single sentence every member can repeat without reading it.</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roles and responsibilities so no member is unclear what they own.</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Agree working hours, core overlap for the distributed members, and expected response times.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Set the ground rules: meeting norms, decision rules, and how disagreement is raised and settled.</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the Definition of Ready and Definition of Done the team will hold each other to.</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Agree the conflict protocol and the escalation path before any conflict actually occurs.</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Team charter, Ground rules, Vision statement</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FEF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F59E0B"/>
                </a:solidFill>
                <a:latin typeface="Arial"/>
              </a:rPr>
              <a:t>03</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F59E0B"/>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Plan the Project</a:t>
            </a:r>
          </a:p>
        </p:txBody>
      </p:sp>
      <p:sp>
        <p:nvSpPr>
          <p:cNvPr id="7" name="TextBox 6"/>
          <p:cNvSpPr txBox="1"/>
          <p:nvPr/>
        </p:nvSpPr>
        <p:spPr>
          <a:xfrm>
            <a:off x="4709160" y="1481328"/>
            <a:ext cx="6858000" cy="530352"/>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Building the integrated plan — scope, schedule, cost, quality, resources, communications, risk and procurement.</a:t>
            </a:r>
          </a:p>
        </p:txBody>
      </p:sp>
      <p:sp>
        <p:nvSpPr>
          <p:cNvPr id="8" name="Oval 7"/>
          <p:cNvSpPr/>
          <p:nvPr/>
        </p:nvSpPr>
        <p:spPr>
          <a:xfrm>
            <a:off x="4709160" y="267004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69748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2651760"/>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The integrated project management plan</a:t>
            </a:r>
          </a:p>
        </p:txBody>
      </p:sp>
      <p:sp>
        <p:nvSpPr>
          <p:cNvPr id="11" name="Oval 10"/>
          <p:cNvSpPr/>
          <p:nvPr/>
        </p:nvSpPr>
        <p:spPr>
          <a:xfrm>
            <a:off x="4709160" y="3176886"/>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20431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158598"/>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Scope: requirements, WBS and baselines</a:t>
            </a:r>
          </a:p>
        </p:txBody>
      </p:sp>
      <p:sp>
        <p:nvSpPr>
          <p:cNvPr id="14" name="Oval 13"/>
          <p:cNvSpPr/>
          <p:nvPr/>
        </p:nvSpPr>
        <p:spPr>
          <a:xfrm>
            <a:off x="4709160" y="3683725"/>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711157"/>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3665437"/>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Schedule: activities, dependencies, critical path</a:t>
            </a:r>
          </a:p>
        </p:txBody>
      </p:sp>
      <p:sp>
        <p:nvSpPr>
          <p:cNvPr id="17" name="Oval 16"/>
          <p:cNvSpPr/>
          <p:nvPr/>
        </p:nvSpPr>
        <p:spPr>
          <a:xfrm>
            <a:off x="4709160" y="419056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21799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172276"/>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Cost: estimating, budget and reserves</a:t>
            </a:r>
          </a:p>
        </p:txBody>
      </p:sp>
      <p:sp>
        <p:nvSpPr>
          <p:cNvPr id="20" name="Oval 19"/>
          <p:cNvSpPr/>
          <p:nvPr/>
        </p:nvSpPr>
        <p:spPr>
          <a:xfrm>
            <a:off x="4709160" y="4697403"/>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724835"/>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4679115"/>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Quality: planning and problem-solving tools</a:t>
            </a:r>
          </a:p>
        </p:txBody>
      </p:sp>
      <p:sp>
        <p:nvSpPr>
          <p:cNvPr id="23" name="Oval 22"/>
          <p:cNvSpPr/>
          <p:nvPr/>
        </p:nvSpPr>
        <p:spPr>
          <a:xfrm>
            <a:off x="4709160" y="520424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23167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185954"/>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Resources, communications and procurement</a:t>
            </a:r>
          </a:p>
        </p:txBody>
      </p:sp>
      <p:sp>
        <p:nvSpPr>
          <p:cNvPr id="26" name="Oval 25"/>
          <p:cNvSpPr/>
          <p:nvPr/>
        </p:nvSpPr>
        <p:spPr>
          <a:xfrm>
            <a:off x="4709160" y="5711081"/>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0" y="5738513"/>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7</a:t>
            </a:r>
          </a:p>
        </p:txBody>
      </p:sp>
      <p:sp>
        <p:nvSpPr>
          <p:cNvPr id="28" name="TextBox 27"/>
          <p:cNvSpPr txBox="1"/>
          <p:nvPr/>
        </p:nvSpPr>
        <p:spPr>
          <a:xfrm>
            <a:off x="5120640" y="5692793"/>
            <a:ext cx="6492240" cy="506838"/>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Risk: identification, analysis and response</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planning is the heart of the Process domain</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A plan is a decision record, not a document</a:t>
            </a:r>
          </a:p>
        </p:txBody>
      </p:sp>
      <p:sp>
        <p:nvSpPr>
          <p:cNvPr id="6" name="Rectangle 5"/>
          <p:cNvSpPr/>
          <p:nvPr/>
        </p:nvSpPr>
        <p:spPr>
          <a:xfrm>
            <a:off x="566928" y="350215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Reduces rework</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Decisions made deliberately up front cost a fraction of the same decisions made reactively during delivery.</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Creates alignment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shared plan lets thirty people make consistent choices without asking the project manager each time.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Enables control</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cannot detect variance without a baseline to measure the actual result against.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 Project Management Plan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Integration is the only knowledge area whose job is to reconcile the other twelve — the PM owns the seams between the plans.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the authorised high-level boundaries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Outputs from other planning processes (all subsidiary plans)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(EEFs)</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Organisational process assets (OPAs), templates, standards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from PMO, SMEs and delivery leads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brainstorming, checklists, focus groups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facilitation</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notably the project kick-off meeting</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the integrated, approved artefact</a:t>
            </a:r>
          </a:p>
        </p:txBody>
      </p:sp>
      <p:sp>
        <p:nvSpPr>
          <p:cNvPr id="37" name="Oval 36"/>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Contains all subsidiary plans plus the three baselines</a:t>
            </a:r>
          </a:p>
        </p:txBody>
      </p:sp>
      <p:sp>
        <p:nvSpPr>
          <p:cNvPr id="39" name="Oval 38"/>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Contains the development approach and life cycle description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project management plan actually enables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Execute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Tells the team what work to do, in what order, with which resources and to which acceptance criteria.</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the metrics, the reporting cadence and the thresholds that trigger a management conversation.</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Establishes the baselines against which variance is measured and the change control process that protects them.</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the exit criteria, handover conditions and the evidence needed for formal acceptance of deliverables.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Guardrails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Sets the boundaries inside which the team may act autonomously without escalating every decision upward.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Tailoring</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Records what was deliberately omitted or simplified for this project's size, risk and regulatory profile.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subsidiary plans inside the integrated plan</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65186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63357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management plan</a:t>
            </a:r>
          </a:p>
        </p:txBody>
      </p:sp>
      <p:sp>
        <p:nvSpPr>
          <p:cNvPr id="10" name="TextBox 9"/>
          <p:cNvSpPr txBox="1"/>
          <p:nvPr/>
        </p:nvSpPr>
        <p:spPr>
          <a:xfrm>
            <a:off x="768096" y="2054199"/>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scope is defined, validated and controlled, and how the WBS will be produced and maintained.</a:t>
            </a:r>
          </a:p>
        </p:txBody>
      </p:sp>
      <p:sp>
        <p:nvSpPr>
          <p:cNvPr id="11" name="Rounded Rectangle 10"/>
          <p:cNvSpPr/>
          <p:nvPr/>
        </p:nvSpPr>
        <p:spPr>
          <a:xfrm>
            <a:off x="4331208" y="1432407"/>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432407"/>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65186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63357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Schedule management plan</a:t>
            </a:r>
          </a:p>
        </p:txBody>
      </p:sp>
      <p:sp>
        <p:nvSpPr>
          <p:cNvPr id="16" name="TextBox 15"/>
          <p:cNvSpPr txBox="1"/>
          <p:nvPr/>
        </p:nvSpPr>
        <p:spPr>
          <a:xfrm>
            <a:off x="4532376" y="2054199"/>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scheduling method, tool, units of measure, accuracy thresholds and control rules.</a:t>
            </a:r>
          </a:p>
        </p:txBody>
      </p:sp>
      <p:sp>
        <p:nvSpPr>
          <p:cNvPr id="17" name="Rounded Rectangle 16"/>
          <p:cNvSpPr/>
          <p:nvPr/>
        </p:nvSpPr>
        <p:spPr>
          <a:xfrm>
            <a:off x="8095488" y="1432407"/>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432407"/>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65186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633575"/>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management plan</a:t>
            </a:r>
          </a:p>
        </p:txBody>
      </p:sp>
      <p:sp>
        <p:nvSpPr>
          <p:cNvPr id="22" name="TextBox 21"/>
          <p:cNvSpPr txBox="1"/>
          <p:nvPr/>
        </p:nvSpPr>
        <p:spPr>
          <a:xfrm>
            <a:off x="8296656" y="2054199"/>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Estimating accuracy, units, control thresholds, earned value rules and reporting formats.</a:t>
            </a:r>
          </a:p>
        </p:txBody>
      </p:sp>
      <p:sp>
        <p:nvSpPr>
          <p:cNvPr id="23" name="Rounded Rectangle 22"/>
          <p:cNvSpPr/>
          <p:nvPr/>
        </p:nvSpPr>
        <p:spPr>
          <a:xfrm>
            <a:off x="566928" y="3131210"/>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131210"/>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3350666"/>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338724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3332378"/>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management plan</a:t>
            </a:r>
          </a:p>
        </p:txBody>
      </p:sp>
      <p:sp>
        <p:nvSpPr>
          <p:cNvPr id="28" name="TextBox 27"/>
          <p:cNvSpPr txBox="1"/>
          <p:nvPr/>
        </p:nvSpPr>
        <p:spPr>
          <a:xfrm>
            <a:off x="768096" y="3753002"/>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Standards to be met, quality roles, review activities and the improvement approach.</a:t>
            </a:r>
          </a:p>
        </p:txBody>
      </p:sp>
      <p:sp>
        <p:nvSpPr>
          <p:cNvPr id="29" name="Rounded Rectangle 28"/>
          <p:cNvSpPr/>
          <p:nvPr/>
        </p:nvSpPr>
        <p:spPr>
          <a:xfrm>
            <a:off x="4331208" y="3131210"/>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131210"/>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3350666"/>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338724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3332378"/>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Resource management plan</a:t>
            </a:r>
          </a:p>
        </p:txBody>
      </p:sp>
      <p:sp>
        <p:nvSpPr>
          <p:cNvPr id="34" name="TextBox 33"/>
          <p:cNvSpPr txBox="1"/>
          <p:nvPr/>
        </p:nvSpPr>
        <p:spPr>
          <a:xfrm>
            <a:off x="4532376" y="3753002"/>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people and physical resources are identified, acquired, developed and released.</a:t>
            </a:r>
          </a:p>
        </p:txBody>
      </p:sp>
      <p:sp>
        <p:nvSpPr>
          <p:cNvPr id="35" name="Rounded Rectangle 34"/>
          <p:cNvSpPr/>
          <p:nvPr/>
        </p:nvSpPr>
        <p:spPr>
          <a:xfrm>
            <a:off x="8095488" y="3131210"/>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131210"/>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3350666"/>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338724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3332378"/>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Communications plan</a:t>
            </a:r>
          </a:p>
        </p:txBody>
      </p:sp>
      <p:sp>
        <p:nvSpPr>
          <p:cNvPr id="40" name="TextBox 39"/>
          <p:cNvSpPr txBox="1"/>
          <p:nvPr/>
        </p:nvSpPr>
        <p:spPr>
          <a:xfrm>
            <a:off x="8296656" y="3753002"/>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Who needs what information, in what format, how often, and through which channel.</a:t>
            </a:r>
          </a:p>
        </p:txBody>
      </p:sp>
      <p:sp>
        <p:nvSpPr>
          <p:cNvPr id="41" name="Rounded Rectangle 40"/>
          <p:cNvSpPr/>
          <p:nvPr/>
        </p:nvSpPr>
        <p:spPr>
          <a:xfrm>
            <a:off x="566928" y="4830013"/>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83001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49808" y="504946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9808" y="508604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7</a:t>
            </a:r>
          </a:p>
        </p:txBody>
      </p:sp>
      <p:sp>
        <p:nvSpPr>
          <p:cNvPr id="45" name="TextBox 44"/>
          <p:cNvSpPr txBox="1"/>
          <p:nvPr/>
        </p:nvSpPr>
        <p:spPr>
          <a:xfrm>
            <a:off x="1133856" y="503118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management plan</a:t>
            </a:r>
          </a:p>
        </p:txBody>
      </p:sp>
      <p:sp>
        <p:nvSpPr>
          <p:cNvPr id="46" name="TextBox 45"/>
          <p:cNvSpPr txBox="1"/>
          <p:nvPr/>
        </p:nvSpPr>
        <p:spPr>
          <a:xfrm>
            <a:off x="768096" y="5451805"/>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Methodology, roles, budgeting, timing, categories, probability and impact definitions.</a:t>
            </a:r>
          </a:p>
        </p:txBody>
      </p:sp>
      <p:sp>
        <p:nvSpPr>
          <p:cNvPr id="47" name="Rounded Rectangle 46"/>
          <p:cNvSpPr/>
          <p:nvPr/>
        </p:nvSpPr>
        <p:spPr>
          <a:xfrm>
            <a:off x="4331208" y="4830013"/>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331208" y="483001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4514088" y="504946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14088" y="508604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8</a:t>
            </a:r>
          </a:p>
        </p:txBody>
      </p:sp>
      <p:sp>
        <p:nvSpPr>
          <p:cNvPr id="51" name="TextBox 50"/>
          <p:cNvSpPr txBox="1"/>
          <p:nvPr/>
        </p:nvSpPr>
        <p:spPr>
          <a:xfrm>
            <a:off x="4898136" y="503118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Procurement plan</a:t>
            </a:r>
          </a:p>
        </p:txBody>
      </p:sp>
      <p:sp>
        <p:nvSpPr>
          <p:cNvPr id="52" name="TextBox 51"/>
          <p:cNvSpPr txBox="1"/>
          <p:nvPr/>
        </p:nvSpPr>
        <p:spPr>
          <a:xfrm>
            <a:off x="4532376" y="5451805"/>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is bought versus built, contract types, and how sellers are selected and managed.</a:t>
            </a:r>
          </a:p>
        </p:txBody>
      </p:sp>
      <p:sp>
        <p:nvSpPr>
          <p:cNvPr id="53" name="Rounded Rectangle 52"/>
          <p:cNvSpPr/>
          <p:nvPr/>
        </p:nvSpPr>
        <p:spPr>
          <a:xfrm>
            <a:off x="8095488" y="4830013"/>
            <a:ext cx="3526536" cy="14610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095488" y="483001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278368" y="504946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78368" y="508604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9</a:t>
            </a:r>
          </a:p>
        </p:txBody>
      </p:sp>
      <p:sp>
        <p:nvSpPr>
          <p:cNvPr id="57" name="TextBox 56"/>
          <p:cNvSpPr txBox="1"/>
          <p:nvPr/>
        </p:nvSpPr>
        <p:spPr>
          <a:xfrm>
            <a:off x="8662416" y="503118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Stakeholder engagement plan</a:t>
            </a:r>
          </a:p>
        </p:txBody>
      </p:sp>
      <p:sp>
        <p:nvSpPr>
          <p:cNvPr id="58" name="TextBox 57"/>
          <p:cNvSpPr txBox="1"/>
          <p:nvPr/>
        </p:nvSpPr>
        <p:spPr>
          <a:xfrm>
            <a:off x="8296656" y="5451805"/>
            <a:ext cx="3124200" cy="7112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strategies used to move each stakeholder from current to desired engagement level.</a:t>
            </a:r>
          </a:p>
        </p:txBody>
      </p:sp>
      <p:sp>
        <p:nvSpPr>
          <p:cNvPr id="59" name="TextBox 5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60" name="TextBox 5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1" name="TextBox 6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Plan-driven versus collaborative planning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PLAN-DRIVEN (PREDICTIVE)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plan is authored, then approved, then followed</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project manager drafts the plan and seeks formal sign-off</a:t>
            </a:r>
          </a:p>
        </p:txBody>
      </p:sp>
      <p:sp>
        <p:nvSpPr>
          <p:cNvPr id="11" name="Oval 10"/>
          <p:cNvSpPr/>
          <p:nvPr/>
        </p:nvSpPr>
        <p:spPr>
          <a:xfrm>
            <a:off x="786384" y="295945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Detail is pushed as far forward as the information allows</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after baseline requires a formal change request</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Strong on auditability, regulatory evidence and contract control</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Risk: the plan ages badly when the environment moves fast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COLLABORATIVE (ADAPTIVE)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plan is co-created continuously by those doing the work</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product owner sets objectives from customer needs and value</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estimates and sequences its own work each iteration</a:t>
            </a:r>
          </a:p>
        </p:txBody>
      </p:sp>
      <p:sp>
        <p:nvSpPr>
          <p:cNvPr id="27" name="Oval 26"/>
          <p:cNvSpPr/>
          <p:nvPr/>
        </p:nvSpPr>
        <p:spPr>
          <a:xfrm>
            <a:off x="6451092" y="327949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Team members are the local domain experts on how work gets done</a:t>
            </a:r>
          </a:p>
        </p:txBody>
      </p:sp>
      <p:sp>
        <p:nvSpPr>
          <p:cNvPr id="29" name="Oval 28"/>
          <p:cNvSpPr/>
          <p:nvPr/>
        </p:nvSpPr>
        <p:spPr>
          <a:xfrm>
            <a:off x="6451092" y="377327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PM or scrum master facilitates rather than dictates</a:t>
            </a:r>
          </a:p>
        </p:txBody>
      </p:sp>
      <p:sp>
        <p:nvSpPr>
          <p:cNvPr id="31" name="Oval 30"/>
          <p:cNvSpPr/>
          <p:nvPr/>
        </p:nvSpPr>
        <p:spPr>
          <a:xfrm>
            <a:off x="6451092" y="409331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Risk: without discipline, planning degrades into improvisation</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Most real projects are hybrid: governance-level milestones are plan-driven while the work inside each milestone is planned collaboratively by the delivery team.</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Rolling wave planning — progressive elaboration in practice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Plan the horizon</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Decompose only the near-term work to work-package detail; leave later work as planning packages.</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Execute the wave</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Deliver the detailed work while the longer-term scope stays deliberately coarse.</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Learn</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Capture actuals, estimating error and emerging risks from the wave just completed.</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Elaborate next</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Decompose the next horizon using what you just learned, not what you guessed at the start.</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Re-baseline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Fold the newly detailed work into the baseline through the agreed change control route.</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Rolling wave applies to BOTH predictive and adaptive approaches — it is applied to work packages, planning packages and release planning, and is the standard answer when a question says 'not enough information is available to plan the later phases'.</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Stakeholder Engagement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Engagement is planned, not improvised: you decide deliberately who must be moved from resistant to supportive, and how.</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and project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stakeholder register, issue log, change log</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with contracting parties</a:t>
            </a:r>
          </a:p>
        </p:txBody>
      </p:sp>
      <p:sp>
        <p:nvSpPr>
          <p:cNvPr id="17" name="Oval 16"/>
          <p:cNvSpPr/>
          <p:nvPr/>
        </p:nvSpPr>
        <p:spPr>
          <a:xfrm>
            <a:off x="749808" y="436305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culture, political climate, regulation</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politics and organisational power</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benchmarking against comparable projects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assumption/constraint and root cause analysis</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prioritisation and ranking of stakeholders</a:t>
            </a:r>
          </a:p>
        </p:txBody>
      </p:sp>
      <p:sp>
        <p:nvSpPr>
          <p:cNvPr id="31" name="Oval 30"/>
          <p:cNvSpPr/>
          <p:nvPr/>
        </p:nvSpPr>
        <p:spPr>
          <a:xfrm>
            <a:off x="4593336" y="51156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0241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mind mapping, engagement assessment matrix</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Stakeholder engagement plan — the strategies and actions needed</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Defines required involvement level per stakeholder group</a:t>
            </a:r>
          </a:p>
        </p:txBody>
      </p:sp>
      <p:sp>
        <p:nvSpPr>
          <p:cNvPr id="41" name="Oval 40"/>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Feeds directly into the communications management plan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Stakeholder Engagement Assessment Matrix (SEAM)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1842516"/>
                <a:gridCol w="4355037"/>
                <a:gridCol w="4857542"/>
              </a:tblGrid>
              <a:tr h="475488">
                <a:tc>
                  <a:txBody>
                    <a:bodyPr wrap="square" anchor="t"/>
                    <a:lstStyle/>
                    <a:p>
                      <a:pPr algn="l">
                        <a:lnSpc>
                          <a:spcPct val="100000"/>
                        </a:lnSpc>
                        <a:spcAft>
                          <a:spcPts val="0"/>
                        </a:spcAft>
                      </a:pPr>
                      <a:r>
                        <a:rPr sz="1150" b="1" i="0">
                          <a:solidFill>
                            <a:srgbClr val="FFFFFF"/>
                          </a:solidFill>
                          <a:latin typeface="Arial"/>
                        </a:rPr>
                        <a:t>Level</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What it looks like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Typical intervention</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Unaware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Does not know the project exists or that it will affect them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Awareness communication; briefing pack; named contact point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Resistant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Aware of the project and actively opposed to the change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Surface the objection, negotiate, find the win, escalate if needed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Neutral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Aware but neither supportive nor opposed; will not help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Show the personal and unit-level benefit; invite to a demo</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Supportive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Aware and in favour, will speak well of the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Keep informed, use as a reference and as an internal advocate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Leading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Actively engaged in ensuring the project succeeds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Give real influence: steering seat, sponsorship of a workstream</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Mark C for the CURRENT level and D for the DESIRED level in each row. Where C and D differ you have an engagement gap that needs a named action and an owner — not a hope.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planning and stakeholder engagement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stakeholder is surprised by a project decision that affected them</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Review and update the stakeholder engagement plan and the communications plan — the omission is a planning defect</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Later phases cannot be planned in detail yet</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Apply rolling wave planning; use planning packages now and elaborate them when information becomes available</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asks who decides how the work will be done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members do — they are the local domain experts; the PM facilitates and removes impediments</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Sponsor asks 'what is the project management plan for?'</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It is the approved basis for executing, monitoring, controlling and closing the work — not a status report</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PROCESS T2 · DEVELOP AND MANAGE PROJECT SCOPE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1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Scope: agree what is in, and prove what is out</a:t>
            </a:r>
          </a:p>
        </p:txBody>
      </p:sp>
      <p:sp>
        <p:nvSpPr>
          <p:cNvPr id="6" name="Rectangle 5"/>
          <p:cNvSpPr/>
          <p:nvPr/>
        </p:nvSpPr>
        <p:spPr>
          <a:xfrm>
            <a:off x="566928" y="3502152"/>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Product scope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features and functions that characterise the product, service or result being delivered.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Project scope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work that must be performed to deliver that product with the specified features and functions.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Why it matters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Every schedule, cost, quality and risk number in the plan is derived from the agreed scope.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Scope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These two plans are process documents: they describe how you will do scope work, not what the scope actually is.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high-level requirements and boundaries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quality and life cycle descriptions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culture, infrastructure, marketplace</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policies, historical scope statements, lessons learned</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from prior similar projects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 on how to collect requirements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sponsor, selected stakeholders and the team</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Scope management plan — how scope will be defined and controlled</a:t>
            </a:r>
          </a:p>
        </p:txBody>
      </p:sp>
      <p:sp>
        <p:nvSpPr>
          <p:cNvPr id="35" name="Oval 34"/>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management plan — how requirements are gathered, analysed, documented and traced</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scope management plan must specify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statement preparation</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process used to prepare a detailed project scope statement from the charter and requirements.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WBS creation</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the WBS will be created from the detailed scope statement, and the decomposition rules to apply.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Baseline approval</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the scope baseline will be reviewed, approved and subsequently maintained.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Deliverable acceptance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formal acceptance of completed deliverables will be obtained and evidenced.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control</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change requests to the scope statement are raised, assessed, and routed for a decision.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Tailoring decisions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scope activities are simplified or omitted given this project's size and risk.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Scope planning analysis techniques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145018"/>
                <a:gridCol w="4950042"/>
                <a:gridCol w="3960034"/>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does</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When you reach for it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Document analysis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Derives requirements from existing documents such as contracts, SOPs, regulations and prior project files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predecessor system or process already exists on paper</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Alternatives analysis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Evaluates possible options or approaches for executing and performing the project work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More than one credible way to deliver the same outcome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Product analysis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Asks questions about a product and forms answers describing its use, characteristics and value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deliverable is a product rather than a service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Product breakdown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Splits a product and its requirements into components to gain a clear understanding of the work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Complex physical or software product with many subsystems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Systems engineering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Approaches design, integration, management and the life cycle of complex systems in a multidisciplinary way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Highly interdependent, safety- or mission-critical systems</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Scope in predictive versus agile delivery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SCOPE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Fixed early, defended by change control</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Scope is planned in full at the start of the project</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Captured in a detailed project scope statement and WBS</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Baselined once approved by the sponsor or change board</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Any change during delivery requires a formal change request</a:t>
            </a:r>
          </a:p>
        </p:txBody>
      </p:sp>
      <p:sp>
        <p:nvSpPr>
          <p:cNvPr id="17" name="Oval 16"/>
          <p:cNvSpPr/>
          <p:nvPr/>
        </p:nvSpPr>
        <p:spPr>
          <a:xfrm>
            <a:off x="786384"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Time and cost flex; scope is held constant wherever possible</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AGILE SCOPE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Fixed in the sprint, variable across the release</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Product owner determines and prioritises the product backlog</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Scope may legitimately change between every sprint</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Detail is added just in time, at backlog refinement</a:t>
            </a:r>
          </a:p>
        </p:txBody>
      </p:sp>
      <p:sp>
        <p:nvSpPr>
          <p:cNvPr id="29" name="Oval 28"/>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Time (the sprint) and cost (the team) are fixed instead</a:t>
            </a:r>
          </a:p>
        </p:txBody>
      </p:sp>
      <p:sp>
        <p:nvSpPr>
          <p:cNvPr id="31" name="Oval 30"/>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Value delivered per iteration is the control mechanism</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'requirements are expected to evolve' points to adaptive; 'requirements are stable and the contract is fixed price' points to predictive.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scope artefacts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roadmap</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Envisions and plans the big picture — product strategy, direction and the value to be delivered over time.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Themes and goals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Groups related features under overarching goals so structure and association are visible to stakeholders.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Milestones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Dates when major items will occur or be delivered — the fixed points a fluid backlog must still respect.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Story map</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Organises user stories into functional groups within a narrative flow, so the whole product is visible at once.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backlog</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single ordered list of everything that might be built, owned and prioritised by the product owner.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Increment</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working, potentially releasable slice of product produced by each iteration and inspected at review.</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Collect Requirements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Requirements are the bridge between stakeholder need and deliverable — every later baseline traces back to them.</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and business documents (business case)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requirements and stakeholder plans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lessons learned, stakeholder register</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and enterprise environmental factors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gathering: brainstorming, interviews, focus groups, questionnaires and surveys, benchmarking</a:t>
            </a:r>
          </a:p>
        </p:txBody>
      </p:sp>
      <p:sp>
        <p:nvSpPr>
          <p:cNvPr id="25" name="Oval 24"/>
          <p:cNvSpPr/>
          <p:nvPr/>
        </p:nvSpPr>
        <p:spPr>
          <a:xfrm>
            <a:off x="4593336" y="3674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582618"/>
            <a:ext cx="2782824" cy="20162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analysis: document analysis</a:t>
            </a:r>
          </a:p>
        </p:txBody>
      </p:sp>
      <p:sp>
        <p:nvSpPr>
          <p:cNvPr id="27" name="Oval 26"/>
          <p:cNvSpPr/>
          <p:nvPr/>
        </p:nvSpPr>
        <p:spPr>
          <a:xfrm>
            <a:off x="4593336" y="39945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03115"/>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Decision making: voting, multi-criteria decision analysis</a:t>
            </a:r>
          </a:p>
        </p:txBody>
      </p:sp>
      <p:sp>
        <p:nvSpPr>
          <p:cNvPr id="29" name="Oval 28"/>
          <p:cNvSpPr/>
          <p:nvPr/>
        </p:nvSpPr>
        <p:spPr>
          <a:xfrm>
            <a:off x="4593336" y="451667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25237"/>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representation: affinity diagram, mind mapping</a:t>
            </a:r>
          </a:p>
        </p:txBody>
      </p:sp>
      <p:sp>
        <p:nvSpPr>
          <p:cNvPr id="31" name="Oval 30"/>
          <p:cNvSpPr/>
          <p:nvPr/>
        </p:nvSpPr>
        <p:spPr>
          <a:xfrm>
            <a:off x="4593336" y="503879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947359"/>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Interpersonal and team skills: nominal group technique, observation/conversation, facilitation</a:t>
            </a:r>
          </a:p>
        </p:txBody>
      </p:sp>
      <p:sp>
        <p:nvSpPr>
          <p:cNvPr id="33" name="Oval 32"/>
          <p:cNvSpPr/>
          <p:nvPr/>
        </p:nvSpPr>
        <p:spPr>
          <a:xfrm>
            <a:off x="4593336" y="576254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671106"/>
            <a:ext cx="2782824" cy="20162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Context diagram and prototypes</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documentation — grouped, unambiguous, testable</a:t>
            </a:r>
          </a:p>
        </p:txBody>
      </p:sp>
      <p:sp>
        <p:nvSpPr>
          <p:cNvPr id="41" name="Oval 40"/>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traceability matrix (RTM)</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requirements management plan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is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defined process for how requirements will be gathered, analysed, documented, managed and controlled.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Also called</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business analysis plan — in organisations with a formal BA function it is owned jointly with the BA.</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Configuration</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States how requirement changes are initiated, analysed, traced, tracked and approved.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Prioritisation</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Records the prioritisation method that will be used, such as MoSCoW or a weighted scoring model.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Traceability</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the traceability structure — which attributes are recorded against each requirement.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Metrics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the product metrics that will be used and the rationale for choosing them.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Requirements Traceability Matrix — what each column proves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803904"/>
        </p:xfrm>
        <a:graphic>
          <a:graphicData uri="http://schemas.openxmlformats.org/drawingml/2006/table">
            <a:tbl>
              <a:tblPr firstRow="1" bandRow="1">
                <a:tableStyleId>{5C22544A-7EE6-4342-B048-85BDC9FD1C3A}</a:tableStyleId>
              </a:tblPr>
              <a:tblGrid>
                <a:gridCol w="1980017"/>
                <a:gridCol w="4290037"/>
                <a:gridCol w="4785041"/>
              </a:tblGrid>
              <a:tr h="475488">
                <a:tc>
                  <a:txBody>
                    <a:bodyPr wrap="square" anchor="t"/>
                    <a:lstStyle/>
                    <a:p>
                      <a:pPr algn="l">
                        <a:lnSpc>
                          <a:spcPct val="100000"/>
                        </a:lnSpc>
                        <a:spcAft>
                          <a:spcPts val="0"/>
                        </a:spcAft>
                      </a:pPr>
                      <a:r>
                        <a:rPr sz="1150" b="1" i="0">
                          <a:solidFill>
                            <a:srgbClr val="FFFFFF"/>
                          </a:solidFill>
                          <a:latin typeface="Arial"/>
                        </a:rPr>
                        <a:t>Column</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Contents</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Question it answers</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Requirement ID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Unique persistent identifier for the requirement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Can I refer to this unambiguously in every other artefact?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Business need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business case objective or benefit it supports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Why are we building this at all?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Project objective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charter objective the requirement serves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Is this in scope or is it somebody's pet feature?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WBS deliverable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work package that produces it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Who is building it and where is it in the schedule?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Product design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design element or component that realises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Has anyone actually designed a solution for this?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Test case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verification or acceptance test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will we prove it works before handover?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Status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Active, cancelled, deferred, added, approved, assigned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Is this still live and who signed it off?</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Requirement gathering techniques compared</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279392"/>
        </p:xfrm>
        <a:graphic>
          <a:graphicData uri="http://schemas.openxmlformats.org/drawingml/2006/table">
            <a:tbl>
              <a:tblPr firstRow="1" bandRow="1">
                <a:tableStyleId>{5C22544A-7EE6-4342-B048-85BDC9FD1C3A}</a:tableStyleId>
              </a:tblPr>
              <a:tblGrid>
                <a:gridCol w="2381097"/>
                <a:gridCol w="4762195"/>
                <a:gridCol w="3911803"/>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Best for</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Brainstorming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Relaxed informal group idea generation using lateral thinking; quantity first, judgement deferred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Wide divergent option generation early in discovery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Interviews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Structured or unstructured one-to-one questioning of stakeholders and SMEs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Sensitive, political or expert-held detail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Focus groups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Moderated discussion with pre-qualified stakeholders and subject matter experts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Attitudes, expectations and reactions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Questionnaires/surveys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Written question sets to large or geographically dispersed audiences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Statistically meaningful breadth</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Benchmarking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Compares practices against other organisations to identify best practice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Setting a performance bar to meet or exceed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Nominal group technique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Brainstorm, then rank ideas by individual vote to produce a prioritised list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Converging a large idea pool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Observation (job shadowing)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Watch people do the work in situ</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Tacit process detail people cannot articulate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Facilitation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Focused workshops (JAD, QFD) that cross functions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Reconciling conflicting cross-department requirements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Requirement prioritisation techniques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2381097"/>
                <a:gridCol w="4762195"/>
                <a:gridCol w="3911803"/>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Mechanics</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Benefit</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MoSCoW (Dai Clegg)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Sort into Must have, Should have, Could have, Won't have this time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Reaches shared understanding of importance fast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Kano model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Classify features as Basic, Performance, Delighter, Indifferent or Reverse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Separates satisfiers from mere expectations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100-point method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Each stakeholder distributes 100 points across the candidate requirements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Forces trade-offs; exposes true preference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Weighted/multi-criteria</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Score each requirement against weighted criteria and rank the totals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Defensible, auditable decision trail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Paired comparison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Compare requirements two at a time and tally the wins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Works when stakeholders cannot rank a long list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Value/effort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Plot benefit against cost of delivery on a 2x2</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Surfaces the quick wins and the money pits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MoSCoW as a decision grid</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MUST HAVE</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1050" b="0" i="0">
                <a:solidFill>
                  <a:srgbClr val="161B26"/>
                </a:solidFill>
                <a:latin typeface="Arial"/>
              </a:rPr>
              <a:t>Non-negotiable for this release; without it the delivery has no legal, safety or business viability.</a:t>
            </a:r>
          </a:p>
        </p:txBody>
      </p:sp>
      <p:sp>
        <p:nvSpPr>
          <p:cNvPr id="8" name="Rounded Rectangle 7"/>
          <p:cNvSpPr/>
          <p:nvPr/>
        </p:nvSpPr>
        <p:spPr>
          <a:xfrm>
            <a:off x="4325112"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SHOULD HAVE</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1050" b="0" i="0">
                <a:solidFill>
                  <a:srgbClr val="161B26"/>
                </a:solidFill>
                <a:latin typeface="Arial"/>
              </a:rPr>
              <a:t>Important and painful to omit, but a workaround exists for the duration of this release.</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COULD HAVE</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1050" b="0" i="0">
                <a:solidFill>
                  <a:srgbClr val="161B26"/>
                </a:solidFill>
                <a:latin typeface="Arial"/>
              </a:rPr>
              <a:t>Desirable and included only if time and cost allow; the first thing dropped when the sprint is tight.</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WON'T HAVE (THIS TIME)</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1050" b="0" i="0">
                <a:solidFill>
                  <a:srgbClr val="161B26"/>
                </a:solidFill>
                <a:latin typeface="Arial"/>
              </a:rPr>
              <a:t>Explicitly agreed as out of scope now — recorded, not forgotten, and revisited next release.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URGENCY OF NEED</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IMPACT IF ABSENT</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The discipline is in the W: writing down what you are NOT doing is what stops scope creep later. Cap Must-haves at roughly 60% of capacity so there is room to absorb reality.</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Backlog and backlog refinement</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backlog</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single ordered list of everything that might be built; the product owner owns its content and order.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User stories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items describing desired functionality from the user's point of view, with acceptance criteria attached.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Refinement (grooming)</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Continual work by the product owner before iteration planning to add detail, estimates and order.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Joint refinement</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 and product owner refine together during the sprint so the next sprint starts with ready items.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Reprioritisation</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Allows reorganisation so higher-value items are completed first as the market and feedback change.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Emergent detail</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Only the top of the backlog needs full detail — the bottom stays coarse until it approaches delivery.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Relative sizing techniques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81097"/>
                <a:gridCol w="3231489"/>
                <a:gridCol w="5442508"/>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Scale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How to use it</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T-shirt sizing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XS, S, M, L, XL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Fast, coarse sizing of a large backlog or a roadmap before any detail exists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Story points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Fibonacci: 1, 2, 3, 5, 8, 13, 21</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Relative measure of difficulty, effort, volume and uncertainty combined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Planning poker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Simultaneous reveal of point cards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Removes anchoring bias; the discussion of outliers is the real value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Ideal days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Uninterrupted working days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Intuitive for new teams but invites confusion with calendar duration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Affinity estimation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Silent sorting of cards by size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Sizing 100+ backlog items in under an hour</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Points are relative and team-specific: 8 points on one team is not 8 points on another. Never use velocity to compare teams.</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Define Scope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Define Scope converts a long list of requirements into a single agreed statement of what will and will not be delivered.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with the high-level boundaries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the scope management plan</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requirements documentation, risk register</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and OPAs including prior scope statements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comparable deliverables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a:t>
            </a:r>
          </a:p>
        </p:txBody>
      </p:sp>
      <p:sp>
        <p:nvSpPr>
          <p:cNvPr id="27" name="Oval 26"/>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 multi-criteria decision analysis</a:t>
            </a:r>
          </a:p>
        </p:txBody>
      </p:sp>
      <p:sp>
        <p:nvSpPr>
          <p:cNvPr id="29" name="Oval 28"/>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 workshops</a:t>
            </a:r>
          </a:p>
        </p:txBody>
      </p:sp>
      <p:sp>
        <p:nvSpPr>
          <p:cNvPr id="31" name="Oval 30"/>
          <p:cNvSpPr/>
          <p:nvPr/>
        </p:nvSpPr>
        <p:spPr>
          <a:xfrm>
            <a:off x="4593336" y="490438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1294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Product analysis: product breakdown, systems analysis, value engineering, value analysis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scope statement — the detailed description</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requirements documentation, RTM, stakeholder register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Anatomy of the project scope statement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scope description</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Progressively elaborated description of the characteristics of the product, service or result.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Deliverables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unique verifiable product or capability required, including project management reports and documents.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Acceptance criteria</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conditions that must be met before the deliverables will be formally accepted by the customer.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Exclusions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Explicitly identifies what is out of scope, so stakeholder expectations are managed before delivery starts.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Constraints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Limiting factors — fixed budget, imposed dates, mandated technology, contractual provisions.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Assumptions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Factors treated as true without proof; each one is a risk with a friendlier name and belongs in the risk register.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Baselines — the approved versions you measure against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baseline</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Approved project scope statement + WBS + WBS dictionary; changed only via approved change request.</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Schedule baseline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approved version of the schedule model, with baseline start and finish dates for each activity.</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baseline</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approved time-phased budget excluding management reserve; the S-curve you track EV against.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Performance measurement baseline</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 schedule + cost combined; the single reference for earned value analysis.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baseline at all</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Variance is meaningless without a fixed reference; an un-baselined project cannot be controlled.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Changing a baseline</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Only through integrated change control — never by quietly editing the file to match the actual.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Changing a baselined item — the change request route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Raise</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Any stakeholder may raise a change request; it is logged the moment it is raised, not after it is approved.</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Analyse impact</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Assess the effect on scope, schedule, cost, quality, resources and risk — never on one dimension alone.</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Record</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Enter it in the change log with the impact analysis and the recommended disposition.</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Decide</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change control board approves, defers or rejects; the decision and its rationale are recorded.</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Implement/update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If approved, update the baselines and all affected documents, then communicate the change.</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 rejected change request is still a valuable artefact: it records that the request was considered, so it does not resurface as an informal expectation later in the project.</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Scope creep versus gold plating</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SCOPE CREEP</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Uncontrolled expansion without approval</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Scope or features added that were not planned or approved</a:t>
            </a:r>
          </a:p>
        </p:txBody>
      </p:sp>
      <p:sp>
        <p:nvSpPr>
          <p:cNvPr id="11" name="Oval 10"/>
          <p:cNvSpPr/>
          <p:nvPr/>
        </p:nvSpPr>
        <p:spPr>
          <a:xfrm>
            <a:off x="786384"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requested by stakeholders, accepted informally by the team</a:t>
            </a:r>
          </a:p>
        </p:txBody>
      </p:sp>
      <p:sp>
        <p:nvSpPr>
          <p:cNvPr id="13" name="Oval 12"/>
          <p:cNvSpPr/>
          <p:nvPr/>
        </p:nvSpPr>
        <p:spPr>
          <a:xfrm>
            <a:off x="786384" y="327949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Impacts cost and schedule that nobody has funded</a:t>
            </a:r>
          </a:p>
        </p:txBody>
      </p:sp>
      <p:sp>
        <p:nvSpPr>
          <p:cNvPr id="15" name="Oval 14"/>
          <p:cNvSpPr/>
          <p:nvPr/>
        </p:nvSpPr>
        <p:spPr>
          <a:xfrm>
            <a:off x="786384" y="359953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Root cause is a weak or bypassed change control process</a:t>
            </a:r>
          </a:p>
        </p:txBody>
      </p:sp>
      <p:sp>
        <p:nvSpPr>
          <p:cNvPr id="17" name="Oval 16"/>
          <p:cNvSpPr/>
          <p:nvPr/>
        </p:nvSpPr>
        <p:spPr>
          <a:xfrm>
            <a:off x="786384" y="391957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Cure: an explicit scope statement plus disciplined change control</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GOLD PLATING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Extra work nobody asked for</a:t>
            </a:r>
          </a:p>
        </p:txBody>
      </p:sp>
      <p:sp>
        <p:nvSpPr>
          <p:cNvPr id="23" name="Oval 22"/>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delivers features the customer did not need or request</a:t>
            </a:r>
          </a:p>
        </p:txBody>
      </p:sp>
      <p:sp>
        <p:nvSpPr>
          <p:cNvPr id="25" name="Oval 24"/>
          <p:cNvSpPr/>
          <p:nvPr/>
        </p:nvSpPr>
        <p:spPr>
          <a:xfrm>
            <a:off x="6451092" y="295945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Motivated by pride, boredom or a wish to delight the customer</a:t>
            </a:r>
          </a:p>
        </p:txBody>
      </p:sp>
      <p:sp>
        <p:nvSpPr>
          <p:cNvPr id="27" name="Oval 26"/>
          <p:cNvSpPr/>
          <p:nvPr/>
        </p:nvSpPr>
        <p:spPr>
          <a:xfrm>
            <a:off x="6451092" y="345323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Consumes budget and introduces untested, unrequested risk</a:t>
            </a:r>
          </a:p>
        </p:txBody>
      </p:sp>
      <p:sp>
        <p:nvSpPr>
          <p:cNvPr id="29" name="Oval 28"/>
          <p:cNvSpPr/>
          <p:nvPr/>
        </p:nvSpPr>
        <p:spPr>
          <a:xfrm>
            <a:off x="6451092" y="377327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Never adds value the customer will pay for or thank you for</a:t>
            </a:r>
          </a:p>
        </p:txBody>
      </p:sp>
      <p:sp>
        <p:nvSpPr>
          <p:cNvPr id="31" name="Oval 30"/>
          <p:cNvSpPr/>
          <p:nvPr/>
        </p:nvSpPr>
        <p:spPr>
          <a:xfrm>
            <a:off x="6451092" y="409331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Cure: definition of done, and acceptance criteria as the ceiling</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destroy the baseline, but the direction differs: creep comes from outside the team, gold plating comes from inside.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Definition of Ready versus Definition of Done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DEFINITION OF READY (DoR)</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What must be true before work may START</a:t>
            </a:r>
          </a:p>
        </p:txBody>
      </p:sp>
      <p:sp>
        <p:nvSpPr>
          <p:cNvPr id="9" name="Oval 8"/>
          <p:cNvSpPr/>
          <p:nvPr/>
        </p:nvSpPr>
        <p:spPr>
          <a:xfrm>
            <a:off x="786384"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Story is written from the user's perspective with clear value</a:t>
            </a:r>
          </a:p>
        </p:txBody>
      </p:sp>
      <p:sp>
        <p:nvSpPr>
          <p:cNvPr id="11" name="Oval 10"/>
          <p:cNvSpPr/>
          <p:nvPr/>
        </p:nvSpPr>
        <p:spPr>
          <a:xfrm>
            <a:off x="786384" y="295945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Acceptance criteria are written and agreed with the product owner</a:t>
            </a:r>
          </a:p>
        </p:txBody>
      </p:sp>
      <p:sp>
        <p:nvSpPr>
          <p:cNvPr id="13" name="Oval 12"/>
          <p:cNvSpPr/>
          <p:nvPr/>
        </p:nvSpPr>
        <p:spPr>
          <a:xfrm>
            <a:off x="786384" y="345323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Dependencies identified and either resolved or scheduled</a:t>
            </a:r>
          </a:p>
        </p:txBody>
      </p:sp>
      <p:sp>
        <p:nvSpPr>
          <p:cNvPr id="15" name="Oval 14"/>
          <p:cNvSpPr/>
          <p:nvPr/>
        </p:nvSpPr>
        <p:spPr>
          <a:xfrm>
            <a:off x="786384" y="377327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story is small enough to complete inside one iteration</a:t>
            </a:r>
          </a:p>
        </p:txBody>
      </p:sp>
      <p:sp>
        <p:nvSpPr>
          <p:cNvPr id="17" name="Oval 16"/>
          <p:cNvSpPr/>
          <p:nvPr/>
        </p:nvSpPr>
        <p:spPr>
          <a:xfrm>
            <a:off x="786384" y="4093311"/>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has estimated it and understands what 'done' means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DEFINITION OF DONE (DoD)</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What must be true before work is COMPLETE</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Code written, peer reviewed and merged to the mainline</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Unit, integration and acceptance tests written and passing</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Documentation updated; no known defects above agreed severity</a:t>
            </a:r>
          </a:p>
        </p:txBody>
      </p:sp>
      <p:sp>
        <p:nvSpPr>
          <p:cNvPr id="29" name="Oval 28"/>
          <p:cNvSpPr/>
          <p:nvPr/>
        </p:nvSpPr>
        <p:spPr>
          <a:xfrm>
            <a:off x="6451092" y="359953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Deployed to the agreed environment and demonstrated</a:t>
            </a:r>
          </a:p>
        </p:txBody>
      </p:sp>
      <p:sp>
        <p:nvSpPr>
          <p:cNvPr id="31" name="Oval 30"/>
          <p:cNvSpPr/>
          <p:nvPr/>
        </p:nvSpPr>
        <p:spPr>
          <a:xfrm>
            <a:off x="6451092" y="391957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Accepted by the product owner against the acceptance criteria</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DoD is the team's quality contract with itself and is the single most effective agile defence against gold plating and against carrying unfinished work between sprints.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Create WBS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The WBS is deliverable-oriented, not activity-oriented: its elements are nouns (things produced), not verbs.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the scope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project scope statement, requirements documentation</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industry-specific WBS standards</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WBS templates from prior similar projects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how far to decompose</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Decomposition — dividing and subdividing scope into smaller, more manageable parts</a:t>
            </a:r>
          </a:p>
        </p:txBody>
      </p:sp>
      <p:sp>
        <p:nvSpPr>
          <p:cNvPr id="27" name="Chevron 2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1" name="Oval 3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Scope baseline — scope statement + WBS + WBS dictionary</a:t>
            </a:r>
          </a:p>
        </p:txBody>
      </p:sp>
      <p:sp>
        <p:nvSpPr>
          <p:cNvPr id="33" name="Oval 3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and requirements documentation</a:t>
            </a:r>
          </a:p>
        </p:txBody>
      </p:sp>
      <p:sp>
        <p:nvSpPr>
          <p:cNvPr id="35" name="TextBox 3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6" name="TextBox 3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7" name="TextBox 3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Decomposition — from deliverable to work package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Identify deliverables</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Take the deliverables and related work from the approved project scope statement.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Structure the WBS</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Organise by phase, by major deliverable, or by subproject — pick one logic and stay consistent.</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Decompose downward</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Break upper components into lower-level, more detailed components with the team, not alone.</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Assign codes</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Give every element a unique code of accounts identifier so cost and schedule can roll up cleanly.</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Verify sufficiency</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Confirm the degree of decomposition is enough to estimate, assign and control — then stop.</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Over-decomposition is a real defect: it produces inefficient use of resources, decreased efficiency in performing the work, and a schedule so granular nobody maintains it.</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Work packages, planning packages and the 100% rule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 package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lowest level of the WBS — small enough to estimate cost and duration reliably and assign to one owner.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 account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management control point where scope, budget and schedule are integrated and compared to earned value.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Planning package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control account component with known work but no detailed activities yet — rolling wave's placeholder.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100% rule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WBS includes 100% of the work defined by the scope, and captures all deliverables — internal and external.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Nothing extra</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not in the WBS is outside the project scope; this is what makes the WBS a scope-creep detector.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8/80 heuristic</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common rule of thumb: a work package should be between 8 and 80 hours of effort. It is guidance, not doctrine.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WBS dictionary — the detail behind each work package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754880"/>
        </p:xfrm>
        <a:graphic>
          <a:graphicData uri="http://schemas.openxmlformats.org/drawingml/2006/table">
            <a:tbl>
              <a:tblPr firstRow="1" bandRow="1">
                <a:tableStyleId>{5C22544A-7EE6-4342-B048-85BDC9FD1C3A}</a:tableStyleId>
              </a:tblPr>
              <a:tblGrid>
                <a:gridCol w="3132277"/>
                <a:gridCol w="7922818"/>
              </a:tblGrid>
              <a:tr h="475488">
                <a:tc>
                  <a:txBody>
                    <a:bodyPr wrap="square" anchor="t"/>
                    <a:lstStyle/>
                    <a:p>
                      <a:pPr algn="l">
                        <a:lnSpc>
                          <a:spcPct val="100000"/>
                        </a:lnSpc>
                        <a:spcAft>
                          <a:spcPts val="0"/>
                        </a:spcAft>
                      </a:pPr>
                      <a:r>
                        <a:rPr sz="1150" b="1" i="0">
                          <a:solidFill>
                            <a:srgbClr val="FFFFFF"/>
                          </a:solidFill>
                          <a:latin typeface="Arial"/>
                        </a:rPr>
                        <a:t>Field</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Why it is there</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WBS code identifier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Links the package to the code of accounts so cost and schedule data roll up to the right control account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Description of work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Removes ambiguity about what the package includes and, critically, what it excludes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Assumptions and constraints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Records the conditions the estimate depends on so the estimate can be challenged fairly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Responsible organisation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Names the accountable unit or person for the package — no orphan work</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Schedule milestones/activities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Connects the package to the schedule model and its associated activities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Resources required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States the people, equipment and materials the package consumes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Cost estimates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package-level cost that bottom-up rolls into the project budget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Quality requirements and acceptance criteria</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Defines what 'complete and correct' means for this package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Technical references / agreement information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Points to the standards, drawings or contract clauses that govern the work</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scope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stakeholder asks for a small extra feature mid-sprint</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Predictive: raise a change request. Agile: add it to the product backlog for the product owner to prioritise — never mid-sprint</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team added a feature the customer never asked for</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gold plating; it is not a benefit, it is an unapproved scope change consuming budget</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need to know if a requirement was delivered and tested</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Consult the requirements traceability matrix — it links need to deliverable to test to acceptance</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question mentions 'approved scope statement + WBS + dictionary'</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combination is the definition of the scope baseline</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is not shown anywhere in the WBS</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It is out of scope. The 100% rule means the WBS contains all of the work and only the work of the project</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scope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Two plans first</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Plan Scope Management yields the scope management plan and the requirements management plan — process, not content.</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Collect then define</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Requirements documentation and the RTM come before the project scope statement can be written.</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The RTM is the spine</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It traces need to objective to deliverable to test to acceptance and status.</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Prioritise explicitly</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MoSCoW, Kano and the 100-point method turn 'everything is critical' into a defensible order.</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The WBS is deliverables</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Decompose to work packages; the WBS dictionary carries the detail; obey the 100% rule.</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Baseline and defend</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Scope baseline changes only by approved change request; watch for creep from outside and gold plating from inside.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ECO PROCESS T8 · PLAN AND MANAGE SCHEDULE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2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Schedule: sequence the work, then face the maths</a:t>
            </a:r>
          </a:p>
        </p:txBody>
      </p:sp>
      <p:sp>
        <p:nvSpPr>
          <p:cNvPr id="6" name="Rectangle 5"/>
          <p:cNvSpPr/>
          <p:nvPr/>
        </p:nvSpPr>
        <p:spPr>
          <a:xfrm>
            <a:off x="566928" y="3502152"/>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Derived, not chosen</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 credible schedule is calculated from scope, dependencies and resources — it is not a date you were told.</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The constraint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critical path defines the shortest possible duration; everything else has float to spend.</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Adaptive equivalent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Agile replaces the Gantt with cadence, velocity and a prioritised backlog — but still forecasts.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Schedule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This plan may be formal or informal, broadly framed or highly detailed — tailored to the needs of the project.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summary milestone schedule and approval requirements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baseline, development approach</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culture, scheduling software availability</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historical schedules, templates, scheduling policies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scheduling methodology and tooling</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 on scheduling approaches, level of detail, durations and rolling wave horizons</a:t>
            </a:r>
          </a:p>
        </p:txBody>
      </p:sp>
      <p:sp>
        <p:nvSpPr>
          <p:cNvPr id="27" name="Oval 26"/>
          <p:cNvSpPr/>
          <p:nvPr/>
        </p:nvSpPr>
        <p:spPr>
          <a:xfrm>
            <a:off x="4593336" y="445541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the team, sponsor and the PMO</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management plan — establishes criteria and activities for developing, monitoring and controlling the schedule</a:t>
            </a:r>
          </a:p>
        </p:txBody>
      </p:sp>
      <p:sp>
        <p:nvSpPr>
          <p:cNvPr id="35" name="Oval 34"/>
          <p:cNvSpPr/>
          <p:nvPr/>
        </p:nvSpPr>
        <p:spPr>
          <a:xfrm>
            <a:off x="8436864" y="3914088"/>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82264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Defines the units of measure, accuracy, control thresholds and the rules of performance measurement</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schedule management plan specifies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Scheduling method</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Critical path method, critical chain, or an iteration-based cadence — chosen deliberately, stated explicitly.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Scheduling tool</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software of record; if two tools exist you will eventually have two conflicting truths.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Level of accuracy</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acceptable range for activity duration estimates, including a contingency amount.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Units of measure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Hours, days or weeks for time; staff hours for effort — mixing them silently is a classic estimating error.</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 thresholds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variance that may be tolerated before an action is required — for example ±10% of planned duration.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Reporting formats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formats and frequency of schedule reports, and the maintenance process for the schedule model.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205</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Predictive versus adaptive scheduling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(WATERFALL) SCHEDULING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Activities decomposed from work packages, then sequenced</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Activities broken down from work packages and put in order</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Dependencies, durations and resources drive the calculated dates</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critical path determines the shortest possible duration</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Once approved and baselined, changes need a change request</a:t>
            </a:r>
          </a:p>
        </p:txBody>
      </p:sp>
      <p:sp>
        <p:nvSpPr>
          <p:cNvPr id="17" name="Oval 16"/>
          <p:cNvSpPr/>
          <p:nvPr/>
        </p:nvSpPr>
        <p:spPr>
          <a:xfrm>
            <a:off x="786384" y="391957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Presented as a Gantt chart, milestone chart or network diagram</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ADAPTIVE (AGILE) SCHEDULING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Fixed cadence, variable content, forecast by velocity</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Product owner owns the product backlog and the product roadmap</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roadmap shows the order features are expected to be delivered</a:t>
            </a:r>
          </a:p>
        </p:txBody>
      </p:sp>
      <p:sp>
        <p:nvSpPr>
          <p:cNvPr id="27" name="Oval 26"/>
          <p:cNvSpPr/>
          <p:nvPr/>
        </p:nvSpPr>
        <p:spPr>
          <a:xfrm>
            <a:off x="6451092"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Iteration length is fixed; the content of each iteration varies</a:t>
            </a:r>
          </a:p>
        </p:txBody>
      </p:sp>
      <p:sp>
        <p:nvSpPr>
          <p:cNvPr id="29" name="Oval 28"/>
          <p:cNvSpPr/>
          <p:nvPr/>
        </p:nvSpPr>
        <p:spPr>
          <a:xfrm>
            <a:off x="6451092"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Forecasts come from measured velocity, not from imposed dates</a:t>
            </a:r>
          </a:p>
        </p:txBody>
      </p:sp>
      <p:sp>
        <p:nvSpPr>
          <p:cNvPr id="31" name="Oval 30"/>
          <p:cNvSpPr/>
          <p:nvPr/>
        </p:nvSpPr>
        <p:spPr>
          <a:xfrm>
            <a:off x="6451092"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Presented as a roadmap, Kanban board, burndown or burnup chart</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start from benchmarking and historical data: comparing against a similar product or service schedule gives a defensible starting point before detailed analysis.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Schedule presentation formats — choose to fit the audience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Roadmap</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High-level, time-boxed view of themes and releases for executives who want direction rather than detail.</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Gantt chart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Bar chart of activities against a calendar; shows duration, overlap and progress at a glance.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Milestone chart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Only zero-duration events on a timeline — the right artefact for a steering committee.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Network diagram</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Nodes and arrows showing logical dependencies; the only format that reveals the critical path.</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Kanban board</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Columns per workflow stage with WIP limits — for continuous flow rather than time-boxed work.</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Burndown/burnup</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remaining or work completed over time, compared with the ideal line for the iteration or release.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207</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Kanban board mechanics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Visualise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Organise work into tasks on cards so the whole flow is visible to everyone, including stakeholders.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Columns as stages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Each column is a workflow stage; tailor the stages to your actual process, not a textbook one.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Card information</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Display owner, size, blocked status and age at every stage so the board answers questions without a meeting.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WIP limits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Cap the number of items allowed in a column; the cap is what converts a to-do list into a flow system.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Pull, not push</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is pulled when capacity frees up, rather than pushed onto a team already saturated.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Expose bottlenecks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column that keeps hitting its WIP limit is the constraint — improve there, nowhere else.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Burndown chart — work remaining against the ideal line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Tracks the work to be completed in the current iteration, measured in story points or hours.</a:t>
            </a:r>
          </a:p>
        </p:txBody>
      </p:sp>
      <p:sp>
        <p:nvSpPr>
          <p:cNvPr id="11" name="Oval 10"/>
          <p:cNvSpPr/>
          <p:nvPr/>
        </p:nvSpPr>
        <p:spPr>
          <a:xfrm>
            <a:off x="8403336" y="287258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Used to analyse variance against the ideal burndown of work committed to during iteration planning.</a:t>
            </a:r>
          </a:p>
        </p:txBody>
      </p:sp>
      <p:sp>
        <p:nvSpPr>
          <p:cNvPr id="13" name="Oval 12"/>
          <p:cNvSpPr/>
          <p:nvPr/>
        </p:nvSpPr>
        <p:spPr>
          <a:xfrm>
            <a:off x="8403336" y="3805275"/>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flat start then a cliff usually means work was integrated late — a definition-of-done problem, not a capacity problem.</a:t>
            </a:r>
          </a:p>
        </p:txBody>
      </p:sp>
      <p:sp>
        <p:nvSpPr>
          <p:cNvPr id="15" name="Oval 14"/>
          <p:cNvSpPr/>
          <p:nvPr/>
        </p:nvSpPr>
        <p:spPr>
          <a:xfrm>
            <a:off x="8403336" y="473796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line above ideal at mid-sprint is the trigger for a scope conversation with the product owner, not overtime.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209</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Burnup chart — completed work against total scope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0B981"/>
                </a:solidFill>
                <a:latin typeface="Arial"/>
              </a:rPr>
              <a:t>WHAT IT TELLS YOU</a:t>
            </a:r>
          </a:p>
        </p:txBody>
      </p:sp>
      <p:sp>
        <p:nvSpPr>
          <p:cNvPr id="9" name="Oval 8"/>
          <p:cNvSpPr/>
          <p:nvPr/>
        </p:nvSpPr>
        <p:spPr>
          <a:xfrm>
            <a:off x="8403336" y="2127351"/>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Shows accumulated progress of completed work, updated after each iteration.</a:t>
            </a:r>
          </a:p>
        </p:txBody>
      </p:sp>
      <p:sp>
        <p:nvSpPr>
          <p:cNvPr id="11" name="Oval 10"/>
          <p:cNvSpPr/>
          <p:nvPr/>
        </p:nvSpPr>
        <p:spPr>
          <a:xfrm>
            <a:off x="8403336" y="2872587"/>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Unlike a burndown, it separates the two causes of a slipping date: slower delivery versus growing scope.</a:t>
            </a:r>
          </a:p>
        </p:txBody>
      </p:sp>
      <p:sp>
        <p:nvSpPr>
          <p:cNvPr id="13" name="Oval 12"/>
          <p:cNvSpPr/>
          <p:nvPr/>
        </p:nvSpPr>
        <p:spPr>
          <a:xfrm>
            <a:off x="8403336" y="3805275"/>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rising top line is scope growth made visible — the single most useful chart in a scope-creep conversation.</a:t>
            </a:r>
          </a:p>
        </p:txBody>
      </p:sp>
      <p:sp>
        <p:nvSpPr>
          <p:cNvPr id="15" name="Oval 14"/>
          <p:cNvSpPr/>
          <p:nvPr/>
        </p:nvSpPr>
        <p:spPr>
          <a:xfrm>
            <a:off x="8403336" y="4737963"/>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intersection of the two lines is the forecast completion point for the release.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Velocity — the team's measured rate of progress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Velocity is the number of story points completed during an iteration, counted only for items meeting the definition of done.</a:t>
            </a:r>
          </a:p>
        </p:txBody>
      </p:sp>
      <p:sp>
        <p:nvSpPr>
          <p:cNvPr id="11" name="Oval 10"/>
          <p:cNvSpPr/>
          <p:nvPr/>
        </p:nvSpPr>
        <p:spPr>
          <a:xfrm>
            <a:off x="8403336" y="305089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Estimate it initially, then modify it using actuals from subsequent iterations — never negotiate it upward.</a:t>
            </a:r>
          </a:p>
        </p:txBody>
      </p:sp>
      <p:sp>
        <p:nvSpPr>
          <p:cNvPr id="13" name="Oval 12"/>
          <p:cNvSpPr/>
          <p:nvPr/>
        </p:nvSpPr>
        <p:spPr>
          <a:xfrm>
            <a:off x="8403336" y="3974439"/>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goal is a constant, predictable velocity from one iteration to the next, not a rising one.</a:t>
            </a:r>
          </a:p>
        </p:txBody>
      </p:sp>
      <p:sp>
        <p:nvSpPr>
          <p:cNvPr id="15" name="Oval 14"/>
          <p:cNvSpPr/>
          <p:nvPr/>
        </p:nvSpPr>
        <p:spPr>
          <a:xfrm>
            <a:off x="8403336" y="489798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Forecast: remaining backlog points divided by average velocity gives the number of iterations still required.</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211</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Continuous flow metrics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81097"/>
                <a:gridCol w="4592116"/>
                <a:gridCol w="4081881"/>
              </a:tblGrid>
              <a:tr h="475488">
                <a:tc>
                  <a:txBody>
                    <a:bodyPr wrap="square" anchor="t"/>
                    <a:lstStyle/>
                    <a:p>
                      <a:pPr algn="l">
                        <a:lnSpc>
                          <a:spcPct val="100000"/>
                        </a:lnSpc>
                        <a:spcAft>
                          <a:spcPts val="0"/>
                        </a:spcAft>
                      </a:pPr>
                      <a:r>
                        <a:rPr sz="1150" b="1" i="0">
                          <a:solidFill>
                            <a:srgbClr val="FFFFFF"/>
                          </a:solidFill>
                          <a:latin typeface="Arial"/>
                        </a:rPr>
                        <a:t>Metric</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What it tells you</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WIP (work in progress)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Measure of work started but not yet completed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 WIP means context switching and delayed value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Lead time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Length of time a work item takes to go through the entire process, from request to delivery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What the customer actually experiences as responsiveness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Cycle time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Length of time a work item is actively being worked 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Your team's execution speed once work truly starts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Throughput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Number of items entering or exiting the system per unit of time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Delivery capacity — the basis for flow forecasting</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Queue time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Lead time minus cycle time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waiting; usually the largest and most ignored part of lead time</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Little's Law and flow arithmetic</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Little's Law</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L = λ × W</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Average work in progress equals arrival rate times average lead time — cut WIP and lead time falls.</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Average cycle time</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WIP ÷ Throughput</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If 12 items are in progress and you finish 3 per week, each takes about 4 weeks.</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Flow efficiency</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Cycle time ÷ Lead time</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Typically 5-15% in knowledge work; the rest is queueing, not working.</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Iterations remaining</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Backlog points ÷ Velocity</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agile forecast — a range, using best and worst recent velocity.</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Little's Law is why WIP limits work: with throughput roughly fixed by team capacity, the only lever you control for faster delivery is starting less work at once.</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Define Activities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Work packages are nouns; activities are verbs. Define Activities is where the deliverable-oriented WBS becomes executable work.</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structure, published commercial information</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activity lists from prior projects, standard templates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from those who will perform the work</a:t>
            </a:r>
          </a:p>
        </p:txBody>
      </p:sp>
      <p:sp>
        <p:nvSpPr>
          <p:cNvPr id="23" name="Oval 22"/>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Decomposition of work packages into schedule activities</a:t>
            </a:r>
          </a:p>
        </p:txBody>
      </p:sp>
      <p:sp>
        <p:nvSpPr>
          <p:cNvPr id="25" name="Oval 24"/>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Rolling wave planning for the later horizons</a:t>
            </a:r>
          </a:p>
        </p:txBody>
      </p:sp>
      <p:sp>
        <p:nvSpPr>
          <p:cNvPr id="27" name="Oval 26"/>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including team planning sessions</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Activity list — all schedule activities with scope of work</a:t>
            </a:r>
          </a:p>
        </p:txBody>
      </p:sp>
      <p:sp>
        <p:nvSpPr>
          <p:cNvPr id="35" name="Oval 34"/>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Activity attributes — predecessors, successors, leads, lags, resource requirements, constraints and assumptions</a:t>
            </a:r>
          </a:p>
        </p:txBody>
      </p:sp>
      <p:sp>
        <p:nvSpPr>
          <p:cNvPr id="37" name="Oval 36"/>
          <p:cNvSpPr/>
          <p:nvPr/>
        </p:nvSpPr>
        <p:spPr>
          <a:xfrm>
            <a:off x="8436864" y="445541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Milestone list — mandatory and optional milestones</a:t>
            </a:r>
          </a:p>
        </p:txBody>
      </p:sp>
      <p:sp>
        <p:nvSpPr>
          <p:cNvPr id="39" name="Oval 38"/>
          <p:cNvSpPr/>
          <p:nvPr/>
        </p:nvSpPr>
        <p:spPr>
          <a:xfrm>
            <a:off x="8436864" y="499673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490529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and plan updates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214</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schedule development sequence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Define activities</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Break each work package into the activities required to produce it.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Sequence</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Determine dependencies and precedence relationships between the activities.</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Estimate durations</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Estimate each activity based on the resources assumed to be assigned to it.</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Analyse the network</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Run forward and backward passes to find float and the critical path.</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Optimise and baseline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Level resources, compress if needed, then baseline the approved schedule model.</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Every one of these steps is iterative: over-allocated resources or a date constraint will send you back to re-sequence and re-estimate before you can baseline anything.</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215</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Activity dependency types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551176"/>
                <a:gridCol w="4592116"/>
                <a:gridCol w="3911803"/>
              </a:tblGrid>
              <a:tr h="475488">
                <a:tc>
                  <a:txBody>
                    <a:bodyPr wrap="square" anchor="t"/>
                    <a:lstStyle/>
                    <a:p>
                      <a:pPr algn="l">
                        <a:lnSpc>
                          <a:spcPct val="100000"/>
                        </a:lnSpc>
                        <a:spcAft>
                          <a:spcPts val="0"/>
                        </a:spcAft>
                      </a:pPr>
                      <a:r>
                        <a:rPr sz="1150" b="1" i="0">
                          <a:solidFill>
                            <a:srgbClr val="FFFFFF"/>
                          </a:solidFill>
                          <a:latin typeface="Arial"/>
                        </a:rPr>
                        <a:t>Type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Meaning</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Action by the project manager</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Mandatory (hard logic)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Contractually required or inherent in the nature of the work — concrete must cure before you build on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Must schedule it; there is no way around this sequence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Discretionary (soft logic)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Established because of best practice or because a specific sequence is preferred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Can be changed; the first place to look when compressing</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External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Relationship between a project activity and a non-project activity, such as a regulator's approval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Outside your control; manage as a risk and monitor closely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Internal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Relationship between two project activities, generally inside the team's control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Within the team's control; re-sequence freely if it helps</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Dependencies combine: a dependency can be mandatory-external (a legally required inspection) or discretionary-internal (a preferred build order). Name both attributes.</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216</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Sequence Activities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Sequencing produces logic, not dates. Dates only appear after durations are estimated and the network is analysed.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activity list and attributes, assumption log, milestone list</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government standards, scheduling tools, PMIS</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existing schedule methodology and network templates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Precedence diagramming method (PDM)</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Dependency determination and integration — mandatory, discretionary, external, internal</a:t>
            </a:r>
          </a:p>
        </p:txBody>
      </p:sp>
      <p:sp>
        <p:nvSpPr>
          <p:cNvPr id="27" name="Oval 26"/>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2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Leads and lags</a:t>
            </a:r>
          </a:p>
        </p:txBody>
      </p:sp>
      <p:sp>
        <p:nvSpPr>
          <p:cNvPr id="29" name="Oval 28"/>
          <p:cNvSpPr/>
          <p:nvPr/>
        </p:nvSpPr>
        <p:spPr>
          <a:xfrm>
            <a:off x="4593336" y="4363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schedule network diagram — the logical flow</a:t>
            </a:r>
          </a:p>
        </p:txBody>
      </p:sp>
      <p:sp>
        <p:nvSpPr>
          <p:cNvPr id="37" name="Oval 36"/>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activity attributes, activity list, assumption log, milestone list</a:t>
            </a:r>
          </a:p>
        </p:txBody>
      </p:sp>
      <p:sp>
        <p:nvSpPr>
          <p:cNvPr id="39" name="TextBox 3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0" name="TextBox 3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1" name="TextBox 4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217</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Precedence relationships in the PDM</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551176"/>
                <a:gridCol w="3911803"/>
                <a:gridCol w="4592116"/>
              </a:tblGrid>
              <a:tr h="475488">
                <a:tc>
                  <a:txBody>
                    <a:bodyPr wrap="square" anchor="t"/>
                    <a:lstStyle/>
                    <a:p>
                      <a:pPr algn="l">
                        <a:lnSpc>
                          <a:spcPct val="100000"/>
                        </a:lnSpc>
                        <a:spcAft>
                          <a:spcPts val="0"/>
                        </a:spcAft>
                      </a:pPr>
                      <a:r>
                        <a:rPr sz="1150" b="1" i="0">
                          <a:solidFill>
                            <a:srgbClr val="FFFFFF"/>
                          </a:solidFill>
                          <a:latin typeface="Arial"/>
                        </a:rPr>
                        <a:t>Relationship</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Rule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Everyday example</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Finish-to-Start (FS)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successor cannot start until the predecessor finishes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Testing cannot start until the build is finished — by far the most common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Start-to-Start (SS)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successor cannot start until the predecessor starts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Pouring concrete starts once levelling starts, running in parallel behind it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Finish-to-Finish (FF)</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successor cannot finish until the predecessor finishes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Document writing cannot finish until testing finishes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Start-to-Finish (SF)</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successor cannot finish until the predecessor starts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old shift cannot end until the new shift starts — rare, appears on the exam</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Memory aid: name the PREDECESSOR's end first, then the SUCCESSOR's end. Start-to-Finish is the only one that feels backwards, which is exactly why it is examined.</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218</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Leads versus lags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LEAD — BRING IT FORWARD</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Accelerates the successor; shown as a negative value</a:t>
            </a:r>
          </a:p>
        </p:txBody>
      </p:sp>
      <p:sp>
        <p:nvSpPr>
          <p:cNvPr id="9" name="Oval 8"/>
          <p:cNvSpPr/>
          <p:nvPr/>
        </p:nvSpPr>
        <p:spPr>
          <a:xfrm>
            <a:off x="786384"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amount of time a successor activity can be advanced</a:t>
            </a:r>
          </a:p>
        </p:txBody>
      </p:sp>
      <p:sp>
        <p:nvSpPr>
          <p:cNvPr id="11" name="Oval 10"/>
          <p:cNvSpPr/>
          <p:nvPr/>
        </p:nvSpPr>
        <p:spPr>
          <a:xfrm>
            <a:off x="786384" y="278571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 start writing training material two weeks before build ends</a:t>
            </a:r>
          </a:p>
        </p:txBody>
      </p:sp>
      <p:sp>
        <p:nvSpPr>
          <p:cNvPr id="13" name="Oval 12"/>
          <p:cNvSpPr/>
          <p:nvPr/>
        </p:nvSpPr>
        <p:spPr>
          <a:xfrm>
            <a:off x="786384" y="327949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Written as FS minus 2 weeks on the network diagram</a:t>
            </a:r>
          </a:p>
        </p:txBody>
      </p:sp>
      <p:sp>
        <p:nvSpPr>
          <p:cNvPr id="15" name="Oval 14"/>
          <p:cNvSpPr/>
          <p:nvPr/>
        </p:nvSpPr>
        <p:spPr>
          <a:xfrm>
            <a:off x="786384" y="359953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Used to compress a schedule by overlapping activities</a:t>
            </a:r>
          </a:p>
        </p:txBody>
      </p:sp>
      <p:sp>
        <p:nvSpPr>
          <p:cNvPr id="17" name="Oval 16"/>
          <p:cNvSpPr/>
          <p:nvPr/>
        </p:nvSpPr>
        <p:spPr>
          <a:xfrm>
            <a:off x="786384" y="391957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Adds risk: you are working on an unfinished predecessor</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LAG — DELAY IT</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Delays the successor; shown as a positive value</a:t>
            </a:r>
          </a:p>
        </p:txBody>
      </p:sp>
      <p:sp>
        <p:nvSpPr>
          <p:cNvPr id="23" name="Oval 22"/>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amount of time a successor activity must be delayed</a:t>
            </a:r>
          </a:p>
        </p:txBody>
      </p:sp>
      <p:sp>
        <p:nvSpPr>
          <p:cNvPr id="25" name="Oval 24"/>
          <p:cNvSpPr/>
          <p:nvPr/>
        </p:nvSpPr>
        <p:spPr>
          <a:xfrm>
            <a:off x="6451092"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 concrete must cure for 7 days before the next activity</a:t>
            </a:r>
          </a:p>
        </p:txBody>
      </p:sp>
      <p:sp>
        <p:nvSpPr>
          <p:cNvPr id="27" name="Oval 26"/>
          <p:cNvSpPr/>
          <p:nvPr/>
        </p:nvSpPr>
        <p:spPr>
          <a:xfrm>
            <a:off x="6451092" y="327949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Written as FS plus 7 days on the network diagram</a:t>
            </a:r>
          </a:p>
        </p:txBody>
      </p:sp>
      <p:sp>
        <p:nvSpPr>
          <p:cNvPr id="29" name="Oval 28"/>
          <p:cNvSpPr/>
          <p:nvPr/>
        </p:nvSpPr>
        <p:spPr>
          <a:xfrm>
            <a:off x="6451092" y="359953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Represents mandatory waiting, not slack or float</a:t>
            </a:r>
          </a:p>
        </p:txBody>
      </p:sp>
      <p:sp>
        <p:nvSpPr>
          <p:cNvPr id="31" name="Oval 30"/>
          <p:cNvSpPr/>
          <p:nvPr/>
        </p:nvSpPr>
        <p:spPr>
          <a:xfrm>
            <a:off x="6451092" y="391957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Cannot usually be removed — it is physics or contract, not choice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Do not confuse lag with float. Lag is designed waiting inside the logic; float is calculated flexibility that falls out of the network analysis.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219</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Estimate Activity Durations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Duration is not effort: 40 hours of effort by one half-time person is a two-week duration.</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activity list and attributes, assumption log, lessons learned register, milestone list, resource requirements, resource calendars, risk register</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productivity metrics, published commercial information</a:t>
            </a:r>
          </a:p>
        </p:txBody>
      </p:sp>
      <p:sp>
        <p:nvSpPr>
          <p:cNvPr id="17" name="Oval 16"/>
          <p:cNvSpPr/>
          <p:nvPr/>
        </p:nvSpPr>
        <p:spPr>
          <a:xfrm>
            <a:off x="749808" y="520796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11652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historical duration information, calendars, scheduling method</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Expert judgment from the people doing the work</a:t>
            </a:r>
          </a:p>
        </p:txBody>
      </p:sp>
      <p:sp>
        <p:nvSpPr>
          <p:cNvPr id="25" name="Oval 24"/>
          <p:cNvSpPr/>
          <p:nvPr/>
        </p:nvSpPr>
        <p:spPr>
          <a:xfrm>
            <a:off x="4593336" y="34532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36179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Analogous estimating — top-down from a similar past activity</a:t>
            </a:r>
          </a:p>
        </p:txBody>
      </p:sp>
      <p:sp>
        <p:nvSpPr>
          <p:cNvPr id="27" name="Oval 26"/>
          <p:cNvSpPr/>
          <p:nvPr/>
        </p:nvSpPr>
        <p:spPr>
          <a:xfrm>
            <a:off x="4593336" y="395615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86471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Parametric estimating — a rate times a quantity</a:t>
            </a:r>
          </a:p>
        </p:txBody>
      </p:sp>
      <p:sp>
        <p:nvSpPr>
          <p:cNvPr id="29" name="Oval 28"/>
          <p:cNvSpPr/>
          <p:nvPr/>
        </p:nvSpPr>
        <p:spPr>
          <a:xfrm>
            <a:off x="4593336" y="445907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36763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Three-point estimating — optimistic, most likely, pessimistic</a:t>
            </a:r>
          </a:p>
        </p:txBody>
      </p:sp>
      <p:sp>
        <p:nvSpPr>
          <p:cNvPr id="31" name="Oval 30"/>
          <p:cNvSpPr/>
          <p:nvPr/>
        </p:nvSpPr>
        <p:spPr>
          <a:xfrm>
            <a:off x="4593336" y="496199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7055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Bottom-up estimating — aggregate the detailed components</a:t>
            </a:r>
          </a:p>
        </p:txBody>
      </p:sp>
      <p:sp>
        <p:nvSpPr>
          <p:cNvPr id="33" name="Oval 32"/>
          <p:cNvSpPr/>
          <p:nvPr/>
        </p:nvSpPr>
        <p:spPr>
          <a:xfrm>
            <a:off x="4593336" y="54649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373471"/>
            <a:ext cx="2782824" cy="384048"/>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Data analysis: alternatives analysis, reserve analysis</a:t>
            </a:r>
          </a:p>
        </p:txBody>
      </p:sp>
      <p:sp>
        <p:nvSpPr>
          <p:cNvPr id="35" name="Oval 34"/>
          <p:cNvSpPr/>
          <p:nvPr/>
        </p:nvSpPr>
        <p:spPr>
          <a:xfrm>
            <a:off x="4593336" y="5967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876391"/>
            <a:ext cx="2782824" cy="192024"/>
          </a:xfrm>
          <a:prstGeom prst="rect">
            <a:avLst/>
          </a:prstGeom>
          <a:noFill/>
        </p:spPr>
        <p:txBody>
          <a:bodyPr wrap="square" anchor="t">
            <a:spAutoFit/>
          </a:bodyPr>
          <a:lstStyle/>
          <a:p>
            <a:pPr algn="l">
              <a:lnSpc>
                <a:spcPct val="112000"/>
              </a:lnSpc>
              <a:spcAft>
                <a:spcPts val="400"/>
              </a:spcAft>
            </a:pPr>
            <a:r>
              <a:rPr sz="1000" b="0" i="0">
                <a:solidFill>
                  <a:srgbClr val="161B26"/>
                </a:solidFill>
                <a:latin typeface="Arial"/>
              </a:rPr>
              <a:t>Decision making and meetings</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Duration estimates — quantitative assessments, with ranges</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Basis of estimates — assumptions, constraints, confidence level</a:t>
            </a:r>
          </a:p>
        </p:txBody>
      </p:sp>
      <p:sp>
        <p:nvSpPr>
          <p:cNvPr id="45" name="Oval 44"/>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Duration and cost estimating techniques compared</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81097"/>
                <a:gridCol w="4592116"/>
                <a:gridCol w="4081881"/>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Accuracy and cost</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Expert judgment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Ask the team or the people who will do the work, using their experience of similar tasks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Fast; quality depends entirely on the expert's relevance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Analogous (top-down)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Use a similar past project, product or system as the analogy and scale it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Fast and cheap; lowest accuracy — used early when little detail exists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Parametric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Multiply a unit rate by a quantity — $55 per metre, 8 hours per drawing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More accurate than analogous if the historical data is genuinely comparable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Three-point (PERT)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Weighted average of optimistic, most likely and pessimistic estimates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Accounts for uncertainty and reduces single-point optimism bias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Bottom-up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Estimate each work package and aggregate upward through the WBS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Most accurate but the most time-consuming and costly</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221</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Three-point estimating — PERT arithmetic</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Triangular (simple average)</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(O + M + P) / 3</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Equal weight to all three points; used when the distribution is genuinely unknown.</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Beta / PERT</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(O + 4M + P) / 6</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Weights the most likely estimate four times; the PMI default for three-point estimating.</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Standard deviation</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(P - O) / 6</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spread of the estimate — a large sigma is a signal to decompose further.</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Variance</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((P - O) / 6)²</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Variances are additive along a path; standard deviations are not. Sum variances, then square-root.</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O = optimistic, M = most likely, P = pessimistic. Worked example: O=6, M=10, P=20 gives PERT = (6 + 40 + 20)/6 = 11 days, with sigma = (20-6)/6 = 2.33 days.</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222</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 Schedule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Develop Schedule is iterative — you will loop through analysis, optimisation and compression before anything is baselined.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1267358"/>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activity list and attributes, assumption log, basis of estimates, duration estimates, milestone list, network diagram, resource calendars and requirements, risk register</a:t>
            </a:r>
          </a:p>
        </p:txBody>
      </p:sp>
      <p:sp>
        <p:nvSpPr>
          <p:cNvPr id="15" name="Oval 14"/>
          <p:cNvSpPr/>
          <p:nvPr/>
        </p:nvSpPr>
        <p:spPr>
          <a:xfrm>
            <a:off x="749808" y="487786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EEFs and OPAs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network analysis</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Critical path method (CPM)</a:t>
            </a:r>
          </a:p>
        </p:txBody>
      </p:sp>
      <p:sp>
        <p:nvSpPr>
          <p:cNvPr id="25" name="Oval 24"/>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5190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optimisation — levelling and smoothing</a:t>
            </a:r>
          </a:p>
        </p:txBody>
      </p:sp>
      <p:sp>
        <p:nvSpPr>
          <p:cNvPr id="27" name="Oval 26"/>
          <p:cNvSpPr/>
          <p:nvPr/>
        </p:nvSpPr>
        <p:spPr>
          <a:xfrm>
            <a:off x="4593336" y="4151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06039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what-if scenario analysis, simulation (Monte Carlo)</a:t>
            </a:r>
          </a:p>
        </p:txBody>
      </p:sp>
      <p:sp>
        <p:nvSpPr>
          <p:cNvPr id="29" name="Oval 28"/>
          <p:cNvSpPr/>
          <p:nvPr/>
        </p:nvSpPr>
        <p:spPr>
          <a:xfrm>
            <a:off x="4593336" y="46931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60171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Leads and lags</a:t>
            </a:r>
          </a:p>
        </p:txBody>
      </p:sp>
      <p:sp>
        <p:nvSpPr>
          <p:cNvPr id="31" name="Oval 30"/>
          <p:cNvSpPr/>
          <p:nvPr/>
        </p:nvSpPr>
        <p:spPr>
          <a:xfrm>
            <a:off x="4593336" y="502325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93181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compression — crashing and fast tracking</a:t>
            </a:r>
          </a:p>
        </p:txBody>
      </p:sp>
      <p:sp>
        <p:nvSpPr>
          <p:cNvPr id="33" name="Oval 32"/>
          <p:cNvSpPr/>
          <p:nvPr/>
        </p:nvSpPr>
        <p:spPr>
          <a:xfrm>
            <a:off x="4593336" y="556457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47313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PMIS and agile release planning</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baseline — the approved version of the schedule model</a:t>
            </a:r>
          </a:p>
        </p:txBody>
      </p:sp>
      <p:sp>
        <p:nvSpPr>
          <p:cNvPr id="41" name="Oval 40"/>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schedule — with planned dates for each activity</a:t>
            </a:r>
          </a:p>
        </p:txBody>
      </p:sp>
      <p:sp>
        <p:nvSpPr>
          <p:cNvPr id="43" name="Oval 42"/>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data and project calendars</a:t>
            </a:r>
          </a:p>
        </p:txBody>
      </p:sp>
      <p:sp>
        <p:nvSpPr>
          <p:cNvPr id="45" name="Oval 44"/>
          <p:cNvSpPr/>
          <p:nvPr/>
        </p:nvSpPr>
        <p:spPr>
          <a:xfrm>
            <a:off x="8436864" y="436305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and project document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Float and critical path arithmetic</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Total float</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LS − ES  (or LF − EF)</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How long an activity can slip without delaying the project end date.</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Free float</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ES(successor) − EF(activity) − 1</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How long an activity can slip without delaying its earliest successor.</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Critical path</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The path with zero total float</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longest path through the network and therefore the shortest project duration.</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Project float</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Imposed date − Calculated finish</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Slack against an externally imposed deadline; can be negative.</a:t>
            </a:r>
          </a:p>
        </p:txBody>
      </p:sp>
      <p:sp>
        <p:nvSpPr>
          <p:cNvPr id="29" name="Rounded Rectangle 28"/>
          <p:cNvSpPr/>
          <p:nvPr/>
        </p:nvSpPr>
        <p:spPr>
          <a:xfrm>
            <a:off x="566928" y="5596128"/>
            <a:ext cx="11055096" cy="603504"/>
          </a:xfrm>
          <a:prstGeom prst="roundRect">
            <a:avLst>
              <a:gd name="adj" fmla="val 10000"/>
            </a:avLst>
          </a:prstGeom>
          <a:solidFill>
            <a:srgbClr val="E6F7FA"/>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Negative total float means the network cannot meet the imposed date as sequenced — the trigger for schedule compression, not for quietly changing the finish date in the tool.</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224</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Forward and backward pass — calculating the network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Forward pass</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Move left to right computing Early Start and Early Finish: EF = ES + Duration − 1.</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Take the maximum</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Where paths merge, the successor's ES is the LARGEST EF of its predecessors — the latest gate governs.</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Backward pass</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Move right to left computing Late Finish and Late Start: LS = LF − Duration + 1.</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Take the minimum</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Where paths diverge, the predecessor's LF is the SMALLEST LS of its successors.</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Compute float</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Total float = LS − ES. Activities with zero float form the critical path.</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Exam discipline: a network can have more than one critical path, and the critical path can change during execution as actuals come in. Recalculate; never assume it is fixed.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225</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Schedule compression — crashing versus fast tracking</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CRASHING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Add resources to critical path activities</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Adds cost to buy back duration on the critical path only</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Overtime, extra staff, paying to expedite deliveries</a:t>
            </a:r>
          </a:p>
        </p:txBody>
      </p:sp>
      <p:sp>
        <p:nvSpPr>
          <p:cNvPr id="13" name="Oval 12"/>
          <p:cNvSpPr/>
          <p:nvPr/>
        </p:nvSpPr>
        <p:spPr>
          <a:xfrm>
            <a:off x="786384"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Subject to diminishing returns — nine women, one month</a:t>
            </a:r>
          </a:p>
        </p:txBody>
      </p:sp>
      <p:sp>
        <p:nvSpPr>
          <p:cNvPr id="15" name="Oval 14"/>
          <p:cNvSpPr/>
          <p:nvPr/>
        </p:nvSpPr>
        <p:spPr>
          <a:xfrm>
            <a:off x="786384"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Always increases cost; may increase risk through fatigue</a:t>
            </a:r>
          </a:p>
        </p:txBody>
      </p:sp>
      <p:sp>
        <p:nvSpPr>
          <p:cNvPr id="17" name="Oval 16"/>
          <p:cNvSpPr/>
          <p:nvPr/>
        </p:nvSpPr>
        <p:spPr>
          <a:xfrm>
            <a:off x="786384"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Choose the activity with the lowest cost per day saved</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FAST TRACKING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Overlap activities normally done in sequence</a:t>
            </a:r>
          </a:p>
        </p:txBody>
      </p:sp>
      <p:sp>
        <p:nvSpPr>
          <p:cNvPr id="23" name="Oval 22"/>
          <p:cNvSpPr/>
          <p:nvPr/>
        </p:nvSpPr>
        <p:spPr>
          <a:xfrm>
            <a:off x="6451092" y="2465679"/>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Converts finish-to-start logic into overlap or start-to-start</a:t>
            </a:r>
          </a:p>
        </p:txBody>
      </p:sp>
      <p:sp>
        <p:nvSpPr>
          <p:cNvPr id="25" name="Oval 24"/>
          <p:cNvSpPr/>
          <p:nvPr/>
        </p:nvSpPr>
        <p:spPr>
          <a:xfrm>
            <a:off x="6451092" y="295945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Costs nothing directly — you pay in risk instead</a:t>
            </a:r>
          </a:p>
        </p:txBody>
      </p:sp>
      <p:sp>
        <p:nvSpPr>
          <p:cNvPr id="27" name="Oval 26"/>
          <p:cNvSpPr/>
          <p:nvPr/>
        </p:nvSpPr>
        <p:spPr>
          <a:xfrm>
            <a:off x="6451092" y="327949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Only discretionary dependencies can be fast tracked</a:t>
            </a:r>
          </a:p>
        </p:txBody>
      </p:sp>
      <p:sp>
        <p:nvSpPr>
          <p:cNvPr id="29" name="Oval 28"/>
          <p:cNvSpPr/>
          <p:nvPr/>
        </p:nvSpPr>
        <p:spPr>
          <a:xfrm>
            <a:off x="6451092" y="359953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Increases rework risk: the predecessor may still change</a:t>
            </a:r>
          </a:p>
        </p:txBody>
      </p:sp>
      <p:sp>
        <p:nvSpPr>
          <p:cNvPr id="31" name="Oval 30"/>
          <p:cNvSpPr/>
          <p:nvPr/>
        </p:nvSpPr>
        <p:spPr>
          <a:xfrm>
            <a:off x="6451092" y="3919575"/>
            <a:ext cx="146304" cy="146304"/>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Try fast tracking first, then crash what remains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Neither technique changes scope. If compression cannot recover the date, the correct move is to escalate the trade-off, not to silently reduce quality.</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226</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schedule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question gives a network diagram and asks for the shortest duration</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the critical path — the longest path through the network, with zero float</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need to shorten the schedule without adding cost</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Fast track by overlapping discretionary dependencies; crashing always costs money</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 activity has 5 days of total float and slips 3 days</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project end date is unaffected; only floats downstream change</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Concrete must cure for 7 days before the next activity</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 mandatory dependency with a 7-day lag, not float</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team's velocity is 20 points and 100 points remain</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Forecast roughly 5 more iterations — express it as a range using best and worst recent velocity</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227</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schedule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Six processes</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Plan Schedule Management, Define Activities, Sequence, Estimate Durations, Develop Schedule, Control Schedule.</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Logic before dates</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Sequencing produces a network diagram; dates only exist after durations and network analysis.</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Four dependencies</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Mandatory, discretionary, external, internal — and they combine into pairs.</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Four relationships</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FS is the default; SS and FF enable overlap; SF is rare and examined.</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Float is calculated</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Total float protects the end date; free float protects the successor; zero float is critical.</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Agile still forecasts</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Velocity, burndown, burnup and flow metrics replace the Gantt but do the same forecasting job.</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228</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F59E0B"/>
                </a:solidFill>
                <a:latin typeface="Arial"/>
              </a:rPr>
              <a:t>ECO PROCESS T6 · PLAN AND MANAGE FINANCE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3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Cost: estimate honestly, then fund the uncertainty</a:t>
            </a:r>
          </a:p>
        </p:txBody>
      </p:sp>
      <p:sp>
        <p:nvSpPr>
          <p:cNvPr id="6" name="Rectangle 5"/>
          <p:cNvSpPr/>
          <p:nvPr/>
        </p:nvSpPr>
        <p:spPr>
          <a:xfrm>
            <a:off x="566928" y="3502152"/>
            <a:ext cx="21945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Estimate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Determine the approximate monetary resources needed to complete each activity and work package.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Budget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Aggregate those estimates into an authorised, time-phased cost baseline you can measure against.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Reserve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Fund the known-unknowns and the unknown-unknowns separately — they have different owners.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229</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Cost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Set the rules of the money before you produce a number — otherwise nobody agrees what the number means.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summary budget and approval requirements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and risk management plans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exchange rates, market conditions, financial controls</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financial policies, historical cost data, estimating templates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financial management and estimating</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 on funding, make-or-buy, and on how to acquire project resources</a:t>
            </a:r>
          </a:p>
        </p:txBody>
      </p:sp>
      <p:sp>
        <p:nvSpPr>
          <p:cNvPr id="27" name="Oval 26"/>
          <p:cNvSpPr/>
          <p:nvPr/>
        </p:nvSpPr>
        <p:spPr>
          <a:xfrm>
            <a:off x="4593336" y="424418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sponsor, finance and the PMO</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management plan — units of measure, precision, accuracy, organisational procedure links (control accounts / code of accounts)</a:t>
            </a:r>
          </a:p>
        </p:txBody>
      </p:sp>
      <p:sp>
        <p:nvSpPr>
          <p:cNvPr id="35" name="Oval 34"/>
          <p:cNvSpPr/>
          <p:nvPr/>
        </p:nvSpPr>
        <p:spPr>
          <a:xfrm>
            <a:off x="8436864" y="3914088"/>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82264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Control thresholds and rules of performance measurement (EVM)</a:t>
            </a:r>
          </a:p>
        </p:txBody>
      </p:sp>
      <p:sp>
        <p:nvSpPr>
          <p:cNvPr id="37" name="Oval 36"/>
          <p:cNvSpPr/>
          <p:nvPr/>
        </p:nvSpPr>
        <p:spPr>
          <a:xfrm>
            <a:off x="8436864" y="445541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Reporting formats and process descriptions</a:t>
            </a:r>
          </a:p>
        </p:txBody>
      </p:sp>
      <p:sp>
        <p:nvSpPr>
          <p:cNvPr id="39" name="TextBox 3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0" name="TextBox 3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1" name="TextBox 4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Estimate Costs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Cost estimates are a prediction with a range and a confidence level, never a single number stated as fact.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cost and quality management plans, scope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schedule, resource requirements, risk register</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market conditions, published commercial information</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cost estimating policies and templates, historical data</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Analogous estimating</a:t>
            </a:r>
          </a:p>
        </p:txBody>
      </p:sp>
      <p:sp>
        <p:nvSpPr>
          <p:cNvPr id="27" name="Oval 26"/>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Parametric estimating</a:t>
            </a:r>
          </a:p>
        </p:txBody>
      </p:sp>
      <p:sp>
        <p:nvSpPr>
          <p:cNvPr id="29" name="Oval 28"/>
          <p:cNvSpPr/>
          <p:nvPr/>
        </p:nvSpPr>
        <p:spPr>
          <a:xfrm>
            <a:off x="4593336" y="394060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Bottom-up estimating</a:t>
            </a:r>
          </a:p>
        </p:txBody>
      </p:sp>
      <p:sp>
        <p:nvSpPr>
          <p:cNvPr id="31" name="Oval 30"/>
          <p:cNvSpPr/>
          <p:nvPr/>
        </p:nvSpPr>
        <p:spPr>
          <a:xfrm>
            <a:off x="4593336" y="427070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Three-point estimating</a:t>
            </a:r>
          </a:p>
        </p:txBody>
      </p:sp>
      <p:sp>
        <p:nvSpPr>
          <p:cNvPr id="33" name="Oval 32"/>
          <p:cNvSpPr/>
          <p:nvPr/>
        </p:nvSpPr>
        <p:spPr>
          <a:xfrm>
            <a:off x="4593336" y="460080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50936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reserve analysis, cost of quality</a:t>
            </a:r>
          </a:p>
        </p:txBody>
      </p:sp>
      <p:sp>
        <p:nvSpPr>
          <p:cNvPr id="35" name="Oval 34"/>
          <p:cNvSpPr/>
          <p:nvPr/>
        </p:nvSpPr>
        <p:spPr>
          <a:xfrm>
            <a:off x="4593336" y="514212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05068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and decision making (voting)</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estimates for each activity, including contingency</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Basis of estimates — assumptions, constraints, range, confidence</a:t>
            </a:r>
          </a:p>
        </p:txBody>
      </p:sp>
      <p:sp>
        <p:nvSpPr>
          <p:cNvPr id="45" name="Oval 44"/>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231</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four cost estimating methods in detail</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65186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633575"/>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Analogous estimating</a:t>
            </a:r>
          </a:p>
        </p:txBody>
      </p:sp>
      <p:sp>
        <p:nvSpPr>
          <p:cNvPr id="10" name="TextBox 9"/>
          <p:cNvSpPr txBox="1"/>
          <p:nvPr/>
        </p:nvSpPr>
        <p:spPr>
          <a:xfrm>
            <a:off x="768096" y="2029604"/>
            <a:ext cx="2183130" cy="158524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Uses historical information and expert judgment from a previous similar project; pick the next closest project when an exact match does not exist.</a:t>
            </a:r>
          </a:p>
        </p:txBody>
      </p:sp>
      <p:sp>
        <p:nvSpPr>
          <p:cNvPr id="11" name="Rounded Rectangle 10"/>
          <p:cNvSpPr/>
          <p:nvPr/>
        </p:nvSpPr>
        <p:spPr>
          <a:xfrm>
            <a:off x="339013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432407"/>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3018" y="165186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01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3957066" y="1633575"/>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When to use analogous</a:t>
            </a:r>
          </a:p>
        </p:txBody>
      </p:sp>
      <p:sp>
        <p:nvSpPr>
          <p:cNvPr id="16" name="TextBox 15"/>
          <p:cNvSpPr txBox="1"/>
          <p:nvPr/>
        </p:nvSpPr>
        <p:spPr>
          <a:xfrm>
            <a:off x="3591306" y="2242753"/>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Low cost and quick — the right choice very early when detail is scarce and a rough order of magnitude is all that is needed.</a:t>
            </a:r>
          </a:p>
        </p:txBody>
      </p:sp>
      <p:sp>
        <p:nvSpPr>
          <p:cNvPr id="17" name="Rounded Rectangle 16"/>
          <p:cNvSpPr/>
          <p:nvPr/>
        </p:nvSpPr>
        <p:spPr>
          <a:xfrm>
            <a:off x="621334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3348" y="1432407"/>
            <a:ext cx="258546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96228" y="165186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622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6780276" y="1633575"/>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Parametric estimating</a:t>
            </a:r>
          </a:p>
        </p:txBody>
      </p:sp>
      <p:sp>
        <p:nvSpPr>
          <p:cNvPr id="22" name="TextBox 21"/>
          <p:cNvSpPr txBox="1"/>
          <p:nvPr/>
        </p:nvSpPr>
        <p:spPr>
          <a:xfrm>
            <a:off x="6414516" y="2242753"/>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Takes variables from historical data and applies them: cost = number of resistors × cost per resistor, or rate per operator × number of operators.</a:t>
            </a:r>
          </a:p>
        </p:txBody>
      </p:sp>
      <p:sp>
        <p:nvSpPr>
          <p:cNvPr id="23" name="Rounded Rectangle 22"/>
          <p:cNvSpPr/>
          <p:nvPr/>
        </p:nvSpPr>
        <p:spPr>
          <a:xfrm>
            <a:off x="903655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36558" y="1432407"/>
            <a:ext cx="258546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19438" y="165186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943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9603486" y="1633575"/>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When to use parametric</a:t>
            </a:r>
          </a:p>
        </p:txBody>
      </p:sp>
      <p:sp>
        <p:nvSpPr>
          <p:cNvPr id="28" name="TextBox 27"/>
          <p:cNvSpPr txBox="1"/>
          <p:nvPr/>
        </p:nvSpPr>
        <p:spPr>
          <a:xfrm>
            <a:off x="9237726" y="2242753"/>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there is a genuine linear driver and credible historical data; scales far better than analogous.</a:t>
            </a:r>
          </a:p>
        </p:txBody>
      </p:sp>
      <p:sp>
        <p:nvSpPr>
          <p:cNvPr id="29" name="Rounded Rectangle 28"/>
          <p:cNvSpPr/>
          <p:nvPr/>
        </p:nvSpPr>
        <p:spPr>
          <a:xfrm>
            <a:off x="56692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980611"/>
            <a:ext cx="258546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1133856" y="4181779"/>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Bottom-up estimating</a:t>
            </a:r>
          </a:p>
        </p:txBody>
      </p:sp>
      <p:sp>
        <p:nvSpPr>
          <p:cNvPr id="34" name="TextBox 33"/>
          <p:cNvSpPr txBox="1"/>
          <p:nvPr/>
        </p:nvSpPr>
        <p:spPr>
          <a:xfrm>
            <a:off x="768096" y="4577808"/>
            <a:ext cx="2183130" cy="158524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Rolls costs up from the smallest activity upward, using the WBS to structure the estimates.</a:t>
            </a:r>
          </a:p>
        </p:txBody>
      </p:sp>
      <p:sp>
        <p:nvSpPr>
          <p:cNvPr id="35" name="Rounded Rectangle 34"/>
          <p:cNvSpPr/>
          <p:nvPr/>
        </p:nvSpPr>
        <p:spPr>
          <a:xfrm>
            <a:off x="339013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90138" y="3980611"/>
            <a:ext cx="258546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57301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7301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395706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When to use bottom-up</a:t>
            </a:r>
          </a:p>
        </p:txBody>
      </p:sp>
      <p:sp>
        <p:nvSpPr>
          <p:cNvPr id="40" name="TextBox 39"/>
          <p:cNvSpPr txBox="1"/>
          <p:nvPr/>
        </p:nvSpPr>
        <p:spPr>
          <a:xfrm>
            <a:off x="3591306" y="4790957"/>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most accurate method but the most time consuming and costly; used once the WBS is complete.</a:t>
            </a:r>
          </a:p>
        </p:txBody>
      </p:sp>
      <p:sp>
        <p:nvSpPr>
          <p:cNvPr id="41" name="Rounded Rectangle 40"/>
          <p:cNvSpPr/>
          <p:nvPr/>
        </p:nvSpPr>
        <p:spPr>
          <a:xfrm>
            <a:off x="621334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3348" y="3980611"/>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96228" y="420006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7</a:t>
            </a:r>
          </a:p>
        </p:txBody>
      </p:sp>
      <p:sp>
        <p:nvSpPr>
          <p:cNvPr id="45" name="TextBox 44"/>
          <p:cNvSpPr txBox="1"/>
          <p:nvPr/>
        </p:nvSpPr>
        <p:spPr>
          <a:xfrm>
            <a:off x="678027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Three-point estimating</a:t>
            </a:r>
          </a:p>
        </p:txBody>
      </p:sp>
      <p:sp>
        <p:nvSpPr>
          <p:cNvPr id="46" name="TextBox 45"/>
          <p:cNvSpPr txBox="1"/>
          <p:nvPr/>
        </p:nvSpPr>
        <p:spPr>
          <a:xfrm>
            <a:off x="6414516" y="4790957"/>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Uses a weighted average of three estimates to reduce bias and represent uncertainty explicitly.</a:t>
            </a:r>
          </a:p>
        </p:txBody>
      </p:sp>
      <p:sp>
        <p:nvSpPr>
          <p:cNvPr id="47" name="Rounded Rectangle 46"/>
          <p:cNvSpPr/>
          <p:nvPr/>
        </p:nvSpPr>
        <p:spPr>
          <a:xfrm>
            <a:off x="903655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36558" y="3980611"/>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219438" y="420006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1943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8</a:t>
            </a:r>
          </a:p>
        </p:txBody>
      </p:sp>
      <p:sp>
        <p:nvSpPr>
          <p:cNvPr id="51" name="TextBox 50"/>
          <p:cNvSpPr txBox="1"/>
          <p:nvPr/>
        </p:nvSpPr>
        <p:spPr>
          <a:xfrm>
            <a:off x="960348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When to use three-point</a:t>
            </a:r>
          </a:p>
        </p:txBody>
      </p:sp>
      <p:sp>
        <p:nvSpPr>
          <p:cNvPr id="52" name="TextBox 51"/>
          <p:cNvSpPr txBox="1"/>
          <p:nvPr/>
        </p:nvSpPr>
        <p:spPr>
          <a:xfrm>
            <a:off x="9237726" y="4790957"/>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Whenever a single number would hide real uncertainty — especially for novel or high-risk work.</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232</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Three-point cost estimating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692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82296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Beta / PERT cost</a:t>
            </a:r>
          </a:p>
        </p:txBody>
      </p:sp>
      <p:sp>
        <p:nvSpPr>
          <p:cNvPr id="8" name="Rounded Rectangle 7"/>
          <p:cNvSpPr/>
          <p:nvPr/>
        </p:nvSpPr>
        <p:spPr>
          <a:xfrm>
            <a:off x="4133088" y="1606143"/>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606143"/>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Ce = (Co + 4Cm + Cp) / 6</a:t>
            </a:r>
          </a:p>
        </p:txBody>
      </p:sp>
      <p:sp>
        <p:nvSpPr>
          <p:cNvPr id="10" name="TextBox 9"/>
          <p:cNvSpPr txBox="1"/>
          <p:nvPr/>
        </p:nvSpPr>
        <p:spPr>
          <a:xfrm>
            <a:off x="7607808" y="1505559"/>
            <a:ext cx="3977639" cy="82296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Ce estimated cost, Co optimistic, Cm most likely, Cp pessimistic.</a:t>
            </a:r>
          </a:p>
        </p:txBody>
      </p:sp>
      <p:sp>
        <p:nvSpPr>
          <p:cNvPr id="11" name="Rounded Rectangle 10"/>
          <p:cNvSpPr/>
          <p:nvPr/>
        </p:nvSpPr>
        <p:spPr>
          <a:xfrm>
            <a:off x="566928" y="2529687"/>
            <a:ext cx="11055096" cy="9692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529687"/>
            <a:ext cx="5943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602839"/>
            <a:ext cx="3200400" cy="82296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Triangular cost</a:t>
            </a:r>
          </a:p>
        </p:txBody>
      </p:sp>
      <p:sp>
        <p:nvSpPr>
          <p:cNvPr id="14" name="Rounded Rectangle 13"/>
          <p:cNvSpPr/>
          <p:nvPr/>
        </p:nvSpPr>
        <p:spPr>
          <a:xfrm>
            <a:off x="4133088" y="2703423"/>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703423"/>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Ce = (Co + Cm + Cp) / 3</a:t>
            </a:r>
          </a:p>
        </p:txBody>
      </p:sp>
      <p:sp>
        <p:nvSpPr>
          <p:cNvPr id="16" name="TextBox 15"/>
          <p:cNvSpPr txBox="1"/>
          <p:nvPr/>
        </p:nvSpPr>
        <p:spPr>
          <a:xfrm>
            <a:off x="7607808" y="2602839"/>
            <a:ext cx="3977639" cy="82296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Used when there is no reason to weight the most likely value more heavily.</a:t>
            </a:r>
          </a:p>
        </p:txBody>
      </p:sp>
      <p:sp>
        <p:nvSpPr>
          <p:cNvPr id="17" name="Rounded Rectangle 16"/>
          <p:cNvSpPr/>
          <p:nvPr/>
        </p:nvSpPr>
        <p:spPr>
          <a:xfrm>
            <a:off x="566928" y="3626967"/>
            <a:ext cx="11055096" cy="9692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626967"/>
            <a:ext cx="5943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700119"/>
            <a:ext cx="3200400" cy="82296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Cost standard deviation</a:t>
            </a:r>
          </a:p>
        </p:txBody>
      </p:sp>
      <p:sp>
        <p:nvSpPr>
          <p:cNvPr id="20" name="Rounded Rectangle 19"/>
          <p:cNvSpPr/>
          <p:nvPr/>
        </p:nvSpPr>
        <p:spPr>
          <a:xfrm>
            <a:off x="4133088" y="3800703"/>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800703"/>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σ = (Cp − Co) / 6</a:t>
            </a:r>
          </a:p>
        </p:txBody>
      </p:sp>
      <p:sp>
        <p:nvSpPr>
          <p:cNvPr id="22" name="TextBox 21"/>
          <p:cNvSpPr txBox="1"/>
          <p:nvPr/>
        </p:nvSpPr>
        <p:spPr>
          <a:xfrm>
            <a:off x="7607808" y="3700119"/>
            <a:ext cx="3977639" cy="82296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spread; quote Ce ± 2σ to give the sponsor a 95% range.</a:t>
            </a:r>
          </a:p>
        </p:txBody>
      </p:sp>
      <p:sp>
        <p:nvSpPr>
          <p:cNvPr id="23" name="Rounded Rectangle 22"/>
          <p:cNvSpPr/>
          <p:nvPr/>
        </p:nvSpPr>
        <p:spPr>
          <a:xfrm>
            <a:off x="566928" y="4724247"/>
            <a:ext cx="11055096" cy="96926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724247"/>
            <a:ext cx="5943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797399"/>
            <a:ext cx="3200400" cy="82296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Range example</a:t>
            </a:r>
          </a:p>
        </p:txBody>
      </p:sp>
      <p:sp>
        <p:nvSpPr>
          <p:cNvPr id="26" name="Rounded Rectangle 25"/>
          <p:cNvSpPr/>
          <p:nvPr/>
        </p:nvSpPr>
        <p:spPr>
          <a:xfrm>
            <a:off x="4133088" y="4897983"/>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897983"/>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O=80k, M=100k, P=180k</a:t>
            </a:r>
          </a:p>
        </p:txBody>
      </p:sp>
      <p:sp>
        <p:nvSpPr>
          <p:cNvPr id="28" name="TextBox 27"/>
          <p:cNvSpPr txBox="1"/>
          <p:nvPr/>
        </p:nvSpPr>
        <p:spPr>
          <a:xfrm>
            <a:off x="7607808" y="4797399"/>
            <a:ext cx="3977639" cy="82296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PERT = (80 + 400 + 180)/6 = $110k, σ = $16.7k, so 95% range is roughly $77k to $143k.</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Determine Budget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The cost baseline is the S-curve. Management reserve sits above it and forms the total project budget.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cost management plan, resource management plan, scope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basis of estimates, cost estimates, project schedule, risk register</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Business documents: business case and benefits management plan</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EEFs and OPAs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aggregation — roll work package costs to control accounts</a:t>
            </a:r>
          </a:p>
        </p:txBody>
      </p:sp>
      <p:sp>
        <p:nvSpPr>
          <p:cNvPr id="27" name="Oval 26"/>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reserve analysis</a:t>
            </a:r>
          </a:p>
        </p:txBody>
      </p:sp>
      <p:sp>
        <p:nvSpPr>
          <p:cNvPr id="29" name="Oval 28"/>
          <p:cNvSpPr/>
          <p:nvPr/>
        </p:nvSpPr>
        <p:spPr>
          <a:xfrm>
            <a:off x="4593336" y="4151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06039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Historical information review</a:t>
            </a:r>
          </a:p>
        </p:txBody>
      </p:sp>
      <p:sp>
        <p:nvSpPr>
          <p:cNvPr id="31" name="Oval 30"/>
          <p:cNvSpPr/>
          <p:nvPr/>
        </p:nvSpPr>
        <p:spPr>
          <a:xfrm>
            <a:off x="4593336" y="448192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39048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Funding limit reconciliation</a:t>
            </a:r>
          </a:p>
        </p:txBody>
      </p:sp>
      <p:sp>
        <p:nvSpPr>
          <p:cNvPr id="33" name="Oval 32"/>
          <p:cNvSpPr/>
          <p:nvPr/>
        </p:nvSpPr>
        <p:spPr>
          <a:xfrm>
            <a:off x="4593336" y="481202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72058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Financing</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baseline — the approved time-phased budget, excluding management reserve</a:t>
            </a:r>
          </a:p>
        </p:txBody>
      </p:sp>
      <p:sp>
        <p:nvSpPr>
          <p:cNvPr id="41" name="Oval 40"/>
          <p:cNvSpPr/>
          <p:nvPr/>
        </p:nvSpPr>
        <p:spPr>
          <a:xfrm>
            <a:off x="8436864" y="370286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funding requirements — total and periodic, including expected expenditure and liabilities</a:t>
            </a:r>
          </a:p>
        </p:txBody>
      </p:sp>
      <p:sp>
        <p:nvSpPr>
          <p:cNvPr id="43" name="Oval 42"/>
          <p:cNvSpPr/>
          <p:nvPr/>
        </p:nvSpPr>
        <p:spPr>
          <a:xfrm>
            <a:off x="8436864" y="445541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36397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234</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cost baseline S-curve and the funding steps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cost baseline is time-phased: it says not only how much, but when the money is expected to be spent.</a:t>
            </a:r>
          </a:p>
        </p:txBody>
      </p:sp>
      <p:sp>
        <p:nvSpPr>
          <p:cNvPr id="11" name="Oval 10"/>
          <p:cNvSpPr/>
          <p:nvPr/>
        </p:nvSpPr>
        <p:spPr>
          <a:xfrm>
            <a:off x="8403336" y="305089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Cumulative spend follows an S-curve — slow at first, steep in execution, flattening at closure.</a:t>
            </a:r>
          </a:p>
        </p:txBody>
      </p:sp>
      <p:sp>
        <p:nvSpPr>
          <p:cNvPr id="13" name="Oval 12"/>
          <p:cNvSpPr/>
          <p:nvPr/>
        </p:nvSpPr>
        <p:spPr>
          <a:xfrm>
            <a:off x="8403336" y="3974439"/>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Funding arrives in steps, usually quarterly; funding limit reconciliation aligns the smooth curve to the steps.</a:t>
            </a:r>
          </a:p>
        </p:txBody>
      </p:sp>
      <p:sp>
        <p:nvSpPr>
          <p:cNvPr id="15" name="Oval 14"/>
          <p:cNvSpPr/>
          <p:nvPr/>
        </p:nvSpPr>
        <p:spPr>
          <a:xfrm>
            <a:off x="8403336" y="489798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gap between the funding line and the baseline is the management reserve plus the funding buffer.</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235</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Contingency reserve versus management reserve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CONTINGENCY RESERVE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For identified risks — the known-unknowns</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Set aside to deal with identified risks should they occur</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Calculated from quantitative risk analysis or EMV of the register</a:t>
            </a:r>
          </a:p>
        </p:txBody>
      </p:sp>
      <p:sp>
        <p:nvSpPr>
          <p:cNvPr id="13" name="Oval 12"/>
          <p:cNvSpPr/>
          <p:nvPr/>
        </p:nvSpPr>
        <p:spPr>
          <a:xfrm>
            <a:off x="786384" y="327949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INCLUDED in the cost baseline and in the schedule baseline</a:t>
            </a:r>
          </a:p>
        </p:txBody>
      </p:sp>
      <p:sp>
        <p:nvSpPr>
          <p:cNvPr id="15" name="Oval 14"/>
          <p:cNvSpPr/>
          <p:nvPr/>
        </p:nvSpPr>
        <p:spPr>
          <a:xfrm>
            <a:off x="786384" y="359953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project manager may spend it without a change request</a:t>
            </a:r>
          </a:p>
        </p:txBody>
      </p:sp>
      <p:sp>
        <p:nvSpPr>
          <p:cNvPr id="17" name="Oval 16"/>
          <p:cNvSpPr/>
          <p:nvPr/>
        </p:nvSpPr>
        <p:spPr>
          <a:xfrm>
            <a:off x="786384" y="391957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Reserve analysis reports risk remaining versus contingency remaining</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MANAGEMENT RESERVE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For unidentified risks — the unknown-unknowns</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Set aside for unforeseen work that is still within project scope</a:t>
            </a:r>
          </a:p>
        </p:txBody>
      </p:sp>
      <p:sp>
        <p:nvSpPr>
          <p:cNvPr id="25" name="Oval 24"/>
          <p:cNvSpPr/>
          <p:nvPr/>
        </p:nvSpPr>
        <p:spPr>
          <a:xfrm>
            <a:off x="6451092"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Typically a management-set percentage of the total baseline</a:t>
            </a:r>
          </a:p>
        </p:txBody>
      </p:sp>
      <p:sp>
        <p:nvSpPr>
          <p:cNvPr id="27" name="Oval 26"/>
          <p:cNvSpPr/>
          <p:nvPr/>
        </p:nvSpPr>
        <p:spPr>
          <a:xfrm>
            <a:off x="6451092" y="327949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EXCLUDED from the cost baseline; part of the total project budget</a:t>
            </a:r>
          </a:p>
        </p:txBody>
      </p:sp>
      <p:sp>
        <p:nvSpPr>
          <p:cNvPr id="29" name="Oval 28"/>
          <p:cNvSpPr/>
          <p:nvPr/>
        </p:nvSpPr>
        <p:spPr>
          <a:xfrm>
            <a:off x="6451092" y="377327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Requires management approval to access — usually a change request</a:t>
            </a:r>
          </a:p>
        </p:txBody>
      </p:sp>
      <p:sp>
        <p:nvSpPr>
          <p:cNvPr id="31" name="Oval 30"/>
          <p:cNvSpPr/>
          <p:nvPr/>
        </p:nvSpPr>
        <p:spPr>
          <a:xfrm>
            <a:off x="6451092" y="426704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Using it changes the cost baseline; using contingency does not</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Total project budget = cost baseline + management reserve. Cost baseline = work package costs + contingency reserve. This distinction is examined heavily.</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236</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2026 emphasis — managing financial reserves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Quantify allocations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Quantify risk and contingency financial allocations explicitly rather than adding a round percentage.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Plan spend tracking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how spend will be tracked across the whole life cycle before the first invoice arrives.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Plan financial reporting</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 the format, frequency and audience of financial reporting with finance and the sponsor.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Anticipate challenges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Look ahead for funding gaps, exchange rate exposure, and cost inflation on long-lead procurement.</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 variation</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with the governance process when financial variations exceed the agreed control threshold.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unused reserve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Reserves for risks that have passed should be returned, not quietly absorbed into the project.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237</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cost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risk in the register occurs and you need funds</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Use the contingency reserve — no change request needed, it is already inside the cost baseline</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Unforeseen in-scope work appears that nobody identified</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Request management reserve through management approval; this changes the cost baseline</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need a quick figure with almost no detail available</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Analogous estimating — fast and cheap, lowest accuracy</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question gives O, M and P values</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Apply (O + 4M + P) / 6 unless the question explicitly says triangular or simple average</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are asked for the total project budget</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baseline plus management reserve — the baseline alone is not the budget</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238</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cost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Rules first</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cost management plan sets units, precision, thresholds and the EVM rules before any number is produced.</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Four methods</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Analogous, parametric, bottom-up and three-point — trading speed against accuracy.</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PERT</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(O + 4M + P) / 6 with σ = (P − O) / 6 turns a guess into a range with a stated confidence.</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Aggregate to baseline</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Work packages roll to control accounts, then to the time-phased cost baseline S-curve.</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Two reserves</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Contingency is inside the baseline for known risks; management reserve sits outside it for unknown ones.</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Reconcile funding</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Funding limit reconciliation aligns the smooth spend curve to the stepped release of actual funds.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239</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PROCESS T7 · PLAN AND OPTIMIZE QUALITY OF PRODUCTS/DELIVERABLES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4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Quality: how well deliverables meet requirements</a:t>
            </a:r>
          </a:p>
        </p:txBody>
      </p:sp>
      <p:sp>
        <p:nvSpPr>
          <p:cNvPr id="6" name="Rectangle 5"/>
          <p:cNvSpPr/>
          <p:nvPr/>
        </p:nvSpPr>
        <p:spPr>
          <a:xfrm>
            <a:off x="566928" y="3502152"/>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Quality vs grade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Quality is conformance to requirements; grade is the category of features. Low grade can be acceptable; low quality never is.</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Prevention over inspection</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It is always cheaper to design defects out than to inspect and rework them later.</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Everyone's job</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In agile the whole team owns quality, from writing correct requirements to automated testing.</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Quality in predictive versus agile delivery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PREDICTIVE QUALITY</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Build, then test — usually in large batches</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product is developed and then tested in sequential order</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Testing is a distinct phase performed by a separate QA function</a:t>
            </a:r>
          </a:p>
        </p:txBody>
      </p:sp>
      <p:sp>
        <p:nvSpPr>
          <p:cNvPr id="13" name="Oval 12"/>
          <p:cNvSpPr/>
          <p:nvPr/>
        </p:nvSpPr>
        <p:spPr>
          <a:xfrm>
            <a:off x="786384"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Defects are found late, when they are most expensive to fix</a:t>
            </a:r>
          </a:p>
        </p:txBody>
      </p:sp>
      <p:sp>
        <p:nvSpPr>
          <p:cNvPr id="15" name="Oval 14"/>
          <p:cNvSpPr/>
          <p:nvPr/>
        </p:nvSpPr>
        <p:spPr>
          <a:xfrm>
            <a:off x="786384"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Formal quality audits and phase gate reviews provide assurance</a:t>
            </a:r>
          </a:p>
        </p:txBody>
      </p:sp>
      <p:sp>
        <p:nvSpPr>
          <p:cNvPr id="17" name="Oval 16"/>
          <p:cNvSpPr/>
          <p:nvPr/>
        </p:nvSpPr>
        <p:spPr>
          <a:xfrm>
            <a:off x="786384"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Acceptance is a single formal event near the end</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AGILE QUALITY</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Build quality in, continuously</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Quality is everyone's responsibility, from requirement to release</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Test-driven development and automated regression on every commit</a:t>
            </a:r>
          </a:p>
        </p:txBody>
      </p:sp>
      <p:sp>
        <p:nvSpPr>
          <p:cNvPr id="27" name="Oval 26"/>
          <p:cNvSpPr/>
          <p:nvPr/>
        </p:nvSpPr>
        <p:spPr>
          <a:xfrm>
            <a:off x="6451092"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Definition of done enforces quality before a story is accepted</a:t>
            </a:r>
          </a:p>
        </p:txBody>
      </p:sp>
      <p:sp>
        <p:nvSpPr>
          <p:cNvPr id="29" name="Oval 28"/>
          <p:cNvSpPr/>
          <p:nvPr/>
        </p:nvSpPr>
        <p:spPr>
          <a:xfrm>
            <a:off x="6451092"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Continuous integration finds integration defects within hours</a:t>
            </a:r>
          </a:p>
        </p:txBody>
      </p:sp>
      <p:sp>
        <p:nvSpPr>
          <p:cNvPr id="31" name="Oval 30"/>
          <p:cNvSpPr/>
          <p:nvPr/>
        </p:nvSpPr>
        <p:spPr>
          <a:xfrm>
            <a:off x="6451092"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Acceptance happens every iteration at the review</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approaches tie quality to the product acceptance criteria described in the statement of work or design documents — update those criteria as experimentation and prioritisation occur, then validate them at acceptance.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241</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Quality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Plan Quality Management defines what good looks like and how it will be proven, before any deliverable exists.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high-level requirements and success criteria</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requirements, risk and stakeholder engagement plans, and the scope baseline</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requirements documentation, RTM, risk register, stakeholder register</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regulations, rules, standards and geographic conditions</a:t>
            </a:r>
          </a:p>
        </p:txBody>
      </p:sp>
      <p:sp>
        <p:nvSpPr>
          <p:cNvPr id="19" name="Oval 18"/>
          <p:cNvSpPr/>
          <p:nvPr/>
        </p:nvSpPr>
        <p:spPr>
          <a:xfrm>
            <a:off x="749808" y="553806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44662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quality policy, historical databases, lessons learned</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quality assurance and control</a:t>
            </a:r>
          </a:p>
        </p:txBody>
      </p:sp>
      <p:sp>
        <p:nvSpPr>
          <p:cNvPr id="27" name="Oval 26"/>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benchmarking, brainstorming, interviews</a:t>
            </a:r>
          </a:p>
        </p:txBody>
      </p:sp>
      <p:sp>
        <p:nvSpPr>
          <p:cNvPr id="29" name="Oval 28"/>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cost-benefit analysis, cost of quality</a:t>
            </a:r>
          </a:p>
        </p:txBody>
      </p:sp>
      <p:sp>
        <p:nvSpPr>
          <p:cNvPr id="31" name="Oval 30"/>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multi-criteria decision analysis</a:t>
            </a:r>
          </a:p>
        </p:txBody>
      </p:sp>
      <p:sp>
        <p:nvSpPr>
          <p:cNvPr id="33" name="Oval 32"/>
          <p:cNvSpPr/>
          <p:nvPr/>
        </p:nvSpPr>
        <p:spPr>
          <a:xfrm>
            <a:off x="4593336" y="51156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02416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flowcharts, logical data model, matrix diagrams, mind mapping</a:t>
            </a:r>
          </a:p>
        </p:txBody>
      </p:sp>
      <p:sp>
        <p:nvSpPr>
          <p:cNvPr id="35" name="Oval 34"/>
          <p:cNvSpPr/>
          <p:nvPr/>
        </p:nvSpPr>
        <p:spPr>
          <a:xfrm>
            <a:off x="4593336" y="58681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77671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Test and inspection planning; meetings</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Quality management plan — how standards will be implemented</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Quality metrics — the specific attribute and how it is measured</a:t>
            </a:r>
          </a:p>
        </p:txBody>
      </p:sp>
      <p:sp>
        <p:nvSpPr>
          <p:cNvPr id="45" name="Oval 44"/>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and document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242</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quality management plan and its benefits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contains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activities and resources that will achieve the quality objectives, and who is accountable for each.</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How formal</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May be formal or informal, highly detailed or broadly framed — tailored to the project's risk and regulatory context.</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Living document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Reviewed throughout the project as the product and the risk profile change.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Sharper value focus</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Forces the team to state what the customer actually values, rather than what is easy to measure.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reduction</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Prevention and appraisal spend consistently costs less than the failure costs it avoids.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Fewer schedule overruns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Most predictive schedule overrun is rework; designing rework out protects the date.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Cost of Quality (CoQ) — the four categories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891332"/>
                <a:gridCol w="4081881"/>
                <a:gridCol w="4081881"/>
              </a:tblGrid>
              <a:tr h="475488">
                <a:tc>
                  <a:txBody>
                    <a:bodyPr wrap="square" anchor="t"/>
                    <a:lstStyle/>
                    <a:p>
                      <a:pPr algn="l">
                        <a:lnSpc>
                          <a:spcPct val="100000"/>
                        </a:lnSpc>
                        <a:spcAft>
                          <a:spcPts val="0"/>
                        </a:spcAft>
                      </a:pPr>
                      <a:r>
                        <a:rPr sz="1150" b="1" i="0">
                          <a:solidFill>
                            <a:srgbClr val="FFFFFF"/>
                          </a:solidFill>
                          <a:latin typeface="Arial"/>
                        </a:rPr>
                        <a:t>Category</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Typical spend</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Prevention (conformance)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cost to prevent future defects or errors in the product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Training, prototypes, code refactoring, design reviews, standards, tooling</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Appraisal (conformance)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cost to find defects or errors in the product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Testing, quality audits, inspections, the sprint review, destructive test loss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Internal failure (non-conformance)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Failure found by the project, before the customer sees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Rework, scrap, re-testing, defect triage, schedule slip</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External failure (non-conformance)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Failure found by the customer, after delivery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Warranty work, recalls, liability, lost business, reputational damage</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Cost of conformance (prevention + appraisal) is money spent during the project to avoid failure. Cost of non-conformance is money spent during and after the project because you did not.</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244</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cost of change curve — quality is cheapest early</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E11D48"/>
                </a:solidFill>
                <a:latin typeface="Arial"/>
              </a:rPr>
              <a:t>WHAT IT TELLS YOU</a:t>
            </a:r>
          </a:p>
        </p:txBody>
      </p:sp>
      <p:sp>
        <p:nvSpPr>
          <p:cNvPr id="9" name="Oval 8"/>
          <p:cNvSpPr/>
          <p:nvPr/>
        </p:nvSpPr>
        <p:spPr>
          <a:xfrm>
            <a:off x="8403336" y="2127351"/>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Quality is more expensive to fix the closer it gets to the customer — the classic 1:100 relationship.</a:t>
            </a:r>
          </a:p>
        </p:txBody>
      </p:sp>
      <p:sp>
        <p:nvSpPr>
          <p:cNvPr id="11" name="Oval 10"/>
          <p:cNvSpPr/>
          <p:nvPr/>
        </p:nvSpPr>
        <p:spPr>
          <a:xfrm>
            <a:off x="8403336" y="3050895"/>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This curve is the economic justification for prevention spend, code review and test automation.</a:t>
            </a:r>
          </a:p>
        </p:txBody>
      </p:sp>
      <p:sp>
        <p:nvSpPr>
          <p:cNvPr id="13" name="Oval 12"/>
          <p:cNvSpPr/>
          <p:nvPr/>
        </p:nvSpPr>
        <p:spPr>
          <a:xfrm>
            <a:off x="8403336" y="3974439"/>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It is also the argument for short iterations: shorter feedback loops keep you at the cheap end of the curve.</a:t>
            </a:r>
          </a:p>
        </p:txBody>
      </p:sp>
      <p:sp>
        <p:nvSpPr>
          <p:cNvPr id="15" name="Oval 14"/>
          <p:cNvSpPr/>
          <p:nvPr/>
        </p:nvSpPr>
        <p:spPr>
          <a:xfrm>
            <a:off x="8403336" y="4897983"/>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Project risk follows exactly the same curve — early treatment is dramatically cheaper than late response.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245</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PDCA — the Deming/Shewhart improvement cycle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674620" cy="2148381"/>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768221" cy="4636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Plan</a:t>
            </a:r>
          </a:p>
        </p:txBody>
      </p:sp>
      <p:sp>
        <p:nvSpPr>
          <p:cNvPr id="8" name="TextBox 7"/>
          <p:cNvSpPr txBox="1"/>
          <p:nvPr/>
        </p:nvSpPr>
        <p:spPr>
          <a:xfrm>
            <a:off x="694944" y="26641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Review real data or go and see the problem directly; find the root cause, then brainstorm and prioritise solutions with the team.</a:t>
            </a:r>
          </a:p>
        </p:txBody>
      </p:sp>
      <p:sp>
        <p:nvSpPr>
          <p:cNvPr id="9" name="Pentagon 8"/>
          <p:cNvSpPr/>
          <p:nvPr/>
        </p:nvSpPr>
        <p:spPr>
          <a:xfrm>
            <a:off x="3360420" y="1816455"/>
            <a:ext cx="2674620" cy="2148381"/>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8436"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3488436" y="2127351"/>
            <a:ext cx="1768221" cy="4636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Do</a:t>
            </a:r>
          </a:p>
        </p:txBody>
      </p:sp>
      <p:sp>
        <p:nvSpPr>
          <p:cNvPr id="12" name="TextBox 11"/>
          <p:cNvSpPr txBox="1"/>
          <p:nvPr/>
        </p:nvSpPr>
        <p:spPr>
          <a:xfrm>
            <a:off x="3488436" y="26641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Put the plan into action as a pilot or test in a small area first, so a failed idea is cheap.</a:t>
            </a:r>
          </a:p>
        </p:txBody>
      </p:sp>
      <p:sp>
        <p:nvSpPr>
          <p:cNvPr id="13" name="Pentagon 12"/>
          <p:cNvSpPr/>
          <p:nvPr/>
        </p:nvSpPr>
        <p:spPr>
          <a:xfrm>
            <a:off x="6153912" y="1816455"/>
            <a:ext cx="2674620" cy="2148381"/>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1917039"/>
            <a:ext cx="1768221"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6281928" y="2127351"/>
            <a:ext cx="1768221" cy="4636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Check</a:t>
            </a:r>
          </a:p>
        </p:txBody>
      </p:sp>
      <p:sp>
        <p:nvSpPr>
          <p:cNvPr id="16" name="TextBox 15"/>
          <p:cNvSpPr txBox="1"/>
          <p:nvPr/>
        </p:nvSpPr>
        <p:spPr>
          <a:xfrm>
            <a:off x="6281928" y="26641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Check the results against what you predicted, using the same measure you baselined.</a:t>
            </a:r>
          </a:p>
        </p:txBody>
      </p:sp>
      <p:sp>
        <p:nvSpPr>
          <p:cNvPr id="17" name="Rounded Rectangle 16"/>
          <p:cNvSpPr/>
          <p:nvPr/>
        </p:nvSpPr>
        <p:spPr>
          <a:xfrm>
            <a:off x="8947404" y="1816455"/>
            <a:ext cx="2674620" cy="2148381"/>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5420" y="1917039"/>
            <a:ext cx="1768221"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9075420" y="2127351"/>
            <a:ext cx="1768221" cy="4636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Act</a:t>
            </a:r>
          </a:p>
        </p:txBody>
      </p:sp>
      <p:sp>
        <p:nvSpPr>
          <p:cNvPr id="20" name="TextBox 19"/>
          <p:cNvSpPr txBox="1"/>
          <p:nvPr/>
        </p:nvSpPr>
        <p:spPr>
          <a:xfrm>
            <a:off x="9075420" y="2664103"/>
            <a:ext cx="1768221" cy="1227581"/>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Adopt, adapt or abandon — standardise what worked, then start the next turn of the cycle.</a:t>
            </a:r>
          </a:p>
        </p:txBody>
      </p:sp>
      <p:sp>
        <p:nvSpPr>
          <p:cNvPr id="21" name="Rounded Rectangle 20"/>
          <p:cNvSpPr/>
          <p:nvPr/>
        </p:nvSpPr>
        <p:spPr>
          <a:xfrm>
            <a:off x="566928" y="4184292"/>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184292"/>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275732"/>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PDCA is a cycle, not a project: the value comes from turning it repeatedly and quickly, not from executing it perfectly once.</a:t>
            </a:r>
          </a:p>
        </p:txBody>
      </p:sp>
      <p:sp>
        <p:nvSpPr>
          <p:cNvPr id="24" name="TextBox 23"/>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5" name="TextBox 24"/>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6" name="TextBox 25"/>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246</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DMAIC — the Six Sigma improvement framework</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3976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Define</a:t>
            </a:r>
          </a:p>
        </p:txBody>
      </p:sp>
      <p:sp>
        <p:nvSpPr>
          <p:cNvPr id="8" name="TextBox 7"/>
          <p:cNvSpPr txBox="1"/>
          <p:nvPr/>
        </p:nvSpPr>
        <p:spPr>
          <a:xfrm>
            <a:off x="69494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Define the problem clearly, as the gap between where you are and where you want to be.</a:t>
            </a:r>
          </a:p>
        </p:txBody>
      </p:sp>
      <p:sp>
        <p:nvSpPr>
          <p:cNvPr id="9" name="Pentagon 8"/>
          <p:cNvSpPr/>
          <p:nvPr/>
        </p:nvSpPr>
        <p:spPr>
          <a:xfrm>
            <a:off x="2801721" y="1816455"/>
            <a:ext cx="2115921" cy="223976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Measure</a:t>
            </a:r>
          </a:p>
        </p:txBody>
      </p:sp>
      <p:sp>
        <p:nvSpPr>
          <p:cNvPr id="12" name="TextBox 11"/>
          <p:cNvSpPr txBox="1"/>
          <p:nvPr/>
        </p:nvSpPr>
        <p:spPr>
          <a:xfrm>
            <a:off x="2929737"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Measure the current problem with real data, not with opinion or recollection.</a:t>
            </a:r>
          </a:p>
        </p:txBody>
      </p:sp>
      <p:sp>
        <p:nvSpPr>
          <p:cNvPr id="13" name="Pentagon 12"/>
          <p:cNvSpPr/>
          <p:nvPr/>
        </p:nvSpPr>
        <p:spPr>
          <a:xfrm>
            <a:off x="5036515" y="1816455"/>
            <a:ext cx="2115921" cy="223976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Analyse</a:t>
            </a:r>
          </a:p>
        </p:txBody>
      </p:sp>
      <p:sp>
        <p:nvSpPr>
          <p:cNvPr id="16" name="TextBox 15"/>
          <p:cNvSpPr txBox="1"/>
          <p:nvPr/>
        </p:nvSpPr>
        <p:spPr>
          <a:xfrm>
            <a:off x="5164531"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Analyse the data, find the root cause, then brainstorm and prioritise solutions with the team.</a:t>
            </a:r>
          </a:p>
        </p:txBody>
      </p:sp>
      <p:sp>
        <p:nvSpPr>
          <p:cNvPr id="17" name="Pentagon 16"/>
          <p:cNvSpPr/>
          <p:nvPr/>
        </p:nvSpPr>
        <p:spPr>
          <a:xfrm>
            <a:off x="7271308" y="1816455"/>
            <a:ext cx="2115921" cy="223976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Improve</a:t>
            </a:r>
          </a:p>
        </p:txBody>
      </p:sp>
      <p:sp>
        <p:nvSpPr>
          <p:cNvPr id="20" name="TextBox 19"/>
          <p:cNvSpPr txBox="1"/>
          <p:nvPr/>
        </p:nvSpPr>
        <p:spPr>
          <a:xfrm>
            <a:off x="7399324"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Put the plan into action and measure whether the gap actually closed.</a:t>
            </a:r>
          </a:p>
        </p:txBody>
      </p:sp>
      <p:sp>
        <p:nvSpPr>
          <p:cNvPr id="21" name="Rounded Rectangle 20"/>
          <p:cNvSpPr/>
          <p:nvPr/>
        </p:nvSpPr>
        <p:spPr>
          <a:xfrm>
            <a:off x="9506102" y="1816455"/>
            <a:ext cx="2115921" cy="223976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42793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Control</a:t>
            </a:r>
          </a:p>
        </p:txBody>
      </p:sp>
      <p:sp>
        <p:nvSpPr>
          <p:cNvPr id="24" name="TextBox 23"/>
          <p:cNvSpPr txBox="1"/>
          <p:nvPr/>
        </p:nvSpPr>
        <p:spPr>
          <a:xfrm>
            <a:off x="9634118" y="262844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Lock the gain in with standards, monitoring and control charts so the problem cannot quietly return.</a:t>
            </a:r>
          </a:p>
        </p:txBody>
      </p:sp>
      <p:sp>
        <p:nvSpPr>
          <p:cNvPr id="25" name="Rounded Rectangle 24"/>
          <p:cNvSpPr/>
          <p:nvPr/>
        </p:nvSpPr>
        <p:spPr>
          <a:xfrm>
            <a:off x="566928" y="427567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27567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6711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Six Sigma focuses on removing variation and waste. Kaizen — 'change for better' — is the complementary philosophy of many small continuous improvements made by the people doing the work.</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247</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Root cause analysis toolkit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Fishbone / Ishikawa</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cause-and-effect diagram grouping candidate causes into categories around a single problem statement.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6M categories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Manpower, Method, Machine, Material, Measurement, Mother Nature — the classic manufacturing spine.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Five Whys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Ask 'why' repeatedly to drill from the visible symptom down to the systemic cause that actually needs fixing.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Pareto chart</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Ranks defect categories by frequency to find the vital few driving most of the pain.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Six Thinking Hats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 Bono's method: examine a situation deliberately from six distinct thinking modes in turn.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 chart</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Plots a process against control limits over time to separate special-cause signal from common-cause noise.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248</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Pareto chart — the vital few defect categories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F59E0B"/>
                </a:solidFill>
                <a:latin typeface="Arial"/>
              </a:rPr>
              <a:t>WHAT IT TELLS YOU</a:t>
            </a:r>
          </a:p>
        </p:txBody>
      </p:sp>
      <p:sp>
        <p:nvSpPr>
          <p:cNvPr id="9" name="Oval 8"/>
          <p:cNvSpPr/>
          <p:nvPr/>
        </p:nvSpPr>
        <p:spPr>
          <a:xfrm>
            <a:off x="8403336" y="212735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80/20 rule: roughly 80% of the defects come from roughly 20% of the causes.</a:t>
            </a:r>
          </a:p>
        </p:txBody>
      </p:sp>
      <p:sp>
        <p:nvSpPr>
          <p:cNvPr id="11" name="Oval 10"/>
          <p:cNvSpPr/>
          <p:nvPr/>
        </p:nvSpPr>
        <p:spPr>
          <a:xfrm>
            <a:off x="8403336" y="2872587"/>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Directs improvement effort where it makes the biggest impact, instead of spreading it evenly across every category.</a:t>
            </a:r>
          </a:p>
        </p:txBody>
      </p:sp>
      <p:sp>
        <p:nvSpPr>
          <p:cNvPr id="13" name="Oval 12"/>
          <p:cNvSpPr/>
          <p:nvPr/>
        </p:nvSpPr>
        <p:spPr>
          <a:xfrm>
            <a:off x="8403336" y="3805275"/>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Takes a big vague problem ('quality is poor') and breaks it into actionable, countable pieces.</a:t>
            </a:r>
          </a:p>
        </p:txBody>
      </p:sp>
      <p:sp>
        <p:nvSpPr>
          <p:cNvPr id="15" name="Oval 14"/>
          <p:cNvSpPr/>
          <p:nvPr/>
        </p:nvSpPr>
        <p:spPr>
          <a:xfrm>
            <a:off x="8403336" y="4737963"/>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Re-run after the improvement: the bars should shrink and the ranking should change.</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249</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Quality standards, regulations and compliance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ASQ</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American Society for Quality — steward of the ISO 9000 series quality management standards.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Chartered Quality Institute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UK professional body for quality practitioners and quality management systems.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ASTM International</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Publishes technical standards for materials, products, systems and services across industries.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Government regulation</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Appropriate government regulations are mandatory inputs, not optional quality aspirations.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Organisational policies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Internal quality policy and product standards constrain what 'acceptable' can mean.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Compliance actions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Classify compliance categories, determine threats to compliance, analyse the consequences of non-compliance.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2026 emphasis — sustainability in quality planning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Sustainability as a requirement</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Environmental and social criteria are gathered as quality requirements, not treated as PR.</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Measure it</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 metrics — energy per transaction, waste diverted, carbon per deliverable — and baseline them like any other.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of quality extension</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Environmental failure cost (remediation, penalties, disposal) belongs in the non-conformance column.</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Design out waste</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Prevention applies to material and energy waste exactly as it applies to defects.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Regulatory exposure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Sustainability reporting obligations are compliance requirements with real legal consequence.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AI-assisted review</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 tools can scan designs and specifications for waste and compliance gaps — the human still decides.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251</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quality</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team wants to inspect more to raise quality</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Prefer prevention over inspection — the cheapest defect is the one never created</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customer reports a defect after handover</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an external failure cost — the most expensive category of cost of non-conformance</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must find why a defect keeps recurring</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Root cause analysis: five whys or an Ishikawa diagram — treat the cause, not the symptom</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Many defect categories; limited improvement budget</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Build a Pareto chart and attack the vital few that produce most of the defects</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product meets all specifications but is low-featured</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low grade with high quality — acceptable if agreed; low quality never is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252</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quality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Quality is conformance</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How well the deliverable meets the requirement — distinct from grade, which is feature category.</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Plan it</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quality management plan states standards, metrics, roles and review activity before delivery starts.</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Four CoQ buckets</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Prevention and appraisal are conformance; internal and external failure are non-conformance.</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Cost of change curve</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Defect fix cost rises roughly 1:100 from requirements to production — buy prevention.</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Improvement cycles</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PDCA and DMAIC give a repeatable structure; Kaizen supplies the culture of small continuous change.</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RCA toolkit</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Fishbone, five whys, Pareto, Six Thinking Hats and control charts — pick the tool that fits the data you have.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253</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06B6D4"/>
                </a:solidFill>
                <a:latin typeface="Arial"/>
              </a:rPr>
              <a:t>ECO PROCESS T4 · PLAN AND MANAGE RESOURCES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5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Resources: people and things, planned deliberately</a:t>
            </a:r>
          </a:p>
        </p:txBody>
      </p:sp>
      <p:sp>
        <p:nvSpPr>
          <p:cNvPr id="6" name="Rectangle 5"/>
          <p:cNvSpPr/>
          <p:nvPr/>
        </p:nvSpPr>
        <p:spPr>
          <a:xfrm>
            <a:off x="566928" y="3502152"/>
            <a:ext cx="21945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Team resources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people who will do the work, their roles, authority, responsibility and required competency.</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Physical resources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Materials, equipment, facilities and infrastructure that must be acquired and released.</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The constraint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Resource availability, not activity duration, is what most often determines the real schedule.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254</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Resource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This plan covers physical resources and team resources — most exam errors come from forgetting the physical half.</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high-level roles and sponsor commitment</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quality management plan, scope baseline</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project schedule, requirements documentation, risk register, stakeholder register</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structure, existing resources, marketplace</a:t>
            </a:r>
          </a:p>
        </p:txBody>
      </p:sp>
      <p:sp>
        <p:nvSpPr>
          <p:cNvPr id="19" name="Oval 18"/>
          <p:cNvSpPr/>
          <p:nvPr/>
        </p:nvSpPr>
        <p:spPr>
          <a:xfrm>
            <a:off x="749808" y="532683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235394"/>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HR policies, safety policies, templates, historical data</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resourcing and organisational design</a:t>
            </a:r>
          </a:p>
        </p:txBody>
      </p:sp>
      <p:sp>
        <p:nvSpPr>
          <p:cNvPr id="27" name="Oval 26"/>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hierarchical charts, responsibility assignment matrix (RAM/RACI), text-oriented formats</a:t>
            </a:r>
          </a:p>
        </p:txBody>
      </p:sp>
      <p:sp>
        <p:nvSpPr>
          <p:cNvPr id="29" name="Oval 28"/>
          <p:cNvSpPr/>
          <p:nvPr/>
        </p:nvSpPr>
        <p:spPr>
          <a:xfrm>
            <a:off x="4593336" y="445541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Organisational theory (Tuckman, Maslow, Herzberg, McGregor)</a:t>
            </a:r>
          </a:p>
        </p:txBody>
      </p:sp>
      <p:sp>
        <p:nvSpPr>
          <p:cNvPr id="31" name="Oval 30"/>
          <p:cNvSpPr/>
          <p:nvPr/>
        </p:nvSpPr>
        <p:spPr>
          <a:xfrm>
            <a:off x="4593336" y="499673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90529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functional managers and the team</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management plan — how resources are identified, acquired, managed and released</a:t>
            </a:r>
          </a:p>
        </p:txBody>
      </p:sp>
      <p:sp>
        <p:nvSpPr>
          <p:cNvPr id="39" name="Oval 38"/>
          <p:cNvSpPr/>
          <p:nvPr/>
        </p:nvSpPr>
        <p:spPr>
          <a:xfrm>
            <a:off x="8436864" y="370286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Team charter — team values, agreements and operating guidelines</a:t>
            </a:r>
          </a:p>
        </p:txBody>
      </p:sp>
      <p:sp>
        <p:nvSpPr>
          <p:cNvPr id="41" name="Oval 40"/>
          <p:cNvSpPr/>
          <p:nvPr/>
        </p:nvSpPr>
        <p:spPr>
          <a:xfrm>
            <a:off x="8436864" y="424418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risk register</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255</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definition — the four attributes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040940"/>
                <a:gridCol w="4592116"/>
                <a:gridCol w="4422038"/>
              </a:tblGrid>
              <a:tr h="475488">
                <a:tc>
                  <a:txBody>
                    <a:bodyPr wrap="square" anchor="t"/>
                    <a:lstStyle/>
                    <a:p>
                      <a:pPr algn="l">
                        <a:lnSpc>
                          <a:spcPct val="100000"/>
                        </a:lnSpc>
                        <a:spcAft>
                          <a:spcPts val="0"/>
                        </a:spcAft>
                      </a:pPr>
                      <a:r>
                        <a:rPr sz="1150" b="1" i="0">
                          <a:solidFill>
                            <a:srgbClr val="FFFFFF"/>
                          </a:solidFill>
                          <a:latin typeface="Arial"/>
                        </a:rPr>
                        <a:t>Attribute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What goes wrong if it is vague</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Role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person's designated function on the project — business analyst, test lead, architect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People duplicate work or assume someone else is covering a gap</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Authority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right to apply resources, make decisions, sign approvals and accept deliverables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Decisions stall waiting for someone who never had the mandate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Responsibility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assigned duties a role must perform to complete project activities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Work is 'everybody's job' and therefore nobody's job</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Competency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skill and capacity required to complete the assigned activities within the constraints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Work is assigned to people who cannot succeed at it — a schedule risk, not a people problem</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256</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Resource optimisation — levelling versus smoothing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RESOURCE LEVELLING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Fix over-allocation; the end date may move</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Applied when shared resources are over-allocated</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Or when a resource is assigned to two or more activities in the same period</a:t>
            </a:r>
          </a:p>
        </p:txBody>
      </p:sp>
      <p:sp>
        <p:nvSpPr>
          <p:cNvPr id="13" name="Oval 12"/>
          <p:cNvSpPr/>
          <p:nvPr/>
        </p:nvSpPr>
        <p:spPr>
          <a:xfrm>
            <a:off x="786384" y="327949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Adjusts start and finish dates based on resource constraints</a:t>
            </a:r>
          </a:p>
        </p:txBody>
      </p:sp>
      <p:sp>
        <p:nvSpPr>
          <p:cNvPr id="15" name="Oval 14"/>
          <p:cNvSpPr/>
          <p:nvPr/>
        </p:nvSpPr>
        <p:spPr>
          <a:xfrm>
            <a:off x="786384" y="359953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 change the critical path — usually extending it</a:t>
            </a:r>
          </a:p>
        </p:txBody>
      </p:sp>
      <p:sp>
        <p:nvSpPr>
          <p:cNvPr id="17" name="Oval 16"/>
          <p:cNvSpPr/>
          <p:nvPr/>
        </p:nvSpPr>
        <p:spPr>
          <a:xfrm>
            <a:off x="786384" y="391957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 when the resource limit is genuinely hard (one specialist)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RESOURCE SMOOTHING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Even out demand; the end date is protected</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Adjusts activities only within their free and total float</a:t>
            </a:r>
          </a:p>
        </p:txBody>
      </p:sp>
      <p:sp>
        <p:nvSpPr>
          <p:cNvPr id="25" name="Oval 24"/>
          <p:cNvSpPr/>
          <p:nvPr/>
        </p:nvSpPr>
        <p:spPr>
          <a:xfrm>
            <a:off x="6451092"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critical path is NOT changed by smoothing</a:t>
            </a:r>
          </a:p>
        </p:txBody>
      </p:sp>
      <p:sp>
        <p:nvSpPr>
          <p:cNvPr id="27" name="Oval 26"/>
          <p:cNvSpPr/>
          <p:nvPr/>
        </p:nvSpPr>
        <p:spPr>
          <a:xfrm>
            <a:off x="6451092"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Cannot fully resolve a genuine over-allocation</a:t>
            </a:r>
          </a:p>
        </p:txBody>
      </p:sp>
      <p:sp>
        <p:nvSpPr>
          <p:cNvPr id="29" name="Oval 28"/>
          <p:cNvSpPr/>
          <p:nvPr/>
        </p:nvSpPr>
        <p:spPr>
          <a:xfrm>
            <a:off x="6451092"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a more even resource demand profile over time</a:t>
            </a:r>
          </a:p>
        </p:txBody>
      </p:sp>
      <p:sp>
        <p:nvSpPr>
          <p:cNvPr id="31" name="Oval 30"/>
          <p:cNvSpPr/>
          <p:nvPr/>
        </p:nvSpPr>
        <p:spPr>
          <a:xfrm>
            <a:off x="6451092"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 when the date is fixed and float is available to spend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Memory hook: LEVELLING may LENGTHEN the project; SMOOTHING Stays inside Slack. If the question says the end date must not move, the answer is smoothing.</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257</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Estimate Activity Resources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Estimate Activity Resources runs closely with Estimate Activity Durations — the two are mutually dependent.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 scope baseline</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activity attributes and list, assumption log, cost estimates, resource calendars, risk register</a:t>
            </a:r>
          </a:p>
        </p:txBody>
      </p:sp>
      <p:sp>
        <p:nvSpPr>
          <p:cNvPr id="15" name="Oval 14"/>
          <p:cNvSpPr/>
          <p:nvPr/>
        </p:nvSpPr>
        <p:spPr>
          <a:xfrm>
            <a:off x="749808" y="44554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resource location, availability, skills, marketplace</a:t>
            </a:r>
          </a:p>
        </p:txBody>
      </p:sp>
      <p:sp>
        <p:nvSpPr>
          <p:cNvPr id="17" name="Oval 16"/>
          <p:cNvSpPr/>
          <p:nvPr/>
        </p:nvSpPr>
        <p:spPr>
          <a:xfrm>
            <a:off x="749808" y="499673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policies on staffing and equipment, historical information</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resource types and quantities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Bottom-up estimating from activity level upward</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Analogous and parametric estimating</a:t>
            </a:r>
          </a:p>
        </p:txBody>
      </p:sp>
      <p:sp>
        <p:nvSpPr>
          <p:cNvPr id="29" name="Oval 28"/>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alternatives analysis (make/rent/buy, skill mix)</a:t>
            </a:r>
          </a:p>
        </p:txBody>
      </p:sp>
      <p:sp>
        <p:nvSpPr>
          <p:cNvPr id="31" name="Oval 30"/>
          <p:cNvSpPr/>
          <p:nvPr/>
        </p:nvSpPr>
        <p:spPr>
          <a:xfrm>
            <a:off x="4593336" y="490438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1294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and 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requirements — types and quantities per work package</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Basis of estimates — method, assumptions, confidence level</a:t>
            </a:r>
          </a:p>
        </p:txBody>
      </p:sp>
      <p:sp>
        <p:nvSpPr>
          <p:cNvPr id="41" name="Oval 40"/>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breakdown structure (RBS) by category and type</a:t>
            </a:r>
          </a:p>
        </p:txBody>
      </p:sp>
      <p:sp>
        <p:nvSpPr>
          <p:cNvPr id="43" name="Oval 42"/>
          <p:cNvSpPr/>
          <p:nvPr/>
        </p:nvSpPr>
        <p:spPr>
          <a:xfrm>
            <a:off x="8436864" y="457428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48284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258</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RACI — the responsibility assignment matrix</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211019"/>
                <a:gridCol w="5102352"/>
                <a:gridCol w="3741724"/>
              </a:tblGrid>
              <a:tr h="475488">
                <a:tc>
                  <a:txBody>
                    <a:bodyPr wrap="square" anchor="t"/>
                    <a:lstStyle/>
                    <a:p>
                      <a:pPr algn="l">
                        <a:lnSpc>
                          <a:spcPct val="100000"/>
                        </a:lnSpc>
                        <a:spcAft>
                          <a:spcPts val="0"/>
                        </a:spcAft>
                      </a:pPr>
                      <a:r>
                        <a:rPr sz="1150" b="1" i="0">
                          <a:solidFill>
                            <a:srgbClr val="FFFFFF"/>
                          </a:solidFill>
                          <a:latin typeface="Arial"/>
                        </a:rPr>
                        <a:t>Letter</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Meaning</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Rule</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R — Responsible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person or people who actually perform the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At least one per activity; more than one is fine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 — Accountable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single person answerable for the outcome, who approves the work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EXACTLY ONE per activity — two means nobody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 — Consulted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People whose input is sought before the work is done; two-way communication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Keep the list short; every C is a delay</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 — Informed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People told about progress or outcomes; one-way communication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Cheap to add, so it is where over-communication usually hides</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responsibility assignment matrix shows which team members are responsible for which work packages. Read the ROWS to find unassigned work; read the COLUMNS to find overloaded people.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259</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Co-location, osmotic communication and the team charter</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Co-location</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Agile teams prefer to sit together so that coordination happens continuously rather than in scheduled meetings.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Osmotic communication</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 members absorb useful information from overheard conversations without anyone having to brief them.</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Information radiator</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large visible display of project information in the team area — status without a status meeting.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 charter</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Created WITH the team; it establishes values, agreements and operating guidelines the team owns.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Ground rules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Explicit agreements on meetings, decisions, conflict and communication — enforced by the team, not just the PM.</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Virtual co-location</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Persistent video rooms and shared boards recreate some osmotic benefit for distributed teams.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resources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key specialist is booked on two activities at the same time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Resource levelling — and accept that the end date may move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Demand is uneven but the finish date is fixed and float exists</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Resource smoothing — adjust only within free and total float</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Two people are marked Accountable for the same deliverable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That is the defect: RACI allows exactly one Accountable per row</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keeps rediscovering the same information late</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Co-locate or add an information radiator; osmotic communication solves this without adding meetings</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261</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PEOPLE T8 · PLAN AND MANAGE COMMUNICATION</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6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Communication: the PM's largest single time cost</a:t>
            </a:r>
          </a:p>
        </p:txBody>
      </p:sp>
      <p:sp>
        <p:nvSpPr>
          <p:cNvPr id="6" name="Rectangle 5"/>
          <p:cNvSpPr/>
          <p:nvPr/>
        </p:nvSpPr>
        <p:spPr>
          <a:xfrm>
            <a:off x="566928" y="350215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The 90% figure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Project managers spend the overwhelming majority of their time communicating — plan it like any other work.</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Planned, not ad hoc</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Who needs what, in what format, how often, through which channel, and why.</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Two-way by design</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Communication without a feedback loop is broadcasting, and broadcasting is not engagement.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262</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Communications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The plan defines the strategy; execution is Manage Communications and Monitor Communications.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key stakeholders and their roles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 stakeholder engagement plan</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requirements documentation, stakeholder register</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culture, geographic distribution, regulatory and legal reporting requirements</a:t>
            </a:r>
          </a:p>
        </p:txBody>
      </p:sp>
      <p:sp>
        <p:nvSpPr>
          <p:cNvPr id="19" name="Oval 18"/>
          <p:cNvSpPr/>
          <p:nvPr/>
        </p:nvSpPr>
        <p:spPr>
          <a:xfrm>
            <a:off x="749808" y="553806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44662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historical information, lessons learned, templates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politics, media and cross-cultural nuance</a:t>
            </a:r>
          </a:p>
        </p:txBody>
      </p:sp>
      <p:sp>
        <p:nvSpPr>
          <p:cNvPr id="27" name="Oval 26"/>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 requirements analysis</a:t>
            </a:r>
          </a:p>
        </p:txBody>
      </p:sp>
      <p:sp>
        <p:nvSpPr>
          <p:cNvPr id="29" name="Oval 28"/>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 technology, models and methods</a:t>
            </a:r>
          </a:p>
        </p:txBody>
      </p:sp>
      <p:sp>
        <p:nvSpPr>
          <p:cNvPr id="31" name="Oval 30"/>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271617"/>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communication styles assessment, political awareness, cultural awareness</a:t>
            </a:r>
          </a:p>
        </p:txBody>
      </p:sp>
      <p:sp>
        <p:nvSpPr>
          <p:cNvPr id="33" name="Oval 32"/>
          <p:cNvSpPr/>
          <p:nvPr/>
        </p:nvSpPr>
        <p:spPr>
          <a:xfrm>
            <a:off x="4593336" y="532683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235394"/>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 stakeholder engagement assessment matrix</a:t>
            </a:r>
          </a:p>
        </p:txBody>
      </p:sp>
      <p:sp>
        <p:nvSpPr>
          <p:cNvPr id="35" name="Oval 34"/>
          <p:cNvSpPr/>
          <p:nvPr/>
        </p:nvSpPr>
        <p:spPr>
          <a:xfrm>
            <a:off x="4593336" y="58681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77671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Communications management plan</a:t>
            </a:r>
          </a:p>
        </p:txBody>
      </p:sp>
      <p:sp>
        <p:nvSpPr>
          <p:cNvPr id="43" name="Oval 42"/>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and document updates (stakeholder register, project schedule)</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263</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communications management plan records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65186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633575"/>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Roles</a:t>
            </a:r>
          </a:p>
        </p:txBody>
      </p:sp>
      <p:sp>
        <p:nvSpPr>
          <p:cNvPr id="10" name="TextBox 9"/>
          <p:cNvSpPr txBox="1"/>
          <p:nvPr/>
        </p:nvSpPr>
        <p:spPr>
          <a:xfrm>
            <a:off x="768096" y="2029604"/>
            <a:ext cx="2183130" cy="158524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Identifies team members and stakeholders as senders, receivers, and the authorising person for confidential information.</a:t>
            </a:r>
          </a:p>
        </p:txBody>
      </p:sp>
      <p:sp>
        <p:nvSpPr>
          <p:cNvPr id="11" name="Rounded Rectangle 10"/>
          <p:cNvSpPr/>
          <p:nvPr/>
        </p:nvSpPr>
        <p:spPr>
          <a:xfrm>
            <a:off x="339013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432407"/>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3018" y="165186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01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3957066" y="1633575"/>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Type of information</a:t>
            </a:r>
          </a:p>
        </p:txBody>
      </p:sp>
      <p:sp>
        <p:nvSpPr>
          <p:cNvPr id="16" name="TextBox 15"/>
          <p:cNvSpPr txBox="1"/>
          <p:nvPr/>
        </p:nvSpPr>
        <p:spPr>
          <a:xfrm>
            <a:off x="3591306" y="2029604"/>
            <a:ext cx="2183130" cy="158524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is communicated — status, decisions, risks, escalations, financials.</a:t>
            </a:r>
          </a:p>
        </p:txBody>
      </p:sp>
      <p:sp>
        <p:nvSpPr>
          <p:cNvPr id="17" name="Rounded Rectangle 16"/>
          <p:cNvSpPr/>
          <p:nvPr/>
        </p:nvSpPr>
        <p:spPr>
          <a:xfrm>
            <a:off x="621334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3348" y="1432407"/>
            <a:ext cx="258546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96228" y="165186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622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6780276" y="1633575"/>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Reason for communication</a:t>
            </a:r>
          </a:p>
        </p:txBody>
      </p:sp>
      <p:sp>
        <p:nvSpPr>
          <p:cNvPr id="22" name="TextBox 21"/>
          <p:cNvSpPr txBox="1"/>
          <p:nvPr/>
        </p:nvSpPr>
        <p:spPr>
          <a:xfrm>
            <a:off x="6414516" y="2242753"/>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Why the communication exists; a report nobody can justify is a report you can stop producing.</a:t>
            </a:r>
          </a:p>
        </p:txBody>
      </p:sp>
      <p:sp>
        <p:nvSpPr>
          <p:cNvPr id="23" name="Rounded Rectangle 22"/>
          <p:cNvSpPr/>
          <p:nvPr/>
        </p:nvSpPr>
        <p:spPr>
          <a:xfrm>
            <a:off x="9036558" y="1432407"/>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36558" y="1432407"/>
            <a:ext cx="258546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19438" y="1651863"/>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9438" y="1688439"/>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9603486" y="1633575"/>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Language, format, detail</a:t>
            </a:r>
          </a:p>
        </p:txBody>
      </p:sp>
      <p:sp>
        <p:nvSpPr>
          <p:cNvPr id="28" name="TextBox 27"/>
          <p:cNvSpPr txBox="1"/>
          <p:nvPr/>
        </p:nvSpPr>
        <p:spPr>
          <a:xfrm>
            <a:off x="9237726" y="2242753"/>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Written in the audience's language and at the level of detail their decision actually requires.</a:t>
            </a:r>
          </a:p>
        </p:txBody>
      </p:sp>
      <p:sp>
        <p:nvSpPr>
          <p:cNvPr id="29" name="Rounded Rectangle 28"/>
          <p:cNvSpPr/>
          <p:nvPr/>
        </p:nvSpPr>
        <p:spPr>
          <a:xfrm>
            <a:off x="56692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980611"/>
            <a:ext cx="258546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113385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Time frame and frequency</a:t>
            </a:r>
          </a:p>
        </p:txBody>
      </p:sp>
      <p:sp>
        <p:nvSpPr>
          <p:cNvPr id="34" name="TextBox 33"/>
          <p:cNvSpPr txBox="1"/>
          <p:nvPr/>
        </p:nvSpPr>
        <p:spPr>
          <a:xfrm>
            <a:off x="768096" y="4790957"/>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and how often, including escalation-triggered rather than calendar-triggered messages.</a:t>
            </a:r>
          </a:p>
        </p:txBody>
      </p:sp>
      <p:sp>
        <p:nvSpPr>
          <p:cNvPr id="35" name="Rounded Rectangle 34"/>
          <p:cNvSpPr/>
          <p:nvPr/>
        </p:nvSpPr>
        <p:spPr>
          <a:xfrm>
            <a:off x="339013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90138" y="3980611"/>
            <a:ext cx="258546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57301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7301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395706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Method and technology</a:t>
            </a:r>
          </a:p>
        </p:txBody>
      </p:sp>
      <p:sp>
        <p:nvSpPr>
          <p:cNvPr id="40" name="TextBox 39"/>
          <p:cNvSpPr txBox="1"/>
          <p:nvPr/>
        </p:nvSpPr>
        <p:spPr>
          <a:xfrm>
            <a:off x="3591306" y="4790957"/>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channel: meeting, dashboard, email, report — chosen for urgency and richness, not habit.</a:t>
            </a:r>
          </a:p>
        </p:txBody>
      </p:sp>
      <p:sp>
        <p:nvSpPr>
          <p:cNvPr id="41" name="Rounded Rectangle 40"/>
          <p:cNvSpPr/>
          <p:nvPr/>
        </p:nvSpPr>
        <p:spPr>
          <a:xfrm>
            <a:off x="621334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3348" y="3980611"/>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96228" y="420006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7</a:t>
            </a:r>
          </a:p>
        </p:txBody>
      </p:sp>
      <p:sp>
        <p:nvSpPr>
          <p:cNvPr id="45" name="TextBox 44"/>
          <p:cNvSpPr txBox="1"/>
          <p:nvPr/>
        </p:nvSpPr>
        <p:spPr>
          <a:xfrm>
            <a:off x="6780276" y="4181779"/>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Escalation process</a:t>
            </a:r>
          </a:p>
        </p:txBody>
      </p:sp>
      <p:sp>
        <p:nvSpPr>
          <p:cNvPr id="46" name="TextBox 45"/>
          <p:cNvSpPr txBox="1"/>
          <p:nvPr/>
        </p:nvSpPr>
        <p:spPr>
          <a:xfrm>
            <a:off x="6414516" y="4577808"/>
            <a:ext cx="2183130" cy="158524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route and the thresholds for escalating an issue when the normal channel fails.</a:t>
            </a:r>
          </a:p>
        </p:txBody>
      </p:sp>
      <p:sp>
        <p:nvSpPr>
          <p:cNvPr id="47" name="Rounded Rectangle 46"/>
          <p:cNvSpPr/>
          <p:nvPr/>
        </p:nvSpPr>
        <p:spPr>
          <a:xfrm>
            <a:off x="9036558" y="3980611"/>
            <a:ext cx="2585466" cy="231046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36558" y="3980611"/>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219438" y="420006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1943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8</a:t>
            </a:r>
          </a:p>
        </p:txBody>
      </p:sp>
      <p:sp>
        <p:nvSpPr>
          <p:cNvPr id="51" name="TextBox 50"/>
          <p:cNvSpPr txBox="1"/>
          <p:nvPr/>
        </p:nvSpPr>
        <p:spPr>
          <a:xfrm>
            <a:off x="960348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Glossary and constraints</a:t>
            </a:r>
          </a:p>
        </p:txBody>
      </p:sp>
      <p:sp>
        <p:nvSpPr>
          <p:cNvPr id="52" name="TextBox 51"/>
          <p:cNvSpPr txBox="1"/>
          <p:nvPr/>
        </p:nvSpPr>
        <p:spPr>
          <a:xfrm>
            <a:off x="9237726" y="4790957"/>
            <a:ext cx="2183130" cy="13720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Common terminology, plus any legal or regulatory reporting constraints that apply.</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264</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communication model — where meaning goes missing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3941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Encode</a:t>
            </a:r>
          </a:p>
        </p:txBody>
      </p:sp>
      <p:sp>
        <p:nvSpPr>
          <p:cNvPr id="8" name="TextBox 7"/>
          <p:cNvSpPr txBox="1"/>
          <p:nvPr/>
        </p:nvSpPr>
        <p:spPr>
          <a:xfrm>
            <a:off x="69494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sender converts thought into a message using words, images or gestures — meaning is already partly lost here.</a:t>
            </a:r>
          </a:p>
        </p:txBody>
      </p:sp>
      <p:sp>
        <p:nvSpPr>
          <p:cNvPr id="9" name="Pentagon 8"/>
          <p:cNvSpPr/>
          <p:nvPr/>
        </p:nvSpPr>
        <p:spPr>
          <a:xfrm>
            <a:off x="2801721" y="1816455"/>
            <a:ext cx="2115921" cy="263941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Transmit</a:t>
            </a:r>
          </a:p>
        </p:txBody>
      </p:sp>
      <p:sp>
        <p:nvSpPr>
          <p:cNvPr id="12" name="TextBox 11"/>
          <p:cNvSpPr txBox="1"/>
          <p:nvPr/>
        </p:nvSpPr>
        <p:spPr>
          <a:xfrm>
            <a:off x="2929737"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message travels through a medium: speech, email, chat, video, document.</a:t>
            </a:r>
          </a:p>
        </p:txBody>
      </p:sp>
      <p:sp>
        <p:nvSpPr>
          <p:cNvPr id="13" name="Pentagon 12"/>
          <p:cNvSpPr/>
          <p:nvPr/>
        </p:nvSpPr>
        <p:spPr>
          <a:xfrm>
            <a:off x="5036515" y="1816455"/>
            <a:ext cx="2115921" cy="263941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Noise</a:t>
            </a:r>
          </a:p>
        </p:txBody>
      </p:sp>
      <p:sp>
        <p:nvSpPr>
          <p:cNvPr id="16" name="TextBox 15"/>
          <p:cNvSpPr txBox="1"/>
          <p:nvPr/>
        </p:nvSpPr>
        <p:spPr>
          <a:xfrm>
            <a:off x="5164531"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Anything distorting the signal — jargon, poor connection, cultural difference, distraction, emotion, fatigue.</a:t>
            </a:r>
          </a:p>
        </p:txBody>
      </p:sp>
      <p:sp>
        <p:nvSpPr>
          <p:cNvPr id="17" name="Pentagon 16"/>
          <p:cNvSpPr/>
          <p:nvPr/>
        </p:nvSpPr>
        <p:spPr>
          <a:xfrm>
            <a:off x="7271308" y="1816455"/>
            <a:ext cx="2115921" cy="263941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Decode</a:t>
            </a:r>
          </a:p>
        </p:txBody>
      </p:sp>
      <p:sp>
        <p:nvSpPr>
          <p:cNvPr id="20" name="TextBox 19"/>
          <p:cNvSpPr txBox="1"/>
          <p:nvPr/>
        </p:nvSpPr>
        <p:spPr>
          <a:xfrm>
            <a:off x="739932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receiver converts the message back into thought using their own frame of reference, not the sender's.</a:t>
            </a:r>
          </a:p>
        </p:txBody>
      </p:sp>
      <p:sp>
        <p:nvSpPr>
          <p:cNvPr id="21" name="Rounded Rectangle 20"/>
          <p:cNvSpPr/>
          <p:nvPr/>
        </p:nvSpPr>
        <p:spPr>
          <a:xfrm>
            <a:off x="9506102" y="1816455"/>
            <a:ext cx="2115921" cy="263941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Acknowledge/feedback</a:t>
            </a:r>
          </a:p>
        </p:txBody>
      </p:sp>
      <p:sp>
        <p:nvSpPr>
          <p:cNvPr id="24" name="TextBox 23"/>
          <p:cNvSpPr txBox="1"/>
          <p:nvPr/>
        </p:nvSpPr>
        <p:spPr>
          <a:xfrm>
            <a:off x="9634118"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The receiver confirms receipt and understanding; only now is communication actually complete.</a:t>
            </a:r>
          </a:p>
        </p:txBody>
      </p:sp>
      <p:sp>
        <p:nvSpPr>
          <p:cNvPr id="25" name="Rounded Rectangle 24"/>
          <p:cNvSpPr/>
          <p:nvPr/>
        </p:nvSpPr>
        <p:spPr>
          <a:xfrm>
            <a:off x="566928" y="467532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7532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6676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On the exam, if a message was sent but not confirmed, communication has NOT occurred. The sender is responsible for making the message clear, complete and understood.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265</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Communication channels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Channels formula</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N × (N − 1) / 2</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 is the number of people; the result is the number of potential communication paths.</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Team of 10</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10 × 9 / 2 = 45</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Ten people generate forty-five possible two-way channels to keep coherent.</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Adding one person</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From 10 to 11: 45 → 55</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One extra person adds ten new channels — complexity grows quadratically.</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Team of 50</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50 × 49 / 2 = 1225</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Why large teams need structure, sub-teams and a plan rather than goodwill.</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trap: read carefully whether the question includes the project manager in N. If it says 'you have a team of 8', N is usually 9. If it asks for ADDITIONAL channels, subtract the original count.</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266</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Push, pull and interactive communication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1901952"/>
        </p:xfrm>
        <a:graphic>
          <a:graphicData uri="http://schemas.openxmlformats.org/drawingml/2006/table">
            <a:tbl>
              <a:tblPr firstRow="1" bandRow="1">
                <a:tableStyleId>{5C22544A-7EE6-4342-B048-85BDC9FD1C3A}</a:tableStyleId>
              </a:tblPr>
              <a:tblGrid>
                <a:gridCol w="2010017"/>
                <a:gridCol w="5025043"/>
                <a:gridCol w="4020034"/>
              </a:tblGrid>
              <a:tr h="475488">
                <a:tc>
                  <a:txBody>
                    <a:bodyPr wrap="square" anchor="t"/>
                    <a:lstStyle/>
                    <a:p>
                      <a:pPr algn="l">
                        <a:lnSpc>
                          <a:spcPct val="100000"/>
                        </a:lnSpc>
                        <a:spcAft>
                          <a:spcPts val="0"/>
                        </a:spcAft>
                      </a:pPr>
                      <a:r>
                        <a:rPr sz="1150" b="1" i="0">
                          <a:solidFill>
                            <a:srgbClr val="FFFFFF"/>
                          </a:solidFill>
                          <a:latin typeface="Arial"/>
                        </a:rPr>
                        <a:t>Method</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Use it for</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Interactive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Multi-directional real-time exchange between two or more parties — meetings, calls, video, workshops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Complex, sensitive, ambiguous or urgent topics needing agreement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Push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Sent to specific recipients who need the information — email, memos, reports, letters, voicemail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Distribution where receipt matters but discussion does not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Pull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Recipients access the information at their discretion — intranets, dashboards, knowledge repositories, wikis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Large volumes of information for large, self-serving audiences</a:t>
                      </a:r>
                    </a:p>
                  </a:txBody>
                  <a:tcPr anchor="ctr">
                    <a:solidFill>
                      <a:srgbClr val="FFFFFF"/>
                    </a:solidFill>
                  </a:tcPr>
                </a:tc>
              </a:tr>
            </a:tbl>
          </a:graphicData>
        </a:graphic>
      </p:graphicFrame>
      <p:sp>
        <p:nvSpPr>
          <p:cNvPr id="6" name="Rounded Rectangle 5"/>
          <p:cNvSpPr/>
          <p:nvPr/>
        </p:nvSpPr>
        <p:spPr>
          <a:xfrm>
            <a:off x="566928" y="3498951"/>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3572103"/>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Push guarantees distribution but NOT understanding. Only interactive communication closes the loop, which is why bad news is always delivered interactively first.</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267</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Five Cs of written communication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Correct</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Correct grammar and spelling — errors undermine credibility before the content is even read.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Concise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Concise expression with excess words eliminated; length is not a measure of thoroughness.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Clear</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Clear purpose and expression directed towards the needs of the reader, not the convenience of the writer.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Coherent</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logical flow of ideas so the reader can follow the argument without re-reading.</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Controlling</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Controlled flow of words and ideas — structure, headings and emphasis that guide attention.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Applied where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Status reports, escalations, meeting minutes, change requests and every stakeholder email.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268</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Active listening, feedback and non-verbal signals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Listen actively</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Stay engaged with the speaker, show interest, and summarise or repeat the message back to check understanding.</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Seek feedback</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Listen to written, verbal and non-verbal feedback to ensure your message and others' were heard correctly.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Read non-verbals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Body language, tone and gesture carry a large share of the meaning, especially in conflict.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Ask open questions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Questions that cannot be answered yes or no surface the concern behind the objection.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Paraphrase, don't parrot</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Restating in your own words proves you understood; repeating words only proves you heard.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 your own bias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receiver decodes through their own frame of reference; assume misunderstanding, then verify.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269</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Virtual versus co-located teams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VIRTUAL TEAM</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Now normal in most workplaces</a:t>
            </a:r>
          </a:p>
        </p:txBody>
      </p:sp>
      <p:sp>
        <p:nvSpPr>
          <p:cNvPr id="9" name="Oval 8"/>
          <p:cNvSpPr/>
          <p:nvPr/>
        </p:nvSpPr>
        <p:spPr>
          <a:xfrm>
            <a:off x="786384"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Access to better skills at lower cost across geographies</a:t>
            </a:r>
          </a:p>
        </p:txBody>
      </p:sp>
      <p:sp>
        <p:nvSpPr>
          <p:cNvPr id="11" name="Oval 10"/>
          <p:cNvSpPr/>
          <p:nvPr/>
        </p:nvSpPr>
        <p:spPr>
          <a:xfrm>
            <a:off x="786384"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Avoids relocation expense and widens the talent pool</a:t>
            </a:r>
          </a:p>
        </p:txBody>
      </p:sp>
      <p:sp>
        <p:nvSpPr>
          <p:cNvPr id="13" name="Oval 12"/>
          <p:cNvSpPr/>
          <p:nvPr/>
        </p:nvSpPr>
        <p:spPr>
          <a:xfrm>
            <a:off x="786384"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Supports work/life balance and inclusion of remote members</a:t>
            </a:r>
          </a:p>
        </p:txBody>
      </p:sp>
      <p:sp>
        <p:nvSpPr>
          <p:cNvPr id="15" name="Oval 14"/>
          <p:cNvSpPr/>
          <p:nvPr/>
        </p:nvSpPr>
        <p:spPr>
          <a:xfrm>
            <a:off x="786384"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Relies entirely on communication technology to function</a:t>
            </a:r>
          </a:p>
        </p:txBody>
      </p:sp>
      <p:sp>
        <p:nvSpPr>
          <p:cNvPr id="17" name="Oval 16"/>
          <p:cNvSpPr/>
          <p:nvPr/>
        </p:nvSpPr>
        <p:spPr>
          <a:xfrm>
            <a:off x="786384"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May have bonding challenges and slower trust formation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CO-LOCATED TEAM</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Everyone in one team space</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Interaction is easy and unplanned — questions cost seconds</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Bonding and trust are facilitated by informal contact</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Osmotic communication and information radiators work naturally</a:t>
            </a:r>
          </a:p>
        </p:txBody>
      </p:sp>
      <p:sp>
        <p:nvSpPr>
          <p:cNvPr id="29" name="Oval 28"/>
          <p:cNvSpPr/>
          <p:nvPr/>
        </p:nvSpPr>
        <p:spPr>
          <a:xfrm>
            <a:off x="6451092" y="359953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Non-verbal signals are visible, so conflict surfaces earlier</a:t>
            </a:r>
          </a:p>
        </p:txBody>
      </p:sp>
      <p:sp>
        <p:nvSpPr>
          <p:cNvPr id="31" name="Oval 30"/>
          <p:cNvSpPr/>
          <p:nvPr/>
        </p:nvSpPr>
        <p:spPr>
          <a:xfrm>
            <a:off x="6451092" y="391957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Constrained to the talent available in one location</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For virtual teams, invest deliberately in what co-location gives you free: explicit working agreements, a persistent shared board, video-on norms and scheduled social contact.</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communication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have 8 team members and 3 new people join</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Channels go from 9×8/2 = 36 to 12×11/2 = 66 — read whether the PM is counted in N</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stakeholder says they were never informed of a decision</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Review the communications management plan; the omission is a planning defect, not a personal failing</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must deliver bad news to a sponsor</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Use interactive communication — face-to-face or a call — never a push email as the first contact</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Large volumes of reference material for many stakeholders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Pull communication: publish to a repository or dashboard they access at their own discretion</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271</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BUSINESS ENV T5 · PLAN AND MANAGE RISK</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7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Risk: uncertainty that matters, managed on purpose</a:t>
            </a:r>
          </a:p>
        </p:txBody>
      </p:sp>
      <p:sp>
        <p:nvSpPr>
          <p:cNvPr id="6" name="Rectangle 5"/>
          <p:cNvSpPr/>
          <p:nvPr/>
        </p:nvSpPr>
        <p:spPr>
          <a:xfrm>
            <a:off x="566928" y="3502152"/>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Both directions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Risks can be negative (threats) or positive (opportunities) — PMI expects you to plan for both.</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Known causes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Risk originates from known and unknown causes inside and outside the business environment.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Trigger conditions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Risk development is signalled by a trigger — identify the trigger, not just the risk.</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272</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Risk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Plan Risk Management defines HOW risk work will be done — the definitions of 'high probability' and 'high impact' are set here.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charter — high-level risks and success criteria</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all subsidiary plans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stakeholder register</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organisational risk thresholds and appetite</a:t>
            </a:r>
          </a:p>
        </p:txBody>
      </p:sp>
      <p:sp>
        <p:nvSpPr>
          <p:cNvPr id="19" name="Oval 18"/>
          <p:cNvSpPr/>
          <p:nvPr/>
        </p:nvSpPr>
        <p:spPr>
          <a:xfrm>
            <a:off x="749808" y="511560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0241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risk policy, risk categories, templates, lessons learned</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risk methodology</a:t>
            </a:r>
          </a:p>
        </p:txBody>
      </p:sp>
      <p:sp>
        <p:nvSpPr>
          <p:cNvPr id="27" name="Oval 26"/>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stakeholder risk appetite analysis</a:t>
            </a:r>
          </a:p>
        </p:txBody>
      </p:sp>
      <p:sp>
        <p:nvSpPr>
          <p:cNvPr id="29" name="Oval 28"/>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73029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 the risk planning meeting with the team, sponsor and selected stakeholders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management plan — methodology, roles and responsibilities, funding, timing, risk categories (RBS)</a:t>
            </a:r>
          </a:p>
        </p:txBody>
      </p:sp>
      <p:sp>
        <p:nvSpPr>
          <p:cNvPr id="37" name="Oval 36"/>
          <p:cNvSpPr/>
          <p:nvPr/>
        </p:nvSpPr>
        <p:spPr>
          <a:xfrm>
            <a:off x="8436864" y="370286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Stakeholder risk appetite, probability and impact definitions</a:t>
            </a:r>
          </a:p>
        </p:txBody>
      </p:sp>
      <p:sp>
        <p:nvSpPr>
          <p:cNvPr id="39" name="Oval 38"/>
          <p:cNvSpPr/>
          <p:nvPr/>
        </p:nvSpPr>
        <p:spPr>
          <a:xfrm>
            <a:off x="8436864" y="424418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Probability and impact matrix, reporting formats, tracking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273</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Risk versus issue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RISK</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An uncertain future event</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Focused on the FUTURE — it may or may not happen</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 be positive (opportunity) or negative (threat)</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Documented in the RISK REGISTER</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reaction is called a RISK RESPONSE, planned in advance</a:t>
            </a:r>
          </a:p>
        </p:txBody>
      </p:sp>
      <p:sp>
        <p:nvSpPr>
          <p:cNvPr id="17" name="Oval 16"/>
          <p:cNvSpPr/>
          <p:nvPr/>
        </p:nvSpPr>
        <p:spPr>
          <a:xfrm>
            <a:off x="786384"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a probability, an impact, an owner and a trigger condition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ISSUE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present condition already affecting the project</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Focused on the PRESENT — it has already occurred</a:t>
            </a:r>
          </a:p>
        </p:txBody>
      </p:sp>
      <p:sp>
        <p:nvSpPr>
          <p:cNvPr id="25" name="Oval 24"/>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Will always be negative</a:t>
            </a:r>
          </a:p>
        </p:txBody>
      </p:sp>
      <p:sp>
        <p:nvSpPr>
          <p:cNvPr id="27" name="Oval 26"/>
          <p:cNvSpPr/>
          <p:nvPr/>
        </p:nvSpPr>
        <p:spPr>
          <a:xfrm>
            <a:off x="6451092"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Documented in the ISSUE LOG</a:t>
            </a:r>
          </a:p>
        </p:txBody>
      </p:sp>
      <p:sp>
        <p:nvSpPr>
          <p:cNvPr id="29" name="Oval 28"/>
          <p:cNvSpPr/>
          <p:nvPr/>
        </p:nvSpPr>
        <p:spPr>
          <a:xfrm>
            <a:off x="6451092"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reaction is called a WORKAROUND, produced reactively</a:t>
            </a:r>
          </a:p>
        </p:txBody>
      </p:sp>
      <p:sp>
        <p:nvSpPr>
          <p:cNvPr id="31" name="Oval 30"/>
          <p:cNvSpPr/>
          <p:nvPr/>
        </p:nvSpPr>
        <p:spPr>
          <a:xfrm>
            <a:off x="6451092" y="374583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an owner, a target resolution date and an escalation path</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When a risk becomes an issue you must act: implement the planned response, log it in the issue log, and update the risk register status. Recognising that transition is an explicit ECO enabler.</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274</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Risk attitude, appetite, tolerance and threshold</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attitude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organisation's or individual's disposition toward uncertainty — averse, neutral or seeking.</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appetite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degree of uncertainty the organisation is willing to accept in anticipation of a reward.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tolerance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measurable degree of variation around an objective that is acceptable — for example ±10% of budget.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threshold</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specific point at which a risk becomes unacceptable and a response or escalation is mandatory.</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matters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Thresholds turn a subjective conversation into an automatic, auditable trigger for action.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captured</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Stakeholder risk appetite is analysed in Plan Risk Management and recorded in the risk management plan.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275</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Identify Risks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Identify Risks is iterative — new risks emerge throughout the project, so the register is never finished.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all subsidiary plans and baselines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cost and duration estimates, issue log, lessons learned register, requirements documentation, resource requirements, stakeholder register</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procurement documentation, EEFs and OPAs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brainstorming, checklists, interviews</a:t>
            </a:r>
          </a:p>
        </p:txBody>
      </p:sp>
      <p:sp>
        <p:nvSpPr>
          <p:cNvPr id="25" name="Oval 24"/>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73029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root cause analysis, assumption and constraint analysis, SWOT analysis, document analysis</a:t>
            </a:r>
          </a:p>
        </p:txBody>
      </p:sp>
      <p:sp>
        <p:nvSpPr>
          <p:cNvPr id="27" name="Oval 26"/>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482844"/>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a:t>
            </a:r>
          </a:p>
        </p:txBody>
      </p:sp>
      <p:sp>
        <p:nvSpPr>
          <p:cNvPr id="29" name="Oval 28"/>
          <p:cNvSpPr/>
          <p:nvPr/>
        </p:nvSpPr>
        <p:spPr>
          <a:xfrm>
            <a:off x="4593336" y="511560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502416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Prompt lists (RBS, PESTLE, TECOP, VUCA)</a:t>
            </a:r>
          </a:p>
        </p:txBody>
      </p:sp>
      <p:sp>
        <p:nvSpPr>
          <p:cNvPr id="31" name="Oval 30"/>
          <p:cNvSpPr/>
          <p:nvPr/>
        </p:nvSpPr>
        <p:spPr>
          <a:xfrm>
            <a:off x="4593336" y="565693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56549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register — the master list of identified risks</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report — sources of overall project risk and summary information on identified individual risks</a:t>
            </a:r>
          </a:p>
        </p:txBody>
      </p:sp>
      <p:sp>
        <p:nvSpPr>
          <p:cNvPr id="41" name="Oval 40"/>
          <p:cNvSpPr/>
          <p:nvPr/>
        </p:nvSpPr>
        <p:spPr>
          <a:xfrm>
            <a:off x="8436864" y="424418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276</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Risk identification techniques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279392"/>
        </p:xfrm>
        <a:graphic>
          <a:graphicData uri="http://schemas.openxmlformats.org/drawingml/2006/table">
            <a:tbl>
              <a:tblPr firstRow="1" bandRow="1">
                <a:tableStyleId>{5C22544A-7EE6-4342-B048-85BDC9FD1C3A}</a:tableStyleId>
              </a:tblPr>
              <a:tblGrid>
                <a:gridCol w="2551176"/>
                <a:gridCol w="4592116"/>
                <a:gridCol w="3911803"/>
              </a:tblGrid>
              <a:tr h="475488">
                <a:tc>
                  <a:txBody>
                    <a:bodyPr wrap="square" anchor="t"/>
                    <a:lstStyle/>
                    <a:p>
                      <a:pPr algn="l">
                        <a:lnSpc>
                          <a:spcPct val="100000"/>
                        </a:lnSpc>
                        <a:spcAft>
                          <a:spcPts val="0"/>
                        </a:spcAft>
                      </a:pPr>
                      <a:r>
                        <a:rPr sz="1150" b="1" i="0">
                          <a:solidFill>
                            <a:srgbClr val="FFFFFF"/>
                          </a:solidFill>
                          <a:latin typeface="Arial"/>
                        </a:rPr>
                        <a:t>Technique</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Strength</a:t>
                      </a:r>
                    </a:p>
                  </a:txBody>
                  <a:tcPr anchor="ctr">
                    <a:solidFill>
                      <a:srgbClr val="1F6FEB"/>
                    </a:solidFill>
                  </a:tcPr>
                </a:tc>
              </a:tr>
              <a:tr h="475488">
                <a:tc>
                  <a:txBody>
                    <a:bodyPr wrap="square" anchor="t"/>
                    <a:lstStyle/>
                    <a:p>
                      <a:pPr algn="l">
                        <a:lnSpc>
                          <a:spcPct val="110000"/>
                        </a:lnSpc>
                        <a:spcAft>
                          <a:spcPts val="0"/>
                        </a:spcAft>
                      </a:pPr>
                      <a:r>
                        <a:rPr sz="1050" b="1" i="0">
                          <a:solidFill>
                            <a:srgbClr val="161B26"/>
                          </a:solidFill>
                          <a:latin typeface="Arial"/>
                        </a:rPr>
                        <a:t>Risk breakdown structure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Hierarchical list of risk categories used as a checklist when brainstorming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Systematic coverage; exposes categories the team never thought about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Brainstorming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Facilitated group generation of candidate risks with judgement deferred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Volume and diversity of ideas early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SWOT analysis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Examine strengths, weaknesses, opportunities and threats of the project and organisation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Systematically surfaces OPPORTUNITIES, not just threats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Assumption analysis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Test the validity and stability of each documented assumption and constraint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Every assumption is an unregistered risk until tested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Delphi technique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Anonymous rounds of expert input, summarised and recirculated until consensus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Removes dominance and groupthink from expert judgement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Document review</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Structured review of plans, contracts, prior project files and lessons learned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Cheap and finds risks the organisation has already met before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Nominal group technique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Brainstorm then vote to rank the risks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Produces a prioritised list in one session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Interviews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One-to-one questioning of experienced participants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Surfaces political or commercially sensitive risks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277</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Common project risk categories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Financial</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Benefit shortfall, budget overrun, exchange rate movement, funding withdrawal, cost inflation on long-lead items.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Technical</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risk, project complexity, integration failure, unproven technology, technical debt accumulation.</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Commercial</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Supplier failure, procurement delay, contract dispute, vendor lock-in, insolvency of a key partner.</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Compliance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Regulatory change, legal risk, health and safety, data protection, security and IT security exposure.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Requirements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Scope creep, requirement volatility, poor estimates, unclear acceptance criteria, quality risk.</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Organisational</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Resistance to change, resource unavailability, programme dependency, reputation risk, key person dependency.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278</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Building a Risk Breakdown Structure (RBS)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Start with categories</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Take the organisation's standard top-level risk categories — external, technical, organisational, PM.</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Decompose one level</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Break each into sub-categories: external becomes regulatory, market, competitor, weather.</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Decompose again</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Continue until the category is specific enough to prompt a concrete risk in a brainstorm.</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Use as a checklist</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Walk the team down the RBS branch by branch and ask what could go wrong or go unusually well here.</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Feed the register</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Record each identified risk against its RBS code so you can see which categories dominate.</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RBS also answers a management question the register cannot: which category of risk carries most of our exposure, and is that where our mitigation money is actually going?</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279</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Perform Qualitative Risk Analysis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Perform the subjective qualitative assessment FIRST to prioritise risks; only escalate to quantitative analysis if further support is required.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 risk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risk register, stakeholder register</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industry studies of similar projects, published material</a:t>
            </a:r>
          </a:p>
        </p:txBody>
      </p:sp>
      <p:sp>
        <p:nvSpPr>
          <p:cNvPr id="17" name="Oval 16"/>
          <p:cNvSpPr/>
          <p:nvPr/>
        </p:nvSpPr>
        <p:spPr>
          <a:xfrm>
            <a:off x="749808" y="457428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OPAs — information from prior similar completed projects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 interviews</a:t>
            </a:r>
          </a:p>
        </p:txBody>
      </p:sp>
      <p:sp>
        <p:nvSpPr>
          <p:cNvPr id="27" name="Oval 26"/>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519067"/>
            <a:ext cx="2782824" cy="1267358"/>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risk data quality assessment, risk probability and impact assessment, assessment of other risk parameters (urgency, proximity, dormancy, manageability, controllability)</a:t>
            </a:r>
          </a:p>
        </p:txBody>
      </p:sp>
      <p:sp>
        <p:nvSpPr>
          <p:cNvPr id="29" name="Oval 28"/>
          <p:cNvSpPr/>
          <p:nvPr/>
        </p:nvSpPr>
        <p:spPr>
          <a:xfrm>
            <a:off x="4593336" y="499673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90529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a:t>
            </a:r>
          </a:p>
        </p:txBody>
      </p:sp>
      <p:sp>
        <p:nvSpPr>
          <p:cNvPr id="31" name="Oval 30"/>
          <p:cNvSpPr/>
          <p:nvPr/>
        </p:nvSpPr>
        <p:spPr>
          <a:xfrm>
            <a:off x="4593336" y="553806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44662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categorisation, data representation (probability and impact matrix, hierarchical charts), 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risk register with priority ratings, risk report, assumption log, issue log</a:t>
            </a:r>
          </a:p>
        </p:txBody>
      </p:sp>
      <p:sp>
        <p:nvSpPr>
          <p:cNvPr id="39" name="TextBox 3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0" name="TextBox 3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1" name="TextBox 4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Probability and impact matrix</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HIGH P / LOW I</a:t>
            </a:r>
          </a:p>
        </p:txBody>
      </p:sp>
      <p:sp>
        <p:nvSpPr>
          <p:cNvPr id="7" name="TextBox 6"/>
          <p:cNvSpPr txBox="1"/>
          <p:nvPr/>
        </p:nvSpPr>
        <p:spPr>
          <a:xfrm>
            <a:off x="2478024" y="2068486"/>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Frequent nuisances. Mitigate through process change or accept actively with a small contingency.</a:t>
            </a:r>
          </a:p>
        </p:txBody>
      </p:sp>
      <p:sp>
        <p:nvSpPr>
          <p:cNvPr id="8" name="Rounded Rectangle 7"/>
          <p:cNvSpPr/>
          <p:nvPr/>
        </p:nvSpPr>
        <p:spPr>
          <a:xfrm>
            <a:off x="4325112"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252031"/>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HIGH P / HIGH I</a:t>
            </a:r>
          </a:p>
        </p:txBody>
      </p:sp>
      <p:sp>
        <p:nvSpPr>
          <p:cNvPr id="10" name="TextBox 9"/>
          <p:cNvSpPr txBox="1"/>
          <p:nvPr/>
        </p:nvSpPr>
        <p:spPr>
          <a:xfrm>
            <a:off x="4471416" y="2068486"/>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Red zone. Escalate, avoid or transfer. Needs a named owner, a funded response and board visibility.</a:t>
            </a:r>
          </a:p>
        </p:txBody>
      </p:sp>
      <p:sp>
        <p:nvSpPr>
          <p:cNvPr id="11" name="Rounded Rectangle 10"/>
          <p:cNvSpPr/>
          <p:nvPr/>
        </p:nvSpPr>
        <p:spPr>
          <a:xfrm>
            <a:off x="2331720" y="3590391"/>
            <a:ext cx="1993392" cy="1993392"/>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06B6D4"/>
                </a:solidFill>
                <a:latin typeface="Arial"/>
              </a:rPr>
              <a:t>LOW P / LOW I</a:t>
            </a:r>
          </a:p>
        </p:txBody>
      </p:sp>
      <p:sp>
        <p:nvSpPr>
          <p:cNvPr id="13" name="TextBox 12"/>
          <p:cNvSpPr txBox="1"/>
          <p:nvPr/>
        </p:nvSpPr>
        <p:spPr>
          <a:xfrm>
            <a:off x="2478024" y="4061878"/>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Watch list. Record in the register, review periodically, spend nothing on them now.</a:t>
            </a:r>
          </a:p>
        </p:txBody>
      </p:sp>
      <p:sp>
        <p:nvSpPr>
          <p:cNvPr id="14" name="Rounded Rectangle 13"/>
          <p:cNvSpPr/>
          <p:nvPr/>
        </p:nvSpPr>
        <p:spPr>
          <a:xfrm>
            <a:off x="4325112" y="359039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252031"/>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LOW P / HIGH I</a:t>
            </a:r>
          </a:p>
        </p:txBody>
      </p:sp>
      <p:sp>
        <p:nvSpPr>
          <p:cNvPr id="16" name="TextBox 15"/>
          <p:cNvSpPr txBox="1"/>
          <p:nvPr/>
        </p:nvSpPr>
        <p:spPr>
          <a:xfrm>
            <a:off x="4471416" y="4061878"/>
            <a:ext cx="1700784" cy="1412177"/>
          </a:xfrm>
          <a:prstGeom prst="rect">
            <a:avLst/>
          </a:prstGeom>
          <a:noFill/>
        </p:spPr>
        <p:txBody>
          <a:bodyPr wrap="square" anchor="t">
            <a:spAutoFit/>
          </a:bodyPr>
          <a:lstStyle/>
          <a:p>
            <a:pPr algn="l">
              <a:lnSpc>
                <a:spcPct val="118000"/>
              </a:lnSpc>
              <a:spcAft>
                <a:spcPts val="400"/>
              </a:spcAft>
            </a:pPr>
            <a:r>
              <a:rPr sz="1100" b="0" i="0">
                <a:solidFill>
                  <a:srgbClr val="161B26"/>
                </a:solidFill>
                <a:latin typeface="Arial"/>
              </a:rPr>
              <a:t>Insurable catastrophes. Transfer, or fund a contingency plan with a defined trigger condition.</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IMPACT IF IT OCCURS</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PROBABILITY OF OCCURRING</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Priority score = probability × impact, using the numeric scales defined in the risk management plan. The matrix converts subjective judgement into a consistent, comparable ranking.</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281</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Other risk parameters beyond probability and impact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Urgency</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soon a response must be implemented for it to be effective — a short period indicates high urgency.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Proximity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soon the risk itself is likely to occur — a short period means the risk is imminent.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Dormancy</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period between the risk occurring and the project discovering it — long dormancy is dangerous.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Manageability</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easily the risk owner can actually manage the occurrence or impact of the risk.</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Controllability</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degree to which the organisation is able to control the risk outcome at all.</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Connectivity</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strongly the risk is linked to other risks — clustered risks fail together.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282</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Risk register — the fields that matter</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895241"/>
        </p:xfrm>
        <a:graphic>
          <a:graphicData uri="http://schemas.openxmlformats.org/drawingml/2006/table">
            <a:tbl>
              <a:tblPr firstRow="1" bandRow="1">
                <a:tableStyleId>{5C22544A-7EE6-4342-B048-85BDC9FD1C3A}</a:tableStyleId>
              </a:tblPr>
              <a:tblGrid>
                <a:gridCol w="3132277"/>
                <a:gridCol w="7922818"/>
              </a:tblGrid>
              <a:tr h="445021">
                <a:tc>
                  <a:txBody>
                    <a:bodyPr wrap="square" anchor="t"/>
                    <a:lstStyle/>
                    <a:p>
                      <a:pPr algn="l">
                        <a:lnSpc>
                          <a:spcPct val="100000"/>
                        </a:lnSpc>
                        <a:spcAft>
                          <a:spcPts val="0"/>
                        </a:spcAft>
                      </a:pPr>
                      <a:r>
                        <a:rPr sz="1150" b="1" i="0">
                          <a:solidFill>
                            <a:srgbClr val="FFFFFF"/>
                          </a:solidFill>
                          <a:latin typeface="Arial"/>
                        </a:rPr>
                        <a:t>Field</a:t>
                      </a:r>
                    </a:p>
                  </a:txBody>
                  <a:tcPr anchor="ctr">
                    <a:solidFill>
                      <a:srgbClr val="1F6FEB"/>
                    </a:solidFill>
                  </a:tcPr>
                </a:tc>
                <a:tc>
                  <a:txBody>
                    <a:bodyPr wrap="square" anchor="t"/>
                    <a:lstStyle/>
                    <a:p>
                      <a:pPr algn="l">
                        <a:lnSpc>
                          <a:spcPct val="100000"/>
                        </a:lnSpc>
                        <a:spcAft>
                          <a:spcPts val="0"/>
                        </a:spcAft>
                      </a:pPr>
                      <a:r>
                        <a:rPr sz="1150" b="1" i="0">
                          <a:solidFill>
                            <a:srgbClr val="FFFFFF"/>
                          </a:solidFill>
                          <a:latin typeface="Arial"/>
                        </a:rPr>
                        <a:t>Why it is there</a:t>
                      </a:r>
                    </a:p>
                  </a:txBody>
                  <a:tcPr anchor="ctr">
                    <a:solidFill>
                      <a:srgbClr val="1F6FEB"/>
                    </a:solidFill>
                  </a:tcPr>
                </a:tc>
              </a:tr>
              <a:tr h="445021">
                <a:tc>
                  <a:txBody>
                    <a:bodyPr wrap="square" anchor="t"/>
                    <a:lstStyle/>
                    <a:p>
                      <a:pPr algn="l">
                        <a:lnSpc>
                          <a:spcPct val="110000"/>
                        </a:lnSpc>
                        <a:spcAft>
                          <a:spcPts val="0"/>
                        </a:spcAft>
                      </a:pPr>
                      <a:r>
                        <a:rPr sz="1050" b="1" i="0">
                          <a:solidFill>
                            <a:srgbClr val="161B26"/>
                          </a:solidFill>
                          <a:latin typeface="Arial"/>
                        </a:rPr>
                        <a:t>Risk ID and title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unique persistent reference used in reporting and in every escalation</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Category (RBS code)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Lets you analyse where exposure is concentrated rather than only listing items</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Risk description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Written as cause → event → effect, so the response can target the cause</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Probability and impact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Rated on the scales defined in the risk management plan; produces the priority score</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Risk score / priority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ranking that decides where analysis and money go next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Risk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named person accountable for monitoring and implementing the response — never a team</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Planned response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chosen strategy and the specific actions, with cost and schedule impact</a:t>
                      </a:r>
                    </a:p>
                  </a:txBody>
                  <a:tcPr anchor="ctr">
                    <a:solidFill>
                      <a:srgbClr val="FFFFFF"/>
                    </a:solidFill>
                  </a:tcPr>
                </a:tc>
              </a:tr>
              <a:tr h="445021">
                <a:tc>
                  <a:txBody>
                    <a:bodyPr wrap="square" anchor="t"/>
                    <a:lstStyle/>
                    <a:p>
                      <a:pPr algn="l">
                        <a:lnSpc>
                          <a:spcPct val="110000"/>
                        </a:lnSpc>
                        <a:spcAft>
                          <a:spcPts val="0"/>
                        </a:spcAft>
                      </a:pPr>
                      <a:r>
                        <a:rPr sz="1050" b="1" i="0">
                          <a:solidFill>
                            <a:srgbClr val="161B26"/>
                          </a:solidFill>
                          <a:latin typeface="Arial"/>
                        </a:rPr>
                        <a:t>Trigger condition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observable signal that the risk is materialising and the response should be executed</a:t>
                      </a:r>
                    </a:p>
                  </a:txBody>
                  <a:tcPr anchor="ctr">
                    <a:solidFill>
                      <a:srgbClr val="F5F8FC"/>
                    </a:solidFill>
                  </a:tcPr>
                </a:tc>
              </a:tr>
              <a:tr h="445021">
                <a:tc>
                  <a:txBody>
                    <a:bodyPr wrap="square" anchor="t"/>
                    <a:lstStyle/>
                    <a:p>
                      <a:pPr algn="l">
                        <a:lnSpc>
                          <a:spcPct val="110000"/>
                        </a:lnSpc>
                        <a:spcAft>
                          <a:spcPts val="0"/>
                        </a:spcAft>
                      </a:pPr>
                      <a:r>
                        <a:rPr sz="1050" b="1" i="0">
                          <a:solidFill>
                            <a:srgbClr val="161B26"/>
                          </a:solidFill>
                          <a:latin typeface="Arial"/>
                        </a:rPr>
                        <a:t>Residual and secondary risk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remains after the response, and what the response itself creates</a:t>
                      </a:r>
                    </a:p>
                  </a:txBody>
                  <a:tcPr anchor="ctr">
                    <a:solidFill>
                      <a:srgbClr val="FFFFFF"/>
                    </a:solidFill>
                  </a:tcPr>
                </a:tc>
              </a:tr>
              <a:tr h="445031">
                <a:tc>
                  <a:txBody>
                    <a:bodyPr wrap="square" anchor="t"/>
                    <a:lstStyle/>
                    <a:p>
                      <a:pPr algn="l">
                        <a:lnSpc>
                          <a:spcPct val="110000"/>
                        </a:lnSpc>
                        <a:spcAft>
                          <a:spcPts val="0"/>
                        </a:spcAft>
                      </a:pPr>
                      <a:r>
                        <a:rPr sz="1050" b="1" i="0">
                          <a:solidFill>
                            <a:srgbClr val="161B26"/>
                          </a:solidFill>
                          <a:latin typeface="Arial"/>
                        </a:rPr>
                        <a:t>Status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Open, occurred, closed, or retired — with the date</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283</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Perform Quantitative Risk Analysis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Quantitative analysis is optional and usually reserved for large, complex or high-value projects where the modelling pays for itself.</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risk management plan, scope, schedule and cost baselines</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basis of estimates, cost and duration estimates, milestone list, risk register and report, resource requirements, schedule</a:t>
            </a:r>
          </a:p>
        </p:txBody>
      </p:sp>
      <p:sp>
        <p:nvSpPr>
          <p:cNvPr id="15" name="Oval 14"/>
          <p:cNvSpPr/>
          <p:nvPr/>
        </p:nvSpPr>
        <p:spPr>
          <a:xfrm>
            <a:off x="749808" y="487786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and OPAs — industry studies and historical databases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 interviews to quantify probability and impact</a:t>
            </a:r>
          </a:p>
        </p:txBody>
      </p:sp>
      <p:sp>
        <p:nvSpPr>
          <p:cNvPr id="25" name="Oval 24"/>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a:t>
            </a:r>
          </a:p>
        </p:txBody>
      </p:sp>
      <p:sp>
        <p:nvSpPr>
          <p:cNvPr id="27" name="Oval 26"/>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Representations of uncertainty (probability distributions)</a:t>
            </a:r>
          </a:p>
        </p:txBody>
      </p:sp>
      <p:sp>
        <p:nvSpPr>
          <p:cNvPr id="29" name="Oval 28"/>
          <p:cNvSpPr/>
          <p:nvPr/>
        </p:nvSpPr>
        <p:spPr>
          <a:xfrm>
            <a:off x="4593336" y="490438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81294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simulation (Monte Carlo), sensitivity analysis, decision tree analysis, influence diagrams, EMV</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1267358"/>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 risk report with a quantified assessment of overall project risk exposure, probabilistic analysis of the project and a prioritised list of individual risks</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284</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Tornado chart — sensitivity analysis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Sensitivity analysis shows which individual risks have the greatest potential impact on the project outcome.</a:t>
            </a:r>
          </a:p>
        </p:txBody>
      </p:sp>
      <p:sp>
        <p:nvSpPr>
          <p:cNvPr id="11" name="Oval 10"/>
          <p:cNvSpPr/>
          <p:nvPr/>
        </p:nvSpPr>
        <p:spPr>
          <a:xfrm>
            <a:off x="8403336" y="305089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59455"/>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Bars are sorted longest at the top, producing the tornado shape that gives the chart its name.</a:t>
            </a:r>
          </a:p>
        </p:txBody>
      </p:sp>
      <p:sp>
        <p:nvSpPr>
          <p:cNvPr id="13" name="Oval 12"/>
          <p:cNvSpPr/>
          <p:nvPr/>
        </p:nvSpPr>
        <p:spPr>
          <a:xfrm>
            <a:off x="8403336" y="3974439"/>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882999"/>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Bars show the size of the downside swing in NPV when that one input is varied and all others are held constant.</a:t>
            </a:r>
          </a:p>
        </p:txBody>
      </p:sp>
      <p:sp>
        <p:nvSpPr>
          <p:cNvPr id="15" name="Oval 14"/>
          <p:cNvSpPr/>
          <p:nvPr/>
        </p:nvSpPr>
        <p:spPr>
          <a:xfrm>
            <a:off x="8403336" y="489798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806543"/>
            <a:ext cx="2761488" cy="8704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Management action: fund mitigation for the top two or three bars; the tail rarely justifies the spend.</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285</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Expected Monetary Value and decision trees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EMV of a risk</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EMV = P × I</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Probability times impact. Threats are negative, opportunities positive.</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EMV of a branch</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Σ (P × I) for all outcomes</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Sum the expected values of every outcome on that decision branch.</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Decision value</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Branch EMV − Cost of branch</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Choose the path with the best net expected value, not the best best-case.</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Worked example</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0.3 × (−$200k) = −$60k</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A 30% chance of a $200k loss carries $60k of contingency, not $200k.</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Decision trees show the decisions and their impacts (costs or benefits) along each path, together with their probabilities, producing an expected monetary value for each branch outcome.</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286</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Monte Carlo simulation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does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Runs the schedule or cost model thousands of times, sampling each uncertain input from its distribution.</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you supply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Three-point estimates or distributions for the uncertain activities, plus the network logic.</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you get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S-curve of possible outcomes with a confidence level attached to every date or cost.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P-values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P50 is the median outcome; P80 is the value you have an 80% chance of meeting — commit to P80, not P50.</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Criticality index</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often each activity lands on the critical path across all runs — a better target list than one static CPM.</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limitation</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Output quality is bounded by input quality; precise-looking numbers from guessed inputs are still guesses.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287</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Risk Responses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Every response must be timely, cost-effective, agreed by all parties and owned by one named person.</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risk and cost management plans, and the cost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schedule, project team assignments, resource calendars, risk register, risk report, stakeholder register</a:t>
            </a:r>
          </a:p>
        </p:txBody>
      </p:sp>
      <p:sp>
        <p:nvSpPr>
          <p:cNvPr id="15" name="Oval 14"/>
          <p:cNvSpPr/>
          <p:nvPr/>
        </p:nvSpPr>
        <p:spPr>
          <a:xfrm>
            <a:off x="749808" y="487786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EEFs — risk appetite and thresholds; OPAs — historical responses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 interviews</a:t>
            </a:r>
          </a:p>
        </p:txBody>
      </p:sp>
      <p:sp>
        <p:nvSpPr>
          <p:cNvPr id="25" name="Oval 24"/>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5190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 facilitation</a:t>
            </a:r>
          </a:p>
        </p:txBody>
      </p:sp>
      <p:sp>
        <p:nvSpPr>
          <p:cNvPr id="27" name="Oval 26"/>
          <p:cNvSpPr/>
          <p:nvPr/>
        </p:nvSpPr>
        <p:spPr>
          <a:xfrm>
            <a:off x="4593336" y="4151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06039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Strategies for threats, opportunities and overall project risk</a:t>
            </a:r>
          </a:p>
        </p:txBody>
      </p:sp>
      <p:sp>
        <p:nvSpPr>
          <p:cNvPr id="29" name="Oval 28"/>
          <p:cNvSpPr/>
          <p:nvPr/>
        </p:nvSpPr>
        <p:spPr>
          <a:xfrm>
            <a:off x="4593336" y="46931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60171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Contingent response strategies</a:t>
            </a:r>
          </a:p>
        </p:txBody>
      </p:sp>
      <p:sp>
        <p:nvSpPr>
          <p:cNvPr id="31" name="Oval 30"/>
          <p:cNvSpPr/>
          <p:nvPr/>
        </p:nvSpPr>
        <p:spPr>
          <a:xfrm>
            <a:off x="4593336" y="502325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93181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cost-benefit analysis</a:t>
            </a:r>
          </a:p>
        </p:txBody>
      </p:sp>
      <p:sp>
        <p:nvSpPr>
          <p:cNvPr id="33" name="Oval 32"/>
          <p:cNvSpPr/>
          <p:nvPr/>
        </p:nvSpPr>
        <p:spPr>
          <a:xfrm>
            <a:off x="4593336" y="556457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47313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 multi-criteria decision analysis</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188969"/>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schedule, cost, quality, resource, procurement plans, scope/schedule/cost baselines</a:t>
            </a:r>
          </a:p>
        </p:txBody>
      </p:sp>
      <p:sp>
        <p:nvSpPr>
          <p:cNvPr id="43" name="Oval 42"/>
          <p:cNvSpPr/>
          <p:nvPr/>
        </p:nvSpPr>
        <p:spPr>
          <a:xfrm>
            <a:off x="8436864" y="4244186"/>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152746"/>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risk register, risk report, assumption log, lessons learned register, project schedule</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288</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Threat response strategies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010017"/>
                <a:gridCol w="5025043"/>
                <a:gridCol w="4020034"/>
              </a:tblGrid>
              <a:tr h="475488">
                <a:tc>
                  <a:txBody>
                    <a:bodyPr wrap="square" anchor="t"/>
                    <a:lstStyle/>
                    <a:p>
                      <a:pPr algn="l">
                        <a:lnSpc>
                          <a:spcPct val="100000"/>
                        </a:lnSpc>
                        <a:spcAft>
                          <a:spcPts val="0"/>
                        </a:spcAft>
                      </a:pPr>
                      <a:r>
                        <a:rPr sz="1150" b="1" i="0">
                          <a:solidFill>
                            <a:srgbClr val="FFFFFF"/>
                          </a:solidFill>
                          <a:latin typeface="Arial"/>
                        </a:rPr>
                        <a:t>Strategy</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What it means</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Example</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Escalate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threat is outside the project's scope or authority; hand it to the programme or portfolio level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regulatory change affecting the whole business unit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Avoid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Eliminate the threat entirely by removing its cause or changing the plan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Drop the risky feature, or change to proven technology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Transfer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Shift the impact and ownership of the threat to a third party — the threat still exists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Insurance, warranties, performance bonds, fixed-price contracts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Mitigate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Reduce the probability or impact of the threat to an acceptable level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Prototype early, add redundancy, run more tests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Accept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Acknowledge the threat and take no proactive action. ACTIVE acceptance funds a contingency reserve; PASSIVE does nothing but document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Minor weather delay risk with a small time buffer</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289</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Opportunity response strategies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010017"/>
                <a:gridCol w="5025043"/>
                <a:gridCol w="4020034"/>
              </a:tblGrid>
              <a:tr h="475488">
                <a:tc>
                  <a:txBody>
                    <a:bodyPr wrap="square" anchor="t"/>
                    <a:lstStyle/>
                    <a:p>
                      <a:pPr algn="l">
                        <a:lnSpc>
                          <a:spcPct val="100000"/>
                        </a:lnSpc>
                        <a:spcAft>
                          <a:spcPts val="0"/>
                        </a:spcAft>
                      </a:pPr>
                      <a:r>
                        <a:rPr sz="1150" b="1" i="0">
                          <a:solidFill>
                            <a:srgbClr val="FFFFFF"/>
                          </a:solidFill>
                          <a:latin typeface="Arial"/>
                        </a:rPr>
                        <a:t>Strategy</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What it means</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Example</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Escalate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opportunity is outside the project's authority to pursue; raise it to programme or portfolio</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reusable component that benefits the entire portfolio</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Exploit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Ensure the opportunity definitely happens — remove all uncertainty from it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Assign your best people to guarantee an early finish that unlocks a bonus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Share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Allocate ownership to a third party best able to capture the benefit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Joint venture, partnership, risk-sharing consortium</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Enhance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Increase the probability or the positive impact of the opportunity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Add resource to a task whose early finish would pull in the whole schedule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Accept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Take advantage of it if it arises but do not actively pursue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Note a possible favourable exchange rate movement, take no action</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Mirror pairs: Avoid ↔ Exploit, Transfer ↔ Share, Mitigate ↔ Enhance, and Escalate and Accept appear on both sides. Learning them as pairs halves the memorisation.</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Secondary risk, residual risk and contingency plans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Trigger condition</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observable signal that a risk is about to develop — the cue for the team to implement the response.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Secondary risk</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new risk that arises as a direct result of implementing a risk response — always re-assess after responding.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Residual risk</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risk that remains after responses have been implemented; it is accepted knowingly and stays in the register.</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Contingency plan</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prepared response executed if the risk occurs, funded from the contingency reserve.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Fallback plan</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backup executed if the contingency plan itself proves inadequate — plan B for plan B.</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owner</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named individual accountable for watching the trigger and executing the response — never a committee.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291</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2026 emphasis — AI-assisted risk detection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Pattern detection</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 can scan issue logs, commit history and supplier data to surface risk signals a human would not spot.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Estimation support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Models trained on historical project data produce range estimates and challenge optimistic single points.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Register hygiene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Language models can cluster duplicate risks and rewrite vague entries as cause–event–effect statements.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Early warning</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Sentiment and cadence signals from team communication can flag emerging delivery risk earlier than reports.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Human accountability</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risk owner remains a named human; AI output is an input to judgement, never the decision itself.</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risk category</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 use introduces its own risks: data privacy, hallucinated output, model bias and vendor dependency.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292</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risk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risk has occurred and is now affecting the project</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It is an issue: implement the planned response, record it in the issue log and update the risk register</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buy insurance against a possible loss</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transfer, not mitigate — the risk still exists, only the impact ownership moved</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cancel the risky component of the scope entirely</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avoid — the only strategy that removes the risk rather than reducing or moving it</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new risk appears because of the response you implemented</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 secondary risk; add it to the register and analyse it like any other</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question asks what remains after you respond</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Residual risk — knowingly accepted and still tracked in the register</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293</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risk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Five planning processes</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Plan Risk Management, Identify, Qualitative, Quantitative, Plan Responses — in that order.</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Definitions come first</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risk management plan sets the probability and impact scales everything else uses.</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Qualitative before quantitative</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Prioritise subjectively first; model numerically only where it pays for itself.</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Ten strategies</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Five for threats and five for opportunities, learned as mirror pairs.</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Register discipline</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Cause–event–effect wording, one named owner, a trigger condition and a status on every row.</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Never finished</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Identification is iterative; the register is reviewed at every status cycle for the life of the project.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294</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PROCESS T5 · PLAN AND MANAGE PROCUREMENT</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Knowledge area 8 of 8 in the planning block</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Procurement: what you buy, and who carries the risk</a:t>
            </a:r>
          </a:p>
        </p:txBody>
      </p:sp>
      <p:sp>
        <p:nvSpPr>
          <p:cNvPr id="6" name="Rectangle 5"/>
          <p:cNvSpPr/>
          <p:nvPr/>
        </p:nvSpPr>
        <p:spPr>
          <a:xfrm>
            <a:off x="566928" y="3502152"/>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Make or buy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first decision is whether the work should be done internally at all.</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Agreement vs contract</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can have an agreement without a contract, but you cannot have a contract without an agreement.</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Risk allocation</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Contract type is not an administrative detail — it decides who absorbs cost overrun.</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295</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Procurement Management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Procurement planning decides what to buy, how to buy it, how much to buy and when — before any seller is contacted.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charter and business documents (business case, benefits plan)</a:t>
            </a:r>
          </a:p>
        </p:txBody>
      </p:sp>
      <p:sp>
        <p:nvSpPr>
          <p:cNvPr id="13" name="Oval 12"/>
          <p:cNvSpPr/>
          <p:nvPr/>
        </p:nvSpPr>
        <p:spPr>
          <a:xfrm>
            <a:off x="749808" y="347243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380993"/>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management plan: scope, quality, resource management plans and the scope baseline</a:t>
            </a:r>
          </a:p>
        </p:txBody>
      </p:sp>
      <p:sp>
        <p:nvSpPr>
          <p:cNvPr id="15" name="Oval 14"/>
          <p:cNvSpPr/>
          <p:nvPr/>
        </p:nvSpPr>
        <p:spPr>
          <a:xfrm>
            <a:off x="749808" y="419618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04740"/>
            <a:ext cx="2782824" cy="1008126"/>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Project documents: milestone list, project team assignments, requirements documentation, RTM, resource requirements, risk register, stakeholder register</a:t>
            </a:r>
          </a:p>
        </p:txBody>
      </p:sp>
      <p:sp>
        <p:nvSpPr>
          <p:cNvPr id="17" name="Oval 16"/>
          <p:cNvSpPr/>
          <p:nvPr/>
        </p:nvSpPr>
        <p:spPr>
          <a:xfrm>
            <a:off x="749808" y="532317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231738"/>
            <a:ext cx="2782824" cy="80650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EEFs — marketplace conditions, legal jurisdiction, contract management systems; OPAs — pre-qualified seller lists, policies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 on contracting and the relevant market</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 market research</a:t>
            </a:r>
          </a:p>
        </p:txBody>
      </p:sp>
      <p:sp>
        <p:nvSpPr>
          <p:cNvPr id="27" name="Oval 26"/>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 make-or-buy analysis</a:t>
            </a:r>
          </a:p>
        </p:txBody>
      </p:sp>
      <p:sp>
        <p:nvSpPr>
          <p:cNvPr id="29" name="Oval 28"/>
          <p:cNvSpPr/>
          <p:nvPr/>
        </p:nvSpPr>
        <p:spPr>
          <a:xfrm>
            <a:off x="4593336" y="415183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06039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Source selection analysis (least cost, qualifications only, quality-based, quality and cost-based, sole source, fixed budget)</a:t>
            </a:r>
          </a:p>
        </p:txBody>
      </p:sp>
      <p:sp>
        <p:nvSpPr>
          <p:cNvPr id="31" name="Oval 30"/>
          <p:cNvSpPr/>
          <p:nvPr/>
        </p:nvSpPr>
        <p:spPr>
          <a:xfrm>
            <a:off x="4593336" y="511560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02416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with prospective sellers and internal stakeholders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Procurement management plan and procurement strategy</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Bid documents (RFI, RFP, RFQ, IFB) and procurement SOW</a:t>
            </a:r>
          </a:p>
        </p:txBody>
      </p:sp>
      <p:sp>
        <p:nvSpPr>
          <p:cNvPr id="41" name="Oval 40"/>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Source selection criteria, make-or-buy decisions</a:t>
            </a:r>
          </a:p>
        </p:txBody>
      </p:sp>
      <p:sp>
        <p:nvSpPr>
          <p:cNvPr id="43" name="Oval 42"/>
          <p:cNvSpPr/>
          <p:nvPr/>
        </p:nvSpPr>
        <p:spPr>
          <a:xfrm>
            <a:off x="8436864" y="457428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Independent cost estimates, change requests, document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296</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Procurement strategy fundamentals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procurement covers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Any resource external to your company — a vendor, contractors, consultants or any other outside resource.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Agreement without contract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project charter can agree the use of internal resources without any contract existing.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Contract needs agreement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cannot have a contract without an underlying agreement between the parties.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Delivery method</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Decide turnkey, design-build, design-bid-build or staff augmentation before writing the bid documents.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Payment approach</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Choose the contract payment type that matches how well the scope is actually defined.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Procurement phases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Sequence the procurement across the life cycle so long-lead items are ordered early enough to arrive.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297</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procurement process end to end</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63941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Plan</a:t>
            </a:r>
          </a:p>
        </p:txBody>
      </p:sp>
      <p:sp>
        <p:nvSpPr>
          <p:cNvPr id="8" name="TextBox 7"/>
          <p:cNvSpPr txBox="1"/>
          <p:nvPr/>
        </p:nvSpPr>
        <p:spPr>
          <a:xfrm>
            <a:off x="69494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Make-or-buy analysis, procurement strategy, bid documents, procurement SOW and source selection criteria.</a:t>
            </a:r>
          </a:p>
        </p:txBody>
      </p:sp>
      <p:sp>
        <p:nvSpPr>
          <p:cNvPr id="9" name="Pentagon 8"/>
          <p:cNvSpPr/>
          <p:nvPr/>
        </p:nvSpPr>
        <p:spPr>
          <a:xfrm>
            <a:off x="2801721" y="1816455"/>
            <a:ext cx="2115921" cy="263941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Advertise</a:t>
            </a:r>
          </a:p>
        </p:txBody>
      </p:sp>
      <p:sp>
        <p:nvSpPr>
          <p:cNvPr id="12" name="TextBox 11"/>
          <p:cNvSpPr txBox="1"/>
          <p:nvPr/>
        </p:nvSpPr>
        <p:spPr>
          <a:xfrm>
            <a:off x="2929737"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Advertise in specialty trade publications or websites to invite more bids and grow the pre-qualified seller list.</a:t>
            </a:r>
          </a:p>
        </p:txBody>
      </p:sp>
      <p:sp>
        <p:nvSpPr>
          <p:cNvPr id="13" name="Pentagon 12"/>
          <p:cNvSpPr/>
          <p:nvPr/>
        </p:nvSpPr>
        <p:spPr>
          <a:xfrm>
            <a:off x="5036515" y="1816455"/>
            <a:ext cx="2115921" cy="263941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Bidder conference</a:t>
            </a:r>
          </a:p>
        </p:txBody>
      </p:sp>
      <p:sp>
        <p:nvSpPr>
          <p:cNvPr id="16" name="TextBox 15"/>
          <p:cNvSpPr txBox="1"/>
          <p:nvPr/>
        </p:nvSpPr>
        <p:spPr>
          <a:xfrm>
            <a:off x="5164531"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Meet all prospective sellers together before bidding so every seller has the same information.</a:t>
            </a:r>
          </a:p>
        </p:txBody>
      </p:sp>
      <p:sp>
        <p:nvSpPr>
          <p:cNvPr id="17" name="Pentagon 16"/>
          <p:cNvSpPr/>
          <p:nvPr/>
        </p:nvSpPr>
        <p:spPr>
          <a:xfrm>
            <a:off x="7271308" y="1816455"/>
            <a:ext cx="2115921" cy="263941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Evaluate and select</a:t>
            </a:r>
          </a:p>
        </p:txBody>
      </p:sp>
      <p:sp>
        <p:nvSpPr>
          <p:cNvPr id="20" name="TextBox 19"/>
          <p:cNvSpPr txBox="1"/>
          <p:nvPr/>
        </p:nvSpPr>
        <p:spPr>
          <a:xfrm>
            <a:off x="7399324"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Score proposals against the published source selection criteria; negotiate the agreement.</a:t>
            </a:r>
          </a:p>
        </p:txBody>
      </p:sp>
      <p:sp>
        <p:nvSpPr>
          <p:cNvPr id="21" name="Rounded Rectangle 20"/>
          <p:cNvSpPr/>
          <p:nvPr/>
        </p:nvSpPr>
        <p:spPr>
          <a:xfrm>
            <a:off x="9506102" y="1816455"/>
            <a:ext cx="2115921" cy="263941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Administer and close</a:t>
            </a:r>
          </a:p>
        </p:txBody>
      </p:sp>
      <p:sp>
        <p:nvSpPr>
          <p:cNvPr id="24" name="TextBox 23"/>
          <p:cNvSpPr txBox="1"/>
          <p:nvPr/>
        </p:nvSpPr>
        <p:spPr>
          <a:xfrm>
            <a:off x="9634118" y="2842411"/>
            <a:ext cx="1349197" cy="154030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Manage seller performance against the contract, then close the procurement formally.</a:t>
            </a:r>
          </a:p>
        </p:txBody>
      </p:sp>
      <p:sp>
        <p:nvSpPr>
          <p:cNvPr id="25" name="Rounded Rectangle 24"/>
          <p:cNvSpPr/>
          <p:nvPr/>
        </p:nvSpPr>
        <p:spPr>
          <a:xfrm>
            <a:off x="566928" y="467532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67532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76676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Bidder conferences (also vendor or pre-bid conferences) exist to ensure no seller receives preferential treatment — every question and answer is shared with all prospective sellers.</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298</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Bid documents — pick the right instrument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891332"/>
                <a:gridCol w="4422038"/>
                <a:gridCol w="3741724"/>
              </a:tblGrid>
              <a:tr h="475488">
                <a:tc>
                  <a:txBody>
                    <a:bodyPr wrap="square" anchor="t"/>
                    <a:lstStyle/>
                    <a:p>
                      <a:pPr algn="l">
                        <a:lnSpc>
                          <a:spcPct val="100000"/>
                        </a:lnSpc>
                        <a:spcAft>
                          <a:spcPts val="0"/>
                        </a:spcAft>
                      </a:pPr>
                      <a:r>
                        <a:rPr sz="1150" b="1" i="0">
                          <a:solidFill>
                            <a:srgbClr val="FFFFFF"/>
                          </a:solidFill>
                          <a:latin typeface="Arial"/>
                        </a:rPr>
                        <a:t>Document</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Use it when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you get back</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Request for Information (RFI)</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need more information about what sellers can provide before you can even specify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Capability statements that shape your requirements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Request for Proposal (RFP)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There is a problem and the solution is not obvious — you need someone to propose an approach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Technical solutions with methodology, team and price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Request for Quote (RFQ)</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know exactly what you need and just require the cost from the seller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Prices for a clearly specified item or service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Invitation for Bid (IFB)</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well-defined scope where price is the deciding factor, often in public sector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Sealed price bids against an identical specification</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rule of thumb: RFI when you do not know what to ask for, RFP when you know the problem but not the solution, RFQ/IFB when you know exactly what you want and only need a number.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299</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Why contracts exist, and what they must contain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49235"/>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649235"/>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68691"/>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9052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850403"/>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Legalise agreements</a:t>
            </a:r>
          </a:p>
        </p:txBody>
      </p:sp>
      <p:sp>
        <p:nvSpPr>
          <p:cNvPr id="10" name="TextBox 9"/>
          <p:cNvSpPr txBox="1"/>
          <p:nvPr/>
        </p:nvSpPr>
        <p:spPr>
          <a:xfrm>
            <a:off x="768096" y="2246432"/>
            <a:ext cx="2183130" cy="136841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contract turns a working understanding into a legally enforceable obligation for both parties.</a:t>
            </a:r>
          </a:p>
        </p:txBody>
      </p:sp>
      <p:sp>
        <p:nvSpPr>
          <p:cNvPr id="11" name="Rounded Rectangle 10"/>
          <p:cNvSpPr/>
          <p:nvPr/>
        </p:nvSpPr>
        <p:spPr>
          <a:xfrm>
            <a:off x="3390138" y="1649235"/>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90138" y="1649235"/>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573018" y="1868691"/>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73018" y="19052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3957066" y="1850403"/>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Structure relationships</a:t>
            </a:r>
          </a:p>
        </p:txBody>
      </p:sp>
      <p:sp>
        <p:nvSpPr>
          <p:cNvPr id="16" name="TextBox 15"/>
          <p:cNvSpPr txBox="1"/>
          <p:nvPr/>
        </p:nvSpPr>
        <p:spPr>
          <a:xfrm>
            <a:off x="3591306" y="2459581"/>
            <a:ext cx="2183130" cy="115527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who does what, by when, to what standard, and what happens when that fails.</a:t>
            </a:r>
          </a:p>
        </p:txBody>
      </p:sp>
      <p:sp>
        <p:nvSpPr>
          <p:cNvPr id="17" name="Rounded Rectangle 16"/>
          <p:cNvSpPr/>
          <p:nvPr/>
        </p:nvSpPr>
        <p:spPr>
          <a:xfrm>
            <a:off x="6213348" y="1649235"/>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3348" y="1649235"/>
            <a:ext cx="258546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96228" y="1868691"/>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96228" y="19052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6780276" y="1850403"/>
            <a:ext cx="1853946" cy="286301"/>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Description of work</a:t>
            </a:r>
          </a:p>
        </p:txBody>
      </p:sp>
      <p:sp>
        <p:nvSpPr>
          <p:cNvPr id="22" name="TextBox 21"/>
          <p:cNvSpPr txBox="1"/>
          <p:nvPr/>
        </p:nvSpPr>
        <p:spPr>
          <a:xfrm>
            <a:off x="6414516" y="2246432"/>
            <a:ext cx="2183130" cy="136841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deliverables and scope, usually via an attached procurement statement of work.</a:t>
            </a:r>
          </a:p>
        </p:txBody>
      </p:sp>
      <p:sp>
        <p:nvSpPr>
          <p:cNvPr id="23" name="Rounded Rectangle 22"/>
          <p:cNvSpPr/>
          <p:nvPr/>
        </p:nvSpPr>
        <p:spPr>
          <a:xfrm>
            <a:off x="9036558" y="1649235"/>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36558" y="1649235"/>
            <a:ext cx="258546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19438" y="1868691"/>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19438" y="1905267"/>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9603486" y="1850403"/>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Schedule and delivery</a:t>
            </a:r>
          </a:p>
        </p:txBody>
      </p:sp>
      <p:sp>
        <p:nvSpPr>
          <p:cNvPr id="28" name="TextBox 27"/>
          <p:cNvSpPr txBox="1"/>
          <p:nvPr/>
        </p:nvSpPr>
        <p:spPr>
          <a:xfrm>
            <a:off x="9237726" y="2459581"/>
            <a:ext cx="2183130" cy="115527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Delivery dates, milestones, and the schedule information both parties are bound to.</a:t>
            </a:r>
          </a:p>
        </p:txBody>
      </p:sp>
      <p:sp>
        <p:nvSpPr>
          <p:cNvPr id="29" name="Rounded Rectangle 28"/>
          <p:cNvSpPr/>
          <p:nvPr/>
        </p:nvSpPr>
        <p:spPr>
          <a:xfrm>
            <a:off x="566928" y="3980611"/>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980611"/>
            <a:ext cx="258546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4980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113385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Authority and responsibility</a:t>
            </a:r>
          </a:p>
        </p:txBody>
      </p:sp>
      <p:sp>
        <p:nvSpPr>
          <p:cNvPr id="34" name="TextBox 33"/>
          <p:cNvSpPr txBox="1"/>
          <p:nvPr/>
        </p:nvSpPr>
        <p:spPr>
          <a:xfrm>
            <a:off x="768096" y="4790957"/>
            <a:ext cx="2183130" cy="115527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Identification of authority where appropriate, and the responsibilities of both parties.</a:t>
            </a:r>
          </a:p>
        </p:txBody>
      </p:sp>
      <p:sp>
        <p:nvSpPr>
          <p:cNvPr id="35" name="Rounded Rectangle 34"/>
          <p:cNvSpPr/>
          <p:nvPr/>
        </p:nvSpPr>
        <p:spPr>
          <a:xfrm>
            <a:off x="3390138" y="3980611"/>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390138" y="3980611"/>
            <a:ext cx="258546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57301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7301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395706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Price and payment terms</a:t>
            </a:r>
          </a:p>
        </p:txBody>
      </p:sp>
      <p:sp>
        <p:nvSpPr>
          <p:cNvPr id="40" name="TextBox 39"/>
          <p:cNvSpPr txBox="1"/>
          <p:nvPr/>
        </p:nvSpPr>
        <p:spPr>
          <a:xfrm>
            <a:off x="3591306" y="4790957"/>
            <a:ext cx="2183130" cy="115527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amount, the milestones that trigger payment, and the invoicing and approval route.</a:t>
            </a:r>
          </a:p>
        </p:txBody>
      </p:sp>
      <p:sp>
        <p:nvSpPr>
          <p:cNvPr id="41" name="Rounded Rectangle 40"/>
          <p:cNvSpPr/>
          <p:nvPr/>
        </p:nvSpPr>
        <p:spPr>
          <a:xfrm>
            <a:off x="6213348" y="3980611"/>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13348" y="3980611"/>
            <a:ext cx="258546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396228" y="420006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7</a:t>
            </a:r>
          </a:p>
        </p:txBody>
      </p:sp>
      <p:sp>
        <p:nvSpPr>
          <p:cNvPr id="45" name="TextBox 44"/>
          <p:cNvSpPr txBox="1"/>
          <p:nvPr/>
        </p:nvSpPr>
        <p:spPr>
          <a:xfrm>
            <a:off x="678027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Termination and disputes</a:t>
            </a:r>
          </a:p>
        </p:txBody>
      </p:sp>
      <p:sp>
        <p:nvSpPr>
          <p:cNvPr id="46" name="TextBox 45"/>
          <p:cNvSpPr txBox="1"/>
          <p:nvPr/>
        </p:nvSpPr>
        <p:spPr>
          <a:xfrm>
            <a:off x="6414516" y="4790957"/>
            <a:ext cx="2183130" cy="115527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Provisions for termination, alternative dispute resolution and governing jurisdiction.</a:t>
            </a:r>
          </a:p>
        </p:txBody>
      </p:sp>
      <p:sp>
        <p:nvSpPr>
          <p:cNvPr id="47" name="Rounded Rectangle 46"/>
          <p:cNvSpPr/>
          <p:nvPr/>
        </p:nvSpPr>
        <p:spPr>
          <a:xfrm>
            <a:off x="9036558" y="3980611"/>
            <a:ext cx="2585466" cy="209363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036558" y="3980611"/>
            <a:ext cx="258546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219438" y="420006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21943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8</a:t>
            </a:r>
          </a:p>
        </p:txBody>
      </p:sp>
      <p:sp>
        <p:nvSpPr>
          <p:cNvPr id="51" name="TextBox 50"/>
          <p:cNvSpPr txBox="1"/>
          <p:nvPr/>
        </p:nvSpPr>
        <p:spPr>
          <a:xfrm>
            <a:off x="9603486" y="4181779"/>
            <a:ext cx="1853946" cy="499450"/>
          </a:xfrm>
          <a:prstGeom prst="rect">
            <a:avLst/>
          </a:prstGeom>
          <a:noFill/>
        </p:spPr>
        <p:txBody>
          <a:bodyPr wrap="square" anchor="t">
            <a:spAutoFit/>
          </a:bodyPr>
          <a:lstStyle/>
          <a:p>
            <a:pPr algn="l">
              <a:lnSpc>
                <a:spcPct val="105000"/>
              </a:lnSpc>
              <a:spcAft>
                <a:spcPts val="400"/>
              </a:spcAft>
            </a:pPr>
            <a:r>
              <a:rPr sz="1300" b="1" i="0">
                <a:solidFill>
                  <a:srgbClr val="161B26"/>
                </a:solidFill>
                <a:latin typeface="Arial"/>
              </a:rPr>
              <a:t>Change and management</a:t>
            </a:r>
          </a:p>
        </p:txBody>
      </p:sp>
      <p:sp>
        <p:nvSpPr>
          <p:cNvPr id="52" name="TextBox 51"/>
          <p:cNvSpPr txBox="1"/>
          <p:nvPr/>
        </p:nvSpPr>
        <p:spPr>
          <a:xfrm>
            <a:off x="9237726" y="4790957"/>
            <a:ext cx="2183130" cy="115527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technical and business aspects are managed, including how contract changes are agreed.</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Contract types and who carries the cost risk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803904"/>
        </p:xfrm>
        <a:graphic>
          <a:graphicData uri="http://schemas.openxmlformats.org/drawingml/2006/table">
            <a:tbl>
              <a:tblPr firstRow="1" bandRow="1">
                <a:tableStyleId>{5C22544A-7EE6-4342-B048-85BDC9FD1C3A}</a:tableStyleId>
              </a:tblPr>
              <a:tblGrid>
                <a:gridCol w="3281981"/>
                <a:gridCol w="4318396"/>
                <a:gridCol w="3454717"/>
              </a:tblGrid>
              <a:tr h="475488">
                <a:tc>
                  <a:txBody>
                    <a:bodyPr wrap="square" anchor="t"/>
                    <a:lstStyle/>
                    <a:p>
                      <a:pPr algn="l">
                        <a:lnSpc>
                          <a:spcPct val="100000"/>
                        </a:lnSpc>
                        <a:spcAft>
                          <a:spcPts val="0"/>
                        </a:spcAft>
                      </a:pPr>
                      <a:r>
                        <a:rPr sz="1150" b="1" i="0">
                          <a:solidFill>
                            <a:srgbClr val="FFFFFF"/>
                          </a:solidFill>
                          <a:latin typeface="Arial"/>
                        </a:rPr>
                        <a:t>Type</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Risk sits with</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Firm Fixed Price (FFP)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One price for a well-defined scope, regardless of the seller's actual cost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SELLER — the most common and simplest fixed-price form</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Fixed Price Incentive Fee (FPIF)</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Fixed price plus an incentive for meeting agreed cost or performance targets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Mostly seller, shared above the target through a share ratio</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Fixed Price with Economic Price Adjustment (FP-EPA)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Fixed price with a defined adjustment for inflation or currency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Seller, with defined external exposure shared — for multi-year deals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Cost Plus Fixed Fee (CPFF)</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Actual allowable costs reimbursed plus a fixed fee that does not vary with cost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BUYER — the seller has no incentive to control cost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Cost Plus Incentive Fee (CPIF)</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Costs reimbursed plus a fee that varies with performance against targets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Buyer, partially shared through the incentive formula</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Cost Plus Award Fee (CPAF)</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Costs reimbursed plus an award fee at the buyer's subjective judgement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Buyer; award is usually not subject to appeal</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Time and Materials (T&amp;M)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Hourly or daily rates plus materials; a hybrid of fixed unit price and cost reimbursable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Buyer — cap it with a not-to-exceed clause</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301</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Fixed price versus cost reimbursable — when to choose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FIXED PRICE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Choose when the scope is well defined</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are clear, stable and fully specified</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seller carries the cost risk and prices it in</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Buyer's cost is predictable from the day of signature</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is expensive: every variation is a renegotiation</a:t>
            </a:r>
          </a:p>
        </p:txBody>
      </p:sp>
      <p:sp>
        <p:nvSpPr>
          <p:cNvPr id="17" name="Oval 16"/>
          <p:cNvSpPr/>
          <p:nvPr/>
        </p:nvSpPr>
        <p:spPr>
          <a:xfrm>
            <a:off x="786384"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Sellers may cut corners if their margin disappears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COST REIMBURSABLE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Choose when the scope is uncertain</a:t>
            </a:r>
          </a:p>
        </p:txBody>
      </p:sp>
      <p:sp>
        <p:nvSpPr>
          <p:cNvPr id="23" name="Oval 22"/>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are expected to evolve, or the work is R&amp;D</a:t>
            </a:r>
          </a:p>
        </p:txBody>
      </p:sp>
      <p:sp>
        <p:nvSpPr>
          <p:cNvPr id="25" name="Oval 24"/>
          <p:cNvSpPr/>
          <p:nvPr/>
        </p:nvSpPr>
        <p:spPr>
          <a:xfrm>
            <a:off x="6451092"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buyer carries the cost risk and must actively monitor it</a:t>
            </a:r>
          </a:p>
        </p:txBody>
      </p:sp>
      <p:sp>
        <p:nvSpPr>
          <p:cNvPr id="27" name="Oval 26"/>
          <p:cNvSpPr/>
          <p:nvPr/>
        </p:nvSpPr>
        <p:spPr>
          <a:xfrm>
            <a:off x="6451092"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Buyer's final cost is unknown until the work is complete</a:t>
            </a:r>
          </a:p>
        </p:txBody>
      </p:sp>
      <p:sp>
        <p:nvSpPr>
          <p:cNvPr id="29" name="Oval 28"/>
          <p:cNvSpPr/>
          <p:nvPr/>
        </p:nvSpPr>
        <p:spPr>
          <a:xfrm>
            <a:off x="6451092"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Change is cheap and flexible to accommodate</a:t>
            </a:r>
          </a:p>
        </p:txBody>
      </p:sp>
      <p:sp>
        <p:nvSpPr>
          <p:cNvPr id="31" name="Oval 30"/>
          <p:cNvSpPr/>
          <p:nvPr/>
        </p:nvSpPr>
        <p:spPr>
          <a:xfrm>
            <a:off x="6451092"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Requires strong buyer-side cost control and audit rights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Time and materials sits between the two: use it for small amounts of work, staff augmentation, or when you need to start before the scope can be written — always with a ceiling.</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302</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Make-or-buy analysis and vendor qualification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Make-or-buy analysis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Compare the total cost, capability, capacity and risk of doing the work internally versus procuring it.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Beyond price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Consider strategic capability retention, intellectual property and long-term supportability, not just cost.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Independent estimate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Produce your own cost estimate before you see any bid, so you can judge whether a bid is realistic.</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Qualified vendors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Pre-approved by the organisation, with a history of work and accounts already set up.</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Preferred vendors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Often preferred precisely because they are proven — the procurement cycle is shorter and less risky.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Source selection criteria</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Published in advance and applied consistently: capability, capacity, price, references, risk.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303</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ECO 2026 emphasis — sustainable procurement</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Sustainability criteria</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Environmental and social performance sit in the source selection criteria alongside price and capability.</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Supply chain due diligence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 labour practice, provenance and modern slavery exposure across the seller's own supply chain.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Whole-life cost</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Evaluate energy, maintenance and disposal cost over the asset life, not just the purchase price.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Contractual commitments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Write sustainability obligations and reporting duties into the contract, with measurable targets.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Local and inclusive sourcing</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Many jurisdictions now weight local content and supplier diversity in public procurement.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Reporting obligation</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Sustainability disclosure is increasingly a regulatory requirement flowing down to project suppliers.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304</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focus — procurement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0040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scope is unclear and likely to change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Choose a cost-reimbursable or T&amp;M contract; a fixed price forces renegotiation on every variation</a:t>
            </a:r>
          </a:p>
        </p:txBody>
      </p:sp>
      <p:sp>
        <p:nvSpPr>
          <p:cNvPr id="13" name="Rounded Rectangle 12"/>
          <p:cNvSpPr/>
          <p:nvPr/>
        </p:nvSpPr>
        <p:spPr>
          <a:xfrm>
            <a:off x="566928" y="2415112"/>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415112"/>
            <a:ext cx="59436" cy="90040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561416"/>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579704"/>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2854024"/>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buyer wants maximum cost certainty</a:t>
            </a:r>
          </a:p>
        </p:txBody>
      </p:sp>
      <p:sp>
        <p:nvSpPr>
          <p:cNvPr id="18" name="Chevron 17"/>
          <p:cNvSpPr/>
          <p:nvPr/>
        </p:nvSpPr>
        <p:spPr>
          <a:xfrm>
            <a:off x="6327648" y="2561416"/>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579704"/>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2854024"/>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Firm Fixed Price — the seller carries the cost risk entirely</a:t>
            </a:r>
          </a:p>
        </p:txBody>
      </p:sp>
      <p:sp>
        <p:nvSpPr>
          <p:cNvPr id="21" name="Rounded Rectangle 20"/>
          <p:cNvSpPr/>
          <p:nvPr/>
        </p:nvSpPr>
        <p:spPr>
          <a:xfrm>
            <a:off x="566928" y="3397818"/>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397818"/>
            <a:ext cx="59436" cy="90040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3544122"/>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3562410"/>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3836730"/>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All prospective sellers must receive the same information</a:t>
            </a:r>
          </a:p>
        </p:txBody>
      </p:sp>
      <p:sp>
        <p:nvSpPr>
          <p:cNvPr id="26" name="Chevron 25"/>
          <p:cNvSpPr/>
          <p:nvPr/>
        </p:nvSpPr>
        <p:spPr>
          <a:xfrm>
            <a:off x="6327648" y="3544122"/>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3562410"/>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3836730"/>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Hold a bidder conference; share every question and answer with all sellers</a:t>
            </a:r>
          </a:p>
        </p:txBody>
      </p:sp>
      <p:sp>
        <p:nvSpPr>
          <p:cNvPr id="29" name="Rounded Rectangle 28"/>
          <p:cNvSpPr/>
          <p:nvPr/>
        </p:nvSpPr>
        <p:spPr>
          <a:xfrm>
            <a:off x="566928" y="4380524"/>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0524"/>
            <a:ext cx="59436" cy="90040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4526828"/>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4545116"/>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4819436"/>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You need to know what solutions exist before specifying</a:t>
            </a:r>
          </a:p>
        </p:txBody>
      </p:sp>
      <p:sp>
        <p:nvSpPr>
          <p:cNvPr id="34" name="Chevron 33"/>
          <p:cNvSpPr/>
          <p:nvPr/>
        </p:nvSpPr>
        <p:spPr>
          <a:xfrm>
            <a:off x="6327648" y="4526828"/>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4545116"/>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4819436"/>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Issue an RFI — an RFP presumes you can already state the problem</a:t>
            </a:r>
          </a:p>
        </p:txBody>
      </p:sp>
      <p:sp>
        <p:nvSpPr>
          <p:cNvPr id="37" name="Rounded Rectangle 36"/>
          <p:cNvSpPr/>
          <p:nvPr/>
        </p:nvSpPr>
        <p:spPr>
          <a:xfrm>
            <a:off x="566928" y="5363230"/>
            <a:ext cx="11055096" cy="900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5363230"/>
            <a:ext cx="59436" cy="90040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4672" y="5509534"/>
            <a:ext cx="5120640" cy="274320"/>
          </a:xfrm>
          <a:prstGeom prst="roundRect">
            <a:avLst>
              <a:gd name="adj" fmla="val 10000"/>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6112" y="5527822"/>
            <a:ext cx="4937760" cy="256032"/>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IF THE QUESTION SAYS</a:t>
            </a:r>
          </a:p>
        </p:txBody>
      </p:sp>
      <p:sp>
        <p:nvSpPr>
          <p:cNvPr id="41" name="TextBox 40"/>
          <p:cNvSpPr txBox="1"/>
          <p:nvPr/>
        </p:nvSpPr>
        <p:spPr>
          <a:xfrm>
            <a:off x="841248" y="5802142"/>
            <a:ext cx="521208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T&amp;M contract is running over budget</a:t>
            </a:r>
          </a:p>
        </p:txBody>
      </p:sp>
      <p:sp>
        <p:nvSpPr>
          <p:cNvPr id="42" name="Chevron 41"/>
          <p:cNvSpPr/>
          <p:nvPr/>
        </p:nvSpPr>
        <p:spPr>
          <a:xfrm>
            <a:off x="6327648" y="5509534"/>
            <a:ext cx="274320" cy="274320"/>
          </a:xfrm>
          <a:prstGeom prst="chevron">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21424" y="5527822"/>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44" name="TextBox 43"/>
          <p:cNvSpPr txBox="1"/>
          <p:nvPr/>
        </p:nvSpPr>
        <p:spPr>
          <a:xfrm>
            <a:off x="6821424" y="5802142"/>
            <a:ext cx="4800600" cy="406633"/>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T&amp;M should carry a not-to-exceed ceiling; the buyer holds the cost risk and must monitor actively</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305</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Recap — procurement planning</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Make or buy first</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Decide internally versus externally on total cost, capability, capacity and risk — not price alone.</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Strategy then documents</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procurement strategy sets delivery method and payment type before bid documents are written.</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Right instrument</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RFI to learn, RFP to solve, RFQ and IFB to price a known specification.</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Contract type allocates risk</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Fixed price puts cost risk on the seller; cost reimbursable puts it on the buyer.</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Fair process</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Bidder conferences and published source selection criteria keep the process defensible.</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Sustainability counts</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ECO 2026 expects environmental and social criteria in selection and in the contract itself.</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306</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Bringing the eight plans back together</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The integrated plan is a system, not a folder</a:t>
            </a:r>
          </a:p>
        </p:txBody>
      </p:sp>
      <p:sp>
        <p:nvSpPr>
          <p:cNvPr id="6" name="Rectangle 5"/>
          <p:cNvSpPr/>
          <p:nvPr/>
        </p:nvSpPr>
        <p:spPr>
          <a:xfrm>
            <a:off x="566928" y="350215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Dependencies</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Assess the consolidated plans for dependencies, gaps and continued business value before you baseline anything.</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Consistency</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schedule, budget and resource plan must all describe the same project or none of them is true.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Maintenance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integrated plan is maintained throughout, not written once and archived.</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307</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planning sequence at a glance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87018"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701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Integrate</a:t>
            </a:r>
          </a:p>
        </p:txBody>
      </p:sp>
      <p:sp>
        <p:nvSpPr>
          <p:cNvPr id="9" name="TextBox 8"/>
          <p:cNvSpPr txBox="1"/>
          <p:nvPr/>
        </p:nvSpPr>
        <p:spPr>
          <a:xfrm>
            <a:off x="658368" y="1894893"/>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Establish the plan, the development approach and the engagement strategy.</a:t>
            </a:r>
          </a:p>
        </p:txBody>
      </p:sp>
      <p:sp>
        <p:nvSpPr>
          <p:cNvPr id="10" name="Oval 9"/>
          <p:cNvSpPr/>
          <p:nvPr/>
        </p:nvSpPr>
        <p:spPr>
          <a:xfrm>
            <a:off x="3129534"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9534"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500884"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Scope</a:t>
            </a:r>
          </a:p>
        </p:txBody>
      </p:sp>
      <p:sp>
        <p:nvSpPr>
          <p:cNvPr id="13" name="TextBox 12"/>
          <p:cNvSpPr txBox="1"/>
          <p:nvPr/>
        </p:nvSpPr>
        <p:spPr>
          <a:xfrm>
            <a:off x="2500884" y="3650541"/>
            <a:ext cx="1659636"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Collect requirements, define scope, build the WBS, baseline it.</a:t>
            </a:r>
          </a:p>
        </p:txBody>
      </p:sp>
      <p:sp>
        <p:nvSpPr>
          <p:cNvPr id="14" name="Oval 13"/>
          <p:cNvSpPr/>
          <p:nvPr/>
        </p:nvSpPr>
        <p:spPr>
          <a:xfrm>
            <a:off x="4972050"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2050"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4343400" y="1696755"/>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Schedule</a:t>
            </a:r>
          </a:p>
        </p:txBody>
      </p:sp>
      <p:sp>
        <p:nvSpPr>
          <p:cNvPr id="17" name="TextBox 16"/>
          <p:cNvSpPr txBox="1"/>
          <p:nvPr/>
        </p:nvSpPr>
        <p:spPr>
          <a:xfrm>
            <a:off x="4343400" y="2012937"/>
            <a:ext cx="1659636"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Define, sequence, estimate, analyse the network, baseline it.</a:t>
            </a:r>
          </a:p>
        </p:txBody>
      </p:sp>
      <p:sp>
        <p:nvSpPr>
          <p:cNvPr id="18" name="Oval 17"/>
          <p:cNvSpPr/>
          <p:nvPr/>
        </p:nvSpPr>
        <p:spPr>
          <a:xfrm>
            <a:off x="6814566"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456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6185916"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Cost</a:t>
            </a:r>
          </a:p>
        </p:txBody>
      </p:sp>
      <p:sp>
        <p:nvSpPr>
          <p:cNvPr id="21" name="TextBox 20"/>
          <p:cNvSpPr txBox="1"/>
          <p:nvPr/>
        </p:nvSpPr>
        <p:spPr>
          <a:xfrm>
            <a:off x="6185916" y="3650541"/>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Estimate costs, aggregate to the budget, set reserves, baseline it.</a:t>
            </a:r>
          </a:p>
        </p:txBody>
      </p:sp>
      <p:sp>
        <p:nvSpPr>
          <p:cNvPr id="22" name="Oval 21"/>
          <p:cNvSpPr/>
          <p:nvPr/>
        </p:nvSpPr>
        <p:spPr>
          <a:xfrm>
            <a:off x="8657082"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57082"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8028432" y="1578711"/>
            <a:ext cx="1659636" cy="48606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Quality &amp; resources</a:t>
            </a:r>
          </a:p>
        </p:txBody>
      </p:sp>
      <p:sp>
        <p:nvSpPr>
          <p:cNvPr id="25" name="TextBox 24"/>
          <p:cNvSpPr txBox="1"/>
          <p:nvPr/>
        </p:nvSpPr>
        <p:spPr>
          <a:xfrm>
            <a:off x="8028432" y="2137923"/>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Set standards and metrics; plan people and physical resources.</a:t>
            </a:r>
          </a:p>
        </p:txBody>
      </p:sp>
      <p:sp>
        <p:nvSpPr>
          <p:cNvPr id="26" name="Oval 25"/>
          <p:cNvSpPr/>
          <p:nvPr/>
        </p:nvSpPr>
        <p:spPr>
          <a:xfrm>
            <a:off x="10499598" y="2758287"/>
            <a:ext cx="402336" cy="40233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9959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6</a:t>
            </a:r>
          </a:p>
        </p:txBody>
      </p:sp>
      <p:sp>
        <p:nvSpPr>
          <p:cNvPr id="28" name="TextBox 27"/>
          <p:cNvSpPr txBox="1"/>
          <p:nvPr/>
        </p:nvSpPr>
        <p:spPr>
          <a:xfrm>
            <a:off x="9870948" y="3334359"/>
            <a:ext cx="1659636" cy="48606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Comms, risk, procurement</a:t>
            </a:r>
          </a:p>
        </p:txBody>
      </p:sp>
      <p:sp>
        <p:nvSpPr>
          <p:cNvPr id="29" name="TextBox 28"/>
          <p:cNvSpPr txBox="1"/>
          <p:nvPr/>
        </p:nvSpPr>
        <p:spPr>
          <a:xfrm>
            <a:off x="9870948" y="3893571"/>
            <a:ext cx="1659636"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Plan communication, risk responses and what will be bought.</a:t>
            </a:r>
          </a:p>
        </p:txBody>
      </p:sp>
      <p:sp>
        <p:nvSpPr>
          <p:cNvPr id="30" name="Rounded Rectangle 29"/>
          <p:cNvSpPr/>
          <p:nvPr/>
        </p:nvSpPr>
        <p:spPr>
          <a:xfrm>
            <a:off x="566928" y="5074920"/>
            <a:ext cx="11055096" cy="786384"/>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074920"/>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order matters because the outputs cascade: you cannot estimate a duration without a work package, or a budget without a duration and a resource. Late scope change ripples through all of it.</a:t>
            </a:r>
          </a:p>
        </p:txBody>
      </p:sp>
      <p:sp>
        <p:nvSpPr>
          <p:cNvPr id="33" name="TextBox 3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4" name="TextBox 3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5" name="TextBox 3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308</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3 recap — plan the project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Integration</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project management plan reconciles all subsidiary plans and the three baselines into one coherent system.</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Scope</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Requirements, RTM, scope statement, WBS and WBS dictionary define and defend what will be delivered.</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Schedule</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Activities, dependencies, durations and network analysis produce a calculated, defensible date.</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Cost</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Estimating methods and reserve strategy produce a time-phased cost baseline plus management reserve.</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Quality</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Standards, metrics, cost of quality and improvement cycles build quality in instead of inspecting it in.</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Resources</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Roles, authority, responsibility, competency, RACI, levelling and smoothing make the plan executable.</a:t>
            </a:r>
          </a:p>
        </p:txBody>
      </p:sp>
      <p:sp>
        <p:nvSpPr>
          <p:cNvPr id="41" name="Rounded Rectangle 40"/>
          <p:cNvSpPr/>
          <p:nvPr/>
        </p:nvSpPr>
        <p:spPr>
          <a:xfrm>
            <a:off x="566928" y="4866891"/>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866891"/>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5004051"/>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004051"/>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078992" y="4976619"/>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Communication</a:t>
            </a:r>
          </a:p>
        </p:txBody>
      </p:sp>
      <p:sp>
        <p:nvSpPr>
          <p:cNvPr id="46" name="TextBox 45"/>
          <p:cNvSpPr txBox="1"/>
          <p:nvPr/>
        </p:nvSpPr>
        <p:spPr>
          <a:xfrm>
            <a:off x="1078992" y="5263283"/>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A planned strategy with channels, methods, cadence and a feedback loop for every stakeholder.</a:t>
            </a:r>
          </a:p>
        </p:txBody>
      </p:sp>
      <p:sp>
        <p:nvSpPr>
          <p:cNvPr id="47" name="Rounded Rectangle 46"/>
          <p:cNvSpPr/>
          <p:nvPr/>
        </p:nvSpPr>
        <p:spPr>
          <a:xfrm>
            <a:off x="6204204" y="4866891"/>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866891"/>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5004051"/>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5004051"/>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716268" y="4976619"/>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Risk &amp; procurement</a:t>
            </a:r>
          </a:p>
        </p:txBody>
      </p:sp>
      <p:sp>
        <p:nvSpPr>
          <p:cNvPr id="52" name="TextBox 51"/>
          <p:cNvSpPr txBox="1"/>
          <p:nvPr/>
        </p:nvSpPr>
        <p:spPr>
          <a:xfrm>
            <a:off x="6716268" y="5263283"/>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Ten response strategies, a disciplined register, and contract types that allocate risk deliberately.</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309</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Where Topic 3 leads next</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A plan is only a hypothesis until it meets reality</a:t>
            </a:r>
          </a:p>
        </p:txBody>
      </p:sp>
      <p:sp>
        <p:nvSpPr>
          <p:cNvPr id="6" name="Rectangle 5"/>
          <p:cNvSpPr/>
          <p:nvPr/>
        </p:nvSpPr>
        <p:spPr>
          <a:xfrm>
            <a:off x="566928" y="3502152"/>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Topic 4 — lead</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Take the resource and communication plans into practice: leadership style, motivation, conflict and coaching.</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Topic 5 — control</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Measure actuals against these baselines with earned value, quality control and integrated change control.</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Topic 6 — close</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Confirm the acceptance criteria written here were actually met, and harvest the lessons.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3</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66854"/>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66854"/>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786310"/>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2288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1768022"/>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09. Requirements Elicitation and Traceability Matrix</a:t>
            </a:r>
          </a:p>
        </p:txBody>
      </p:sp>
      <p:sp>
        <p:nvSpPr>
          <p:cNvPr id="10" name="TextBox 9"/>
          <p:cNvSpPr txBox="1"/>
          <p:nvPr/>
        </p:nvSpPr>
        <p:spPr>
          <a:xfrm>
            <a:off x="768096" y="2426390"/>
            <a:ext cx="3124200" cy="118846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T2 · LO1 · 30 min in class + 20 min self-study</a:t>
            </a:r>
          </a:p>
          <a:p>
            <a:pPr algn="l">
              <a:lnSpc>
                <a:spcPct val="118000"/>
              </a:lnSpc>
              <a:spcAft>
                <a:spcPts val="400"/>
              </a:spcAft>
            </a:pPr>
            <a:r>
              <a:rPr sz="1150" b="0" i="0">
                <a:solidFill>
                  <a:srgbClr val="5B6372"/>
                </a:solidFill>
                <a:latin typeface="Arial"/>
              </a:rPr>
              <a:t>Produces: Requirements list, RTM</a:t>
            </a:r>
          </a:p>
        </p:txBody>
      </p:sp>
      <p:sp>
        <p:nvSpPr>
          <p:cNvPr id="11" name="Rounded Rectangle 10"/>
          <p:cNvSpPr/>
          <p:nvPr/>
        </p:nvSpPr>
        <p:spPr>
          <a:xfrm>
            <a:off x="4331208" y="1566854"/>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566854"/>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1786310"/>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182288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1768022"/>
            <a:ext cx="2795016" cy="7863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10. MoSCoW and Kano Prioritisation with Product Backlog</a:t>
            </a:r>
          </a:p>
        </p:txBody>
      </p:sp>
      <p:sp>
        <p:nvSpPr>
          <p:cNvPr id="16" name="TextBox 15"/>
          <p:cNvSpPr txBox="1"/>
          <p:nvPr/>
        </p:nvSpPr>
        <p:spPr>
          <a:xfrm>
            <a:off x="4532376" y="2664134"/>
            <a:ext cx="3124200" cy="95071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T3 · LO1 · 30 min in class + 20 min self-study</a:t>
            </a:r>
          </a:p>
          <a:p>
            <a:pPr algn="l">
              <a:lnSpc>
                <a:spcPct val="118000"/>
              </a:lnSpc>
              <a:spcAft>
                <a:spcPts val="400"/>
              </a:spcAft>
            </a:pPr>
            <a:r>
              <a:rPr sz="1150" b="0" i="0">
                <a:solidFill>
                  <a:srgbClr val="5B6372"/>
                </a:solidFill>
                <a:latin typeface="Arial"/>
              </a:rPr>
              <a:t>Produces: Prioritised backlog, Story point estimates</a:t>
            </a:r>
          </a:p>
        </p:txBody>
      </p:sp>
      <p:sp>
        <p:nvSpPr>
          <p:cNvPr id="17" name="Rounded Rectangle 16"/>
          <p:cNvSpPr/>
          <p:nvPr/>
        </p:nvSpPr>
        <p:spPr>
          <a:xfrm>
            <a:off x="8095488" y="1566854"/>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566854"/>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1786310"/>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1822886"/>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1768022"/>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11. Work Breakdown Structure and WBS Dictionary</a:t>
            </a:r>
          </a:p>
        </p:txBody>
      </p:sp>
      <p:sp>
        <p:nvSpPr>
          <p:cNvPr id="22" name="TextBox 21"/>
          <p:cNvSpPr txBox="1"/>
          <p:nvPr/>
        </p:nvSpPr>
        <p:spPr>
          <a:xfrm>
            <a:off x="8296656" y="2426390"/>
            <a:ext cx="3124200" cy="118846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T2 · LO1 · 30 min in class + 20 min self-study</a:t>
            </a:r>
          </a:p>
          <a:p>
            <a:pPr algn="l">
              <a:lnSpc>
                <a:spcPct val="118000"/>
              </a:lnSpc>
              <a:spcAft>
                <a:spcPts val="400"/>
              </a:spcAft>
            </a:pPr>
            <a:r>
              <a:rPr sz="1150" b="0" i="0">
                <a:solidFill>
                  <a:srgbClr val="5B6372"/>
                </a:solidFill>
                <a:latin typeface="Arial"/>
              </a:rPr>
              <a:t>Produces: WBS, WBS dictionary, Scope baseline</a:t>
            </a:r>
          </a:p>
        </p:txBody>
      </p:sp>
      <p:sp>
        <p:nvSpPr>
          <p:cNvPr id="23" name="Rounded Rectangle 22"/>
          <p:cNvSpPr/>
          <p:nvPr/>
        </p:nvSpPr>
        <p:spPr>
          <a:xfrm>
            <a:off x="566928" y="3980611"/>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7863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12. Network Diagram, PERT Estimating and Critical Path</a:t>
            </a:r>
          </a:p>
        </p:txBody>
      </p:sp>
      <p:sp>
        <p:nvSpPr>
          <p:cNvPr id="28" name="TextBox 27"/>
          <p:cNvSpPr txBox="1"/>
          <p:nvPr/>
        </p:nvSpPr>
        <p:spPr>
          <a:xfrm>
            <a:off x="768096" y="5077891"/>
            <a:ext cx="3124200" cy="95071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T8 · LO2 · 35 min in class + 25 min self-study</a:t>
            </a:r>
          </a:p>
          <a:p>
            <a:pPr algn="l">
              <a:lnSpc>
                <a:spcPct val="118000"/>
              </a:lnSpc>
              <a:spcAft>
                <a:spcPts val="400"/>
              </a:spcAft>
            </a:pPr>
            <a:r>
              <a:rPr sz="1150" b="0" i="0">
                <a:solidFill>
                  <a:srgbClr val="5B6372"/>
                </a:solidFill>
                <a:latin typeface="Arial"/>
              </a:rPr>
              <a:t>Produces: Network diagram, Critical path, Float table</a:t>
            </a:r>
          </a:p>
        </p:txBody>
      </p:sp>
      <p:sp>
        <p:nvSpPr>
          <p:cNvPr id="29" name="Rounded Rectangle 28"/>
          <p:cNvSpPr/>
          <p:nvPr/>
        </p:nvSpPr>
        <p:spPr>
          <a:xfrm>
            <a:off x="4331208" y="3980611"/>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13. Cost Estimating, Budget and Reserve Analysis</a:t>
            </a:r>
          </a:p>
        </p:txBody>
      </p:sp>
      <p:sp>
        <p:nvSpPr>
          <p:cNvPr id="34" name="TextBox 33"/>
          <p:cNvSpPr txBox="1"/>
          <p:nvPr/>
        </p:nvSpPr>
        <p:spPr>
          <a:xfrm>
            <a:off x="4532376" y="4840147"/>
            <a:ext cx="3124200" cy="118846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T6 · LO2 · 25 min in class + 25 min self-study</a:t>
            </a:r>
          </a:p>
          <a:p>
            <a:pPr algn="l">
              <a:lnSpc>
                <a:spcPct val="118000"/>
              </a:lnSpc>
              <a:spcAft>
                <a:spcPts val="400"/>
              </a:spcAft>
            </a:pPr>
            <a:r>
              <a:rPr sz="1150" b="0" i="0">
                <a:solidFill>
                  <a:srgbClr val="5B6372"/>
                </a:solidFill>
                <a:latin typeface="Arial"/>
              </a:rPr>
              <a:t>Produces: Cost estimates, Cost baseline, Reserve plan</a:t>
            </a:r>
          </a:p>
        </p:txBody>
      </p:sp>
      <p:sp>
        <p:nvSpPr>
          <p:cNvPr id="35" name="Rounded Rectangle 34"/>
          <p:cNvSpPr/>
          <p:nvPr/>
        </p:nvSpPr>
        <p:spPr>
          <a:xfrm>
            <a:off x="8095488" y="3980611"/>
            <a:ext cx="3526536" cy="2176013"/>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7863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14. Risk Register, Probability/Impact Matrix and EMV Decision Tree</a:t>
            </a:r>
          </a:p>
        </p:txBody>
      </p:sp>
      <p:sp>
        <p:nvSpPr>
          <p:cNvPr id="40" name="TextBox 39"/>
          <p:cNvSpPr txBox="1"/>
          <p:nvPr/>
        </p:nvSpPr>
        <p:spPr>
          <a:xfrm>
            <a:off x="8296656" y="5077891"/>
            <a:ext cx="3124200" cy="950717"/>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T5 · LO4 · 30 min in class + 30 min self-study</a:t>
            </a:r>
          </a:p>
          <a:p>
            <a:pPr algn="l">
              <a:lnSpc>
                <a:spcPct val="118000"/>
              </a:lnSpc>
              <a:spcAft>
                <a:spcPts val="400"/>
              </a:spcAft>
            </a:pPr>
            <a:r>
              <a:rPr sz="1150" b="0" i="0">
                <a:solidFill>
                  <a:srgbClr val="5B6372"/>
                </a:solidFill>
                <a:latin typeface="Arial"/>
              </a:rPr>
              <a:t>Produces: Risk register, P/I matrix, EMV decision tree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311</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09. Requirements Elicitation and Traceability Matrix</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T2 · LO1. Produces Requirements list, RTM.</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Run a requirements elicitation session using the Mind Mapping tool, branching from the portal's core capabilities.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Convert each branch into a numbered requirement written as a testable statement, not a wish.</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Classify each requirement as functional, non-functional, business, stakeholder, transition or quality.</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Build the Requirements Traceability Matrix linking requirement to business need, deliverable, test and acceptance criterion.</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gaps: requirements with no test, and deliverables with no originating requirement.</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Have a nominated 'business owner' review and sign off the matrix.</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Requirements list, RTM</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Mind Mapping</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alfredang.github.io/mindmapping/</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312</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10. MoSCoW and Kano Prioritisation with Product Backlog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T3 · LO1. Produces Prioritised backlog, Story point estimates.</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Take the requirements from Lab 09 and apply MoSCoW: Must, Should, Could, Won't have this release.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Challenge the Musts — if more than 60% of effort is Must, the prioritisation has failed and must be redone.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Kano classification: basic, performance and delight features, and note which Musts are merely basic expectations.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the top fifteen items as user stories in the standard 'As a… I want… so that…' form with acceptance criteria.</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Estimate each story in story points using relative sizing against a chosen reference story.</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Order the backlog by value per point and confirm the first sprint's capacity is realistic.</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Prioritised backlog, Story point estimates</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Scrum Simulator</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alfredang.github.io/scrum/</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313</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11. Work Breakdown Structure and WBS Dictionary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T2 · LO1. Produces WBS, WBS dictionary, Scope baseline.</a:t>
            </a:r>
          </a:p>
        </p:txBody>
      </p:sp>
      <p:sp>
        <p:nvSpPr>
          <p:cNvPr id="8" name="Rounded Rectangle 7"/>
          <p:cNvSpPr/>
          <p:nvPr/>
        </p:nvSpPr>
        <p:spPr>
          <a:xfrm>
            <a:off x="9692640" y="1560423"/>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Decompose the portal scope into major deliverables — not activities — at WBS level 2.</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Break each deliverable down until every work package is estimable and assignable, typically 8-80 hours.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the 100% rule: verify the children of every parent sum to exactly the parent's scope, no more and no less.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Assign a unique WBS code identifier to every element.</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the WBS dictionary entry for five work packages: description, resources, cost, quality requirements and acceptance criteria.</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Assemble the scope baseline — scope statement plus WBS plus dictionary — and record who approves it.</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WBS, WBS dictionary, Scope baseline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314</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12. Network Diagram, PERT Estimating and Critical Path</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T8 · LO2. Produces Network diagram, Critical path, Float table.</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the activities derived from the Lab 11 work packages with their durations.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Determine each dependency and classify it as mandatory, discretionary, external or internal.</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Draw the precedence network using finish-to-start relationships, adding leads and lags where genuinely required.</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three-point PERT estimating to the five most uncertain activities: (O + 4M + P) / 6, with sigma = (P − O) / 6.</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Run the forward and backward pass to compute early and late start and finish for every activity.</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the critical path, state the project duration, and list the total and free float for every non-critical activity.</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Network diagram, Critical path, Float table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315</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13. Cost Estimating, Budget and Reserve Analysis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6F7FA"/>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T6 · LO2. Produces Cost estimates, Cost baseline, Reserve plan.</a:t>
            </a:r>
          </a:p>
        </p:txBody>
      </p:sp>
      <p:sp>
        <p:nvSpPr>
          <p:cNvPr id="8" name="Rounded Rectangle 7"/>
          <p:cNvSpPr/>
          <p:nvPr/>
        </p:nvSpPr>
        <p:spPr>
          <a:xfrm>
            <a:off x="9692640" y="1560423"/>
            <a:ext cx="1828800" cy="45720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Estimate each work package by the most defensible method — analogous, parametric or bottom-up — and record which you used and why.</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three-point estimating to the packages with the widest uncertainty.</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Roll the estimates up through the WBS to a total direct cost.</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contingency reserve from the Lab 14 risk EMVs and add it to form the cost baseline.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Add management reserve above the baseline and state who must approve its release.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Plot the cumulative spend as an S-curve and identify the periods of highest cash demand.</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Cost estimates, Cost baseline, Reserve plan</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Statistics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alfredang.github.io/novastats/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316</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HANDS-ON ACTIVITY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14. Risk Register, Probability/Impact Matrix and EMV Decision Tree</a:t>
            </a:r>
          </a:p>
        </p:txBody>
      </p:sp>
      <p:sp>
        <p:nvSpPr>
          <p:cNvPr id="4" name="Rectangle 3"/>
          <p:cNvSpPr/>
          <p:nvPr/>
        </p:nvSpPr>
        <p:spPr>
          <a:xfrm>
            <a:off x="566928" y="1676095"/>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11055096" cy="713232"/>
          </a:xfrm>
          <a:prstGeom prst="roundRect">
            <a:avLst>
              <a:gd name="adj" fmla="val 10000"/>
            </a:avLst>
          </a:prstGeom>
          <a:solidFill>
            <a:srgbClr val="FCE8EC"/>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9436" cy="71323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05279"/>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T5 · LO4. Produces Risk register, P/I matrix, EMV decision tree.</a:t>
            </a:r>
          </a:p>
        </p:txBody>
      </p:sp>
      <p:sp>
        <p:nvSpPr>
          <p:cNvPr id="8" name="Rounded Rectangle 7"/>
          <p:cNvSpPr/>
          <p:nvPr/>
        </p:nvSpPr>
        <p:spPr>
          <a:xfrm>
            <a:off x="9692640" y="2041855"/>
            <a:ext cx="1828800" cy="457200"/>
          </a:xfrm>
          <a:prstGeom prst="roundRect">
            <a:avLst>
              <a:gd name="adj" fmla="val 1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133295"/>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809951"/>
            <a:ext cx="50292" cy="67878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947111"/>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883103"/>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Build a risk breakdown structure grouping risks into technical, external, organisational and project-management categories.</a:t>
            </a:r>
          </a:p>
        </p:txBody>
      </p:sp>
      <p:sp>
        <p:nvSpPr>
          <p:cNvPr id="15" name="Rounded Rectangle 14"/>
          <p:cNvSpPr/>
          <p:nvPr/>
        </p:nvSpPr>
        <p:spPr>
          <a:xfrm>
            <a:off x="621334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809951"/>
            <a:ext cx="50292" cy="67878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947111"/>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883103"/>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Identify at least fifteen risks, writing each in cause-event-effect form so the response is targetable.</a:t>
            </a:r>
          </a:p>
        </p:txBody>
      </p:sp>
      <p:sp>
        <p:nvSpPr>
          <p:cNvPr id="20" name="Rounded Rectangle 19"/>
          <p:cNvSpPr/>
          <p:nvPr/>
        </p:nvSpPr>
        <p:spPr>
          <a:xfrm>
            <a:off x="56692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98468"/>
            <a:ext cx="50292" cy="67878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7356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671620"/>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Score probability and impact on 1-5 scales and plot every risk on the probability/impact matrix.</a:t>
            </a:r>
          </a:p>
        </p:txBody>
      </p:sp>
      <p:sp>
        <p:nvSpPr>
          <p:cNvPr id="25" name="Rounded Rectangle 24"/>
          <p:cNvSpPr/>
          <p:nvPr/>
        </p:nvSpPr>
        <p:spPr>
          <a:xfrm>
            <a:off x="621334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598468"/>
            <a:ext cx="50292" cy="67878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73562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671620"/>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Use the System Thinking tool to map the reinforcing loops behind your top three risks — most schedule risk is systemic, not incidental.</a:t>
            </a:r>
          </a:p>
        </p:txBody>
      </p:sp>
      <p:sp>
        <p:nvSpPr>
          <p:cNvPr id="30" name="Rounded Rectangle 29"/>
          <p:cNvSpPr/>
          <p:nvPr/>
        </p:nvSpPr>
        <p:spPr>
          <a:xfrm>
            <a:off x="56692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86986"/>
            <a:ext cx="50292" cy="67878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52414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460138"/>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Build an EMV decision tree for the highest-value decision and calculate the expected monetary value of each branch.</a:t>
            </a:r>
          </a:p>
        </p:txBody>
      </p:sp>
      <p:sp>
        <p:nvSpPr>
          <p:cNvPr id="35" name="Rounded Rectangle 34"/>
          <p:cNvSpPr/>
          <p:nvPr/>
        </p:nvSpPr>
        <p:spPr>
          <a:xfrm>
            <a:off x="621334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386986"/>
            <a:ext cx="50292" cy="678789"/>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52414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460138"/>
            <a:ext cx="4713732" cy="532485"/>
          </a:xfrm>
          <a:prstGeom prst="rect">
            <a:avLst/>
          </a:prstGeom>
          <a:noFill/>
        </p:spPr>
        <p:txBody>
          <a:bodyPr wrap="square" anchor="ctr">
            <a:spAutoFit/>
          </a:bodyPr>
          <a:lstStyle/>
          <a:p>
            <a:pPr algn="l">
              <a:lnSpc>
                <a:spcPct val="114000"/>
              </a:lnSpc>
              <a:spcAft>
                <a:spcPts val="400"/>
              </a:spcAft>
            </a:pPr>
            <a:r>
              <a:rPr sz="1000" b="0" i="0">
                <a:solidFill>
                  <a:srgbClr val="161B26"/>
                </a:solidFill>
                <a:latin typeface="Arial"/>
              </a:rPr>
              <a:t>Assign a response strategy and a named owner to every red and amber risk, then note the secondary risks your responses create.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Risk register, P/I matrix, EMV decision tree</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System Thinking</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alfredang.github.io/systemloop/</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317</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EDF9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06B6D4"/>
                </a:solidFill>
                <a:latin typeface="Arial"/>
              </a:rPr>
              <a:t>04</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06B6D4"/>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Lead the Project Team</a:t>
            </a:r>
          </a:p>
        </p:txBody>
      </p:sp>
      <p:sp>
        <p:nvSpPr>
          <p:cNvPr id="7" name="TextBox 6"/>
          <p:cNvSpPr txBox="1"/>
          <p:nvPr/>
        </p:nvSpPr>
        <p:spPr>
          <a:xfrm>
            <a:off x="4709160" y="1481328"/>
            <a:ext cx="6858000" cy="1060704"/>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The People domain in practice. Execution is where the plan meets human beings — this topic covers how you direct the work, grow the team, resolve conflict and communicate so the plan actually lands.</a:t>
            </a:r>
          </a:p>
        </p:txBody>
      </p:sp>
      <p:sp>
        <p:nvSpPr>
          <p:cNvPr id="8" name="Oval 7"/>
          <p:cNvSpPr/>
          <p:nvPr/>
        </p:nvSpPr>
        <p:spPr>
          <a:xfrm>
            <a:off x="4709160" y="277977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80720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276148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Direct and manage project work, artifacts and knowledge</a:t>
            </a:r>
          </a:p>
        </p:txBody>
      </p:sp>
      <p:sp>
        <p:nvSpPr>
          <p:cNvPr id="11" name="Oval 10"/>
          <p:cNvSpPr/>
          <p:nvPr/>
        </p:nvSpPr>
        <p:spPr>
          <a:xfrm>
            <a:off x="4709160" y="3291840"/>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31927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27355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Develop the team: Tuckman, motivation and team-building</a:t>
            </a:r>
          </a:p>
        </p:txBody>
      </p:sp>
      <p:sp>
        <p:nvSpPr>
          <p:cNvPr id="14" name="Oval 13"/>
          <p:cNvSpPr/>
          <p:nvPr/>
        </p:nvSpPr>
        <p:spPr>
          <a:xfrm>
            <a:off x="4709160" y="3803904"/>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383133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378561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Craft your leadership style and emotional intelligence</a:t>
            </a:r>
          </a:p>
        </p:txBody>
      </p:sp>
      <p:sp>
        <p:nvSpPr>
          <p:cNvPr id="17" name="Oval 16"/>
          <p:cNvSpPr/>
          <p:nvPr/>
        </p:nvSpPr>
        <p:spPr>
          <a:xfrm>
            <a:off x="4709160" y="4315968"/>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34340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29768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Train, coach and mentor to close capability gaps</a:t>
            </a:r>
          </a:p>
        </p:txBody>
      </p:sp>
      <p:sp>
        <p:nvSpPr>
          <p:cNvPr id="20" name="Oval 19"/>
          <p:cNvSpPr/>
          <p:nvPr/>
        </p:nvSpPr>
        <p:spPr>
          <a:xfrm>
            <a:off x="4709160" y="4828032"/>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85546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480974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Manage conflict, decisions and negotiation</a:t>
            </a:r>
          </a:p>
        </p:txBody>
      </p:sp>
      <p:sp>
        <p:nvSpPr>
          <p:cNvPr id="23" name="Oval 22"/>
          <p:cNvSpPr/>
          <p:nvPr/>
        </p:nvSpPr>
        <p:spPr>
          <a:xfrm>
            <a:off x="4709160" y="534009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36752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32180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Plan and manage communication across a distributed team</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318</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ECO PEOPLE T3 · LEAD THE PROJECT TEAM</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this topic carries the most exam weight</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Plans do not deliver projects. People do.</a:t>
            </a:r>
          </a:p>
        </p:txBody>
      </p:sp>
      <p:sp>
        <p:nvSpPr>
          <p:cNvPr id="6" name="Rectangle 5"/>
          <p:cNvSpPr/>
          <p:nvPr/>
        </p:nvSpPr>
        <p:spPr>
          <a:xfrm>
            <a:off x="566928" y="3502152"/>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33% of the exam</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People domain is the single largest cluster of ECO tasks and is tested across every question type.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Situational questions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Most People items are scenario-based: you pick the PM's next action, not a definition.</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Servant-leader default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PMI expects you to facilitate, coach and empower before you ever direct or escalate.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319</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'leading the project team' actually means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Set expectations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 what good looks like at team level — quality bars, response times, definition of done, escalation rules.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Empower decisions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Push authority to the level closest to the work so the team decides without waiting on the project manager.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Solve problems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Break impediments down to root cause, then remove them or escalate with a recommended option, never just a complaint.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Represent the voice of the team</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Carry the team's constraints, capacity and concerns upward to sponsors honestly and without filter.</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Support varied experience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Deliberately use the differing skills, cultures and perspectives on the team as a design advantage.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Clarify roles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work package has one accountable owner; ambiguity about ownership is the number-one source of team conflict.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Direct and Manage Project Work</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Executing process: lead and perform the work defined in the plan and implement approved changes to achieve the objectives.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(all components)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change log, lessons learned register, milestone list, project communications</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Approved change requests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7" name="Oval 26"/>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29" name="Oval 28"/>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kick-off, stand-up, status review</a:t>
            </a:r>
          </a:p>
        </p:txBody>
      </p:sp>
      <p:sp>
        <p:nvSpPr>
          <p:cNvPr id="31" name="Oval 30"/>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27161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a:t>
            </a:r>
          </a:p>
        </p:txBody>
      </p:sp>
      <p:sp>
        <p:nvSpPr>
          <p:cNvPr id="33" name="Oval 32"/>
          <p:cNvSpPr/>
          <p:nvPr/>
        </p:nvSpPr>
        <p:spPr>
          <a:xfrm>
            <a:off x="4593336" y="46931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0171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and decision-making techniques</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Deliverables</a:t>
            </a:r>
          </a:p>
        </p:txBody>
      </p:sp>
      <p:sp>
        <p:nvSpPr>
          <p:cNvPr id="41" name="Oval 40"/>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43" name="Oval 42"/>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Issue log</a:t>
            </a:r>
          </a:p>
        </p:txBody>
      </p:sp>
      <p:sp>
        <p:nvSpPr>
          <p:cNvPr id="45" name="Oval 44"/>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7" name="Oval 46"/>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9" name="Oval 48"/>
          <p:cNvSpPr/>
          <p:nvPr/>
        </p:nvSpPr>
        <p:spPr>
          <a:xfrm>
            <a:off x="8436864" y="460080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450936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and OPA updates</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321</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Data becomes information becomes reports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674620" cy="2184728"/>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Work performance data</a:t>
            </a:r>
          </a:p>
        </p:txBody>
      </p:sp>
      <p:sp>
        <p:nvSpPr>
          <p:cNvPr id="8" name="TextBox 7"/>
          <p:cNvSpPr txBox="1"/>
          <p:nvPr/>
        </p:nvSpPr>
        <p:spPr>
          <a:xfrm>
            <a:off x="694944" y="2895903"/>
            <a:ext cx="1768221" cy="1032128"/>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Raw observations from the work: actual cost, defect counts, hours logged, change requests raised.</a:t>
            </a:r>
          </a:p>
        </p:txBody>
      </p:sp>
      <p:sp>
        <p:nvSpPr>
          <p:cNvPr id="9" name="Pentagon 8"/>
          <p:cNvSpPr/>
          <p:nvPr/>
        </p:nvSpPr>
        <p:spPr>
          <a:xfrm>
            <a:off x="3360420" y="1816455"/>
            <a:ext cx="2674620" cy="2184728"/>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88436" y="1917039"/>
            <a:ext cx="1768221"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3488436"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Work performance information</a:t>
            </a:r>
          </a:p>
        </p:txBody>
      </p:sp>
      <p:sp>
        <p:nvSpPr>
          <p:cNvPr id="12" name="TextBox 11"/>
          <p:cNvSpPr txBox="1"/>
          <p:nvPr/>
        </p:nvSpPr>
        <p:spPr>
          <a:xfrm>
            <a:off x="3488436" y="2895903"/>
            <a:ext cx="1768221" cy="1032128"/>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Data compared against baselines or each other — schedule variance, CPI, % of packages complete.</a:t>
            </a:r>
          </a:p>
        </p:txBody>
      </p:sp>
      <p:sp>
        <p:nvSpPr>
          <p:cNvPr id="13" name="Pentagon 12"/>
          <p:cNvSpPr/>
          <p:nvPr/>
        </p:nvSpPr>
        <p:spPr>
          <a:xfrm>
            <a:off x="6153912" y="1816455"/>
            <a:ext cx="2674620" cy="2184728"/>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1917039"/>
            <a:ext cx="1768221"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6281928"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Work performance reports</a:t>
            </a:r>
          </a:p>
        </p:txBody>
      </p:sp>
      <p:sp>
        <p:nvSpPr>
          <p:cNvPr id="16" name="TextBox 15"/>
          <p:cNvSpPr txBox="1"/>
          <p:nvPr/>
        </p:nvSpPr>
        <p:spPr>
          <a:xfrm>
            <a:off x="6281928" y="2895903"/>
            <a:ext cx="1768221" cy="1032128"/>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Physical or electronic packaging of that information — dashboards, status reports, briefings.</a:t>
            </a:r>
          </a:p>
        </p:txBody>
      </p:sp>
      <p:sp>
        <p:nvSpPr>
          <p:cNvPr id="17" name="Rounded Rectangle 16"/>
          <p:cNvSpPr/>
          <p:nvPr/>
        </p:nvSpPr>
        <p:spPr>
          <a:xfrm>
            <a:off x="8947404" y="1816455"/>
            <a:ext cx="2674620" cy="2184728"/>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5420" y="1917039"/>
            <a:ext cx="1768221"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9075420" y="2127351"/>
            <a:ext cx="1768221" cy="6954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Decisions and action</a:t>
            </a:r>
          </a:p>
        </p:txBody>
      </p:sp>
      <p:sp>
        <p:nvSpPr>
          <p:cNvPr id="20" name="TextBox 19"/>
          <p:cNvSpPr txBox="1"/>
          <p:nvPr/>
        </p:nvSpPr>
        <p:spPr>
          <a:xfrm>
            <a:off x="9075420" y="2895903"/>
            <a:ext cx="1768221" cy="1032128"/>
          </a:xfrm>
          <a:prstGeom prst="rect">
            <a:avLst/>
          </a:prstGeom>
          <a:noFill/>
        </p:spPr>
        <p:txBody>
          <a:bodyPr wrap="square" anchor="t">
            <a:spAutoFit/>
          </a:bodyPr>
          <a:lstStyle/>
          <a:p>
            <a:pPr algn="l">
              <a:lnSpc>
                <a:spcPct val="114000"/>
              </a:lnSpc>
              <a:spcAft>
                <a:spcPts val="400"/>
              </a:spcAft>
            </a:pPr>
            <a:r>
              <a:rPr sz="1000" b="0" i="0">
                <a:solidFill>
                  <a:srgbClr val="5B6372"/>
                </a:solidFill>
                <a:latin typeface="Arial"/>
              </a:rPr>
              <a:t>Reports raise awareness, generate decisions and trigger change requests or corrective action.</a:t>
            </a:r>
          </a:p>
        </p:txBody>
      </p:sp>
      <p:sp>
        <p:nvSpPr>
          <p:cNvPr id="21" name="Rounded Rectangle 20"/>
          <p:cNvSpPr/>
          <p:nvPr/>
        </p:nvSpPr>
        <p:spPr>
          <a:xfrm>
            <a:off x="566928" y="4220639"/>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4220639"/>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4312079"/>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Exam cue: data is produced by Direct and Manage Project Work; information by the Control processes; reports by Monitor and Control Project Work. The verb in the stem tells you which.</a:t>
            </a:r>
          </a:p>
        </p:txBody>
      </p:sp>
      <p:sp>
        <p:nvSpPr>
          <p:cNvPr id="24" name="TextBox 23"/>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5" name="TextBox 24"/>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6" name="TextBox 25"/>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322</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Data, information or report?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logs 14 defects this sprint' — what is this?</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Work performance data. Raw, unprocessed measurement straight from the work itself.</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'Defect rate is 40% above the baseline' — what is this?</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Work performance information. Data has been compared to a baseline and now carries meaning.</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sponsor asks for the monthly status pack' — what is this?</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work performance report — the communication artifact built from work performance information.</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Question asks where deliverables are produced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Direct and Manage Project Work. Deliverables are its primary output; verified deliverables come later from Control Quality.</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323</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Standardise your project artifacts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Simple production route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agreed way to create a document so the team spends effort on content rather than on formatting.</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Templates and formats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Standard formats for status reports, change requests and minutes make information comparable across periods.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 and approval</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defined path for who drafts, who reviews and who signs off before an artifact becomes authoritative.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Version control</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artifact carries a version number so people can tell instantly whether they hold the current truth.</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Security and access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Classify artifacts and restrict who can edit versus who can only read, especially for contracts and HR data.</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Timely distribution</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artifact that arrives after the decision has been taken has zero value regardless of its quality.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324</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T3 · MANAGE AND CONTROL CHANGES</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Configuration management plan vs configuration management system</a:t>
            </a:r>
          </a:p>
        </p:txBody>
      </p:sp>
      <p:sp>
        <p:nvSpPr>
          <p:cNvPr id="4" name="Rectangle 3"/>
          <p:cNvSpPr/>
          <p:nvPr/>
        </p:nvSpPr>
        <p:spPr>
          <a:xfrm>
            <a:off x="566928" y="1676095"/>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5390388" cy="3499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23567"/>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Configuration management plan</a:t>
            </a:r>
          </a:p>
        </p:txBody>
      </p:sp>
      <p:sp>
        <p:nvSpPr>
          <p:cNvPr id="8" name="TextBox 7"/>
          <p:cNvSpPr txBox="1"/>
          <p:nvPr/>
        </p:nvSpPr>
        <p:spPr>
          <a:xfrm>
            <a:off x="786384" y="2371039"/>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component of the project management plan</a:t>
            </a:r>
          </a:p>
        </p:txBody>
      </p:sp>
      <p:sp>
        <p:nvSpPr>
          <p:cNvPr id="9" name="Oval 8"/>
          <p:cNvSpPr/>
          <p:nvPr/>
        </p:nvSpPr>
        <p:spPr>
          <a:xfrm>
            <a:off x="786384" y="294711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8465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States which items are placed under configuration control</a:t>
            </a:r>
          </a:p>
        </p:txBody>
      </p:sp>
      <p:sp>
        <p:nvSpPr>
          <p:cNvPr id="11" name="Oval 10"/>
          <p:cNvSpPr/>
          <p:nvPr/>
        </p:nvSpPr>
        <p:spPr>
          <a:xfrm>
            <a:off x="786384" y="326715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31665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Defines how project and product information is recorded</a:t>
            </a:r>
          </a:p>
        </p:txBody>
      </p:sp>
      <p:sp>
        <p:nvSpPr>
          <p:cNvPr id="13" name="Oval 12"/>
          <p:cNvSpPr/>
          <p:nvPr/>
        </p:nvSpPr>
        <p:spPr>
          <a:xfrm>
            <a:off x="786384" y="358719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48660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Says who may request, review and approve a configuration change</a:t>
            </a:r>
          </a:p>
        </p:txBody>
      </p:sp>
      <p:sp>
        <p:nvSpPr>
          <p:cNvPr id="15" name="Oval 14"/>
          <p:cNvSpPr/>
          <p:nvPr/>
        </p:nvSpPr>
        <p:spPr>
          <a:xfrm>
            <a:off x="786384" y="408096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980383"/>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Facilitates consistency of the product, service or result</a:t>
            </a:r>
          </a:p>
        </p:txBody>
      </p:sp>
      <p:sp>
        <p:nvSpPr>
          <p:cNvPr id="17" name="Oval 16"/>
          <p:cNvSpPr/>
          <p:nvPr/>
        </p:nvSpPr>
        <p:spPr>
          <a:xfrm>
            <a:off x="786384" y="4401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00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Written during planning; maintained across the whole life cycle</a:t>
            </a:r>
          </a:p>
        </p:txBody>
      </p:sp>
      <p:sp>
        <p:nvSpPr>
          <p:cNvPr id="19" name="Rounded Rectangle 18"/>
          <p:cNvSpPr/>
          <p:nvPr/>
        </p:nvSpPr>
        <p:spPr>
          <a:xfrm>
            <a:off x="6231636" y="1913839"/>
            <a:ext cx="5390388" cy="3499409"/>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913839"/>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2023567"/>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Configuration management system</a:t>
            </a:r>
          </a:p>
        </p:txBody>
      </p:sp>
      <p:sp>
        <p:nvSpPr>
          <p:cNvPr id="22" name="TextBox 21"/>
          <p:cNvSpPr txBox="1"/>
          <p:nvPr/>
        </p:nvSpPr>
        <p:spPr>
          <a:xfrm>
            <a:off x="6451092" y="2371039"/>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tooling and procedures that enforce the plan</a:t>
            </a:r>
          </a:p>
        </p:txBody>
      </p:sp>
      <p:sp>
        <p:nvSpPr>
          <p:cNvPr id="23" name="Oval 22"/>
          <p:cNvSpPr/>
          <p:nvPr/>
        </p:nvSpPr>
        <p:spPr>
          <a:xfrm>
            <a:off x="6451092" y="294711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8465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How the PM tracks project artifacts day to day</a:t>
            </a:r>
          </a:p>
        </p:txBody>
      </p:sp>
      <p:sp>
        <p:nvSpPr>
          <p:cNvPr id="25" name="Oval 24"/>
          <p:cNvSpPr/>
          <p:nvPr/>
        </p:nvSpPr>
        <p:spPr>
          <a:xfrm>
            <a:off x="6451092" y="326715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316656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Monitors and controls changes to baselined items</a:t>
            </a:r>
          </a:p>
        </p:txBody>
      </p:sp>
      <p:sp>
        <p:nvSpPr>
          <p:cNvPr id="27" name="Oval 26"/>
          <p:cNvSpPr/>
          <p:nvPr/>
        </p:nvSpPr>
        <p:spPr>
          <a:xfrm>
            <a:off x="6451092" y="358719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48660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Holds the audit trail of what changed, when and by whom</a:t>
            </a:r>
          </a:p>
        </p:txBody>
      </p:sp>
      <p:sp>
        <p:nvSpPr>
          <p:cNvPr id="29" name="Oval 28"/>
          <p:cNvSpPr/>
          <p:nvPr/>
        </p:nvSpPr>
        <p:spPr>
          <a:xfrm>
            <a:off x="6451092" y="3907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06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a subsystem of the wider PMIS</a:t>
            </a:r>
          </a:p>
        </p:txBody>
      </p:sp>
      <p:sp>
        <p:nvSpPr>
          <p:cNvPr id="31" name="Oval 30"/>
          <p:cNvSpPr/>
          <p:nvPr/>
        </p:nvSpPr>
        <p:spPr>
          <a:xfrm>
            <a:off x="6451092" y="422727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26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Includes document control and version control mechanisms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Configuration management controls the PRODUCT; change control controls the PLAN. Exam items often test that distinction directly.</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325</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Version control and document control in practice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 subset of configuration management</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Document control is the part of configuration management dealing with documents and digital records.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version number</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Increment on every substantive change so two people can confirm they are debating the same content.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Date and time stamp</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Establishes sequence when several edits land on the same working day from different contributors.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Author of the change</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Names the person accountable, which makes it possible to go back and ask why a change was made.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summary line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sentence describing what moved lets a reader decide whether they need to re-read the whole document.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Single source of truth</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Only one location is authoritative; all other copies are explicitly labelled as reference copies.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326</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Work information management systems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Management Information System (PMIS)</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Gathers, integrates and shares project data</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Automated collection of schedule, cost and resource data</a:t>
            </a:r>
          </a:p>
        </p:txBody>
      </p:sp>
      <p:sp>
        <p:nvSpPr>
          <p:cNvPr id="11" name="Oval 10"/>
          <p:cNvSpPr/>
          <p:nvPr/>
        </p:nvSpPr>
        <p:spPr>
          <a:xfrm>
            <a:off x="786384"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Ensures consistency in how data is collected and reported</a:t>
            </a:r>
          </a:p>
        </p:txBody>
      </p:sp>
      <p:sp>
        <p:nvSpPr>
          <p:cNvPr id="13" name="Oval 12"/>
          <p:cNvSpPr/>
          <p:nvPr/>
        </p:nvSpPr>
        <p:spPr>
          <a:xfrm>
            <a:off x="786384"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Feeds dashboards, earned value and status reporting</a:t>
            </a:r>
          </a:p>
        </p:txBody>
      </p:sp>
      <p:sp>
        <p:nvSpPr>
          <p:cNvPr id="15" name="Oval 14"/>
          <p:cNvSpPr/>
          <p:nvPr/>
        </p:nvSpPr>
        <p:spPr>
          <a:xfrm>
            <a:off x="786384"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Includes scheduling tools, work authorisation and configuration systems</a:t>
            </a:r>
          </a:p>
        </p:txBody>
      </p:sp>
      <p:sp>
        <p:nvSpPr>
          <p:cNvPr id="17" name="Oval 16"/>
          <p:cNvSpPr/>
          <p:nvPr/>
        </p:nvSpPr>
        <p:spPr>
          <a:xfrm>
            <a:off x="786384" y="391957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81899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 input to almost every executing and controlling process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Artifact management systems</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Store and maintain the project's documents</a:t>
            </a:r>
          </a:p>
        </p:txBody>
      </p:sp>
      <p:sp>
        <p:nvSpPr>
          <p:cNvPr id="23" name="Oval 22"/>
          <p:cNvSpPr/>
          <p:nvPr/>
        </p:nvSpPr>
        <p:spPr>
          <a:xfrm>
            <a:off x="6451092"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Repository for plans, registers, logs and specifications</a:t>
            </a:r>
          </a:p>
        </p:txBody>
      </p:sp>
      <p:sp>
        <p:nvSpPr>
          <p:cNvPr id="25" name="Oval 24"/>
          <p:cNvSpPr/>
          <p:nvPr/>
        </p:nvSpPr>
        <p:spPr>
          <a:xfrm>
            <a:off x="6451092"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Enforces access rights, retention and version history</a:t>
            </a:r>
          </a:p>
        </p:txBody>
      </p:sp>
      <p:sp>
        <p:nvSpPr>
          <p:cNvPr id="27" name="Oval 26"/>
          <p:cNvSpPr/>
          <p:nvPr/>
        </p:nvSpPr>
        <p:spPr>
          <a:xfrm>
            <a:off x="6451092"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Makes artifacts findable — accessibility is an ECO enabler</a:t>
            </a:r>
          </a:p>
        </p:txBody>
      </p:sp>
      <p:sp>
        <p:nvSpPr>
          <p:cNvPr id="29" name="Oval 28"/>
          <p:cNvSpPr/>
          <p:nvPr/>
        </p:nvSpPr>
        <p:spPr>
          <a:xfrm>
            <a:off x="6451092"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Supports handover of records at project or phase closure</a:t>
            </a:r>
          </a:p>
        </p:txBody>
      </p:sp>
      <p:sp>
        <p:nvSpPr>
          <p:cNvPr id="31" name="Oval 30"/>
          <p:cNvSpPr/>
          <p:nvPr/>
        </p:nvSpPr>
        <p:spPr>
          <a:xfrm>
            <a:off x="6451092"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Continually assessed for effectiveness, per ECO Process T9</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ECO Process T9 asks you to 'continually assess the effectiveness of artifact management' — a new emphasis in the 2026 outline.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327</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Project Knowledge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Use existing knowledge and create new knowledge to achieve the project's objectives and contribute to organisational learning.</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(all components)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team assignments, resource breakdown structure, stakeholder register</a:t>
            </a:r>
          </a:p>
        </p:txBody>
      </p:sp>
      <p:sp>
        <p:nvSpPr>
          <p:cNvPr id="15" name="Oval 14"/>
          <p:cNvSpPr/>
          <p:nvPr/>
        </p:nvSpPr>
        <p:spPr>
          <a:xfrm>
            <a:off x="749808" y="44554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Deliverables</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9" name="Oval 18"/>
          <p:cNvSpPr/>
          <p:nvPr/>
        </p:nvSpPr>
        <p:spPr>
          <a:xfrm>
            <a:off x="749808" y="511560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02416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7" name="Oval 26"/>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Knowledge management (networking, communities of practice, work shadowing, seminars, storytelling)</a:t>
            </a:r>
          </a:p>
        </p:txBody>
      </p:sp>
      <p:sp>
        <p:nvSpPr>
          <p:cNvPr id="29" name="Oval 28"/>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941520"/>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Information management (lessons learned register, library services, information gathering)</a:t>
            </a:r>
          </a:p>
        </p:txBody>
      </p:sp>
      <p:sp>
        <p:nvSpPr>
          <p:cNvPr id="31" name="Oval 30"/>
          <p:cNvSpPr/>
          <p:nvPr/>
        </p:nvSpPr>
        <p:spPr>
          <a:xfrm>
            <a:off x="4593336" y="47855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6940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active listening, facilitation, leadership, networking, political awareness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Lessons learned register</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328</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Explicit vs tacit knowledge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Explicit knowledge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Codified — it can be written down and sent</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Facts, numbers, procedures, diagrams, templates</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Easily stored in a repository and searched later</a:t>
            </a:r>
          </a:p>
        </p:txBody>
      </p:sp>
      <p:sp>
        <p:nvSpPr>
          <p:cNvPr id="13" name="Oval 12"/>
          <p:cNvSpPr/>
          <p:nvPr/>
        </p:nvSpPr>
        <p:spPr>
          <a:xfrm>
            <a:off x="786384"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Transferred by documents, training material and databases</a:t>
            </a:r>
          </a:p>
        </p:txBody>
      </p:sp>
      <p:sp>
        <p:nvSpPr>
          <p:cNvPr id="15" name="Oval 14"/>
          <p:cNvSpPr/>
          <p:nvPr/>
        </p:nvSpPr>
        <p:spPr>
          <a:xfrm>
            <a:off x="786384"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Risk: people assume that documenting equals transferring</a:t>
            </a:r>
          </a:p>
        </p:txBody>
      </p:sp>
      <p:sp>
        <p:nvSpPr>
          <p:cNvPr id="17" name="Oval 16"/>
          <p:cNvSpPr/>
          <p:nvPr/>
        </p:nvSpPr>
        <p:spPr>
          <a:xfrm>
            <a:off x="786384"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Managed mainly through information management techniques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Tacit knowledge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Personal — beliefs, insight, experience, know-how</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Judgement, context, 'why we did it that way', relationships</a:t>
            </a:r>
          </a:p>
        </p:txBody>
      </p:sp>
      <p:sp>
        <p:nvSpPr>
          <p:cNvPr id="25" name="Oval 24"/>
          <p:cNvSpPr/>
          <p:nvPr/>
        </p:nvSpPr>
        <p:spPr>
          <a:xfrm>
            <a:off x="6451092"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Hard to articulate; often the person does not know they hold it</a:t>
            </a:r>
          </a:p>
        </p:txBody>
      </p:sp>
      <p:sp>
        <p:nvSpPr>
          <p:cNvPr id="27" name="Oval 26"/>
          <p:cNvSpPr/>
          <p:nvPr/>
        </p:nvSpPr>
        <p:spPr>
          <a:xfrm>
            <a:off x="6451092" y="327949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Transferred by conversation, shadowing, pairing and storytelling</a:t>
            </a:r>
          </a:p>
        </p:txBody>
      </p:sp>
      <p:sp>
        <p:nvSpPr>
          <p:cNvPr id="29" name="Oval 28"/>
          <p:cNvSpPr/>
          <p:nvPr/>
        </p:nvSpPr>
        <p:spPr>
          <a:xfrm>
            <a:off x="6451092" y="377327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Lost permanently when a key person leaves without handover</a:t>
            </a:r>
          </a:p>
        </p:txBody>
      </p:sp>
      <p:sp>
        <p:nvSpPr>
          <p:cNvPr id="31" name="Oval 30"/>
          <p:cNvSpPr/>
          <p:nvPr/>
        </p:nvSpPr>
        <p:spPr>
          <a:xfrm>
            <a:off x="6451092" y="409331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Managed mainly through knowledge management techniques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The hardest part of knowledge management is creating an atmosphere of trust so people are willing to share the tacit knowledge that makes them individually valuable.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329</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Information radiators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Big visible charts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Large, low-tech displays placed where the team works so status is absorbed passively rather than requested.</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Task or Kanban board</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Shows every work item and its state; makes work-in-progress and bottlenecks obvious without a status meeting.</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Burndown / burnup chart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Plots remaining or completed work against time so the team sees its own trend against the commitment.</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Impediment board</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Lists blockers, owner and age — an ageing blocker on a public wall creates the pressure to resolve it.</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 calendar and capacity</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Absences, holidays and shared commitments visible so the team plans realistically together.</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Radiate, don't report</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Radiators push information out continuously; reports pull it out periodically and are always slightly stale.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lessons learned register</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Created early, not at the end</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Opened during Manage Project Knowledge in the first phase and updated throughout execution.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records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situation, what was done, the impact, and the recommendation for anyone facing that situation again.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Categories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Lessons on requirements, estimating, risk, procurement, communication, quality and team dynamics.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Feeds later phases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live register lets the current project fix itself, not just help the next project.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Becomes the repository</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At closure the register is folded into the organisational lessons learned repository, an OPA.</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Retrospectives supply it</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 adaptive work every iteration retrospective is a scheduled input to the register.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331</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Foster a knowledge-sharing culture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Everyone teaches and learns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Knowledge transfer is not a one-way flow from senior to junior; every role holds transferable know-how.</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Include stakeholders and customers</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Suppliers, users and operations staff hold context the delivery team cannot generate on its own.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Dedicated sharing roles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Agile coaches and Scrum Masters exist partly to make knowledge move across team boundaries.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Essential at transition</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Product handover to operations fails when only explicit knowledge crosses and tacit knowledge does not.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Communities of practice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Cross-project guilds keep specialists connected so a solution found once is not re-invented.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Psychological safety first</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share what went wrong only when they are confident the disclosure will not be used against them.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332</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Stakeholder Engagement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Communicate and work with stakeholders to meet their needs, address issues and foster appropriate engagement.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communications, stakeholder engagement, risk and change management plans</a:t>
            </a:r>
          </a:p>
        </p:txBody>
      </p:sp>
      <p:sp>
        <p:nvSpPr>
          <p:cNvPr id="13" name="Oval 12"/>
          <p:cNvSpPr/>
          <p:nvPr/>
        </p:nvSpPr>
        <p:spPr>
          <a:xfrm>
            <a:off x="749808" y="39140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64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change log, issue log, lessons learned register, stakeholder register</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 skills: feedback</a:t>
            </a:r>
          </a:p>
        </p:txBody>
      </p:sp>
      <p:sp>
        <p:nvSpPr>
          <p:cNvPr id="27" name="Oval 26"/>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519067"/>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cultural awareness, negotiation, observation/conversation, political awareness</a:t>
            </a:r>
          </a:p>
        </p:txBody>
      </p:sp>
      <p:sp>
        <p:nvSpPr>
          <p:cNvPr id="29" name="Oval 28"/>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Ground rules</a:t>
            </a:r>
          </a:p>
        </p:txBody>
      </p:sp>
      <p:sp>
        <p:nvSpPr>
          <p:cNvPr id="31" name="Oval 30"/>
          <p:cNvSpPr/>
          <p:nvPr/>
        </p:nvSpPr>
        <p:spPr>
          <a:xfrm>
            <a:off x="4593336" y="490438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change log, issue log, lessons learned register, stakeholder register</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333</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Quality</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Translate the quality management plan into executable quality activities — this is quality ASSURANCE, about the process.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quality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quality control measurements, quality metrics, risk report</a:t>
            </a:r>
          </a:p>
        </p:txBody>
      </p:sp>
      <p:sp>
        <p:nvSpPr>
          <p:cNvPr id="15" name="Oval 14"/>
          <p:cNvSpPr/>
          <p:nvPr/>
        </p:nvSpPr>
        <p:spPr>
          <a:xfrm>
            <a:off x="749808" y="44554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checklists</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document analysis, process analysis, root cause analysis</a:t>
            </a:r>
          </a:p>
        </p:txBody>
      </p:sp>
      <p:sp>
        <p:nvSpPr>
          <p:cNvPr id="25" name="Oval 24"/>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94152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multicriteria decision analysis</a:t>
            </a:r>
          </a:p>
        </p:txBody>
      </p:sp>
      <p:sp>
        <p:nvSpPr>
          <p:cNvPr id="27" name="Oval 26"/>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4482844"/>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affinity diagrams, cause-and-effect diagrams, flowcharts, histograms, matrix diagrams, scatter diagrams</a:t>
            </a:r>
          </a:p>
        </p:txBody>
      </p:sp>
      <p:sp>
        <p:nvSpPr>
          <p:cNvPr id="29" name="Oval 28"/>
          <p:cNvSpPr/>
          <p:nvPr/>
        </p:nvSpPr>
        <p:spPr>
          <a:xfrm>
            <a:off x="4593336" y="553806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544662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Audits, design for X, problem solving, quality improvement methods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Quality reports</a:t>
            </a:r>
          </a:p>
        </p:txBody>
      </p:sp>
      <p:sp>
        <p:nvSpPr>
          <p:cNvPr id="37" name="Oval 36"/>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Test and evaluation documents</a:t>
            </a:r>
          </a:p>
        </p:txBody>
      </p:sp>
      <p:sp>
        <p:nvSpPr>
          <p:cNvPr id="39" name="Oval 38"/>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3" name="Oval 42"/>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334</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Quality vs Control Quality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Manage Quality (Executing)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Are we using the right process?</a:t>
            </a:r>
          </a:p>
        </p:txBody>
      </p:sp>
      <p:sp>
        <p:nvSpPr>
          <p:cNvPr id="9" name="Oval 8"/>
          <p:cNvSpPr/>
          <p:nvPr/>
        </p:nvSpPr>
        <p:spPr>
          <a:xfrm>
            <a:off x="786384"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Quality assurance — audits the process, not the product</a:t>
            </a:r>
          </a:p>
        </p:txBody>
      </p:sp>
      <p:sp>
        <p:nvSpPr>
          <p:cNvPr id="11" name="Oval 10"/>
          <p:cNvSpPr/>
          <p:nvPr/>
        </p:nvSpPr>
        <p:spPr>
          <a:xfrm>
            <a:off x="786384"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Outputs quality reports and test/evaluation documents</a:t>
            </a:r>
          </a:p>
        </p:txBody>
      </p:sp>
      <p:sp>
        <p:nvSpPr>
          <p:cNvPr id="13" name="Oval 12"/>
          <p:cNvSpPr/>
          <p:nvPr/>
        </p:nvSpPr>
        <p:spPr>
          <a:xfrm>
            <a:off x="786384"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process analysis and root cause analysis</a:t>
            </a:r>
          </a:p>
        </p:txBody>
      </p:sp>
      <p:sp>
        <p:nvSpPr>
          <p:cNvPr id="15" name="Oval 14"/>
          <p:cNvSpPr/>
          <p:nvPr/>
        </p:nvSpPr>
        <p:spPr>
          <a:xfrm>
            <a:off x="786384"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Drives continuous improvement of how work is done</a:t>
            </a:r>
          </a:p>
        </p:txBody>
      </p:sp>
      <p:sp>
        <p:nvSpPr>
          <p:cNvPr id="17" name="Oval 16"/>
          <p:cNvSpPr/>
          <p:nvPr/>
        </p:nvSpPr>
        <p:spPr>
          <a:xfrm>
            <a:off x="786384"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Owned by the PM, quality department and often the whole team</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Control Quality (Monitoring &amp; Controlling)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Did we build the right thing correctly?</a:t>
            </a:r>
          </a:p>
        </p:txBody>
      </p:sp>
      <p:sp>
        <p:nvSpPr>
          <p:cNvPr id="23" name="Oval 22"/>
          <p:cNvSpPr/>
          <p:nvPr/>
        </p:nvSpPr>
        <p:spPr>
          <a:xfrm>
            <a:off x="6451092"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Inspects deliverables against acceptance criteria</a:t>
            </a:r>
          </a:p>
        </p:txBody>
      </p:sp>
      <p:sp>
        <p:nvSpPr>
          <p:cNvPr id="25" name="Oval 24"/>
          <p:cNvSpPr/>
          <p:nvPr/>
        </p:nvSpPr>
        <p:spPr>
          <a:xfrm>
            <a:off x="6451092"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Outputs quality control measurements and verified deliverables</a:t>
            </a:r>
          </a:p>
        </p:txBody>
      </p:sp>
      <p:sp>
        <p:nvSpPr>
          <p:cNvPr id="27" name="Oval 26"/>
          <p:cNvSpPr/>
          <p:nvPr/>
        </p:nvSpPr>
        <p:spPr>
          <a:xfrm>
            <a:off x="6451092" y="327949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inspection, testing, control charts and checksheets</a:t>
            </a:r>
          </a:p>
        </p:txBody>
      </p:sp>
      <p:sp>
        <p:nvSpPr>
          <p:cNvPr id="29" name="Oval 28"/>
          <p:cNvSpPr/>
          <p:nvPr/>
        </p:nvSpPr>
        <p:spPr>
          <a:xfrm>
            <a:off x="6451092" y="359953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49895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Determines correctness of the output, one deliverable at a time</a:t>
            </a:r>
          </a:p>
        </p:txBody>
      </p:sp>
      <p:sp>
        <p:nvSpPr>
          <p:cNvPr id="31" name="Oval 30"/>
          <p:cNvSpPr/>
          <p:nvPr/>
        </p:nvSpPr>
        <p:spPr>
          <a:xfrm>
            <a:off x="6451092" y="409331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Feeds verified deliverables into Validate Scope for acceptance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Mnemonic: Manage Quality is about the PROCESS and prevention; Control Quality is about the PRODUCT and inspection.</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335</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Acquire Resources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Obtain team members, facilities, equipment, materials and supplies necessary to complete the project work.</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 procurement management plan, cost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project schedule, resource calendars, resource requirements, stakeholder register</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7" name="Oval 16"/>
          <p:cNvSpPr/>
          <p:nvPr/>
        </p:nvSpPr>
        <p:spPr>
          <a:xfrm>
            <a:off x="749808" y="47855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multicriteria decision analysis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negotiation</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Pre-assignment</a:t>
            </a:r>
          </a:p>
        </p:txBody>
      </p:sp>
      <p:sp>
        <p:nvSpPr>
          <p:cNvPr id="29" name="Oval 28"/>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Virtual teams</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Physical resource assignments</a:t>
            </a:r>
          </a:p>
        </p:txBody>
      </p:sp>
      <p:sp>
        <p:nvSpPr>
          <p:cNvPr id="37" name="Oval 36"/>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team assignments</a:t>
            </a:r>
          </a:p>
        </p:txBody>
      </p:sp>
      <p:sp>
        <p:nvSpPr>
          <p:cNvPr id="39" name="Oval 38"/>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calendars</a:t>
            </a:r>
          </a:p>
        </p:txBody>
      </p:sp>
      <p:sp>
        <p:nvSpPr>
          <p:cNvPr id="41" name="Oval 40"/>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3" name="Oval 42"/>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5" name="Oval 44"/>
          <p:cNvSpPr/>
          <p:nvPr/>
        </p:nvSpPr>
        <p:spPr>
          <a:xfrm>
            <a:off x="8436864" y="460080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50936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and EEF/OPA updates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336</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Four ways you obtain project resources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026767"/>
                <a:gridCol w="2948025"/>
                <a:gridCol w="2948025"/>
                <a:gridCol w="3132277"/>
              </a:tblGrid>
              <a:tr h="475488">
                <a:tc>
                  <a:txBody>
                    <a:bodyPr wrap="square" anchor="t"/>
                    <a:lstStyle/>
                    <a:p>
                      <a:pPr algn="l">
                        <a:lnSpc>
                          <a:spcPct val="100000"/>
                        </a:lnSpc>
                        <a:spcAft>
                          <a:spcPts val="0"/>
                        </a:spcAft>
                      </a:pPr>
                      <a:r>
                        <a:rPr sz="1150" b="1" i="0">
                          <a:solidFill>
                            <a:srgbClr val="FFFFFF"/>
                          </a:solidFill>
                          <a:latin typeface="Arial"/>
                        </a:rPr>
                        <a:t>Route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When to use it</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Watch out for</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Pre-assignment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People are named in the charter or promised in the proposal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Competitive bids won on named experts; unique specialists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named person may no longer be available when you start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Negotiation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bargain with functional managers, other PMs or the PMO</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Matrix organisations where resources are shared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win only what your influence and the project's priority allow</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Acquisition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Hire externally or contract in the skill from a supplier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skill genuinely does not exist inside the organisation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 lead time, onboarding and knowledge leaving at contract end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Virtual teams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People contribute from different locations or time zones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Scarce skills, remote workers, cost or mobility constraints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Isolation, communication lag, weaker informal knowledge flow</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If the question describes a resource you cannot get, negotiate first, then escalate to the sponsor — do not simply re-plan the schedule around the gap.</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337</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 Team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Improve competencies, team member interaction and the overall team environment to enhance project performance.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schedule, project team assignments, resource calendars, team charter</a:t>
            </a:r>
          </a:p>
        </p:txBody>
      </p:sp>
      <p:sp>
        <p:nvSpPr>
          <p:cNvPr id="15" name="Oval 14"/>
          <p:cNvSpPr/>
          <p:nvPr/>
        </p:nvSpPr>
        <p:spPr>
          <a:xfrm>
            <a:off x="749808" y="44554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a:t>
            </a:r>
          </a:p>
        </p:txBody>
      </p:sp>
      <p:sp>
        <p:nvSpPr>
          <p:cNvPr id="17" name="Oval 16"/>
          <p:cNvSpPr/>
          <p:nvPr/>
        </p:nvSpPr>
        <p:spPr>
          <a:xfrm>
            <a:off x="749808" y="478551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Colocation</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Virtual teams and communication technology</a:t>
            </a:r>
          </a:p>
        </p:txBody>
      </p:sp>
      <p:sp>
        <p:nvSpPr>
          <p:cNvPr id="27" name="Oval 26"/>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73029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influencing, motivation, negotiation, team building</a:t>
            </a:r>
          </a:p>
        </p:txBody>
      </p:sp>
      <p:sp>
        <p:nvSpPr>
          <p:cNvPr id="29" name="Oval 28"/>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Recognition and rewards</a:t>
            </a:r>
          </a:p>
        </p:txBody>
      </p:sp>
      <p:sp>
        <p:nvSpPr>
          <p:cNvPr id="31" name="Oval 30"/>
          <p:cNvSpPr/>
          <p:nvPr/>
        </p:nvSpPr>
        <p:spPr>
          <a:xfrm>
            <a:off x="4593336" y="490438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81294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Training, individual and team assessments, 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Team performance assessments</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3" name="Oval 42"/>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5" name="Oval 44"/>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17926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updates</a:t>
            </a:r>
          </a:p>
        </p:txBody>
      </p:sp>
      <p:sp>
        <p:nvSpPr>
          <p:cNvPr id="47" name="Oval 46"/>
          <p:cNvSpPr/>
          <p:nvPr/>
        </p:nvSpPr>
        <p:spPr>
          <a:xfrm>
            <a:off x="8436864" y="481202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72058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a:t>
            </a:r>
          </a:p>
        </p:txBody>
      </p:sp>
      <p:sp>
        <p:nvSpPr>
          <p:cNvPr id="49" name="TextBox 4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0" name="TextBox 4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1" name="TextBox 5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338</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F59E0B"/>
                </a:solidFill>
                <a:latin typeface="Arial"/>
              </a:rPr>
              <a:t>ECO PEOPLE T3 · LEAD THE PROJECT TEAM</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Develop Team in one line</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An effective team is the deliverable behind every deliverable.</a:t>
            </a:r>
          </a:p>
        </p:txBody>
      </p:sp>
      <p:sp>
        <p:nvSpPr>
          <p:cNvPr id="6" name="Rectangle 5"/>
          <p:cNvSpPr/>
          <p:nvPr/>
        </p:nvSpPr>
        <p:spPr>
          <a:xfrm>
            <a:off x="566928" y="3502152"/>
            <a:ext cx="21945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Cohesion</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Solidarity and mutual reliance measurably raise throughput and lower defect rates.</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Bonding needs leadership</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Teams do not gel by accident; the leader engineers the conditions that let it happen.</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Team over individual</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Team-building shifts identity from 'my task is done' to 'our increment is done'.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339</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Team-building activities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Formal</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Facilitated offsites, chartering workshops and structured team assessments with a defined agenda and outcome.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Informal</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Five minutes at stand-up, shared meals, coffee walks — low-cost, high-frequency contact that builds trust.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Brief</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short check-in ritual or icebreaker at the start of every meeting keeps connection alive between bigger events.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Extended</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Multi-day workshops used at project start or after a major team change to reset norms and relationships.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Self-facilitated</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PM runs it — cheap and fast, but the PM cannot both facilitate and participate honestly.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Professionally facilitated</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Neutral facilitator needed when the PM is part of the problem or the conflict level is high.</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Tuckman's ladder of team development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71269"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71269"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Forming</a:t>
            </a:r>
          </a:p>
        </p:txBody>
      </p:sp>
      <p:sp>
        <p:nvSpPr>
          <p:cNvPr id="9" name="TextBox 8"/>
          <p:cNvSpPr txBox="1"/>
          <p:nvPr/>
        </p:nvSpPr>
        <p:spPr>
          <a:xfrm>
            <a:off x="658368"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Members meet, are polite and still behave as individuals; they look to the leader for direction.</a:t>
            </a:r>
          </a:p>
        </p:txBody>
      </p:sp>
      <p:sp>
        <p:nvSpPr>
          <p:cNvPr id="10" name="Oval 9"/>
          <p:cNvSpPr/>
          <p:nvPr/>
        </p:nvSpPr>
        <p:spPr>
          <a:xfrm>
            <a:off x="3682288"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8228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869387"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Storming</a:t>
            </a:r>
          </a:p>
        </p:txBody>
      </p:sp>
      <p:sp>
        <p:nvSpPr>
          <p:cNvPr id="13" name="TextBox 12"/>
          <p:cNvSpPr txBox="1"/>
          <p:nvPr/>
        </p:nvSpPr>
        <p:spPr>
          <a:xfrm>
            <a:off x="2869387"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Personalities, working styles and role expectations collide; productivity dips and conflict surfaces.</a:t>
            </a:r>
          </a:p>
        </p:txBody>
      </p:sp>
      <p:sp>
        <p:nvSpPr>
          <p:cNvPr id="14" name="Oval 13"/>
          <p:cNvSpPr/>
          <p:nvPr/>
        </p:nvSpPr>
        <p:spPr>
          <a:xfrm>
            <a:off x="5893308"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9330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5080406"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Norming</a:t>
            </a:r>
          </a:p>
        </p:txBody>
      </p:sp>
      <p:sp>
        <p:nvSpPr>
          <p:cNvPr id="17" name="TextBox 16"/>
          <p:cNvSpPr txBox="1"/>
          <p:nvPr/>
        </p:nvSpPr>
        <p:spPr>
          <a:xfrm>
            <a:off x="5080406"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The team agrees norms, learns each other's roles and settles into a working rhythm.</a:t>
            </a:r>
          </a:p>
        </p:txBody>
      </p:sp>
      <p:sp>
        <p:nvSpPr>
          <p:cNvPr id="18" name="Oval 17"/>
          <p:cNvSpPr/>
          <p:nvPr/>
        </p:nvSpPr>
        <p:spPr>
          <a:xfrm>
            <a:off x="8104327"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4327"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7291425" y="3334359"/>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Performing</a:t>
            </a:r>
          </a:p>
        </p:txBody>
      </p:sp>
      <p:sp>
        <p:nvSpPr>
          <p:cNvPr id="21" name="TextBox 20"/>
          <p:cNvSpPr txBox="1"/>
          <p:nvPr/>
        </p:nvSpPr>
        <p:spPr>
          <a:xfrm>
            <a:off x="7291425" y="3650541"/>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High trust and interdependence; the team self-organises and solves problems without the PM.</a:t>
            </a:r>
          </a:p>
        </p:txBody>
      </p:sp>
      <p:sp>
        <p:nvSpPr>
          <p:cNvPr id="22" name="Oval 21"/>
          <p:cNvSpPr/>
          <p:nvPr/>
        </p:nvSpPr>
        <p:spPr>
          <a:xfrm>
            <a:off x="10315346"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1534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9502444" y="1578711"/>
            <a:ext cx="2028139"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Adjourning</a:t>
            </a:r>
          </a:p>
        </p:txBody>
      </p:sp>
      <p:sp>
        <p:nvSpPr>
          <p:cNvPr id="25" name="TextBox 24"/>
          <p:cNvSpPr txBox="1"/>
          <p:nvPr/>
        </p:nvSpPr>
        <p:spPr>
          <a:xfrm>
            <a:off x="9502444" y="1894893"/>
            <a:ext cx="2028139"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Work completes, resources release; the team needs closure, recognition and knowledge handover.</a:t>
            </a:r>
          </a:p>
        </p:txBody>
      </p:sp>
      <p:sp>
        <p:nvSpPr>
          <p:cNvPr id="26" name="Rounded Rectangle 25"/>
          <p:cNvSpPr/>
          <p:nvPr/>
        </p:nvSpPr>
        <p:spPr>
          <a:xfrm>
            <a:off x="566928" y="5074920"/>
            <a:ext cx="11055096" cy="786384"/>
          </a:xfrm>
          <a:prstGeom prst="roundRect">
            <a:avLst>
              <a:gd name="adj" fmla="val 10000"/>
            </a:avLst>
          </a:prstGeom>
          <a:solidFill>
            <a:srgbClr val="EDF3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 y="5074920"/>
            <a:ext cx="59436"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Teams can regress: a new member, a change of scope or a change of PM can drop a performing team back into storming.</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341</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the project manager does at each Tuckman stage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2072830"/>
                <a:gridCol w="3915346"/>
                <a:gridCol w="5066919"/>
              </a:tblGrid>
              <a:tr h="475488">
                <a:tc>
                  <a:txBody>
                    <a:bodyPr wrap="square" anchor="t"/>
                    <a:lstStyle/>
                    <a:p>
                      <a:pPr algn="l">
                        <a:lnSpc>
                          <a:spcPct val="100000"/>
                        </a:lnSpc>
                        <a:spcAft>
                          <a:spcPts val="0"/>
                        </a:spcAft>
                      </a:pPr>
                      <a:r>
                        <a:rPr sz="1150" b="1" i="0">
                          <a:solidFill>
                            <a:srgbClr val="FFFFFF"/>
                          </a:solidFill>
                          <a:latin typeface="Arial"/>
                        </a:rPr>
                        <a:t>Stage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What the team looks like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Your leadership move</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Forming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Polite, cautious, dependent, unclear on roles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Be DIRECTIVE — set purpose, roles, ground rules and the team charter</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Storming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Disagreement on approach, resistance, low morale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COACH — surface conflict, facilitate, do not suppress the debate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Norming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Norms accepted, trust building, rhythm forming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SUPPORT — let them own decisions, reinforce the norms they set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Performing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Interdependent, self-correcting, high output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DELEGATE — remove impediments, protect the team, stay out of the way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Adjourning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Anxiety about what is next, energy drops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CLOSE — recognise contribution, capture lessons, plan the transition</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EBF9F4"/>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pattern: 'the team is arguing about approach' = storming, and the best answer is almost always to facilitate the discussion, not to decide for them or to reassign someone.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342</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performance dip you must expect at storming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Productivity falls at storming — this is normal, not a sign your team is failing.</a:t>
            </a:r>
          </a:p>
        </p:txBody>
      </p:sp>
      <p:sp>
        <p:nvSpPr>
          <p:cNvPr id="11" name="Oval 10"/>
          <p:cNvSpPr/>
          <p:nvPr/>
        </p:nvSpPr>
        <p:spPr>
          <a:xfrm>
            <a:off x="8403336" y="2872587"/>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Trust keeps rising through storming if conflict is handled openly; suppressing it flattens the whole curve.</a:t>
            </a:r>
          </a:p>
        </p:txBody>
      </p:sp>
      <p:sp>
        <p:nvSpPr>
          <p:cNvPr id="13" name="Oval 12"/>
          <p:cNvSpPr/>
          <p:nvPr/>
        </p:nvSpPr>
        <p:spPr>
          <a:xfrm>
            <a:off x="8403336" y="3805275"/>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713835"/>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Teams left in storming never reach the performing payoff, which is where most of the value is created.</a:t>
            </a:r>
          </a:p>
        </p:txBody>
      </p:sp>
      <p:sp>
        <p:nvSpPr>
          <p:cNvPr id="15" name="Oval 14"/>
          <p:cNvSpPr/>
          <p:nvPr/>
        </p:nvSpPr>
        <p:spPr>
          <a:xfrm>
            <a:off x="8403336" y="4737963"/>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646523"/>
            <a:ext cx="2761488" cy="877824"/>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At adjourning output falls but trust stays high — that is exactly when knowledge transfer is easiest.</a:t>
            </a:r>
          </a:p>
        </p:txBody>
      </p:sp>
      <p:sp>
        <p:nvSpPr>
          <p:cNvPr id="17" name="TextBox 1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8" name="TextBox 1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9" name="TextBox 1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343</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Tuckman traps on the exam</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new member joins a high-performing team</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regresses toward forming/storming; re-establish roles and ground rules rather than assuming performance continues.</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Team members openly disagree about the technical approach</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This is storming. Facilitate a structured discussion — conflict here is productive and expected.</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team resolves issues without involving you</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Performing. Your job is removing impediments and shielding the team, not reasserting control.</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Project ends and the team seems demotivated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Adjourning. Recognise contributions, complete lessons learned and manage the release/transition of each member.</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344</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motivational theories PMI expects you to know</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2653223"/>
                <a:gridCol w="3758732"/>
                <a:gridCol w="4643140"/>
              </a:tblGrid>
              <a:tr h="475488">
                <a:tc>
                  <a:txBody>
                    <a:bodyPr wrap="square" anchor="t"/>
                    <a:lstStyle/>
                    <a:p>
                      <a:pPr algn="l">
                        <a:lnSpc>
                          <a:spcPct val="100000"/>
                        </a:lnSpc>
                        <a:spcAft>
                          <a:spcPts val="0"/>
                        </a:spcAft>
                      </a:pPr>
                      <a:r>
                        <a:rPr sz="1150" b="1" i="0">
                          <a:solidFill>
                            <a:srgbClr val="FFFFFF"/>
                          </a:solidFill>
                          <a:latin typeface="Arial"/>
                        </a:rPr>
                        <a:t>Theory</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Core idea</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it tells a project manager</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Maslow's hierarchy of needs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Physiological, safety, belonging, esteem, self-actualisation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cannot motivate with growth opportunities if job security is in doubt — lower needs dominate first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Herzberg's motivation-hygiene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Hygiene factors prevent dissatisfaction; motivators create satisfaction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Fixing salary or the office removes complaints but never creates engagement — that needs achievement and recognition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McGregor's Theory X / Theory 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X assumes people avoid work; Y assumes people seek responsibility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Your assumption becomes self-fulfilling; Theory Y underpins agile and servant leadership</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McClelland's achievement motivation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Achievement, affiliation or power becomes dominant per person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Match the assignment and the reward to the individual's dominant need, not to your own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Vroom's expectancy theory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Motivation = expectancy x instrumentality x valence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If any of the three is zero, motivation is zero — the reward must be attainable, linked and actually wanted</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345</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Maslow's hierarchy of needs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Physiological</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Pay, rest, food, tolerable working conditions — nothing else motivates while these are unmet.</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Safety</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Job security, physical and psychological safety, predictable process and fair treatment.</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Belonging</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Team membership, inclusion, friendship — this is where team-building does its work.</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Esteem</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Recognition, respect, status, being trusted with meaningful and visible responsibility.</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Self-actualisation</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Mastery, growth, doing work the person finds intrinsically worth doing.</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Practical read: announcing a restructure destroys the safety level, and every motivational lever above it stops working until safety is restored.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346</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Herzberg: hygiene factors vs motivators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Hygiene factors</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Their absence causes dissatisfaction; their presence does not motivate</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Salary, benefits and job security</a:t>
            </a:r>
          </a:p>
        </p:txBody>
      </p:sp>
      <p:sp>
        <p:nvSpPr>
          <p:cNvPr id="11" name="Oval 10"/>
          <p:cNvSpPr/>
          <p:nvPr/>
        </p:nvSpPr>
        <p:spPr>
          <a:xfrm>
            <a:off x="786384"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Working conditions and equipment</a:t>
            </a:r>
          </a:p>
        </p:txBody>
      </p:sp>
      <p:sp>
        <p:nvSpPr>
          <p:cNvPr id="13" name="Oval 12"/>
          <p:cNvSpPr/>
          <p:nvPr/>
        </p:nvSpPr>
        <p:spPr>
          <a:xfrm>
            <a:off x="786384"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Company policy and administration</a:t>
            </a:r>
          </a:p>
        </p:txBody>
      </p:sp>
      <p:sp>
        <p:nvSpPr>
          <p:cNvPr id="15" name="Oval 14"/>
          <p:cNvSpPr/>
          <p:nvPr/>
        </p:nvSpPr>
        <p:spPr>
          <a:xfrm>
            <a:off x="786384"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Quality of supervision and interpersonal relations</a:t>
            </a:r>
          </a:p>
        </p:txBody>
      </p:sp>
      <p:sp>
        <p:nvSpPr>
          <p:cNvPr id="17" name="Oval 16"/>
          <p:cNvSpPr/>
          <p:nvPr/>
        </p:nvSpPr>
        <p:spPr>
          <a:xfrm>
            <a:off x="786384" y="374583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Fix these to get to neutral — never to get to engaged</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Motivators</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Their presence creates genuine satisfaction and effort</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Achievement — visibly completing something difficult</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Recognition for the work done</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work itself being interesting and meaningful</a:t>
            </a:r>
          </a:p>
        </p:txBody>
      </p:sp>
      <p:sp>
        <p:nvSpPr>
          <p:cNvPr id="29" name="Oval 28"/>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Responsibility and autonomy over how the work is done</a:t>
            </a:r>
          </a:p>
        </p:txBody>
      </p:sp>
      <p:sp>
        <p:nvSpPr>
          <p:cNvPr id="31" name="Oval 30"/>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Advancement and personal growth</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'the team got a bonus but morale is still low' — you addressed a hygiene factor. Look for a motivator such as recognition, autonomy or growth.</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347</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McGregor's Theory X and Theory Y in practice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Theory X · directive</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Assumes people dislike work and avoid responsibility, so supervise closely and control tightly.</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Theory Y · participative</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Assumes people seek responsibility and self-direct, so delegate, involve and trust.</a:t>
            </a:r>
          </a:p>
        </p:txBody>
      </p:sp>
      <p:sp>
        <p:nvSpPr>
          <p:cNvPr id="11" name="Rounded Rectangle 10"/>
          <p:cNvSpPr/>
          <p:nvPr/>
        </p:nvSpPr>
        <p:spPr>
          <a:xfrm>
            <a:off x="2331720"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Theory X risk</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Close supervision suppresses initiative and confirms the manager's low expectations — a self-fulfilling loop.</a:t>
            </a:r>
          </a:p>
        </p:txBody>
      </p:sp>
      <p:sp>
        <p:nvSpPr>
          <p:cNvPr id="14" name="Rounded Rectangle 13"/>
          <p:cNvSpPr/>
          <p:nvPr/>
        </p:nvSpPr>
        <p:spPr>
          <a:xfrm>
            <a:off x="4325112" y="359039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Theory Y risk</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Autonomy without clear expectations becomes drift; empowerment still needs boundaries and a definition of done.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Assumption about the team</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Resulting management style</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PMI's default posture is Theory Y. Agile, servant leadership and self-organising teams all assume Theory Y people.</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348</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McClelland's achievement motivation theory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Need for achievement (nAch)</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Driven by challenging but attainable goals and concrete feedback; dislikes vague or trivial work.</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Need for affiliation (nAff)</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Driven by belonging and harmony; give collaborative work and avoid isolating or adversarial roles.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Need for power (nPow)</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Driven by influence and impact; give coordination, negotiation and representation responsibilities.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Shaped by life experience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of the three becomes dominant based on a person's history, not on their job title.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it to design roles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Craft assignments and rewards around each member's dominant need rather than a single team-wide incentive.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T-shaped people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Balance the needs across the team so it can self-organise instead of depending on one dominant personality.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349</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Vroom's expectancy theory</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Motivational force</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M = E x I x V</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Motivation is the product of three beliefs — if any one is zero, the whole motivation is zero.</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Expectancy (E)</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Effort → Performance</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'If I work hard, can I actually succeed?' Undermined by unrealistic targets, missing skills or missing tools.</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Instrumentality (I)</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Performance → Outcome</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'If I succeed, will the promised reward really arrive?' Destroyed by one broken promise.</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Valence (V)</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Value of the outcome</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'Do I actually want that reward?' A team dinner has zero valence for someone who wants a promotion.</a:t>
            </a:r>
          </a:p>
        </p:txBody>
      </p:sp>
      <p:sp>
        <p:nvSpPr>
          <p:cNvPr id="29" name="Rounded Rectangle 28"/>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Diagnostic use: when motivation is low, test all three terms before assuming the problem is the size of the reward.</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Two behaviours that quietly destroy your schedule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Parkinson's Law</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Work expands to fill the time allotted to it</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five-day task given ten days will take ten days</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Generous estimates get consumed, never returned as savings</a:t>
            </a:r>
          </a:p>
        </p:txBody>
      </p:sp>
      <p:sp>
        <p:nvSpPr>
          <p:cNvPr id="13" name="Oval 12"/>
          <p:cNvSpPr/>
          <p:nvPr/>
        </p:nvSpPr>
        <p:spPr>
          <a:xfrm>
            <a:off x="786384"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Counter with short timeboxes and fixed iteration lengths</a:t>
            </a:r>
          </a:p>
        </p:txBody>
      </p:sp>
      <p:sp>
        <p:nvSpPr>
          <p:cNvPr id="15" name="Oval 14"/>
          <p:cNvSpPr/>
          <p:nvPr/>
        </p:nvSpPr>
        <p:spPr>
          <a:xfrm>
            <a:off x="786384"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Counter by making remaining work visible on a burndown</a:t>
            </a:r>
          </a:p>
        </p:txBody>
      </p:sp>
      <p:sp>
        <p:nvSpPr>
          <p:cNvPr id="17" name="Oval 16"/>
          <p:cNvSpPr/>
          <p:nvPr/>
        </p:nvSpPr>
        <p:spPr>
          <a:xfrm>
            <a:off x="786384"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Explains why padding every estimate does not create real buffer</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Student syndrome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People start only at the last possible moment</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Safety in the estimate is spent at the end, not at the start</a:t>
            </a:r>
          </a:p>
        </p:txBody>
      </p:sp>
      <p:sp>
        <p:nvSpPr>
          <p:cNvPr id="25" name="Oval 24"/>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Any early problem then hits the deadline with no buffer left</a:t>
            </a:r>
          </a:p>
        </p:txBody>
      </p:sp>
      <p:sp>
        <p:nvSpPr>
          <p:cNvPr id="27" name="Oval 26"/>
          <p:cNvSpPr/>
          <p:nvPr/>
        </p:nvSpPr>
        <p:spPr>
          <a:xfrm>
            <a:off x="6451092"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Counter with early checkpoints and definition-of-done gates</a:t>
            </a:r>
          </a:p>
        </p:txBody>
      </p:sp>
      <p:sp>
        <p:nvSpPr>
          <p:cNvPr id="29" name="Oval 28"/>
          <p:cNvSpPr/>
          <p:nvPr/>
        </p:nvSpPr>
        <p:spPr>
          <a:xfrm>
            <a:off x="6451092"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Counter by decomposing into small items that finish continuously</a:t>
            </a:r>
          </a:p>
        </p:txBody>
      </p:sp>
      <p:sp>
        <p:nvSpPr>
          <p:cNvPr id="31" name="Oval 30"/>
          <p:cNvSpPr/>
          <p:nvPr/>
        </p:nvSpPr>
        <p:spPr>
          <a:xfrm>
            <a:off x="6451092" y="391957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81899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Together with Parkinson's Law, the core argument for timeboxing</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Critical chain scheduling responds to both by stripping individual task padding and pooling it into a shared project buffer the PM controls.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351</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Servant leadership behaviours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Listening</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the problem as the team experiences it before offering your own solution or judgement.</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Helping people grow</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capability building as a deliverable; grow the team's role capability, not just this project's output.</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Safe to fail</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Make it safe to make mistakes and raise concerns early, when they are still cheap to fix.</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Coaching, not controlling</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Ask questions that let the team find the answer instead of issuing the answer yourself.</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Remove impediments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Your primary daily job: clear the blockers the team cannot clear from inside the team.</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Pave the way for others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Promote the energy and intelligence of others; take the credit last and the blame first.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352</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Leadership styles you must recognise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803904"/>
        </p:xfrm>
        <a:graphic>
          <a:graphicData uri="http://schemas.openxmlformats.org/drawingml/2006/table">
            <a:tbl>
              <a:tblPr firstRow="1" bandRow="1">
                <a:tableStyleId>{5C22544A-7EE6-4342-B048-85BDC9FD1C3A}</a:tableStyleId>
              </a:tblPr>
              <a:tblGrid>
                <a:gridCol w="2303144"/>
                <a:gridCol w="5066919"/>
                <a:gridCol w="3685031"/>
              </a:tblGrid>
              <a:tr h="475488">
                <a:tc>
                  <a:txBody>
                    <a:bodyPr wrap="square" anchor="t"/>
                    <a:lstStyle/>
                    <a:p>
                      <a:pPr algn="l">
                        <a:lnSpc>
                          <a:spcPct val="100000"/>
                        </a:lnSpc>
                        <a:spcAft>
                          <a:spcPts val="0"/>
                        </a:spcAft>
                      </a:pPr>
                      <a:r>
                        <a:rPr sz="1150" b="1" i="0">
                          <a:solidFill>
                            <a:srgbClr val="FFFFFF"/>
                          </a:solidFill>
                          <a:latin typeface="Arial"/>
                        </a:rPr>
                        <a:t>Style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Behaviour</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Best fit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Servant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Focuses on others' growth, learning, autonomy and well-being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Agile and knowledge work; PMI's default posture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Laissez-faire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Hands-off; the team makes its own decisions with little input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Highly mature, expert, self-organising teams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Transactional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Rewards for meeting goals; manages by exception when things go wrong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Routine, repeatable work with clear measurable targets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Transformational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Inspirational motivation, intellectual stimulation, individual attention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Change programmes needing energy and a compelling vision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Charismatic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 energy, self-confident, strong convictions, persuasive presence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Rallying stakeholders; risky if it substitutes for substance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Interactional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Blend of transactional, transformational and charismatic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Most real projects — deliberately mixed as the situation shifts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Directive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Tells people what to do and how; low participation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Crisis, safety incidents, and brand-new teams at forming</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353</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Situational leadership: match style to readiness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Low competence, high commitment</a:t>
            </a:r>
          </a:p>
        </p:txBody>
      </p:sp>
      <p:sp>
        <p:nvSpPr>
          <p:cNvPr id="7" name="TextBox 6"/>
          <p:cNvSpPr txBox="1"/>
          <p:nvPr/>
        </p:nvSpPr>
        <p:spPr>
          <a:xfrm>
            <a:off x="2478024" y="2572549"/>
            <a:ext cx="1700784" cy="908114"/>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DIRECT. New and enthusiastic. Give clear instruction, standards and close checkpoints.</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High competence, high commitment</a:t>
            </a:r>
          </a:p>
        </p:txBody>
      </p:sp>
      <p:sp>
        <p:nvSpPr>
          <p:cNvPr id="10" name="TextBox 9"/>
          <p:cNvSpPr txBox="1"/>
          <p:nvPr/>
        </p:nvSpPr>
        <p:spPr>
          <a:xfrm>
            <a:off x="4471416" y="2572549"/>
            <a:ext cx="1700784" cy="908114"/>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DELEGATE. Hand over the outcome and the decision rights; stay available, stay out.</a:t>
            </a:r>
          </a:p>
        </p:txBody>
      </p:sp>
      <p:sp>
        <p:nvSpPr>
          <p:cNvPr id="11" name="Rounded Rectangle 10"/>
          <p:cNvSpPr/>
          <p:nvPr/>
        </p:nvSpPr>
        <p:spPr>
          <a:xfrm>
            <a:off x="2331720" y="3590391"/>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Low competence, low commitment</a:t>
            </a:r>
          </a:p>
        </p:txBody>
      </p:sp>
      <p:sp>
        <p:nvSpPr>
          <p:cNvPr id="13" name="TextBox 12"/>
          <p:cNvSpPr txBox="1"/>
          <p:nvPr/>
        </p:nvSpPr>
        <p:spPr>
          <a:xfrm>
            <a:off x="2478024" y="4565941"/>
            <a:ext cx="1700784" cy="908114"/>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COACH. Explain the why, build skill deliberately and rebuild confidence with early wins.</a:t>
            </a:r>
          </a:p>
        </p:txBody>
      </p:sp>
      <p:sp>
        <p:nvSpPr>
          <p:cNvPr id="14" name="Rounded Rectangle 13"/>
          <p:cNvSpPr/>
          <p:nvPr/>
        </p:nvSpPr>
        <p:spPr>
          <a:xfrm>
            <a:off x="4325112"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High competence, low commitment</a:t>
            </a:r>
          </a:p>
        </p:txBody>
      </p:sp>
      <p:sp>
        <p:nvSpPr>
          <p:cNvPr id="16" name="TextBox 15"/>
          <p:cNvSpPr txBox="1"/>
          <p:nvPr/>
        </p:nvSpPr>
        <p:spPr>
          <a:xfrm>
            <a:off x="4471416" y="4565941"/>
            <a:ext cx="1700784" cy="908114"/>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SUPPORT. The skill is there; the motivation is not. Listen, remove friction, restore purpose.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Task competence of the individual →</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Commitment / confidence ↑</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There is no single correct leadership style. The ECO enabler is literally 'determine an appropriate leadership style' — appropriate to this person, this task, this moment.</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354</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Leading vs managing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Leading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Direction, alignment, commitment — about people</a:t>
            </a:r>
          </a:p>
        </p:txBody>
      </p:sp>
      <p:sp>
        <p:nvSpPr>
          <p:cNvPr id="9" name="Oval 8"/>
          <p:cNvSpPr/>
          <p:nvPr/>
        </p:nvSpPr>
        <p:spPr>
          <a:xfrm>
            <a:off x="786384"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Sets and communicates the vision and the why</a:t>
            </a:r>
          </a:p>
        </p:txBody>
      </p:sp>
      <p:sp>
        <p:nvSpPr>
          <p:cNvPr id="11" name="Oval 10"/>
          <p:cNvSpPr/>
          <p:nvPr/>
        </p:nvSpPr>
        <p:spPr>
          <a:xfrm>
            <a:off x="786384" y="278571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Aligns people around a shared goal</a:t>
            </a:r>
          </a:p>
        </p:txBody>
      </p:sp>
      <p:sp>
        <p:nvSpPr>
          <p:cNvPr id="13" name="Oval 12"/>
          <p:cNvSpPr/>
          <p:nvPr/>
        </p:nvSpPr>
        <p:spPr>
          <a:xfrm>
            <a:off x="786384" y="310575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Inspires, motivates and builds commitment</a:t>
            </a:r>
          </a:p>
        </p:txBody>
      </p:sp>
      <p:sp>
        <p:nvSpPr>
          <p:cNvPr id="15" name="Oval 14"/>
          <p:cNvSpPr/>
          <p:nvPr/>
        </p:nvSpPr>
        <p:spPr>
          <a:xfrm>
            <a:off x="786384" y="342579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Develops capability and challenges the status quo</a:t>
            </a:r>
          </a:p>
        </p:txBody>
      </p:sp>
      <p:sp>
        <p:nvSpPr>
          <p:cNvPr id="17" name="Oval 16"/>
          <p:cNvSpPr/>
          <p:nvPr/>
        </p:nvSpPr>
        <p:spPr>
          <a:xfrm>
            <a:off x="786384" y="374583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Asks: are we doing the right thing?</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Managing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Planning, organising, controlling — about work</a:t>
            </a:r>
          </a:p>
        </p:txBody>
      </p:sp>
      <p:sp>
        <p:nvSpPr>
          <p:cNvPr id="23" name="Oval 22"/>
          <p:cNvSpPr/>
          <p:nvPr/>
        </p:nvSpPr>
        <p:spPr>
          <a:xfrm>
            <a:off x="6451092"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Plans, budgets and schedules the work</a:t>
            </a:r>
          </a:p>
        </p:txBody>
      </p:sp>
      <p:sp>
        <p:nvSpPr>
          <p:cNvPr id="25" name="Oval 24"/>
          <p:cNvSpPr/>
          <p:nvPr/>
        </p:nvSpPr>
        <p:spPr>
          <a:xfrm>
            <a:off x="6451092" y="278571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Organises structure, roles and staffing</a:t>
            </a:r>
          </a:p>
        </p:txBody>
      </p:sp>
      <p:sp>
        <p:nvSpPr>
          <p:cNvPr id="27" name="Oval 26"/>
          <p:cNvSpPr/>
          <p:nvPr/>
        </p:nvSpPr>
        <p:spPr>
          <a:xfrm>
            <a:off x="6451092" y="310575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Monitors variance and applies corrective action</a:t>
            </a:r>
          </a:p>
        </p:txBody>
      </p:sp>
      <p:sp>
        <p:nvSpPr>
          <p:cNvPr id="29" name="Oval 28"/>
          <p:cNvSpPr/>
          <p:nvPr/>
        </p:nvSpPr>
        <p:spPr>
          <a:xfrm>
            <a:off x="6451092" y="342579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Maintains stability, predictability and control</a:t>
            </a:r>
          </a:p>
        </p:txBody>
      </p:sp>
      <p:sp>
        <p:nvSpPr>
          <p:cNvPr id="31" name="Oval 30"/>
          <p:cNvSpPr/>
          <p:nvPr/>
        </p:nvSpPr>
        <p:spPr>
          <a:xfrm>
            <a:off x="6451092" y="374583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Asks: are we doing the thing right?</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A project manager does both every day. The exam usually wants leading behaviour in People-domain scenarios and managing behaviour in Process-domain scenarios.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355</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Emotional intelligence — the four domains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Self-awareness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Recognising your own emotions in the moment and understanding how your actions land on other people.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Self-management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Thinking before you act; regulating your response so pressure does not leak into the team as anxiety.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Social awareness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Reading the emotional state of the room; empathy for what others are experiencing but not saying.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Social skill</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Establishing rapport, managing your own attitude and steering relationships toward a productive outcome.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it matters here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EI is the mechanism behind conflict resolution, influencing, negotiation and stakeholder trust.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It is trainable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Unlike personality, EI is a learnable practice — pause, name the emotion, choose the response.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356</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play: practising emotional intelligence under pressure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CE8EC"/>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trios, run a coaching conversation about a stressful workplace moment. Rotate roles: team leader, team member, observer. The full script and prompts are in the Learner Guide.</a:t>
            </a:r>
          </a:p>
        </p:txBody>
      </p:sp>
      <p:sp>
        <p:nvSpPr>
          <p:cNvPr id="8" name="Rounded Rectangle 7"/>
          <p:cNvSpPr/>
          <p:nvPr/>
        </p:nvSpPr>
        <p:spPr>
          <a:xfrm>
            <a:off x="9692640" y="1560423"/>
            <a:ext cx="1828800" cy="457200"/>
          </a:xfrm>
          <a:prstGeom prst="roundRect">
            <a:avLst>
              <a:gd name="adj" fmla="val 1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Team member recalls a recent moment when they reacted emotionally at work and describes it factually.</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coaches self-awareness: 'what were you feeling, and what did you notice in yourself first?'</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models self-management by describing a pause-and-clarify response instead of an immediate reaction.</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Member re-runs the scenario applying the pause, then asks a clarifying question rather than defending.</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coaches empathy: what might the other person have been experiencing that you did not see?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Observer records which of the four EI domains appeared and where the conversation slipped into advice-giving.</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One observation sheet per trio mapping the conversation to the four EI domains, plus one improvement each person will apply this week.</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357</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Interpersonal and team skills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Active listening</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Listen for content, tone and what is being avoided; confirm understanding before responding.</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Communication styles assessment</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Identify preferred styles so you can tailor how information is delivered per stakeholder.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Influencing</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Persuade without authority using evidence, relationships and alignment to the other party's interests.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Motivation</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Apply the right theory to the right person to sustain discretionary effort over a long project.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Nominal group technique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Silent idea generation then structured ranking, so loud voices do not dominate the outcome.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Political awareness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where real power and informal influence sit, and work with the organisation as it actually is.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358</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Rewards vs recognition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Rewards</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Tangible, consumable, tied to an outcome</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bonus, a voucher, a gift, a paid course</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Given for a specific achievement or measurable outcome</a:t>
            </a:r>
          </a:p>
        </p:txBody>
      </p:sp>
      <p:sp>
        <p:nvSpPr>
          <p:cNvPr id="13" name="Oval 12"/>
          <p:cNvSpPr/>
          <p:nvPr/>
        </p:nvSpPr>
        <p:spPr>
          <a:xfrm>
            <a:off x="786384" y="310575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Used to motivate toward a defined result</a:t>
            </a:r>
          </a:p>
        </p:txBody>
      </p:sp>
      <p:sp>
        <p:nvSpPr>
          <p:cNvPr id="15" name="Oval 14"/>
          <p:cNvSpPr/>
          <p:nvPr/>
        </p:nvSpPr>
        <p:spPr>
          <a:xfrm>
            <a:off x="786384" y="342579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Must be attainable, visible and fairly applied</a:t>
            </a:r>
          </a:p>
        </p:txBody>
      </p:sp>
      <p:sp>
        <p:nvSpPr>
          <p:cNvPr id="17" name="Oval 16"/>
          <p:cNvSpPr/>
          <p:nvPr/>
        </p:nvSpPr>
        <p:spPr>
          <a:xfrm>
            <a:off x="786384" y="374583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Never give a reward without recognition attached to it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Recognition</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Intangible, experiential, tied to behaviour</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Public thanks, a note to a manager, visible credit</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Acknowledges the person's behaviour, not just the outcome</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Increases the recipient's sense of being valued</a:t>
            </a:r>
          </a:p>
        </p:txBody>
      </p:sp>
      <p:sp>
        <p:nvSpPr>
          <p:cNvPr id="29" name="Oval 28"/>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Costs nothing and can be given continuously</a:t>
            </a:r>
          </a:p>
        </p:txBody>
      </p:sp>
      <p:sp>
        <p:nvSpPr>
          <p:cNvPr id="31" name="Oval 30"/>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Can absolutely be given on its own without any reward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Cultural caution: public individual recognition motivates in some cultures and embarrasses in others. Ask before you design the ritual.</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359</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Adopt a growth mindset as a leader</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Experience guides, not dictates</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Let past processes inform your action without locking you into last project's answer.</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Commit to improving</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your own leadership practice as something to iterate on, with feedback and deliberate change.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Discover through discussion</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Find the best approach through debate and introspection rather than asserting it up front.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Avoid complacency</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Blind acceptance of 'how we do things' is how an organisation stops learning.</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Model fallibility</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leader who says 'I got that wrong' licenses the whole team to surface their own errors early.</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Inclusive competence</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Lead with empathy, assume motivations vary, and deliberately include external and part-time resources.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Plan training, coaching and mentoring</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Gap analysis</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Compare required knowledge, skills and attributes against what the team actually holds today.</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Design the mix</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Choose the blend of soft-skill and technical development, formal and informal, per person.</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Schedule it close to use</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Deliver training near the point of application so the skill is used before it decays.</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Deliver and practise</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Pair training with coaching so learning converts into active, on-the-job use.</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Assess the outcome</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Measure improvement, not attendance, and feed the result back into the next gap analysis.</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Training is a cost that belongs in the project budget when the gap is project-specific; organisational capability gaps usually belong to the functional manager.</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361</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Elements of training and delivery models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Instructor-led classroom</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Highest interaction and fastest clarification; highest cost in time and travel.</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Virtual classroom</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Live but distributed; needs deliberate facilitation to keep participation genuine rather than passive.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Self-paced e-learning</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Cheap and scalable for explicit knowledge; weak for tacit knowledge and judgement.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 reviews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Structured reading with a comprehension checkpoint; good for standards, policies and compliance content.</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Interactive simulation</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Safe rehearsal of a high-stakes task; the only realistic option for rare, dangerous or costly scenarios.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On-the-job training</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Real work with a safety net; highest transfer rate but consumes the time of an experienced person.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362</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Training vs coaching vs mentoring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328416"/>
        </p:xfrm>
        <a:graphic>
          <a:graphicData uri="http://schemas.openxmlformats.org/drawingml/2006/table">
            <a:tbl>
              <a:tblPr firstRow="1" bandRow="1">
                <a:tableStyleId>{5C22544A-7EE6-4342-B048-85BDC9FD1C3A}</a:tableStyleId>
              </a:tblPr>
              <a:tblGrid>
                <a:gridCol w="2010017"/>
                <a:gridCol w="2814024"/>
                <a:gridCol w="3015026"/>
                <a:gridCol w="3216027"/>
              </a:tblGrid>
              <a:tr h="475488">
                <a:tc>
                  <a:txBody>
                    <a:bodyPr wrap="square" anchor="t"/>
                    <a:lstStyle/>
                    <a:p>
                      <a:pPr algn="l">
                        <a:lnSpc>
                          <a:spcPct val="100000"/>
                        </a:lnSpc>
                        <a:spcAft>
                          <a:spcPts val="0"/>
                        </a:spcAft>
                      </a:pPr>
                      <a:r>
                        <a:rPr sz="1150" b="1" i="0">
                          <a:solidFill>
                            <a:srgbClr val="FFFFFF"/>
                          </a:solidFill>
                          <a:latin typeface="Arial"/>
                        </a:rPr>
                        <a:t>Dimension</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Training</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Coaching</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Mentoring</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Purpose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Acquire a skill for use now</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Apply or improve an existing skill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Long-term personal and professional growth</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Horizon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Short — a session or a course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Medium — weeks around a performance goal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Long — months or years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Relationship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Trainer to learners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Coach to individual or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Experienced person to a less experienced person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Content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trainer sets the curriculum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coachee sets the goal; coach asks the questions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mentee sets the direction; mentor shares experience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Also called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Upskilling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Performance coaching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Sponsorship, job shadowing, professional guidance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Typical output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Certification, badge, new capability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Changed behaviour on a specific task</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Career progression, transferred tacit knowledge</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363</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Steps to coach performance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082373"/>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Agree the goal</a:t>
            </a:r>
          </a:p>
        </p:txBody>
      </p:sp>
      <p:sp>
        <p:nvSpPr>
          <p:cNvPr id="8" name="TextBox 7"/>
          <p:cNvSpPr txBox="1"/>
          <p:nvPr/>
        </p:nvSpPr>
        <p:spPr>
          <a:xfrm>
            <a:off x="694944"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Establish what good looks like and confirm the coachee actually owns and wants that goal.</a:t>
            </a:r>
          </a:p>
        </p:txBody>
      </p:sp>
      <p:sp>
        <p:nvSpPr>
          <p:cNvPr id="9" name="Pentagon 8"/>
          <p:cNvSpPr/>
          <p:nvPr/>
        </p:nvSpPr>
        <p:spPr>
          <a:xfrm>
            <a:off x="2801721" y="1816455"/>
            <a:ext cx="2115921" cy="2082373"/>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Explore reality</a:t>
            </a:r>
          </a:p>
        </p:txBody>
      </p:sp>
      <p:sp>
        <p:nvSpPr>
          <p:cNvPr id="12" name="TextBox 11"/>
          <p:cNvSpPr txBox="1"/>
          <p:nvPr/>
        </p:nvSpPr>
        <p:spPr>
          <a:xfrm>
            <a:off x="2929737"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Ask questions to surface what is happening now, with evidence, not opinion or hearsay.</a:t>
            </a:r>
          </a:p>
        </p:txBody>
      </p:sp>
      <p:sp>
        <p:nvSpPr>
          <p:cNvPr id="13" name="Pentagon 12"/>
          <p:cNvSpPr/>
          <p:nvPr/>
        </p:nvSpPr>
        <p:spPr>
          <a:xfrm>
            <a:off x="5036515" y="1816455"/>
            <a:ext cx="2115921" cy="2082373"/>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Give specific feedback</a:t>
            </a:r>
          </a:p>
        </p:txBody>
      </p:sp>
      <p:sp>
        <p:nvSpPr>
          <p:cNvPr id="16" name="TextBox 15"/>
          <p:cNvSpPr txBox="1"/>
          <p:nvPr/>
        </p:nvSpPr>
        <p:spPr>
          <a:xfrm>
            <a:off x="5164531"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Describe observed behaviour and its impact — never label the person's character.</a:t>
            </a:r>
          </a:p>
        </p:txBody>
      </p:sp>
      <p:sp>
        <p:nvSpPr>
          <p:cNvPr id="17" name="Pentagon 16"/>
          <p:cNvSpPr/>
          <p:nvPr/>
        </p:nvSpPr>
        <p:spPr>
          <a:xfrm>
            <a:off x="7271308" y="1816455"/>
            <a:ext cx="2115921" cy="2082373"/>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Demonstrate and practise</a:t>
            </a:r>
          </a:p>
        </p:txBody>
      </p:sp>
      <p:sp>
        <p:nvSpPr>
          <p:cNvPr id="20" name="TextBox 19"/>
          <p:cNvSpPr txBox="1"/>
          <p:nvPr/>
        </p:nvSpPr>
        <p:spPr>
          <a:xfrm>
            <a:off x="7399324"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Model the desired behaviour, then let them rehearse it while you observe.</a:t>
            </a:r>
          </a:p>
        </p:txBody>
      </p:sp>
      <p:sp>
        <p:nvSpPr>
          <p:cNvPr id="21" name="Rounded Rectangle 20"/>
          <p:cNvSpPr/>
          <p:nvPr/>
        </p:nvSpPr>
        <p:spPr>
          <a:xfrm>
            <a:off x="9506102" y="1816455"/>
            <a:ext cx="2115921" cy="2082373"/>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Agree actions and follow up</a:t>
            </a:r>
          </a:p>
        </p:txBody>
      </p:sp>
      <p:sp>
        <p:nvSpPr>
          <p:cNvPr id="24" name="TextBox 23"/>
          <p:cNvSpPr txBox="1"/>
          <p:nvPr/>
        </p:nvSpPr>
        <p:spPr>
          <a:xfrm>
            <a:off x="9634118" y="2842411"/>
            <a:ext cx="1349197" cy="983265"/>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Commit to a small, dated action and schedule the check-in that makes it real.</a:t>
            </a:r>
          </a:p>
        </p:txBody>
      </p:sp>
      <p:sp>
        <p:nvSpPr>
          <p:cNvPr id="25" name="Rounded Rectangle 24"/>
          <p:cNvSpPr/>
          <p:nvPr/>
        </p:nvSpPr>
        <p:spPr>
          <a:xfrm>
            <a:off x="566928" y="4118284"/>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118284"/>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209724"/>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Coaching is asking, not telling. If you find yourself giving the answer in the first two minutes, you have switched from coaching to instructing.</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364</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SBI — a technique for giving feedback</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Situation</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Anchor the feedback in a specific time and place: 'in yesterday's design review…' — never 'you always…'.</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Behaviour</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Describe only what was observable — the words said, the action taken — with no interpretation of motive.</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Impact</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State the effect on you, the team or the work: '…the tester left without the information she needed.'</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Pause and listen</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Stop talking. Let the other person respond; you may be missing context that changes the picture.</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Agree forward action</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Convert the conversation into one specific behaviour to repeat or change next time.</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SBI works for positive feedback too — and positive SBI is the single cheapest way to make corrective feedback land later.</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365</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Coach teams and individuals in project management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Delegate then observe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Hand over a real task, watch how it is done and feed back — the most common informal coaching opportunity.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Encourage others to lead</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Let a team member run the stand-up, the demo or the risk review while you sit in the room.</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Collaborate on a PM task</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the schedule or the risk register together so the reasoning is transferred, not just the artifact.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Facilitate sessions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Formalise it: teach facilitation by co-facilitating, then handing the session over.</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Pair individuals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Deliberately pair a strong and a developing member on the same work item to transfer tacit knowledge.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Model behaviours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team copies what you do under pressure, not what you wrote in the team charter.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366</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play: coaching a struggling team member</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pairs, run a one-to-one coaching conversation about a performance gap (e.g. low customer satisfaction scores). Swap roles after the first round. Full script in the Learner Guide.</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opens with a genuine strength observed before naming the gap.</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uses SBI to describe one specific, observed behaviour and its impact — no character judgements.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asks open questions to let the coachee diagnose the cause themselves rather than supplying it.</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Leader demonstrates the desired behaviour once, briefly, then hands the conversation back.</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Coachee rehearses the behaviour; leader gives one reinforcing and one adjusting piece of feedback.</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Both agree one dated action and the date of the follow-up check-in.</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A completed coaching note per pair: the observed behaviour, the impact, the agreed action and the follow-up date.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367</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Measure training and coaching outcomes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Post-training assessment</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Test whether the skill can be performed, not merely whether the session was enjoyed.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Observation on the job</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real proof: does the behaviour appear in actual work two weeks after the course?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Certification evidence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Badges or a letter from the awarding body give externally verifiable proof of a capability.</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Retrospective discussion</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Share what was learned in a team retrospective so one person's training benefits everyone.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Augment with coaching</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Training alone decays fast; coaching after training converts knowledge into active use.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Knowledge-sharing pairs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Pair the trained person with a peer so they must explain it — teaching consolidates learning.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368</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Maintain mentorships and job shadowing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Longer-term partnerships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Mentoring is a relationship, not an event; value accrues over months of repeated contact.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Job shadowing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Observing an expert at work transfers both explicit procedure and the tacit judgement behind it.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Tailor to the context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Some organisations run formal mentoring with reporting; others keep it deliberately informal.</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during transitions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Shadowing at handover moves skills from the project team into the receiving operations team.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Recruit stakeholders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Valued stakeholders make excellent mentors and their involvement deepens their engagement.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Mentor project managers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Many organisations grow PMs specifically through mentorship rather than formal training.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369</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Assess team member performance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Formal and informal methods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Combine structured assessments with continuous observation; neither alone gives a fair picture.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Baseline on joining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 when a member joins so you can measure development rather than guess at it later.</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Monitor progress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Repeat the assessment so the conversation is about trajectory, not a single snapshot.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Self-regulating teams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Psychologically safe agile teams assess and correct their own performance in retrospectives.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Focus on the team</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 performance assessments target the team's capability; individual appraisal usually sits with line management.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Feed Develop Team</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Assessment results identify the training, coaching and team-building the team actually needs next.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Self-organising teams collaborate and learn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Encourage initiative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Expect team members to pick up work and raise problems without waiting for an assignment.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Cross-role coaching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Coach people on how to contribute to other project roles so the team is resilient to absence.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Surface tacit knowledge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Coach the individual who holds undocumented know-how into explaining and demonstrating it.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servant leadership</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Support and enable rather than assign and check; self-organisation dies under close supervision.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Shadow during transitions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shadowing, coaching and mentoring to move skills from the project team to the organisation.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Ground rules still apply</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Self-organising is not unbounded — the team charter defines the boundary they organise within.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371</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Team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Track team performance, provide feedback, resolve issues and manage team changes to optimise project performance.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 project team assignments, team charter</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Team performance assessments</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conflict management, decision making, emotional intelligence, influencing, leadership</a:t>
            </a:r>
          </a:p>
        </p:txBody>
      </p:sp>
      <p:sp>
        <p:nvSpPr>
          <p:cNvPr id="27" name="Oval 26"/>
          <p:cNvSpPr/>
          <p:nvPr/>
        </p:nvSpPr>
        <p:spPr>
          <a:xfrm>
            <a:off x="4593336" y="391408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82264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a:t>
            </a:r>
          </a:p>
        </p:txBody>
      </p:sp>
      <p:sp>
        <p:nvSpPr>
          <p:cNvPr id="29" name="Chevron 2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3" name="Oval 3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35" name="Oval 34"/>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resource management plan, schedule baseline, cost baseline</a:t>
            </a:r>
          </a:p>
        </p:txBody>
      </p:sp>
      <p:sp>
        <p:nvSpPr>
          <p:cNvPr id="37" name="Oval 36"/>
          <p:cNvSpPr/>
          <p:nvPr/>
        </p:nvSpPr>
        <p:spPr>
          <a:xfrm>
            <a:off x="8436864" y="4032960"/>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941520"/>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project team assignments</a:t>
            </a:r>
          </a:p>
        </p:txBody>
      </p:sp>
      <p:sp>
        <p:nvSpPr>
          <p:cNvPr id="39" name="Oval 38"/>
          <p:cNvSpPr/>
          <p:nvPr/>
        </p:nvSpPr>
        <p:spPr>
          <a:xfrm>
            <a:off x="8436864" y="47855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46940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updates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372</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ECO PEOPLE T2 · MANAGE CONFLICTS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Who owns conflict on a project</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Everyone owns it. You influence how it is handled.</a:t>
            </a:r>
          </a:p>
        </p:txBody>
      </p:sp>
      <p:sp>
        <p:nvSpPr>
          <p:cNvPr id="6" name="Rectangle 5"/>
          <p:cNvSpPr/>
          <p:nvPr/>
        </p:nvSpPr>
        <p:spPr>
          <a:xfrm>
            <a:off x="566928" y="3502152"/>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Shared responsibility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All team members and stakeholders are responsible for managing conflict, not just the PM.</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PM influences direction</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shape the handling through interpersonal skills and servant leadership, not authority.</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Team resolves it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team is empowered to resolve its own conflicts; the leader facilitates when they cannot.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373</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Sources of conflict on projects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Competition for resources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Scarce people, budget and equipment force zero-sum choices between work streams.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Differing objectives and values</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Goals that conflict at the organisational level surface as friction at the team level.</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Role and responsibility disputes</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Ambiguity about who decides and who delivers is the most common and most fixable source.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Differing work approaches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Two competent people with different methods each believe the other is doing it wrong.</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Communication breakdown</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Missing, late or ambiguous information gets filled in with assumption, then with blame.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Novelty of the project</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Projects are unique and members often have not worked together before — no established norms exist yet.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374</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Effective vs ineffective conflict management</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Ineffective conflict management</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Conflict suppressed, avoided or escalated badly</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Destructive behaviour and personal attacks</a:t>
            </a:r>
          </a:p>
        </p:txBody>
      </p:sp>
      <p:sp>
        <p:nvSpPr>
          <p:cNvPr id="11" name="Oval 10"/>
          <p:cNvSpPr/>
          <p:nvPr/>
        </p:nvSpPr>
        <p:spPr>
          <a:xfrm>
            <a:off x="786384"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Animosity that outlasts the disagreement itself</a:t>
            </a:r>
          </a:p>
        </p:txBody>
      </p:sp>
      <p:sp>
        <p:nvSpPr>
          <p:cNvPr id="13" name="Oval 12"/>
          <p:cNvSpPr/>
          <p:nvPr/>
        </p:nvSpPr>
        <p:spPr>
          <a:xfrm>
            <a:off x="786384"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Poor performance as energy diverts from the work</a:t>
            </a:r>
          </a:p>
        </p:txBody>
      </p:sp>
      <p:sp>
        <p:nvSpPr>
          <p:cNvPr id="15" name="Oval 14"/>
          <p:cNvSpPr/>
          <p:nvPr/>
        </p:nvSpPr>
        <p:spPr>
          <a:xfrm>
            <a:off x="786384"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Reduced productivity and lost calendar time</a:t>
            </a:r>
          </a:p>
        </p:txBody>
      </p:sp>
      <p:sp>
        <p:nvSpPr>
          <p:cNvPr id="17" name="Oval 16"/>
          <p:cNvSpPr/>
          <p:nvPr/>
        </p:nvSpPr>
        <p:spPr>
          <a:xfrm>
            <a:off x="786384" y="374583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Attrition — good people leave dysfunctional teams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Effective conflict management</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Conflict surfaced early and worked through openly</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Improved understanding of the other position</a:t>
            </a:r>
          </a:p>
        </p:txBody>
      </p:sp>
      <p:sp>
        <p:nvSpPr>
          <p:cNvPr id="25" name="Oval 24"/>
          <p:cNvSpPr/>
          <p:nvPr/>
        </p:nvSpPr>
        <p:spPr>
          <a:xfrm>
            <a:off x="6451092"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Better decisions because assumptions were challenged</a:t>
            </a:r>
          </a:p>
        </p:txBody>
      </p:sp>
      <p:sp>
        <p:nvSpPr>
          <p:cNvPr id="27" name="Oval 26"/>
          <p:cNvSpPr/>
          <p:nvPr/>
        </p:nvSpPr>
        <p:spPr>
          <a:xfrm>
            <a:off x="6451092"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Higher performance from genuine, not artificial, agreement</a:t>
            </a:r>
          </a:p>
        </p:txBody>
      </p:sp>
      <p:sp>
        <p:nvSpPr>
          <p:cNvPr id="29" name="Oval 28"/>
          <p:cNvSpPr/>
          <p:nvPr/>
        </p:nvSpPr>
        <p:spPr>
          <a:xfrm>
            <a:off x="6451092"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Higher productivity as issues stop recurring</a:t>
            </a:r>
          </a:p>
        </p:txBody>
      </p:sp>
      <p:sp>
        <p:nvSpPr>
          <p:cNvPr id="31" name="Oval 30"/>
          <p:cNvSpPr/>
          <p:nvPr/>
        </p:nvSpPr>
        <p:spPr>
          <a:xfrm>
            <a:off x="6451092"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Stronger relationships that survive the next disagreement</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Zero conflict is not the target. Zero conflict usually means people have stopped saying what they think.</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375</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Conflict as part of a psychologically safe culture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Disruption and innovation connect</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friction that produces new ideas is the same friction that feels uncomfortable.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Encourage disagreement</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Actively invite dissent so risks are named while there is still time to act on them.</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Separate people from positions</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Attack the problem, not the person holding the opposing view.</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Prevent escalation</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Address friction at the level of a differing opinion, before it hardens into a personal contest.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Ground rules make it safe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Agreed norms tell people what disagreement is allowed to look like on this team.</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Leader goes first</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Safety is created when the leader publicly accepts challenge without punishing the challenger.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376</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Leas' five levels of conflict — escalation</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E11D48"/>
                </a:solidFill>
                <a:latin typeface="Arial"/>
              </a:rPr>
              <a:t>WHAT IT TELLS YOU</a:t>
            </a:r>
          </a:p>
        </p:txBody>
      </p:sp>
      <p:sp>
        <p:nvSpPr>
          <p:cNvPr id="9" name="Oval 8"/>
          <p:cNvSpPr/>
          <p:nvPr/>
        </p:nvSpPr>
        <p:spPr>
          <a:xfrm>
            <a:off x="8403336" y="2127351"/>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L1: information sharing and collaboration still work; the parties want a solution.</a:t>
            </a:r>
          </a:p>
        </p:txBody>
      </p:sp>
      <p:sp>
        <p:nvSpPr>
          <p:cNvPr id="11" name="Oval 10"/>
          <p:cNvSpPr/>
          <p:nvPr/>
        </p:nvSpPr>
        <p:spPr>
          <a:xfrm>
            <a:off x="8403336" y="2830798"/>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39358"/>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L2: self-protection begins — language becomes guarded and positions get defended.</a:t>
            </a:r>
          </a:p>
        </p:txBody>
      </p:sp>
      <p:sp>
        <p:nvSpPr>
          <p:cNvPr id="13" name="Oval 12"/>
          <p:cNvSpPr/>
          <p:nvPr/>
        </p:nvSpPr>
        <p:spPr>
          <a:xfrm>
            <a:off x="8403336" y="3534245"/>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442805"/>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L3: the goal shifts from solving the problem to winning against the other party.</a:t>
            </a:r>
          </a:p>
        </p:txBody>
      </p:sp>
      <p:sp>
        <p:nvSpPr>
          <p:cNvPr id="15" name="Oval 14"/>
          <p:cNvSpPr/>
          <p:nvPr/>
        </p:nvSpPr>
        <p:spPr>
          <a:xfrm>
            <a:off x="8403336" y="4237692"/>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146252"/>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L4: protecting one's own group becomes the point; the original issue is almost irrelevant.</a:t>
            </a:r>
          </a:p>
        </p:txBody>
      </p:sp>
      <p:sp>
        <p:nvSpPr>
          <p:cNvPr id="17" name="Oval 16"/>
          <p:cNvSpPr/>
          <p:nvPr/>
        </p:nvSpPr>
        <p:spPr>
          <a:xfrm>
            <a:off x="8403336" y="4941139"/>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849699"/>
            <a:ext cx="2761488" cy="83577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L5: destroying the other party is the objective — separate the parties, escalate, do not mediate.</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377</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Leas' levels of conflict and your intervention</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852928"/>
        </p:xfrm>
        <a:graphic>
          <a:graphicData uri="http://schemas.openxmlformats.org/drawingml/2006/table">
            <a:tbl>
              <a:tblPr firstRow="1" bandRow="1">
                <a:tableStyleId>{5C22544A-7EE6-4342-B048-85BDC9FD1C3A}</a:tableStyleId>
              </a:tblPr>
              <a:tblGrid>
                <a:gridCol w="2432121"/>
                <a:gridCol w="4422038"/>
                <a:gridCol w="4200936"/>
              </a:tblGrid>
              <a:tr h="475488">
                <a:tc>
                  <a:txBody>
                    <a:bodyPr wrap="square" anchor="t"/>
                    <a:lstStyle/>
                    <a:p>
                      <a:pPr algn="l">
                        <a:lnSpc>
                          <a:spcPct val="100000"/>
                        </a:lnSpc>
                        <a:spcAft>
                          <a:spcPts val="0"/>
                        </a:spcAft>
                      </a:pPr>
                      <a:r>
                        <a:rPr sz="1150" b="1" i="0">
                          <a:solidFill>
                            <a:srgbClr val="FFFFFF"/>
                          </a:solidFill>
                          <a:latin typeface="Arial"/>
                        </a:rPr>
                        <a:t>Level</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you hear</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to do</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1 · Problem to solve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'How should we handle this?' — focus on the issue, open language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Facilitate collaboratively; the team can resolve this themselves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2 · Disagreement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Guarded language, self-protection, humour used to deflect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Encourage direct dialogue; make it safe to state the real position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3 · Contest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 vs 'you', winning matters, positions distorted to score points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Structure the conversation; refocus on shared objectives and data</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4 · Crusade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'Us' vs 'them', factions form, the issue becomes ideological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Bring in a neutral facilitator; the PM is likely seen as partisan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5 · World war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Destroying the other party is the goal; no resolution is acceptable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Separate the parties, escalate to sponsor/HR — mediation will fail</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Intervention must match the level. Collaboration attempted at level 4 or 5 does not just fail — it burns your credibility as a neutral party.</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378</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five conflict-resolution modes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Force / Direct (win-lose)</a:t>
            </a:r>
          </a:p>
        </p:txBody>
      </p:sp>
      <p:sp>
        <p:nvSpPr>
          <p:cNvPr id="7" name="TextBox 6"/>
          <p:cNvSpPr txBox="1"/>
          <p:nvPr/>
        </p:nvSpPr>
        <p:spPr>
          <a:xfrm>
            <a:off x="2478024" y="2572549"/>
            <a:ext cx="1700784" cy="908114"/>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High assertiveness, low cooperation. Push your position through, usually with power.</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756094"/>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Collaborate / Problem solve (win-win)</a:t>
            </a:r>
          </a:p>
        </p:txBody>
      </p:sp>
      <p:sp>
        <p:nvSpPr>
          <p:cNvPr id="10" name="TextBox 9"/>
          <p:cNvSpPr txBox="1"/>
          <p:nvPr/>
        </p:nvSpPr>
        <p:spPr>
          <a:xfrm>
            <a:off x="4471416" y="2572549"/>
            <a:ext cx="1700784" cy="908114"/>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High on both. Work the underlying interests until both parties genuinely gain.</a:t>
            </a:r>
          </a:p>
        </p:txBody>
      </p:sp>
      <p:sp>
        <p:nvSpPr>
          <p:cNvPr id="11" name="Rounded Rectangle 10"/>
          <p:cNvSpPr/>
          <p:nvPr/>
        </p:nvSpPr>
        <p:spPr>
          <a:xfrm>
            <a:off x="2331720"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Withdraw / Avoid (lose-lose)</a:t>
            </a:r>
          </a:p>
        </p:txBody>
      </p:sp>
      <p:sp>
        <p:nvSpPr>
          <p:cNvPr id="13" name="TextBox 12"/>
          <p:cNvSpPr txBox="1"/>
          <p:nvPr/>
        </p:nvSpPr>
        <p:spPr>
          <a:xfrm>
            <a:off x="2478024" y="4565941"/>
            <a:ext cx="1700784" cy="908114"/>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Low on both. Retreat from the situation or postpone the issue to another time.</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756094"/>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Smooth / Accommodate (lose-win)</a:t>
            </a:r>
          </a:p>
        </p:txBody>
      </p:sp>
      <p:sp>
        <p:nvSpPr>
          <p:cNvPr id="16" name="TextBox 15"/>
          <p:cNvSpPr txBox="1"/>
          <p:nvPr/>
        </p:nvSpPr>
        <p:spPr>
          <a:xfrm>
            <a:off x="4471416" y="4565941"/>
            <a:ext cx="1700784" cy="908114"/>
          </a:xfrm>
          <a:prstGeom prst="rect">
            <a:avLst/>
          </a:prstGeom>
          <a:noFill/>
        </p:spPr>
        <p:txBody>
          <a:bodyPr wrap="square" anchor="t">
            <a:spAutoFit/>
          </a:bodyPr>
          <a:lstStyle/>
          <a:p>
            <a:pPr algn="l">
              <a:lnSpc>
                <a:spcPct val="118000"/>
              </a:lnSpc>
              <a:spcAft>
                <a:spcPts val="400"/>
              </a:spcAft>
            </a:pPr>
            <a:r>
              <a:rPr sz="950" b="0" i="0">
                <a:solidFill>
                  <a:srgbClr val="161B26"/>
                </a:solidFill>
                <a:latin typeface="Arial"/>
              </a:rPr>
              <a:t>Low assertiveness, high cooperation. Concede your position to preserve the relationship.</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Cooperativeness — concern for the other party →</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Assertiveness — concern for own goal ↑</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Compromise / Reconcile sits in the middle of the grid — moderate on both axes, and classified lose-lose because both parties give something up.</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379</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five conflict approaches and when each is appropriate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95270"/>
                <a:gridCol w="1474012"/>
                <a:gridCol w="3500780"/>
                <a:gridCol w="3685032"/>
              </a:tblGrid>
              <a:tr h="475488">
                <a:tc>
                  <a:txBody>
                    <a:bodyPr wrap="square" anchor="t"/>
                    <a:lstStyle/>
                    <a:p>
                      <a:pPr algn="l">
                        <a:lnSpc>
                          <a:spcPct val="100000"/>
                        </a:lnSpc>
                        <a:spcAft>
                          <a:spcPts val="0"/>
                        </a:spcAft>
                      </a:pPr>
                      <a:r>
                        <a:rPr sz="1150" b="1" i="0">
                          <a:solidFill>
                            <a:srgbClr val="FFFFFF"/>
                          </a:solidFill>
                          <a:latin typeface="Arial"/>
                        </a:rPr>
                        <a:t>Approach</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Outcome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What it looks like</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When it is right</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Collaborate / Problem solve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Win-win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Incorporate multiple viewpoints; open dialogue to real consensus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PMI's default. Time exists, relationship matters, stakes are high</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Compromise / Reconcile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Lose-lose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Both parties give something up to reach a workable middle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Equal power, moderate stakes, a temporary fix under time pressure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Smooth / Accommodate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Lose-win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Emphasise areas of agreement; concede to keep harmony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are wrong, the issue matters far more to them, or goodwill is the real objective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Force / Direct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Win-lose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Pursue your view at the other party's expense; use position power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Safety, legal or ethical breach; genuine emergency; no time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Withdraw / Avoid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Lose-lose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Retreat from the situation or postpone the issue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Emotions too high to be productive; you need facts; the issue is trivial or will resolve itself</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 repeatable conflict-resolution sequence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527971"/>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Set the scene</a:t>
            </a:r>
          </a:p>
        </p:txBody>
      </p:sp>
      <p:sp>
        <p:nvSpPr>
          <p:cNvPr id="8" name="TextBox 7"/>
          <p:cNvSpPr txBox="1"/>
          <p:nvPr/>
        </p:nvSpPr>
        <p:spPr>
          <a:xfrm>
            <a:off x="694944"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Get the parties together with an agreed purpose; state the ground rules for the conversation.</a:t>
            </a:r>
          </a:p>
        </p:txBody>
      </p:sp>
      <p:sp>
        <p:nvSpPr>
          <p:cNvPr id="9" name="Pentagon 8"/>
          <p:cNvSpPr/>
          <p:nvPr/>
        </p:nvSpPr>
        <p:spPr>
          <a:xfrm>
            <a:off x="2429256" y="1816455"/>
            <a:ext cx="1743456" cy="2527971"/>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Identify concerns</a:t>
            </a:r>
          </a:p>
        </p:txBody>
      </p:sp>
      <p:sp>
        <p:nvSpPr>
          <p:cNvPr id="12" name="TextBox 11"/>
          <p:cNvSpPr txBox="1"/>
          <p:nvPr/>
        </p:nvSpPr>
        <p:spPr>
          <a:xfrm>
            <a:off x="2557272"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Each party states their position uninterrupted while the other listens without rebutting.</a:t>
            </a:r>
          </a:p>
        </p:txBody>
      </p:sp>
      <p:sp>
        <p:nvSpPr>
          <p:cNvPr id="13" name="Pentagon 12"/>
          <p:cNvSpPr/>
          <p:nvPr/>
        </p:nvSpPr>
        <p:spPr>
          <a:xfrm>
            <a:off x="4291584" y="1816455"/>
            <a:ext cx="1743456" cy="2527971"/>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Clarify the issues</a:t>
            </a:r>
          </a:p>
        </p:txBody>
      </p:sp>
      <p:sp>
        <p:nvSpPr>
          <p:cNvPr id="16" name="TextBox 15"/>
          <p:cNvSpPr txBox="1"/>
          <p:nvPr/>
        </p:nvSpPr>
        <p:spPr>
          <a:xfrm>
            <a:off x="4419600"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Summarise both positions back and confirm with each party that the summary is accurate.</a:t>
            </a:r>
          </a:p>
        </p:txBody>
      </p:sp>
      <p:sp>
        <p:nvSpPr>
          <p:cNvPr id="17" name="Pentagon 16"/>
          <p:cNvSpPr/>
          <p:nvPr/>
        </p:nvSpPr>
        <p:spPr>
          <a:xfrm>
            <a:off x="6153912" y="1816455"/>
            <a:ext cx="1743456" cy="2527971"/>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Problem-solve jointly</a:t>
            </a:r>
          </a:p>
        </p:txBody>
      </p:sp>
      <p:sp>
        <p:nvSpPr>
          <p:cNvPr id="20" name="TextBox 19"/>
          <p:cNvSpPr txBox="1"/>
          <p:nvPr/>
        </p:nvSpPr>
        <p:spPr>
          <a:xfrm>
            <a:off x="6281928"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Move from positions to interests and generate options that could satisfy both.</a:t>
            </a:r>
          </a:p>
        </p:txBody>
      </p:sp>
      <p:sp>
        <p:nvSpPr>
          <p:cNvPr id="21" name="Pentagon 20"/>
          <p:cNvSpPr/>
          <p:nvPr/>
        </p:nvSpPr>
        <p:spPr>
          <a:xfrm>
            <a:off x="8016240" y="1816455"/>
            <a:ext cx="1743456" cy="2527971"/>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Create an action plan</a:t>
            </a:r>
          </a:p>
        </p:txBody>
      </p:sp>
      <p:sp>
        <p:nvSpPr>
          <p:cNvPr id="24" name="TextBox 23"/>
          <p:cNvSpPr txBox="1"/>
          <p:nvPr/>
        </p:nvSpPr>
        <p:spPr>
          <a:xfrm>
            <a:off x="8144256"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Convert the agreement into specific, owned, dated actions — usually clearer roles.</a:t>
            </a:r>
          </a:p>
        </p:txBody>
      </p:sp>
      <p:sp>
        <p:nvSpPr>
          <p:cNvPr id="25" name="Rounded Rectangle 24"/>
          <p:cNvSpPr/>
          <p:nvPr/>
        </p:nvSpPr>
        <p:spPr>
          <a:xfrm>
            <a:off x="9878568" y="1816455"/>
            <a:ext cx="1743456" cy="2527971"/>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Close and follow up</a:t>
            </a:r>
          </a:p>
        </p:txBody>
      </p:sp>
      <p:sp>
        <p:nvSpPr>
          <p:cNvPr id="28" name="TextBox 27"/>
          <p:cNvSpPr txBox="1"/>
          <p:nvPr/>
        </p:nvSpPr>
        <p:spPr>
          <a:xfrm>
            <a:off x="10006584"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Confirm both parties are satisfied and schedule the check-in that verifies it held.</a:t>
            </a:r>
          </a:p>
        </p:txBody>
      </p:sp>
      <p:sp>
        <p:nvSpPr>
          <p:cNvPr id="29" name="Rounded Rectangle 28"/>
          <p:cNvSpPr/>
          <p:nvPr/>
        </p:nvSpPr>
        <p:spPr>
          <a:xfrm>
            <a:off x="566928" y="4563882"/>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563882"/>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655322"/>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four behaviours that make this work: open communication, active listening, joint problem solving, and a clear action plan that neither party can quietly ignore.</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381</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play: a conflict over project responsibilities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trios, work a real conflict: a senior member feels overloaded and over-responsible; a newer member feels distrusted and blocked from contributing. Third person facilitates. Full script in the Learner Guide.</a:t>
            </a:r>
          </a:p>
        </p:txBody>
      </p:sp>
      <p:sp>
        <p:nvSpPr>
          <p:cNvPr id="8" name="Rounded Rectangle 7"/>
          <p:cNvSpPr/>
          <p:nvPr/>
        </p:nvSpPr>
        <p:spPr>
          <a:xfrm>
            <a:off x="9692640" y="1560423"/>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Facilitator sets the scene, states the purpose and agrees ground rules for the conversation.</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Each party states their concern for two minutes, uninterrupted, using 'I feel / I observe' language.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Facilitator summarises both concerns and gets explicit agreement that the summary is accurate.</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Both parties generate options together; the facilitator captures them without evaluating.</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Agree a concrete action plan — clear task ownership and a weekly check-in — and name the owner of each item.</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Debrief: which of the five conflict modes was actually used, and which of Leas' levels did this conflict sit at?</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One completed conflict resolution record per trio: sources, level, mode used, agreed actions with owners, and the follow-up date.</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382</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Interpersonal skills that resolve conflict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Emotional intelligence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empathy to understand what is driving each party and to defuse the emotional charge first.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Influencing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Persuade parties to reconsider their tone, approach or mindset when direct authority would only harden positions.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Leadership</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Steer the exchange toward a constructive direction and hold the group to the agreed ground rules.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Decision making</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the parties genuinely deadlock, offer a decision method or a solution that moves the situation forward.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Active listening</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Listen for accusing language, caustic tone and defensive posture — these tell you the escalation level.</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Political awareness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what each party stands to lose organisationally, which is often the real driver.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383</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T2 · MANAGE CONFLICTS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Ground rules: establish, adhere, rectify</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they live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Ground rules are documented in the team charter, created by the team rather than imposed by the PM.</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they cover</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Meeting conduct, response times, decision rights, how disagreement is raised, escalation paths.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Foster adherence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Reference them regularly in real situations so they stay a live agreement rather than a forgotten document.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Detect violations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Watch for the quiet ones: interruptions, decisions made outside the agreed forum, missed commitments.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Rectify violations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Address privately and early using SBI; the whole team is watching whether the rule is real.</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Revisit and update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a rule stops fitting, the team changes it deliberately — it does not simply erode.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384</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Conflict questions — the traps PMI sets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Two team members disagree; the PM should…</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Let them resolve it first. The team is empowered; you facilitate only if they cannot reach resolution.</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'What is the BEST conflict resolution technique?'</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Collaborate / problem solve. It is the only genuine win-win and is PMI's default answer absent other constraints.</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safety or compliance breach is happening now</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Force / direct. Emergencies and ethical breaches are the legitimate case for asserting authority.</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Emotions are running too high to discuss the issue</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Withdraw / avoid temporarily — cool down, gather facts, then return and collaborate.</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385</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More conflict and team traps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Conflict recurs on the same topic every week</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Go to root cause. Recurring conflict usually signals unclear roles or an unresolved structural constraint, not personalities.</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 team member repeatedly breaks an agreed ground rule</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Address it directly and privately with the individual first, referencing the team charter the team itself created.</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sponsor asks you to overrule the team's technical decision</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Represent the voice of the team: present their reasoning and the impact, then negotiate rather than simply comply or refuse.</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Conflict is at Leas' level 5 between two departments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Separate the parties and escalate. Collaboration and mediation are not viable at that level.</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386</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project teams decide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 charter sets the rules</a:t>
            </a:r>
          </a:p>
        </p:txBody>
      </p:sp>
      <p:sp>
        <p:nvSpPr>
          <p:cNvPr id="10" name="TextBox 9"/>
          <p:cNvSpPr txBox="1"/>
          <p:nvPr/>
        </p:nvSpPr>
        <p:spPr>
          <a:xfrm>
            <a:off x="76809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charter identifies the decision-making and conflict-resolution criteria in advance.</a:t>
            </a:r>
          </a:p>
        </p:txBody>
      </p:sp>
      <p:sp>
        <p:nvSpPr>
          <p:cNvPr id="11" name="Rounded Rectangle 10"/>
          <p:cNvSpPr/>
          <p:nvPr/>
        </p:nvSpPr>
        <p:spPr>
          <a:xfrm>
            <a:off x="433120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054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1711"/>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Teams define their Way of Working</a:t>
            </a:r>
          </a:p>
        </p:txBody>
      </p:sp>
      <p:sp>
        <p:nvSpPr>
          <p:cNvPr id="16" name="TextBox 15"/>
          <p:cNvSpPr txBox="1"/>
          <p:nvPr/>
        </p:nvSpPr>
        <p:spPr>
          <a:xfrm>
            <a:off x="4532376" y="2920079"/>
            <a:ext cx="312420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Mature teams establish their own norms for which decisions need which method.</a:t>
            </a:r>
          </a:p>
        </p:txBody>
      </p:sp>
      <p:sp>
        <p:nvSpPr>
          <p:cNvPr id="17" name="Rounded Rectangle 16"/>
          <p:cNvSpPr/>
          <p:nvPr/>
        </p:nvSpPr>
        <p:spPr>
          <a:xfrm>
            <a:off x="809548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054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7999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Consensus is the aim</a:t>
            </a:r>
          </a:p>
        </p:txBody>
      </p:sp>
      <p:sp>
        <p:nvSpPr>
          <p:cNvPr id="22" name="TextBox 21"/>
          <p:cNvSpPr txBox="1"/>
          <p:nvPr/>
        </p:nvSpPr>
        <p:spPr>
          <a:xfrm>
            <a:off x="829665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Teams try for genuine agreement first; a vote is what you use when consensus is not reachable.</a:t>
            </a:r>
          </a:p>
        </p:txBody>
      </p:sp>
      <p:sp>
        <p:nvSpPr>
          <p:cNvPr id="23" name="Rounded Rectangle 22"/>
          <p:cNvSpPr/>
          <p:nvPr/>
        </p:nvSpPr>
        <p:spPr>
          <a:xfrm>
            <a:off x="56692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Decide who decides</a:t>
            </a:r>
          </a:p>
        </p:txBody>
      </p:sp>
      <p:sp>
        <p:nvSpPr>
          <p:cNvPr id="28" name="TextBox 27"/>
          <p:cNvSpPr txBox="1"/>
          <p:nvPr/>
        </p:nvSpPr>
        <p:spPr>
          <a:xfrm>
            <a:off x="76809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most common decision failure is ambiguity about whether a group is advising or deciding.</a:t>
            </a:r>
          </a:p>
        </p:txBody>
      </p:sp>
      <p:sp>
        <p:nvSpPr>
          <p:cNvPr id="29" name="Rounded Rectangle 28"/>
          <p:cNvSpPr/>
          <p:nvPr/>
        </p:nvSpPr>
        <p:spPr>
          <a:xfrm>
            <a:off x="433120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Timebox the decision</a:t>
            </a:r>
          </a:p>
        </p:txBody>
      </p:sp>
      <p:sp>
        <p:nvSpPr>
          <p:cNvPr id="34" name="TextBox 33"/>
          <p:cNvSpPr txBox="1"/>
          <p:nvPr/>
        </p:nvSpPr>
        <p:spPr>
          <a:xfrm>
            <a:off x="453237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undecided decision has a cost; set a deadline and a fallback method before you start.</a:t>
            </a:r>
          </a:p>
        </p:txBody>
      </p:sp>
      <p:sp>
        <p:nvSpPr>
          <p:cNvPr id="35" name="Rounded Rectangle 34"/>
          <p:cNvSpPr/>
          <p:nvPr/>
        </p:nvSpPr>
        <p:spPr>
          <a:xfrm>
            <a:off x="809548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Record the rationale</a:t>
            </a:r>
          </a:p>
        </p:txBody>
      </p:sp>
      <p:sp>
        <p:nvSpPr>
          <p:cNvPr id="40" name="TextBox 39"/>
          <p:cNvSpPr txBox="1"/>
          <p:nvPr/>
        </p:nvSpPr>
        <p:spPr>
          <a:xfrm>
            <a:off x="829665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Capture why, not just what — it prevents the same debate reopening three months later.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387</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Decision-making methods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279392"/>
        </p:xfrm>
        <a:graphic>
          <a:graphicData uri="http://schemas.openxmlformats.org/drawingml/2006/table">
            <a:tbl>
              <a:tblPr firstRow="1" bandRow="1">
                <a:tableStyleId>{5C22544A-7EE6-4342-B048-85BDC9FD1C3A}</a:tableStyleId>
              </a:tblPr>
              <a:tblGrid>
                <a:gridCol w="2601199"/>
                <a:gridCol w="4118565"/>
                <a:gridCol w="4335331"/>
              </a:tblGrid>
              <a:tr h="475488">
                <a:tc>
                  <a:txBody>
                    <a:bodyPr wrap="square" anchor="t"/>
                    <a:lstStyle/>
                    <a:p>
                      <a:pPr algn="l">
                        <a:lnSpc>
                          <a:spcPct val="100000"/>
                        </a:lnSpc>
                        <a:spcAft>
                          <a:spcPts val="0"/>
                        </a:spcAft>
                      </a:pPr>
                      <a:r>
                        <a:rPr sz="1150" b="1" i="0">
                          <a:solidFill>
                            <a:srgbClr val="FFFFFF"/>
                          </a:solidFill>
                          <a:latin typeface="Arial"/>
                        </a:rPr>
                        <a:t>Method</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10B981"/>
                    </a:solidFill>
                  </a:tcPr>
                </a:tc>
                <a:tc>
                  <a:txBody>
                    <a:bodyPr wrap="square" anchor="t"/>
                    <a:lstStyle/>
                    <a:p>
                      <a:pPr algn="l">
                        <a:lnSpc>
                          <a:spcPct val="100000"/>
                        </a:lnSpc>
                        <a:spcAft>
                          <a:spcPts val="0"/>
                        </a:spcAft>
                      </a:pPr>
                      <a:r>
                        <a:rPr sz="1150" b="1" i="0">
                          <a:solidFill>
                            <a:srgbClr val="FFFFFF"/>
                          </a:solidFill>
                          <a:latin typeface="Arial"/>
                        </a:rPr>
                        <a:t>When to use it</a:t>
                      </a:r>
                    </a:p>
                  </a:txBody>
                  <a:tcPr anchor="ctr">
                    <a:solidFill>
                      <a:srgbClr val="10B981"/>
                    </a:solidFill>
                  </a:tcPr>
                </a:tc>
              </a:tr>
              <a:tr h="475488">
                <a:tc>
                  <a:txBody>
                    <a:bodyPr wrap="square" anchor="t"/>
                    <a:lstStyle/>
                    <a:p>
                      <a:pPr algn="l">
                        <a:lnSpc>
                          <a:spcPct val="110000"/>
                        </a:lnSpc>
                        <a:spcAft>
                          <a:spcPts val="0"/>
                        </a:spcAft>
                      </a:pPr>
                      <a:r>
                        <a:rPr sz="1050" b="1" i="0">
                          <a:solidFill>
                            <a:srgbClr val="161B26"/>
                          </a:solidFill>
                          <a:latin typeface="Arial"/>
                        </a:rPr>
                        <a:t>Unanimity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Everyone agrees on a single course of action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High-cohesion teams; irreversible decisions; the Delphi technique converges toward it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Majority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More than 50% of the group supports the option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Use odd-numbered groups so a tie cannot block the decision</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Plurality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largest single block decides, even without 50%</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More than two options on the table and no majority emerges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Autocratic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individual decides for the whole group</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Emergency, or the decision is genuinely one person's accountability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Delphi technique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Anonymous expert rounds with feedback until convergence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Expert estimates where seniority or politics would distort an open discussion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Multicriteria decision analysis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Score options against weighted criteria in a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Comparing suppliers, designs or candidates on several dimensions at once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Fist of five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Each person shows 0-5 fingers to signal support level</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Fast consensus check; anything below three triggers a discussion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Dot voting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Each participant places a fixed number of dots on options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Prioritising a long list of ideas quickly and visibly</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388</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Diverge then converge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26805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Frame the question</a:t>
            </a:r>
          </a:p>
        </p:txBody>
      </p:sp>
      <p:sp>
        <p:nvSpPr>
          <p:cNvPr id="8" name="TextBox 7"/>
          <p:cNvSpPr txBox="1"/>
          <p:nvPr/>
        </p:nvSpPr>
        <p:spPr>
          <a:xfrm>
            <a:off x="69494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Agree exactly what is being decided and what constraints any option must satisfy.</a:t>
            </a:r>
          </a:p>
        </p:txBody>
      </p:sp>
      <p:sp>
        <p:nvSpPr>
          <p:cNvPr id="9" name="Pentagon 8"/>
          <p:cNvSpPr/>
          <p:nvPr/>
        </p:nvSpPr>
        <p:spPr>
          <a:xfrm>
            <a:off x="2801721" y="1816455"/>
            <a:ext cx="2115921" cy="226805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Diverge on the problem</a:t>
            </a:r>
          </a:p>
        </p:txBody>
      </p:sp>
      <p:sp>
        <p:nvSpPr>
          <p:cNvPr id="12" name="TextBox 11"/>
          <p:cNvSpPr txBox="1"/>
          <p:nvPr/>
        </p:nvSpPr>
        <p:spPr>
          <a:xfrm>
            <a:off x="2929737"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Explore the problem space fully before anyone proposes a solution.</a:t>
            </a:r>
          </a:p>
        </p:txBody>
      </p:sp>
      <p:sp>
        <p:nvSpPr>
          <p:cNvPr id="13" name="Pentagon 12"/>
          <p:cNvSpPr/>
          <p:nvPr/>
        </p:nvSpPr>
        <p:spPr>
          <a:xfrm>
            <a:off x="5036515" y="1816455"/>
            <a:ext cx="2115921" cy="226805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Diverge on solutions</a:t>
            </a:r>
          </a:p>
        </p:txBody>
      </p:sp>
      <p:sp>
        <p:nvSpPr>
          <p:cNvPr id="16" name="TextBox 15"/>
          <p:cNvSpPr txBox="1"/>
          <p:nvPr/>
        </p:nvSpPr>
        <p:spPr>
          <a:xfrm>
            <a:off x="5164531"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Generate options without evaluation — brainstorming, nominal group technique, mind mapping.</a:t>
            </a:r>
          </a:p>
        </p:txBody>
      </p:sp>
      <p:sp>
        <p:nvSpPr>
          <p:cNvPr id="17" name="Pentagon 16"/>
          <p:cNvSpPr/>
          <p:nvPr/>
        </p:nvSpPr>
        <p:spPr>
          <a:xfrm>
            <a:off x="7271308" y="1816455"/>
            <a:ext cx="2115921" cy="226805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Converge with criteria</a:t>
            </a:r>
          </a:p>
        </p:txBody>
      </p:sp>
      <p:sp>
        <p:nvSpPr>
          <p:cNvPr id="20" name="TextBox 19"/>
          <p:cNvSpPr txBox="1"/>
          <p:nvPr/>
        </p:nvSpPr>
        <p:spPr>
          <a:xfrm>
            <a:off x="7399324"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Filter using agreed criteria, then score with multicriteria decision analysis or dot voting.</a:t>
            </a:r>
          </a:p>
        </p:txBody>
      </p:sp>
      <p:sp>
        <p:nvSpPr>
          <p:cNvPr id="21" name="Rounded Rectangle 20"/>
          <p:cNvSpPr/>
          <p:nvPr/>
        </p:nvSpPr>
        <p:spPr>
          <a:xfrm>
            <a:off x="9506102" y="1816455"/>
            <a:ext cx="2115921" cy="226805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Decide and record</a:t>
            </a:r>
          </a:p>
        </p:txBody>
      </p:sp>
      <p:sp>
        <p:nvSpPr>
          <p:cNvPr id="24" name="TextBox 23"/>
          <p:cNvSpPr txBox="1"/>
          <p:nvPr/>
        </p:nvSpPr>
        <p:spPr>
          <a:xfrm>
            <a:off x="9634118" y="2842411"/>
            <a:ext cx="1349197" cy="116894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Choose, capture the rationale and dissent, and confirm who commits to the decision.</a:t>
            </a:r>
          </a:p>
        </p:txBody>
      </p:sp>
      <p:sp>
        <p:nvSpPr>
          <p:cNvPr id="25" name="Rounded Rectangle 24"/>
          <p:cNvSpPr/>
          <p:nvPr/>
        </p:nvSpPr>
        <p:spPr>
          <a:xfrm>
            <a:off x="566928" y="430396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30396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39540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The classic failure mode is converging too early — the group evaluates the first idea and never generates the second.</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389</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Practice: multi-criteria decision analysis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6F7FA"/>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table groups, choose between three candidate vendors for a project component using a weighted scoring matrix, then compare how the group's decision method changed the outcome.</a:t>
            </a:r>
          </a:p>
        </p:txBody>
      </p:sp>
      <p:sp>
        <p:nvSpPr>
          <p:cNvPr id="8" name="Rounded Rectangle 7"/>
          <p:cNvSpPr/>
          <p:nvPr/>
        </p:nvSpPr>
        <p:spPr>
          <a:xfrm>
            <a:off x="9692640" y="1560423"/>
            <a:ext cx="1828800" cy="457200"/>
          </a:xfrm>
          <a:prstGeom prst="roundRect">
            <a:avLst>
              <a:gd name="adj" fmla="val 1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the decision criteria that genuinely matter (cost, capability, risk, delivery time, support).</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Weight each criterion by importance and get the group to agree the weights before seeing the options.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Score all three vendors against each criterion, using evidence rather than preference.</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Compute the weighted totals and identify the top-ranked option.</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Re-run the same choice using dot voting alone and note whether the answer changes.</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Debrief which method you would defend to a sponsor and why.</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A completed weighted scoring matrix with agreed weights, scores, the recommended vendor and a one-paragraph rationale.</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Pivot Analysis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https://alfredang.github.io/novapivot/</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Communications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Ensure timely and appropriate collection, creation, distribution, storage, retrieval, management, monitoring and disposition of project information.</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 communications management plan, stakeholder engagement plan</a:t>
            </a:r>
          </a:p>
        </p:txBody>
      </p:sp>
      <p:sp>
        <p:nvSpPr>
          <p:cNvPr id="13" name="Oval 12"/>
          <p:cNvSpPr/>
          <p:nvPr/>
        </p:nvSpPr>
        <p:spPr>
          <a:xfrm>
            <a:off x="749808" y="39140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648"/>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change log, issue log, lessons learned register, quality report, risk report, stakeholder register</a:t>
            </a:r>
          </a:p>
        </p:txBody>
      </p:sp>
      <p:sp>
        <p:nvSpPr>
          <p:cNvPr id="15" name="Oval 14"/>
          <p:cNvSpPr/>
          <p:nvPr/>
        </p:nvSpPr>
        <p:spPr>
          <a:xfrm>
            <a:off x="749808" y="487786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17" name="Oval 16"/>
          <p:cNvSpPr/>
          <p:nvPr/>
        </p:nvSpPr>
        <p:spPr>
          <a:xfrm>
            <a:off x="749808" y="520796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11652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Communication technology, methods and skills (competence, feedback, nonverbal, presentations)</a:t>
            </a:r>
          </a:p>
        </p:txBody>
      </p:sp>
      <p:sp>
        <p:nvSpPr>
          <p:cNvPr id="25" name="Oval 24"/>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61142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a:t>
            </a:r>
          </a:p>
        </p:txBody>
      </p:sp>
      <p:sp>
        <p:nvSpPr>
          <p:cNvPr id="27" name="Oval 26"/>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2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reporting</a:t>
            </a:r>
          </a:p>
        </p:txBody>
      </p:sp>
      <p:sp>
        <p:nvSpPr>
          <p:cNvPr id="29" name="Oval 28"/>
          <p:cNvSpPr/>
          <p:nvPr/>
        </p:nvSpPr>
        <p:spPr>
          <a:xfrm>
            <a:off x="4593336" y="4363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271618"/>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active listening, conflict management, cultural awareness, meeting management, networking</a:t>
            </a:r>
          </a:p>
        </p:txBody>
      </p:sp>
      <p:sp>
        <p:nvSpPr>
          <p:cNvPr id="31" name="Oval 30"/>
          <p:cNvSpPr/>
          <p:nvPr/>
        </p:nvSpPr>
        <p:spPr>
          <a:xfrm>
            <a:off x="4593336" y="53268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2353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communications</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communications management plan, stakeholder engagement plan</a:t>
            </a:r>
          </a:p>
        </p:txBody>
      </p:sp>
      <p:sp>
        <p:nvSpPr>
          <p:cNvPr id="41" name="Oval 40"/>
          <p:cNvSpPr/>
          <p:nvPr/>
        </p:nvSpPr>
        <p:spPr>
          <a:xfrm>
            <a:off x="8436864" y="4032960"/>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941520"/>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project schedule, risk register, stakeholder register</a:t>
            </a:r>
          </a:p>
        </p:txBody>
      </p:sp>
      <p:sp>
        <p:nvSpPr>
          <p:cNvPr id="43" name="Oval 42"/>
          <p:cNvSpPr/>
          <p:nvPr/>
        </p:nvSpPr>
        <p:spPr>
          <a:xfrm>
            <a:off x="8436864" y="499673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391</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Barriers to communication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Language differences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Misunderstanding from differences in language, dialect or fluency — including polite over-agreement.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Cultural differences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Norms about directness, hierarchy and disagreement vary; the same words carry different meaning.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Technical jargon</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Insider vocabulary excludes the very stakeholders whose decision you need.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Physical barriers and noise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Distance, poor connections, background noise and time-zone lag degrade the signal.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Psychological barriers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Stress, fear of blame or fatigue stop people hearing and stop people speaking.</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Assumptions and perception</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Filling gaps with what you expect to be true is the fastest route to a costly rework.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392</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Assertive vs aggressive communication</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Assertive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Direct, respectful, confident — the target style</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States a position clearly without attacking the other person</a:t>
            </a:r>
          </a:p>
        </p:txBody>
      </p:sp>
      <p:sp>
        <p:nvSpPr>
          <p:cNvPr id="11" name="Oval 10"/>
          <p:cNvSpPr/>
          <p:nvPr/>
        </p:nvSpPr>
        <p:spPr>
          <a:xfrm>
            <a:off x="786384" y="278571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'I' language: 'I need the spec by Friday because…'</a:t>
            </a:r>
          </a:p>
        </p:txBody>
      </p:sp>
      <p:sp>
        <p:nvSpPr>
          <p:cNvPr id="13" name="Oval 12"/>
          <p:cNvSpPr/>
          <p:nvPr/>
        </p:nvSpPr>
        <p:spPr>
          <a:xfrm>
            <a:off x="786384" y="310575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Says no to the request without rejecting the person</a:t>
            </a:r>
          </a:p>
        </p:txBody>
      </p:sp>
      <p:sp>
        <p:nvSpPr>
          <p:cNvPr id="15" name="Oval 14"/>
          <p:cNvSpPr/>
          <p:nvPr/>
        </p:nvSpPr>
        <p:spPr>
          <a:xfrm>
            <a:off x="786384" y="342579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Invites the other view and genuinely listens to it</a:t>
            </a:r>
          </a:p>
        </p:txBody>
      </p:sp>
      <p:sp>
        <p:nvSpPr>
          <p:cNvPr id="17" name="Oval 16"/>
          <p:cNvSpPr/>
          <p:nvPr/>
        </p:nvSpPr>
        <p:spPr>
          <a:xfrm>
            <a:off x="786384" y="374583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clarity and preserves the relationship</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Aggressive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Dominating, confrontational, disrespectful</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Wins the exchange at the other person's expense</a:t>
            </a:r>
          </a:p>
        </p:txBody>
      </p:sp>
      <p:sp>
        <p:nvSpPr>
          <p:cNvPr id="25" name="Oval 24"/>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'you' accusations: 'you never deliver anything on time'</a:t>
            </a:r>
          </a:p>
        </p:txBody>
      </p:sp>
      <p:sp>
        <p:nvSpPr>
          <p:cNvPr id="27" name="Oval 26"/>
          <p:cNvSpPr/>
          <p:nvPr/>
        </p:nvSpPr>
        <p:spPr>
          <a:xfrm>
            <a:off x="6451092" y="310575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00517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Interrupts, raises voice, uses status to close down debate</a:t>
            </a:r>
          </a:p>
        </p:txBody>
      </p:sp>
      <p:sp>
        <p:nvSpPr>
          <p:cNvPr id="29" name="Oval 28"/>
          <p:cNvSpPr/>
          <p:nvPr/>
        </p:nvSpPr>
        <p:spPr>
          <a:xfrm>
            <a:off x="6451092" y="342579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32521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Treats disagreement as disloyalty</a:t>
            </a:r>
          </a:p>
        </p:txBody>
      </p:sp>
      <p:sp>
        <p:nvSpPr>
          <p:cNvPr id="31" name="Oval 30"/>
          <p:cNvSpPr/>
          <p:nvPr/>
        </p:nvSpPr>
        <p:spPr>
          <a:xfrm>
            <a:off x="6451092" y="374583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364525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short-term compliance and long-term silence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The two failure modes below assertive: PASSIVE (avoids confrontation, agrees then does not deliver) and PASSIVE-AGGRESSIVE (disguised hostility, indirect sabotage, sarcasm).</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393</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communication styles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2384432"/>
                <a:gridCol w="4335331"/>
                <a:gridCol w="4335331"/>
              </a:tblGrid>
              <a:tr h="475488">
                <a:tc>
                  <a:txBody>
                    <a:bodyPr wrap="square" anchor="t"/>
                    <a:lstStyle/>
                    <a:p>
                      <a:pPr algn="l">
                        <a:lnSpc>
                          <a:spcPct val="100000"/>
                        </a:lnSpc>
                        <a:spcAft>
                          <a:spcPts val="0"/>
                        </a:spcAft>
                      </a:pPr>
                      <a:r>
                        <a:rPr sz="1150" b="1" i="0">
                          <a:solidFill>
                            <a:srgbClr val="FFFFFF"/>
                          </a:solidFill>
                          <a:latin typeface="Arial"/>
                        </a:rPr>
                        <a:t>Style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Behaviour</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Effect on the team</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Assertive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Direct, respectful, confident; states needs clearly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Issues get raised early and resolved; the target style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Aggressive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Dominating, confrontational, disrespectful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Compliance in the room, silence afterwards; risks go unreported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Passive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Submissive, avoids confrontation, indirect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Agreement that is not real; commitments quietly missed</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Passive-aggressive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Indirect, disguised hostility, sarcasm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Corrosive; the conflict continues underground and cannot be resolved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Manipulative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Controlling and deceitful; uses influence covertly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Destroys trust permanently once detected; an ethics issue</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Communication styles assessment is an explicit interpersonal and team skill in Plan Communications Management — use it to tailor your approach per stakeholder.</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394</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Role play: overcoming a communication barrier</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In pairs, run a conversation in which one party uses heavy technical jargon and unstated assumptions with a non-technical counterpart. Full script in the Learner Guide.</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Speaker deliberately explains a solution using acronyms and internal jargon for ninety seconds.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Listener notes every point at which they lost the thread, without interrupting.</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Speaker restarts, replacing every technical term with a plain outcome the listener cares about.</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Listener asks clarifying questions; speaker answers without reintroducing jargon.</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Both identify the assumptions the speaker made about the listener's prior knowledge.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Swap roles and repeat with a different topic.</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A short 'plain-language rewrite': the original jargon-heavy explanation beside the version a sponsor could act on.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395</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Where and how the team works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Colocation is best where possible</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shared physical space maximises informal communication and tacit knowledge transfer.</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Tight matrix / war room</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Deliberately putting the team in one room for a critical phase measurably raises throughput.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Environment affects performance</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Noise, lighting, screens and meeting-room access are real performance variables, not comforts.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Foster meaningful interaction</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Design contact points that support autonomy rather than surveillance.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Respect agreed working hours</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Ground rules about core hours and response times protect focus and prevent burnout.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Hybrid is the normal case</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Most teams are now partly distributed; plan for it rather than treating it as an exception.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396</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Managing virtual team members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Watch team dynamics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Distance hides friction; you must actively look for it rather than waiting for it to be reported.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Enforce transparency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Make work and status visible with Kanban-style boards so nobody has to ask what is happening.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Hold accountability</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Clear ownership matters more remotely, where informal reminders do not happen naturally.</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video deliberately</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Cameras on for discussion so you can read body language, tone and hesitation.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Check active participation</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Silence on a call is ambiguous — invite each person by name rather than asking 'any questions?'.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Overlap working hours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Protect a common window across time zones for the interaction that genuinely needs to be synchronous.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397</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Virtual team best practices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 the isolation risk</a:t>
            </a:r>
          </a:p>
        </p:txBody>
      </p:sp>
      <p:sp>
        <p:nvSpPr>
          <p:cNvPr id="10" name="TextBox 9"/>
          <p:cNvSpPr txBox="1"/>
          <p:nvPr/>
        </p:nvSpPr>
        <p:spPr>
          <a:xfrm>
            <a:off x="76809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Remote members drift out of the informal loop; build in deliberate social contact.</a:t>
            </a:r>
          </a:p>
        </p:txBody>
      </p:sp>
      <p:sp>
        <p:nvSpPr>
          <p:cNvPr id="11" name="Rounded Rectangle 10"/>
          <p:cNvSpPr/>
          <p:nvPr/>
        </p:nvSpPr>
        <p:spPr>
          <a:xfrm>
            <a:off x="433120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054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1711"/>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Shared goals over individual output</a:t>
            </a:r>
          </a:p>
        </p:txBody>
      </p:sp>
      <p:sp>
        <p:nvSpPr>
          <p:cNvPr id="16" name="TextBox 15"/>
          <p:cNvSpPr txBox="1"/>
          <p:nvPr/>
        </p:nvSpPr>
        <p:spPr>
          <a:xfrm>
            <a:off x="4532376" y="2920079"/>
            <a:ext cx="312420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Focus on team commitments so distributed members feel part of one outcome.</a:t>
            </a:r>
          </a:p>
        </p:txBody>
      </p:sp>
      <p:sp>
        <p:nvSpPr>
          <p:cNvPr id="17" name="Rounded Rectangle 16"/>
          <p:cNvSpPr/>
          <p:nvPr/>
        </p:nvSpPr>
        <p:spPr>
          <a:xfrm>
            <a:off x="809548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054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7999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Instil shared commitment</a:t>
            </a:r>
          </a:p>
        </p:txBody>
      </p:sp>
      <p:sp>
        <p:nvSpPr>
          <p:cNvPr id="22" name="TextBox 21"/>
          <p:cNvSpPr txBox="1"/>
          <p:nvPr/>
        </p:nvSpPr>
        <p:spPr>
          <a:xfrm>
            <a:off x="829665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visible, common definition of done does more for cohesion than any social event.</a:t>
            </a:r>
          </a:p>
        </p:txBody>
      </p:sp>
      <p:sp>
        <p:nvSpPr>
          <p:cNvPr id="23" name="Rounded Rectangle 22"/>
          <p:cNvSpPr/>
          <p:nvPr/>
        </p:nvSpPr>
        <p:spPr>
          <a:xfrm>
            <a:off x="56692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Standardise the tooling</a:t>
            </a:r>
          </a:p>
        </p:txBody>
      </p:sp>
      <p:sp>
        <p:nvSpPr>
          <p:cNvPr id="28" name="TextBox 27"/>
          <p:cNvSpPr txBox="1"/>
          <p:nvPr/>
        </p:nvSpPr>
        <p:spPr>
          <a:xfrm>
            <a:off x="76809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agreed channel per purpose prevents information fragmenting across five tools.</a:t>
            </a:r>
          </a:p>
        </p:txBody>
      </p:sp>
      <p:sp>
        <p:nvSpPr>
          <p:cNvPr id="29" name="Rounded Rectangle 28"/>
          <p:cNvSpPr/>
          <p:nvPr/>
        </p:nvSpPr>
        <p:spPr>
          <a:xfrm>
            <a:off x="433120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Write more, assume less</a:t>
            </a:r>
          </a:p>
        </p:txBody>
      </p:sp>
      <p:sp>
        <p:nvSpPr>
          <p:cNvPr id="34" name="TextBox 33"/>
          <p:cNvSpPr txBox="1"/>
          <p:nvPr/>
        </p:nvSpPr>
        <p:spPr>
          <a:xfrm>
            <a:off x="453237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Distributed teams need decisions recorded in writing because corridor clarification is unavailable.</a:t>
            </a:r>
          </a:p>
        </p:txBody>
      </p:sp>
      <p:sp>
        <p:nvSpPr>
          <p:cNvPr id="35" name="Rounded Rectangle 34"/>
          <p:cNvSpPr/>
          <p:nvPr/>
        </p:nvSpPr>
        <p:spPr>
          <a:xfrm>
            <a:off x="809548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Rotate meeting inconvenience</a:t>
            </a:r>
          </a:p>
        </p:txBody>
      </p:sp>
      <p:sp>
        <p:nvSpPr>
          <p:cNvPr id="40" name="TextBox 39"/>
          <p:cNvSpPr txBox="1"/>
          <p:nvPr/>
        </p:nvSpPr>
        <p:spPr>
          <a:xfrm>
            <a:off x="829665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Do not always make the same time zone take the 11pm call.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398</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Negotiate and run effective meetings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Negotiation is a conversation</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it as a conversation with internal or external parties aimed at reaching agreement.</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Aim for consensus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effective communication so collaboration, not victory, is the objective of the exchange.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Stay positive</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Keeping the tone constructive materially increases the likelihood of a durable agreement.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Meetings: publish an agenda</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State the purpose and the desired outcome; if you cannot, cancel the meeting.</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Timebox discussion</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Everyone's time is a project cost; protect it with explicit time limits per item.</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with actions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End every meeting with decisions, owners and dates — otherwise it produced nothing.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399</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Root-cause analysis of a misunderstanding of the vision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2115921" cy="2453734"/>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Detect the symptom</a:t>
            </a:r>
          </a:p>
        </p:txBody>
      </p:sp>
      <p:sp>
        <p:nvSpPr>
          <p:cNvPr id="8" name="TextBox 7"/>
          <p:cNvSpPr txBox="1"/>
          <p:nvPr/>
        </p:nvSpPr>
        <p:spPr>
          <a:xfrm>
            <a:off x="69494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Work is being delivered that is technically correct but does not serve the intended outcome.</a:t>
            </a:r>
          </a:p>
        </p:txBody>
      </p:sp>
      <p:sp>
        <p:nvSpPr>
          <p:cNvPr id="9" name="Pentagon 8"/>
          <p:cNvSpPr/>
          <p:nvPr/>
        </p:nvSpPr>
        <p:spPr>
          <a:xfrm>
            <a:off x="2801721" y="1816455"/>
            <a:ext cx="2115921" cy="2453734"/>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9737" y="1917039"/>
            <a:ext cx="1349197"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929737"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Break down the situation</a:t>
            </a:r>
          </a:p>
        </p:txBody>
      </p:sp>
      <p:sp>
        <p:nvSpPr>
          <p:cNvPr id="12" name="TextBox 11"/>
          <p:cNvSpPr txBox="1"/>
          <p:nvPr/>
        </p:nvSpPr>
        <p:spPr>
          <a:xfrm>
            <a:off x="2929737"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Separate what was communicated, what was heard, and what was actually built.</a:t>
            </a:r>
          </a:p>
        </p:txBody>
      </p:sp>
      <p:sp>
        <p:nvSpPr>
          <p:cNvPr id="13" name="Pentagon 12"/>
          <p:cNvSpPr/>
          <p:nvPr/>
        </p:nvSpPr>
        <p:spPr>
          <a:xfrm>
            <a:off x="5036515" y="1816455"/>
            <a:ext cx="2115921" cy="2453734"/>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64531" y="1917039"/>
            <a:ext cx="1349197"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5164531"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Ask why five times</a:t>
            </a:r>
          </a:p>
        </p:txBody>
      </p:sp>
      <p:sp>
        <p:nvSpPr>
          <p:cNvPr id="16" name="TextBox 15"/>
          <p:cNvSpPr txBox="1"/>
          <p:nvPr/>
        </p:nvSpPr>
        <p:spPr>
          <a:xfrm>
            <a:off x="5164531"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Drive past 'they misunderstood' to the mechanism — missing context, competing message, no feedback loop.</a:t>
            </a:r>
          </a:p>
        </p:txBody>
      </p:sp>
      <p:sp>
        <p:nvSpPr>
          <p:cNvPr id="17" name="Pentagon 16"/>
          <p:cNvSpPr/>
          <p:nvPr/>
        </p:nvSpPr>
        <p:spPr>
          <a:xfrm>
            <a:off x="7271308" y="1816455"/>
            <a:ext cx="2115921" cy="2453734"/>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99324" y="1917039"/>
            <a:ext cx="1349197"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7399324"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Identify the true root</a:t>
            </a:r>
          </a:p>
        </p:txBody>
      </p:sp>
      <p:sp>
        <p:nvSpPr>
          <p:cNvPr id="20" name="TextBox 19"/>
          <p:cNvSpPr txBox="1"/>
          <p:nvPr/>
        </p:nvSpPr>
        <p:spPr>
          <a:xfrm>
            <a:off x="7399324"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Usually a vision never made concrete, or a middle layer translating it differently to each group.</a:t>
            </a:r>
          </a:p>
        </p:txBody>
      </p:sp>
      <p:sp>
        <p:nvSpPr>
          <p:cNvPr id="21" name="Rounded Rectangle 20"/>
          <p:cNvSpPr/>
          <p:nvPr/>
        </p:nvSpPr>
        <p:spPr>
          <a:xfrm>
            <a:off x="9506102" y="1816455"/>
            <a:ext cx="2115921" cy="245373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4118" y="1917039"/>
            <a:ext cx="1349197"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9634118" y="2127351"/>
            <a:ext cx="1349197" cy="641908"/>
          </a:xfrm>
          <a:prstGeom prst="rect">
            <a:avLst/>
          </a:prstGeom>
          <a:noFill/>
        </p:spPr>
        <p:txBody>
          <a:bodyPr wrap="square" anchor="t">
            <a:spAutoFit/>
          </a:bodyPr>
          <a:lstStyle/>
          <a:p>
            <a:pPr algn="l">
              <a:lnSpc>
                <a:spcPct val="104000"/>
              </a:lnSpc>
              <a:spcAft>
                <a:spcPts val="400"/>
              </a:spcAft>
            </a:pPr>
            <a:r>
              <a:rPr sz="1200" b="1" i="0">
                <a:solidFill>
                  <a:srgbClr val="161B26"/>
                </a:solidFill>
                <a:latin typeface="Arial"/>
              </a:rPr>
              <a:t>Correct and re-promote</a:t>
            </a:r>
          </a:p>
        </p:txBody>
      </p:sp>
      <p:sp>
        <p:nvSpPr>
          <p:cNvPr id="24" name="TextBox 23"/>
          <p:cNvSpPr txBox="1"/>
          <p:nvPr/>
        </p:nvSpPr>
        <p:spPr>
          <a:xfrm>
            <a:off x="9634118" y="2842411"/>
            <a:ext cx="1349197" cy="1354626"/>
          </a:xfrm>
          <a:prstGeom prst="rect">
            <a:avLst/>
          </a:prstGeom>
          <a:noFill/>
        </p:spPr>
        <p:txBody>
          <a:bodyPr wrap="square" anchor="t">
            <a:spAutoFit/>
          </a:bodyPr>
          <a:lstStyle/>
          <a:p>
            <a:pPr algn="l">
              <a:lnSpc>
                <a:spcPct val="114000"/>
              </a:lnSpc>
              <a:spcAft>
                <a:spcPts val="400"/>
              </a:spcAft>
            </a:pPr>
            <a:r>
              <a:rPr sz="950" b="0" i="0">
                <a:solidFill>
                  <a:srgbClr val="5B6372"/>
                </a:solidFill>
                <a:latin typeface="Arial"/>
              </a:rPr>
              <a:t>Restate the vision with concrete examples and verify understanding by asking them to restate it.</a:t>
            </a:r>
          </a:p>
        </p:txBody>
      </p:sp>
      <p:sp>
        <p:nvSpPr>
          <p:cNvPr id="25" name="Rounded Rectangle 24"/>
          <p:cNvSpPr/>
          <p:nvPr/>
        </p:nvSpPr>
        <p:spPr>
          <a:xfrm>
            <a:off x="566928" y="4489645"/>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66928" y="4489645"/>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4581085"/>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ECO People T1 explicitly requires you to 'break down situations to identify the root cause of a misunderstanding of the vision' — a new 2026 enabler.</a:t>
            </a:r>
          </a:p>
        </p:txBody>
      </p:sp>
      <p:sp>
        <p:nvSpPr>
          <p:cNvPr id="28" name="TextBox 2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9" name="TextBox 2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0" name="TextBox 2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400</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T1 · DEVELOP A COMMON VISION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Keep the common vision alive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Co-create it</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vision the key stakeholders helped write is defended; one they were shown is merely tolerated.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Promote it continuously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Repeat it at kick-off, at every review and in every decision rationale until it is boring to you.</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Make it decidable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useful vision resolves trade-offs — if it cannot settle an argument it is a slogan, not a vision.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it current</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Business environments move; a vision not revisited quietly becomes false and the team notices before you do.</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Test understanding</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Ask team members to state the vision in their own words; divergence is your early warning.</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Connect daily work to it</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Show each person how their work package moves the outcome — this is the strongest motivator you have.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401</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AI's effect on team roles and upskilling</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Roles shift, not vanish</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Routine drafting, summarising and reporting move to AI; judgement, context and accountability stay human.</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capability gaps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Prompting, output verification and data handling become skills your gap analysis must now include.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Verification is a task</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AI output must be reviewed by a competent human; build that review step explicitly into the workflow.</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Upskill, do not displace</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Plan training so existing members move up the value chain rather than being replaced by tooling.</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Address the anxiety</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Fear of replacement is a safety-level need in Maslow's terms and will block every other motivator.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Govern the use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 ground rules on confidentiality, attribution and permitted uses before shadow adoption sets them.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402</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Implement Risk Responses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Execute agreed-upon risk response plans. Planning responses without implementing them is a classic exam trap.</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risk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risk register, risk report</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7" name="Chevron 16"/>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1" name="Oval 20"/>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3" name="Oval 22"/>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influencing</a:t>
            </a:r>
          </a:p>
        </p:txBody>
      </p:sp>
      <p:sp>
        <p:nvSpPr>
          <p:cNvPr id="25" name="Oval 24"/>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a:t>
            </a:r>
          </a:p>
        </p:txBody>
      </p:sp>
      <p:sp>
        <p:nvSpPr>
          <p:cNvPr id="27" name="Chevron 2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1" name="Oval 3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33" name="Oval 32"/>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6320" y="3188969"/>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project team assignments, risk register, risk report</a:t>
            </a:r>
          </a:p>
        </p:txBody>
      </p:sp>
      <p:sp>
        <p:nvSpPr>
          <p:cNvPr id="35" name="TextBox 3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6" name="TextBox 3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7" name="TextBox 3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403</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Conduct Procurements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Obtain seller responses, select a seller and award a contract — the executing half of procurement management.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requirements, communications, risk, procurement management plans; configuration management plan; cost baseline</a:t>
            </a:r>
          </a:p>
        </p:txBody>
      </p:sp>
      <p:sp>
        <p:nvSpPr>
          <p:cNvPr id="13" name="Oval 12"/>
          <p:cNvSpPr/>
          <p:nvPr/>
        </p:nvSpPr>
        <p:spPr>
          <a:xfrm>
            <a:off x="749808" y="412531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4033875"/>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schedule, requirements documentation, risk register, stakeholder register</a:t>
            </a:r>
          </a:p>
        </p:txBody>
      </p:sp>
      <p:sp>
        <p:nvSpPr>
          <p:cNvPr id="15" name="Oval 14"/>
          <p:cNvSpPr/>
          <p:nvPr/>
        </p:nvSpPr>
        <p:spPr>
          <a:xfrm>
            <a:off x="749808" y="508909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99765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Procurement documentation, seller proposals</a:t>
            </a:r>
          </a:p>
        </p:txBody>
      </p:sp>
      <p:sp>
        <p:nvSpPr>
          <p:cNvPr id="17" name="Oval 16"/>
          <p:cNvSpPr/>
          <p:nvPr/>
        </p:nvSpPr>
        <p:spPr>
          <a:xfrm>
            <a:off x="749808" y="563041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53897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judgment</a:t>
            </a:r>
          </a:p>
        </p:txBody>
      </p:sp>
      <p:sp>
        <p:nvSpPr>
          <p:cNvPr id="25" name="Oval 24"/>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Advertising</a:t>
            </a:r>
          </a:p>
        </p:txBody>
      </p:sp>
      <p:sp>
        <p:nvSpPr>
          <p:cNvPr id="27" name="Oval 26"/>
          <p:cNvSpPr/>
          <p:nvPr/>
        </p:nvSpPr>
        <p:spPr>
          <a:xfrm>
            <a:off x="4593336" y="36105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Bidder conferences</a:t>
            </a:r>
          </a:p>
        </p:txBody>
      </p:sp>
      <p:sp>
        <p:nvSpPr>
          <p:cNvPr id="29" name="Oval 28"/>
          <p:cNvSpPr/>
          <p:nvPr/>
        </p:nvSpPr>
        <p:spPr>
          <a:xfrm>
            <a:off x="4593336" y="394060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proposal evaluation</a:t>
            </a:r>
          </a:p>
        </p:txBody>
      </p:sp>
      <p:sp>
        <p:nvSpPr>
          <p:cNvPr id="31" name="Oval 30"/>
          <p:cNvSpPr/>
          <p:nvPr/>
        </p:nvSpPr>
        <p:spPr>
          <a:xfrm>
            <a:off x="4593336" y="427070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17926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negotiation</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Selected sellers</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3" name="Oval 42"/>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5" name="Oval 44"/>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179263"/>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lessons learned register, requirements documentation, resource calendars, risk register, stakeholder register</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404</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0B981"/>
                </a:solidFill>
                <a:latin typeface="Arial"/>
              </a:rPr>
              <a:t>ECO PEOPLE T3 · LEAD THE PROJECT TEAM</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habit that carries you through the People domain</a:t>
            </a:r>
          </a:p>
        </p:txBody>
      </p:sp>
      <p:sp>
        <p:nvSpPr>
          <p:cNvPr id="5" name="TextBox 4"/>
          <p:cNvSpPr txBox="1"/>
          <p:nvPr/>
        </p:nvSpPr>
        <p:spPr>
          <a:xfrm>
            <a:off x="566928" y="1810512"/>
            <a:ext cx="10881360" cy="150876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Facilitate first. Direct only when you must.</a:t>
            </a:r>
          </a:p>
        </p:txBody>
      </p:sp>
      <p:sp>
        <p:nvSpPr>
          <p:cNvPr id="6" name="Rectangle 5"/>
          <p:cNvSpPr/>
          <p:nvPr/>
        </p:nvSpPr>
        <p:spPr>
          <a:xfrm>
            <a:off x="566928" y="3502152"/>
            <a:ext cx="21945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Empower before deciding</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Ask whether the team can resolve it before you resolve it for them.</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Understand before acting</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Gather facts and hear the parties before choosing an intervention or escalating.</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Escalate with a recommendation</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When you must go up, bring the impact, the options and your recommended action.</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405</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4 recap — Lead the Project Team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Execution processes</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Direct and Manage Project Work produces deliverables, work performance data, issues and change requests.</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Data → information → reports</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Raw measurement becomes meaningful by comparison, then becomes a communication artifact.</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Artifacts under control</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Configuration management governs the product; version and document control keep the record honest.</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Knowledge</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Explicit knowledge is codified and shared; tacit knowledge needs trust, conversation and shadowing to move.</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Team development</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Tuckman: forming, storming, norming, performing, adjourning — direct, coach, support, delegate, close.</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Motivation</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Maslow, Herzberg, McGregor, McClelland and Vroom each answer a different question about why effort appears.</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Leadership style</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Servant leadership is the default; the right style is situational and deliberately chosen.</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Emotional intelligence</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Self-awareness, self-management, social awareness and social skill underpin every People-domain task.</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Conflict</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Collaborate is the best mode; Leas' levels tell you when collaboration is no longer viable and escalation is required.</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Communication</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Tailor to the stakeholder, remove barriers, be assertive, and make virtual work visible and written down.</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406</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4</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467715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15. RACI Responsibility Assignment Matrix</a:t>
            </a:r>
          </a:p>
        </p:txBody>
      </p:sp>
      <p:sp>
        <p:nvSpPr>
          <p:cNvPr id="10" name="TextBox 9"/>
          <p:cNvSpPr txBox="1"/>
          <p:nvPr/>
        </p:nvSpPr>
        <p:spPr>
          <a:xfrm>
            <a:off x="768096" y="2682335"/>
            <a:ext cx="500634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T3, Process T4 · LO2 · 20 min in class + 25 min self-study</a:t>
            </a:r>
          </a:p>
          <a:p>
            <a:pPr algn="l">
              <a:lnSpc>
                <a:spcPct val="118000"/>
              </a:lnSpc>
              <a:spcAft>
                <a:spcPts val="400"/>
              </a:spcAft>
            </a:pPr>
            <a:r>
              <a:rPr sz="1150" b="0" i="0">
                <a:solidFill>
                  <a:srgbClr val="5B6372"/>
                </a:solidFill>
                <a:latin typeface="Arial"/>
              </a:rPr>
              <a:t>Produces: RACI matrix, Resource plan</a:t>
            </a:r>
          </a:p>
        </p:txBody>
      </p:sp>
      <p:sp>
        <p:nvSpPr>
          <p:cNvPr id="11" name="Rounded Rectangle 10"/>
          <p:cNvSpPr/>
          <p:nvPr/>
        </p:nvSpPr>
        <p:spPr>
          <a:xfrm>
            <a:off x="621334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2060543"/>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2261711"/>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16. Tuckman Diagnosis and Motivation Theory Application</a:t>
            </a:r>
          </a:p>
        </p:txBody>
      </p:sp>
      <p:sp>
        <p:nvSpPr>
          <p:cNvPr id="16" name="TextBox 15"/>
          <p:cNvSpPr txBox="1"/>
          <p:nvPr/>
        </p:nvSpPr>
        <p:spPr>
          <a:xfrm>
            <a:off x="6414516" y="2920079"/>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T3 · LO3 · 20 min in class + 25 min self-study</a:t>
            </a:r>
          </a:p>
          <a:p>
            <a:pPr algn="l">
              <a:lnSpc>
                <a:spcPct val="118000"/>
              </a:lnSpc>
              <a:spcAft>
                <a:spcPts val="400"/>
              </a:spcAft>
            </a:pPr>
            <a:r>
              <a:rPr sz="1150" b="0" i="0">
                <a:solidFill>
                  <a:srgbClr val="5B6372"/>
                </a:solidFill>
                <a:latin typeface="Arial"/>
              </a:rPr>
              <a:t>Produces: Team stage diagnosis, Motivation action plan</a:t>
            </a:r>
          </a:p>
        </p:txBody>
      </p:sp>
      <p:sp>
        <p:nvSpPr>
          <p:cNvPr id="17" name="Rounded Rectangle 16"/>
          <p:cNvSpPr/>
          <p:nvPr/>
        </p:nvSpPr>
        <p:spPr>
          <a:xfrm>
            <a:off x="56692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80611"/>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2000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17. Conflict Resolution Role-Play across the Five Modes</a:t>
            </a:r>
          </a:p>
        </p:txBody>
      </p:sp>
      <p:sp>
        <p:nvSpPr>
          <p:cNvPr id="22" name="TextBox 21"/>
          <p:cNvSpPr txBox="1"/>
          <p:nvPr/>
        </p:nvSpPr>
        <p:spPr>
          <a:xfrm>
            <a:off x="76809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T2 · LO3 · 20 min in class + 30 min self-study</a:t>
            </a:r>
          </a:p>
          <a:p>
            <a:pPr algn="l">
              <a:lnSpc>
                <a:spcPct val="118000"/>
              </a:lnSpc>
              <a:spcAft>
                <a:spcPts val="400"/>
              </a:spcAft>
            </a:pPr>
            <a:r>
              <a:rPr sz="1150" b="0" i="0">
                <a:solidFill>
                  <a:srgbClr val="5B6372"/>
                </a:solidFill>
                <a:latin typeface="Arial"/>
              </a:rPr>
              <a:t>Produces: Conflict analysis, Resolution strategy</a:t>
            </a:r>
          </a:p>
        </p:txBody>
      </p:sp>
      <p:sp>
        <p:nvSpPr>
          <p:cNvPr id="23" name="Rounded Rectangle 22"/>
          <p:cNvSpPr/>
          <p:nvPr/>
        </p:nvSpPr>
        <p:spPr>
          <a:xfrm>
            <a:off x="621334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980611"/>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18. Communication Plan, Channels Formula and Status Report</a:t>
            </a:r>
          </a:p>
        </p:txBody>
      </p:sp>
      <p:sp>
        <p:nvSpPr>
          <p:cNvPr id="28" name="TextBox 27"/>
          <p:cNvSpPr txBox="1"/>
          <p:nvPr/>
        </p:nvSpPr>
        <p:spPr>
          <a:xfrm>
            <a:off x="641451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T8 · LO4 · 20 min in class + 30 min self-study</a:t>
            </a:r>
          </a:p>
          <a:p>
            <a:pPr algn="l">
              <a:lnSpc>
                <a:spcPct val="118000"/>
              </a:lnSpc>
              <a:spcAft>
                <a:spcPts val="400"/>
              </a:spcAft>
            </a:pPr>
            <a:r>
              <a:rPr sz="1150" b="0" i="0">
                <a:solidFill>
                  <a:srgbClr val="5B6372"/>
                </a:solidFill>
                <a:latin typeface="Arial"/>
              </a:rPr>
              <a:t>Produces: Communications management plan, Status report</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407</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15. RACI Responsibility Assignment Matrix</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T3, Process T4 · LO2. Produces RACI matrix, Resource plan.</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the Lab 11 work packages down the rows and the project roles across the columns.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RACI tool and assign Responsible, Accountable, Consulted and Informed for every work package.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Verify exactly ONE Accountable per row — two accountable parties means nobody is accountable.</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Scan the columns for overload: a role Responsible for most rows is a single point of failure.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Reduce excessive Consulted entries — over-consultation is the most common cause of decision latency.</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Review the matrix with the team and have each member confirm their assignments aloud.</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RACI matrix, Resource plan</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RACI Matrix</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alfredang.github.io/raci/</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408</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16. Tuckman Diagnosis and Motivation Theory Application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T3 · LO3. Produces Team stage diagnosis, Motivation action plan.</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Assess which Tuckman stage the Contoso team is in, citing the observable behaviours that justify your diagnosis.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State the leadership action appropriate to that stage rather than the one you personally prefer.</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Map each team member's dominant motivator using McClelland: achievement, affiliation or power.</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Herzberg to separate hygiene complaints from genuine motivator gaps — they need different remedies.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Design one specific intervention per team member, with a date and an observable success indicator.</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Define how you will detect regression to an earlier stage after the next team change.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Team stage diagnosis, Motivation action plan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409</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17. Conflict Resolution Role-Play across the Five Modes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T2 · LO3. Produces Conflict analysis, Resolution strategy.</a:t>
            </a:r>
          </a:p>
        </p:txBody>
      </p:sp>
      <p:sp>
        <p:nvSpPr>
          <p:cNvPr id="8" name="Rounded Rectangle 7"/>
          <p:cNvSpPr/>
          <p:nvPr/>
        </p:nvSpPr>
        <p:spPr>
          <a:xfrm>
            <a:off x="9692640" y="1560423"/>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Read the conflict scenario and identify the true source: resources, priorities, technical opinion, or interpersonal style.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Assess the conflict's position on Leas' five levels — the level dictates whether the team can still resolve it themselves.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Role-play the conflict using each of the five modes in turn: collaborate, compromise, accommodate, force, avoid.</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what each mode produced and the relationship cost it incurred.</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Select the appropriate mode for this situation and justify it against the urgency and the relationship's importance.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Write the agreed resolution, the ground rule that prevents recurrence, and how adherence will be monitored.</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Conflict analysis, Resolution strategy</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410</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18. Communication Plan, Channels Formula and Status Report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People T8 · LO4. Produces Communications management plan, Status report.</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List every stakeholder group from Lab 07 with the information each actually needs — not everything you have.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the communication channels using N(N−1)/2 and state what the result implies for meeting design.</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Specify format, frequency, method and owner for each communication.</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Classify each as push, pull or interactive, and confirm anything requiring confirmed understanding is interactive.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Draft a one-page status report tailored to the steering committee: exceptions and decisions needed, not raw activity.</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Draft the same status for the delivery team and note how radically the content differs for the same underlying facts.</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Communications management plan, Status report</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411</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FC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E11D48"/>
                </a:solidFill>
                <a:latin typeface="Arial"/>
              </a:rPr>
              <a:t>05</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E11D48"/>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Monitor and Control the Project</a:t>
            </a:r>
          </a:p>
        </p:txBody>
      </p:sp>
      <p:sp>
        <p:nvSpPr>
          <p:cNvPr id="7" name="TextBox 6"/>
          <p:cNvSpPr txBox="1"/>
          <p:nvPr/>
        </p:nvSpPr>
        <p:spPr>
          <a:xfrm>
            <a:off x="4709160" y="1481328"/>
            <a:ext cx="6858000" cy="1325880"/>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Monitoring and controlling is where the plan meets reality. You measure actual performance against the baselines, decide whether the variance matters, and act — through change control, corrective action, quality control, risk response and impediment removal.</a:t>
            </a:r>
          </a:p>
        </p:txBody>
      </p:sp>
      <p:sp>
        <p:nvSpPr>
          <p:cNvPr id="8" name="Oval 7"/>
          <p:cNvSpPr/>
          <p:nvPr/>
        </p:nvSpPr>
        <p:spPr>
          <a:xfrm>
            <a:off x="4709160" y="3044952"/>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307238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302666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Monitor and control project work and report performance</a:t>
            </a:r>
          </a:p>
        </p:txBody>
      </p:sp>
      <p:sp>
        <p:nvSpPr>
          <p:cNvPr id="11" name="Oval 10"/>
          <p:cNvSpPr/>
          <p:nvPr/>
        </p:nvSpPr>
        <p:spPr>
          <a:xfrm>
            <a:off x="4709160" y="355701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58444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53872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Evaluate progress with earned value management</a:t>
            </a:r>
          </a:p>
        </p:txBody>
      </p:sp>
      <p:sp>
        <p:nvSpPr>
          <p:cNvPr id="14" name="Oval 13"/>
          <p:cNvSpPr/>
          <p:nvPr/>
        </p:nvSpPr>
        <p:spPr>
          <a:xfrm>
            <a:off x="4709160" y="4069080"/>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409651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405079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Control quality with the seven basic statistical tools</a:t>
            </a:r>
          </a:p>
        </p:txBody>
      </p:sp>
      <p:sp>
        <p:nvSpPr>
          <p:cNvPr id="17" name="Oval 16"/>
          <p:cNvSpPr/>
          <p:nvPr/>
        </p:nvSpPr>
        <p:spPr>
          <a:xfrm>
            <a:off x="4709160" y="4581144"/>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60857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56285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Run integrated change control and the change control board</a:t>
            </a:r>
          </a:p>
        </p:txBody>
      </p:sp>
      <p:sp>
        <p:nvSpPr>
          <p:cNvPr id="20" name="Oval 19"/>
          <p:cNvSpPr/>
          <p:nvPr/>
        </p:nvSpPr>
        <p:spPr>
          <a:xfrm>
            <a:off x="4709160" y="509320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512064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507492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Manage risks, issues and impediments to resolution</a:t>
            </a:r>
          </a:p>
        </p:txBody>
      </p:sp>
      <p:sp>
        <p:nvSpPr>
          <p:cNvPr id="23" name="Oval 22"/>
          <p:cNvSpPr/>
          <p:nvPr/>
        </p:nvSpPr>
        <p:spPr>
          <a:xfrm>
            <a:off x="4709160" y="5605272"/>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63270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58698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Control procurements and scale agile beyond one team</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412</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T9 · EVALUATE PROJECT STATUS</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The controlling mindset</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You cannot manage what you do not measure — and you must not measure what you will not act on.</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Measure against baseline</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Variance only has meaning when compared to an approved scope, schedule and cost baseline.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Decide with thresholds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Governance sets the variance thresholds that trigger escalation, a change request or acceptance.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Act, then update artifacts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Every accepted variance ends in an updated plan, log or register so the record stays truthful.</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413</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Monitoring and Controlling Actually Involves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Track</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Collect work performance data from the work itself — hours booked, defects raised, stories done, invoices received.</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Convert raw data into work performance information by comparing it to the baseline and asking what the gap means.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Regulate</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 corrective or preventive action so future performance moves back toward the approved plan.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Report</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Package information into work performance reports that a sponsor or steering committee can act on.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Route anything that alters a baseline through integrated change control — never adjust a baseline informally.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Improve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Feed what you learn into process updates and OPAs so the next phase or project starts better than this one did.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414</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and Control Project Work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track, review and report overall progress so stakeholders understand true status and the team can forecast where the project will land if nothing changes.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(all components)</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basis of estimates</a:t>
            </a:r>
          </a:p>
        </p:txBody>
      </p:sp>
      <p:sp>
        <p:nvSpPr>
          <p:cNvPr id="15" name="Oval 14"/>
          <p:cNvSpPr/>
          <p:nvPr/>
        </p:nvSpPr>
        <p:spPr>
          <a:xfrm>
            <a:off x="749808" y="403295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and schedule forecasts</a:t>
            </a:r>
          </a:p>
        </p:txBody>
      </p:sp>
      <p:sp>
        <p:nvSpPr>
          <p:cNvPr id="17" name="Oval 16"/>
          <p:cNvSpPr/>
          <p:nvPr/>
        </p:nvSpPr>
        <p:spPr>
          <a:xfrm>
            <a:off x="749808" y="436305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27161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Issue log, lessons learned register, risk register</a:t>
            </a:r>
          </a:p>
        </p:txBody>
      </p:sp>
      <p:sp>
        <p:nvSpPr>
          <p:cNvPr id="19" name="Oval 18"/>
          <p:cNvSpPr/>
          <p:nvPr/>
        </p:nvSpPr>
        <p:spPr>
          <a:xfrm>
            <a:off x="749808" y="490438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Milestone list and quality reports</a:t>
            </a:r>
          </a:p>
        </p:txBody>
      </p:sp>
      <p:sp>
        <p:nvSpPr>
          <p:cNvPr id="21" name="Oval 20"/>
          <p:cNvSpPr/>
          <p:nvPr/>
        </p:nvSpPr>
        <p:spPr>
          <a:xfrm>
            <a:off x="749808" y="523447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14303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23" name="Oval 22"/>
          <p:cNvSpPr/>
          <p:nvPr/>
        </p:nvSpPr>
        <p:spPr>
          <a:xfrm>
            <a:off x="749808" y="556457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47313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and EEFs/OPAs</a:t>
            </a:r>
          </a:p>
        </p:txBody>
      </p:sp>
      <p:sp>
        <p:nvSpPr>
          <p:cNvPr id="25" name="Chevron 24"/>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9" name="Oval 28"/>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on earned value and forecasting</a:t>
            </a:r>
          </a:p>
        </p:txBody>
      </p:sp>
      <p:sp>
        <p:nvSpPr>
          <p:cNvPr id="31" name="Oval 30"/>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cost-benefit analysis</a:t>
            </a:r>
          </a:p>
        </p:txBody>
      </p:sp>
      <p:sp>
        <p:nvSpPr>
          <p:cNvPr id="33" name="Oval 32"/>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Earned value analysis and root cause analysis</a:t>
            </a:r>
          </a:p>
        </p:txBody>
      </p:sp>
      <p:sp>
        <p:nvSpPr>
          <p:cNvPr id="35" name="Oval 34"/>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448284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Trend analysis and variance analysis</a:t>
            </a:r>
          </a:p>
        </p:txBody>
      </p:sp>
      <p:sp>
        <p:nvSpPr>
          <p:cNvPr id="37" name="Oval 36"/>
          <p:cNvSpPr/>
          <p:nvPr/>
        </p:nvSpPr>
        <p:spPr>
          <a:xfrm>
            <a:off x="4593336" y="490438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12792" y="481294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voting on options</a:t>
            </a:r>
          </a:p>
        </p:txBody>
      </p:sp>
      <p:sp>
        <p:nvSpPr>
          <p:cNvPr id="39" name="Oval 38"/>
          <p:cNvSpPr/>
          <p:nvPr/>
        </p:nvSpPr>
        <p:spPr>
          <a:xfrm>
            <a:off x="4593336" y="523447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12792" y="514303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status reviews and steering committees</a:t>
            </a:r>
          </a:p>
        </p:txBody>
      </p:sp>
      <p:sp>
        <p:nvSpPr>
          <p:cNvPr id="41" name="Chevron 4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5" name="Oval 4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47" name="Oval 46"/>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9" name="Oval 48"/>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51" name="Oval 50"/>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6320" y="384916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cost and schedule forecasts</a:t>
            </a:r>
          </a:p>
        </p:txBody>
      </p:sp>
      <p:sp>
        <p:nvSpPr>
          <p:cNvPr id="53" name="Oval 52"/>
          <p:cNvSpPr/>
          <p:nvPr/>
        </p:nvSpPr>
        <p:spPr>
          <a:xfrm>
            <a:off x="8436864" y="448192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56320" y="439048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Issue log and lessons learned register updates</a:t>
            </a:r>
          </a:p>
        </p:txBody>
      </p:sp>
      <p:sp>
        <p:nvSpPr>
          <p:cNvPr id="55" name="Oval 54"/>
          <p:cNvSpPr/>
          <p:nvPr/>
        </p:nvSpPr>
        <p:spPr>
          <a:xfrm>
            <a:off x="8436864" y="502325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56320" y="493181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register updates</a:t>
            </a:r>
          </a:p>
        </p:txBody>
      </p:sp>
      <p:sp>
        <p:nvSpPr>
          <p:cNvPr id="57" name="TextBox 5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8" name="TextBox 5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9" name="TextBox 5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415</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Data to Information to Reports — the Performance Chain</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2377440"/>
        </p:xfrm>
        <a:graphic>
          <a:graphicData uri="http://schemas.openxmlformats.org/drawingml/2006/table">
            <a:tbl>
              <a:tblPr firstRow="1" bandRow="1">
                <a:tableStyleId>{5C22544A-7EE6-4342-B048-85BDC9FD1C3A}</a:tableStyleId>
              </a:tblPr>
              <a:tblGrid>
                <a:gridCol w="2066373"/>
                <a:gridCol w="3512834"/>
                <a:gridCol w="3409515"/>
                <a:gridCol w="2066373"/>
              </a:tblGrid>
              <a:tr h="475488">
                <a:tc>
                  <a:txBody>
                    <a:bodyPr wrap="square" anchor="t"/>
                    <a:lstStyle/>
                    <a:p>
                      <a:pPr algn="l">
                        <a:lnSpc>
                          <a:spcPct val="100000"/>
                        </a:lnSpc>
                        <a:spcAft>
                          <a:spcPts val="0"/>
                        </a:spcAft>
                      </a:pPr>
                      <a:r>
                        <a:rPr sz="1150" b="1" i="0">
                          <a:solidFill>
                            <a:srgbClr val="FFFFFF"/>
                          </a:solidFill>
                          <a:latin typeface="Arial"/>
                        </a:rPr>
                        <a:t>Stage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is</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Example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Who consumes it</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Work performance data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Raw, unanalysed observations and measurements taken during execution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42 hours booked; 3 defects logged; 5 of 8 stories done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Project team, delivery leads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Work performance information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Data analysed in context against the baseline to give it meaning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CPI 0.92, SPI 1.04 — over budget but slightly ahead of schedule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Project manager, functional managers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Work performance reports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Information packaged physically or electronically to drive decisions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Status report, dashboard, milestone schedule, EVM S-curve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Sponsor, steering committee, PMO</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Change requests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Formal proposals to alter a baseline, document or deliverable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Add two developers to recover the critical path</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Change control board</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Exam cue: 'raw' or 'measurements taken' = data. 'Compared to plan' = information. 'Presented to the sponsor' = report.</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416</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Report on Performance — the Reporting Toolkit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Milestone schedule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High-level visualisation of progress against planned milestone dates — the sponsor's favourite one-pager.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reports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Charts and narrative built from collected quality metrics, defect counts and improvement recommendations.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EVM reports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Graphs and computed values from the earned value equations, including the PV/EV/AC S-curve and index trends.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Variance analysis reports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Graphs and commentary comparing actual results to expected results, with root causes for each gap.</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Status reports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Period snapshot of scope, schedule, cost, risk and issues, usually with a RAG rating per dimension.</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Dashboards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Information radiators refreshed automatically so stakeholders self-serve status instead of requesting it.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417</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Developing Project Metrics and Reconciliation</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Choose metrics that drive action</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metric no one would act on is overhead. Tie each measure to a decision it informs.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Baseline and threshold</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 the target and the tolerance band before measuring so variance is judged, not debated.</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Leading and lagging</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Lagging metrics (CPI, defects escaped) confirm; leading metrics (velocity trend, blocker age) warn early.</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Reconcile the sources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Timesheets, finance ledger and the schedule tool disagree — reconcile them before publishing a number.</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Cadence and ownership</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metric needs an owner, a refresh cadence and a documented calculation method.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 effectiveness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2026 asks you to continually assess whether your metrics and artifacts are still worth maintaining.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418</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Artifact Management Effectiveness (ECO 2026 Emphasis)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and tailor artifacts</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Select only the registers, logs and plans this project's complexity actually justifies.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Create, review, update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artifact that is not maintained is worse than none — it misleads people who trust it.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Ensure accessibility</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Stakeholders must be able to find the current version without asking the project manager for it.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Single source of truth</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authoritative location per artifact; everything else links to it rather than copying it.</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Version and configuration</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Configuration management controls the deliverable; change control governs the baseline.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Assess continually</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Retire artifacts that no longer inform a decision and add ones the team keeps recreating informally.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419</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Continuous Improvement — Incremental vs Breakthrough</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Small incremental improvement</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Kaizen-style, team-owned, low risk</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Many small changes made continuously by the people doing the work</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Low cost, low risk, and reversible if the change does not help</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Driven by retrospectives, suggestion systems and daily problem solving</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Compounds over time — 1% per sprint is transformational over a year</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vehicles: Agile retrospectives, Lean waste reduction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Large breakthrough improvement</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Re-engineering, sponsor-owned, high risk</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step change that redesigns a process, technology or operating model</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High cost, high disruption, needs executive sponsorship and funding</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triggered by a strategic threat or a persistent capability gap</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Delivers a large gain at once but risks organisational rejection</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vehicles: Six Sigma DMAIC projects, business process reengineering</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Continuous improvement is a business strategy set at the organisational level and adopted by projects — usually implemented by the PMO through a structured framework such as Agile, Lean or Six Sigma.</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420</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Continuous Improvement Loop on a Live Project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155925"/>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Observe</a:t>
            </a:r>
          </a:p>
        </p:txBody>
      </p:sp>
      <p:sp>
        <p:nvSpPr>
          <p:cNvPr id="8" name="TextBox 7"/>
          <p:cNvSpPr txBox="1"/>
          <p:nvPr/>
        </p:nvSpPr>
        <p:spPr>
          <a:xfrm>
            <a:off x="694944"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Collect metrics, defect data and team feedback from the current period.</a:t>
            </a:r>
          </a:p>
        </p:txBody>
      </p:sp>
      <p:sp>
        <p:nvSpPr>
          <p:cNvPr id="9" name="Pentagon 8"/>
          <p:cNvSpPr/>
          <p:nvPr/>
        </p:nvSpPr>
        <p:spPr>
          <a:xfrm>
            <a:off x="2429256" y="1816455"/>
            <a:ext cx="1743456" cy="2155925"/>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Analyse</a:t>
            </a:r>
          </a:p>
        </p:txBody>
      </p:sp>
      <p:sp>
        <p:nvSpPr>
          <p:cNvPr id="12" name="TextBox 11"/>
          <p:cNvSpPr txBox="1"/>
          <p:nvPr/>
        </p:nvSpPr>
        <p:spPr>
          <a:xfrm>
            <a:off x="2557272"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Use root cause analysis to find why the outcome differed from intent.</a:t>
            </a:r>
          </a:p>
        </p:txBody>
      </p:sp>
      <p:sp>
        <p:nvSpPr>
          <p:cNvPr id="13" name="Pentagon 12"/>
          <p:cNvSpPr/>
          <p:nvPr/>
        </p:nvSpPr>
        <p:spPr>
          <a:xfrm>
            <a:off x="4291584" y="1816455"/>
            <a:ext cx="1743456" cy="2155925"/>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Design</a:t>
            </a:r>
          </a:p>
        </p:txBody>
      </p:sp>
      <p:sp>
        <p:nvSpPr>
          <p:cNvPr id="16" name="TextBox 15"/>
          <p:cNvSpPr txBox="1"/>
          <p:nvPr/>
        </p:nvSpPr>
        <p:spPr>
          <a:xfrm>
            <a:off x="4419600"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Propose a countermeasure with a clear hypothesis of the effect.</a:t>
            </a:r>
          </a:p>
        </p:txBody>
      </p:sp>
      <p:sp>
        <p:nvSpPr>
          <p:cNvPr id="17" name="Pentagon 16"/>
          <p:cNvSpPr/>
          <p:nvPr/>
        </p:nvSpPr>
        <p:spPr>
          <a:xfrm>
            <a:off x="6153912" y="1816455"/>
            <a:ext cx="1743456" cy="2155925"/>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Trial</a:t>
            </a:r>
          </a:p>
        </p:txBody>
      </p:sp>
      <p:sp>
        <p:nvSpPr>
          <p:cNvPr id="20" name="TextBox 19"/>
          <p:cNvSpPr txBox="1"/>
          <p:nvPr/>
        </p:nvSpPr>
        <p:spPr>
          <a:xfrm>
            <a:off x="6281928"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Run the change for one iteration or reporting period only.</a:t>
            </a:r>
          </a:p>
        </p:txBody>
      </p:sp>
      <p:sp>
        <p:nvSpPr>
          <p:cNvPr id="21" name="Pentagon 20"/>
          <p:cNvSpPr/>
          <p:nvPr/>
        </p:nvSpPr>
        <p:spPr>
          <a:xfrm>
            <a:off x="8016240" y="1816455"/>
            <a:ext cx="1743456" cy="2155925"/>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Adopt or drop</a:t>
            </a:r>
          </a:p>
        </p:txBody>
      </p:sp>
      <p:sp>
        <p:nvSpPr>
          <p:cNvPr id="24" name="TextBox 23"/>
          <p:cNvSpPr txBox="1"/>
          <p:nvPr/>
        </p:nvSpPr>
        <p:spPr>
          <a:xfrm>
            <a:off x="8144256"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Keep what measurably helped; discard what did not, and record why.</a:t>
            </a:r>
          </a:p>
        </p:txBody>
      </p:sp>
      <p:sp>
        <p:nvSpPr>
          <p:cNvPr id="25" name="Rounded Rectangle 24"/>
          <p:cNvSpPr/>
          <p:nvPr/>
        </p:nvSpPr>
        <p:spPr>
          <a:xfrm>
            <a:off x="9878568" y="1816455"/>
            <a:ext cx="1743456" cy="2155925"/>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Update OPAs</a:t>
            </a:r>
          </a:p>
        </p:txBody>
      </p:sp>
      <p:sp>
        <p:nvSpPr>
          <p:cNvPr id="28" name="TextBox 27"/>
          <p:cNvSpPr txBox="1"/>
          <p:nvPr/>
        </p:nvSpPr>
        <p:spPr>
          <a:xfrm>
            <a:off x="10006584"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Push proven improvements into templates and process assets.</a:t>
            </a:r>
          </a:p>
        </p:txBody>
      </p:sp>
      <p:sp>
        <p:nvSpPr>
          <p:cNvPr id="29" name="Rounded Rectangle 28"/>
          <p:cNvSpPr/>
          <p:nvPr/>
        </p:nvSpPr>
        <p:spPr>
          <a:xfrm>
            <a:off x="566928" y="4191836"/>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191836"/>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283276"/>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ECO Business Environment T6 asks you to utilise lessons learned, ensure improvement processes are updated, and update organisational process assets — improvement is not real until the OPA changes.</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421</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Curate Knowledge as an Asset</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 explicit knowledge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Write down what can be written down — decisions, configurations, runbooks — and archive it where others will look.</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Surface tacit knowledge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Experience and judgement live in people. Pair work, shadowing and communities of practice move it.</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Treat knowledge as an asset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Knowledge outlives the team. It belongs to the organisation, not to whoever happened to learn it.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psychological safety</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only share what did not work if admitting failure is safe. Blameless review is the enabler.</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Make it findable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lessons learned repository nobody can search has zero value; tag entries by process, phase and risk category.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Capture continuously</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 lessons as they occur, not at closure when the detail and the people have already gone.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422</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PEOPLE T3 · LEAD THE PROJECT TEAM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Realign Team Efforts with Value During Change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Prioritise team cohesion</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members join or depart, the team must re-form. Protect cohesion before chasing velocity.</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Support realignment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Revisit working agreements, roles and the Definition of Done whenever the team's composition changes.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Welcome new members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Treat each joiner as a source of new knowledge and motivation, not simply as extra capacity.</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Restate shared goals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Re-establish shared understanding of project goals and agreements so nobody optimises the wrong thing.</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Collaborate on value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Ask each member explicitly how their work adds value; the answer often exposes hidden waste.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Navigate disruption</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Expect a dip in performance after disruption; coach through it rather than escalating immediately.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423</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Perform Integrated Change Control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review, approve or reject every change request, manage changes to deliverables and baselines, and communicate the decision. This process is performed from project start to finish.</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change management plan, configuration management plan, baselines</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basis of estimates, requirements traceability matrix</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report</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21" name="Oval 20"/>
          <p:cNvSpPr/>
          <p:nvPr/>
        </p:nvSpPr>
        <p:spPr>
          <a:xfrm>
            <a:off x="749808" y="523448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14304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OPAs</a:t>
            </a:r>
          </a:p>
        </p:txBody>
      </p:sp>
      <p:sp>
        <p:nvSpPr>
          <p:cNvPr id="23" name="Chevron 22"/>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7" name="Oval 26"/>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and change control tools</a:t>
            </a:r>
          </a:p>
        </p:txBody>
      </p:sp>
      <p:sp>
        <p:nvSpPr>
          <p:cNvPr id="29" name="Oval 28"/>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cost-benefit analysis</a:t>
            </a:r>
          </a:p>
        </p:txBody>
      </p:sp>
      <p:sp>
        <p:nvSpPr>
          <p:cNvPr id="31" name="Oval 30"/>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394151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voting, autocratic decision making, multicriteria decision analysis</a:t>
            </a:r>
          </a:p>
        </p:txBody>
      </p:sp>
      <p:sp>
        <p:nvSpPr>
          <p:cNvPr id="33" name="Oval 32"/>
          <p:cNvSpPr/>
          <p:nvPr/>
        </p:nvSpPr>
        <p:spPr>
          <a:xfrm>
            <a:off x="4593336" y="478551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9407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change control board meetings</a:t>
            </a:r>
          </a:p>
        </p:txBody>
      </p:sp>
      <p:sp>
        <p:nvSpPr>
          <p:cNvPr id="35" name="Oval 34"/>
          <p:cNvSpPr/>
          <p:nvPr/>
        </p:nvSpPr>
        <p:spPr>
          <a:xfrm>
            <a:off x="4593336" y="532683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23539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Configuration management system</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Approved change requests</a:t>
            </a:r>
          </a:p>
        </p:txBody>
      </p:sp>
      <p:sp>
        <p:nvSpPr>
          <p:cNvPr id="43" name="Oval 42"/>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5" name="Oval 44"/>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7" name="Oval 46"/>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384916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log (records every request and its disposition)</a:t>
            </a:r>
          </a:p>
        </p:txBody>
      </p:sp>
      <p:sp>
        <p:nvSpPr>
          <p:cNvPr id="49" name="Oval 48"/>
          <p:cNvSpPr/>
          <p:nvPr/>
        </p:nvSpPr>
        <p:spPr>
          <a:xfrm>
            <a:off x="8436864" y="448192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439048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Updated baselines where the change was approved</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424</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Causes of Project Changes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Inaccurate initial estimates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Estimates made with the least information ever available prove wrong as detail emerges.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New regulations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External legal, tax or safety requirements arrive mid-flight and are non-negotiable.</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Missed requirements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Elicitation never reached a stakeholder group whose needs surface during review or UAT.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Specification changes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business changes its mind because the market, competitor or strategy changed.</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 response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An identified risk occurs and the agreed response requires a baseline change to implement.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Technology and vendor shifts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supplier discontinues a component or a platform version reaches end of support.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425</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Four Change Request Types — Know These Cold</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3" cy="2377440"/>
        </p:xfrm>
        <a:graphic>
          <a:graphicData uri="http://schemas.openxmlformats.org/drawingml/2006/table">
            <a:tbl>
              <a:tblPr firstRow="1" bandRow="1">
                <a:tableStyleId>{5C22544A-7EE6-4342-B048-85BDC9FD1C3A}</a:tableStyleId>
              </a:tblPr>
              <a:tblGrid>
                <a:gridCol w="1789872"/>
                <a:gridCol w="3474458"/>
                <a:gridCol w="2632165"/>
                <a:gridCol w="3158598"/>
              </a:tblGrid>
              <a:tr h="475488">
                <a:tc>
                  <a:txBody>
                    <a:bodyPr wrap="square" anchor="t"/>
                    <a:lstStyle/>
                    <a:p>
                      <a:pPr algn="l">
                        <a:lnSpc>
                          <a:spcPct val="100000"/>
                        </a:lnSpc>
                        <a:spcAft>
                          <a:spcPts val="0"/>
                        </a:spcAft>
                      </a:pPr>
                      <a:r>
                        <a:rPr sz="1150" b="1" i="0">
                          <a:solidFill>
                            <a:srgbClr val="FFFFFF"/>
                          </a:solidFill>
                          <a:latin typeface="Arial"/>
                        </a:rPr>
                        <a:t>Type</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Trigger</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Example</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Corrective action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Realigns the performance of the project work with the project management plan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Performance has already deviated from plan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Add a second tester because the defect backlog is growing</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Preventive action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Ensures the future performance of project work aligns with the plan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deviation is forecast but has not yet occurred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Book contractor capacity now because a resource gap is predicted</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Defect repair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Modifies a nonconforming product, deliverable or component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deliverable failed inspection or test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Rework a module that failed the acceptance test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Update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Modifies formally controlled project documents or a baseline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Approved content changes require the record to change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Revise the scope baseline after an approved scope addition</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CECF0"/>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Corrective = fix the present. Preventive = protect the future. Defect repair = fix the product. Update = fix the document or baseline.</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426</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Corrective vs Preventive Action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Corrective action</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Reactive — the variance already happened</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Triggered by measured performance that is already off plan</a:t>
            </a:r>
          </a:p>
        </p:txBody>
      </p:sp>
      <p:sp>
        <p:nvSpPr>
          <p:cNvPr id="11" name="Oval 10"/>
          <p:cNvSpPr/>
          <p:nvPr/>
        </p:nvSpPr>
        <p:spPr>
          <a:xfrm>
            <a:off x="786384" y="278571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Aim is to bring future performance back onto the approved baseline</a:t>
            </a:r>
          </a:p>
        </p:txBody>
      </p:sp>
      <p:sp>
        <p:nvSpPr>
          <p:cNvPr id="13" name="Oval 12"/>
          <p:cNvSpPr/>
          <p:nvPr/>
        </p:nvSpPr>
        <p:spPr>
          <a:xfrm>
            <a:off x="786384" y="327949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discovered through variance analysis or an EVM index below 1.0</a:t>
            </a:r>
          </a:p>
        </p:txBody>
      </p:sp>
      <p:sp>
        <p:nvSpPr>
          <p:cNvPr id="15" name="Oval 14"/>
          <p:cNvSpPr/>
          <p:nvPr/>
        </p:nvSpPr>
        <p:spPr>
          <a:xfrm>
            <a:off x="786384" y="377327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 CPI has dropped to 0.85, so rescope low-value work</a:t>
            </a:r>
          </a:p>
        </p:txBody>
      </p:sp>
      <p:sp>
        <p:nvSpPr>
          <p:cNvPr id="17" name="Oval 16"/>
          <p:cNvSpPr/>
          <p:nvPr/>
        </p:nvSpPr>
        <p:spPr>
          <a:xfrm>
            <a:off x="786384" y="409331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9272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Does not by itself change the baseline — it changes how work is done</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Preventive action</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Proactive — the variance is only forecast</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Triggered by a forecast, trend or identified risk, not by actual damage</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Aim is to stop the deviation ever appearing in the actuals</a:t>
            </a:r>
          </a:p>
        </p:txBody>
      </p:sp>
      <p:sp>
        <p:nvSpPr>
          <p:cNvPr id="27" name="Oval 26"/>
          <p:cNvSpPr/>
          <p:nvPr/>
        </p:nvSpPr>
        <p:spPr>
          <a:xfrm>
            <a:off x="6451092" y="327949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Usually discovered through trend analysis, risk review or reserve analysis</a:t>
            </a:r>
          </a:p>
        </p:txBody>
      </p:sp>
      <p:sp>
        <p:nvSpPr>
          <p:cNvPr id="29" name="Oval 28"/>
          <p:cNvSpPr/>
          <p:nvPr/>
        </p:nvSpPr>
        <p:spPr>
          <a:xfrm>
            <a:off x="6451092" y="377327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 cross-train a second engineer before the specialist goes on leave</a:t>
            </a:r>
          </a:p>
        </p:txBody>
      </p:sp>
      <p:sp>
        <p:nvSpPr>
          <p:cNvPr id="31" name="Oval 30"/>
          <p:cNvSpPr/>
          <p:nvPr/>
        </p:nvSpPr>
        <p:spPr>
          <a:xfrm>
            <a:off x="6451092" y="426704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Closely related to risk response — prevention is mitigation applied to work</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'has fallen behind' or 'is over budget' points to corrective action. 'May', 'is expected to', or 'trend suggests' points to preventive action.</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427</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Change Request Flow</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Identify and raise</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Anyone may raise a change; it must be written, not verbal.</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Log the request</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Record it in the change log with a unique ID, requester and date.</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Assess the impact</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Analyse impact on scope, schedule, cost, quality, risk and resources.</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Decide</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PM, CCB or sponsor approves, rejects or defers per the approval levels.</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Communicate</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Tell the requester and affected stakeholders the decision and the reason.</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Implement and update</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Execute the approved change, update baselines and all documents.</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Rejected changes are still logged. The change log is the audit trail proving that governance was followed — an exam favourite.</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428</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Change Control Systems and the Change Control Board</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control system</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forms, tracking methods, processes and approval levels required to authorise or reject a requested change.</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control board (CCB)</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formally chartered group that reviews, evaluates, approves, defers or rejects changes and records decisions.</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Approval levels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change management plan defines what the PM may approve alone and what must escalate to the CCB or the sponsor.</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Configuration management system</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Controls the product itself — versions, specifications and physical characteristics.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log</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register of every request with status, decision, decision date and rationale; shared with stakeholders.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Emergency change procedure</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documented fast path for urgent changes, with retrospective CCB ratification.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429</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CHANGE CONTROL</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 Integrated Change Control</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stakeholder asks you to add a small feature; there is budget available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Do not agree on the spot. Assess the impact and submit a change request through integrated change control.</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change was already implemented by a team member without approval</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Determine the impact first, then process it through change control and update the affected documents and baselines.</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sponsor demands an urgent change during a steering meeting</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Analyse impact on all baselines and present options; the CCB — not the sponsor's verbal instruction — authorises the baseline change.</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change request is rejected</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Record the rejection and rationale in the change log and communicate it to the requester — rejected changes are still documented.</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430</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T3 · MANAGE AND CONTROL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Consideration — Handling Change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is expected</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Adaptive approaches assume requirements will change; the process is designed to absorb rather than resist change.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Product Owner authority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Product Owner holds autocratic decision-making power over scope — others must convince them.</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Backlog is the change log</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New or updated features enter the Product Backlog; updated user stories join the next Sprint Backlog.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Sprint scope is protected</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Change is welcomed between iterations; the current sprint's committed scope stays fixed.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evolves in layers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Roadmap to release backlog to iteration backlog — each layer reprioritised as needs are learned.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Validate against feedback</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Check user stories and the Definition of Done against customer feedback and product requirements.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431</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T4 · ENGAGE STAKEHOLDERS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Stakeholder Engagement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project stakeholder relationships and tailor strategies to engage stakeholders through modification of engagement strategies and plans.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communications and stakeholder engagement management plans</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communications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register and stakeholder register</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21" name="Oval 20"/>
          <p:cNvSpPr/>
          <p:nvPr/>
        </p:nvSpPr>
        <p:spPr>
          <a:xfrm>
            <a:off x="749808" y="523448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14304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OPAs</a:t>
            </a:r>
          </a:p>
        </p:txBody>
      </p:sp>
      <p:sp>
        <p:nvSpPr>
          <p:cNvPr id="23" name="Chevron 22"/>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7" name="Oval 26"/>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2858871"/>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analysis: alternatives analysis, root cause analysis, stakeholder engagement assessment matrix</a:t>
            </a:r>
          </a:p>
        </p:txBody>
      </p:sp>
      <p:sp>
        <p:nvSpPr>
          <p:cNvPr id="29" name="Oval 28"/>
          <p:cNvSpPr/>
          <p:nvPr/>
        </p:nvSpPr>
        <p:spPr>
          <a:xfrm>
            <a:off x="4593336" y="3674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582618"/>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Decision making: multicriteria decision analysis, voting</a:t>
            </a:r>
          </a:p>
        </p:txBody>
      </p:sp>
      <p:sp>
        <p:nvSpPr>
          <p:cNvPr id="31" name="Oval 30"/>
          <p:cNvSpPr/>
          <p:nvPr/>
        </p:nvSpPr>
        <p:spPr>
          <a:xfrm>
            <a:off x="4593336" y="419618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104740"/>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Data representation: stakeholder engagement assessment matrix</a:t>
            </a:r>
          </a:p>
        </p:txBody>
      </p:sp>
      <p:sp>
        <p:nvSpPr>
          <p:cNvPr id="33" name="Oval 32"/>
          <p:cNvSpPr/>
          <p:nvPr/>
        </p:nvSpPr>
        <p:spPr>
          <a:xfrm>
            <a:off x="4593336" y="471830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26862"/>
            <a:ext cx="2782824" cy="403250"/>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Communication skills: feedback and presentations</a:t>
            </a:r>
          </a:p>
        </p:txBody>
      </p:sp>
      <p:sp>
        <p:nvSpPr>
          <p:cNvPr id="35" name="Oval 34"/>
          <p:cNvSpPr/>
          <p:nvPr/>
        </p:nvSpPr>
        <p:spPr>
          <a:xfrm>
            <a:off x="4593336" y="524042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148984"/>
            <a:ext cx="2782824" cy="60487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Interpersonal and team skills: active listening, cultural awareness, leadership, networking</a:t>
            </a:r>
          </a:p>
        </p:txBody>
      </p:sp>
      <p:sp>
        <p:nvSpPr>
          <p:cNvPr id="37" name="Oval 36"/>
          <p:cNvSpPr/>
          <p:nvPr/>
        </p:nvSpPr>
        <p:spPr>
          <a:xfrm>
            <a:off x="4593336" y="596417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12792" y="5872731"/>
            <a:ext cx="2782824" cy="201625"/>
          </a:xfrm>
          <a:prstGeom prst="rect">
            <a:avLst/>
          </a:prstGeom>
          <a:noFill/>
        </p:spPr>
        <p:txBody>
          <a:bodyPr wrap="square" anchor="t">
            <a:spAutoFit/>
          </a:bodyPr>
          <a:lstStyle/>
          <a:p>
            <a:pPr algn="l">
              <a:lnSpc>
                <a:spcPct val="112000"/>
              </a:lnSpc>
              <a:spcAft>
                <a:spcPts val="400"/>
              </a:spcAft>
            </a:pPr>
            <a:r>
              <a:rPr sz="1050" b="0" i="0">
                <a:solidFill>
                  <a:srgbClr val="161B26"/>
                </a:solidFill>
                <a:latin typeface="Arial"/>
              </a:rPr>
              <a:t>Meetings</a:t>
            </a:r>
          </a:p>
        </p:txBody>
      </p:sp>
      <p:sp>
        <p:nvSpPr>
          <p:cNvPr id="39" name="Chevron 38"/>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3" name="Oval 42"/>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45" name="Oval 44"/>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7" name="Oval 46"/>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9" name="Oval 48"/>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384916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stakeholder register, risk register</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432</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Validate Scope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formalise acceptance of completed deliverables. Control Quality verifies correctness internally; Validate Scope obtains the customer's formal acceptance.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management plan, requirements management plan, scope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quality reports, requirements documentation</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traceability matrix</a:t>
            </a:r>
          </a:p>
        </p:txBody>
      </p:sp>
      <p:sp>
        <p:nvSpPr>
          <p:cNvPr id="17" name="Oval 16"/>
          <p:cNvSpPr/>
          <p:nvPr/>
        </p:nvSpPr>
        <p:spPr>
          <a:xfrm>
            <a:off x="749808" y="47855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Verified deliverables (output of Control Quality)</a:t>
            </a:r>
          </a:p>
        </p:txBody>
      </p:sp>
      <p:sp>
        <p:nvSpPr>
          <p:cNvPr id="19" name="Oval 18"/>
          <p:cNvSpPr/>
          <p:nvPr/>
        </p:nvSpPr>
        <p:spPr>
          <a:xfrm>
            <a:off x="749808" y="53268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2353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Inspection: measuring, examining and validating deliverables against acceptance criteria</a:t>
            </a:r>
          </a:p>
        </p:txBody>
      </p:sp>
      <p:sp>
        <p:nvSpPr>
          <p:cNvPr id="27" name="Oval 26"/>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Walkthroughs, reviews, audits and product demonstrations</a:t>
            </a:r>
          </a:p>
        </p:txBody>
      </p:sp>
      <p:sp>
        <p:nvSpPr>
          <p:cNvPr id="29" name="Oval 28"/>
          <p:cNvSpPr/>
          <p:nvPr/>
        </p:nvSpPr>
        <p:spPr>
          <a:xfrm>
            <a:off x="4593336" y="424418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Decision making: voting to reach agreement on acceptance</a:t>
            </a:r>
          </a:p>
        </p:txBody>
      </p:sp>
      <p:sp>
        <p:nvSpPr>
          <p:cNvPr id="31" name="Oval 30"/>
          <p:cNvSpPr/>
          <p:nvPr/>
        </p:nvSpPr>
        <p:spPr>
          <a:xfrm>
            <a:off x="4593336" y="478551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User acceptance testing (UAT)</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Accepted deliverables (signed off by the customer)</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41" name="Oval 40"/>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(for deliverables not accepted)</a:t>
            </a:r>
          </a:p>
        </p:txBody>
      </p:sp>
      <p:sp>
        <p:nvSpPr>
          <p:cNvPr id="43" name="Oval 42"/>
          <p:cNvSpPr/>
          <p:nvPr/>
        </p:nvSpPr>
        <p:spPr>
          <a:xfrm>
            <a:off x="8436864" y="436305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27161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lessons learned register, requirements documentation, traceability matrix</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433</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Quality vs Validate Scope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Control Quality</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Internal — is it built right?</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Performed by the project team and quality function, usually before handover</a:t>
            </a:r>
          </a:p>
        </p:txBody>
      </p:sp>
      <p:sp>
        <p:nvSpPr>
          <p:cNvPr id="11" name="Oval 10"/>
          <p:cNvSpPr/>
          <p:nvPr/>
        </p:nvSpPr>
        <p:spPr>
          <a:xfrm>
            <a:off x="786384" y="295945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Checks the deliverable against the quality requirements and specifications</a:t>
            </a:r>
          </a:p>
        </p:txBody>
      </p:sp>
      <p:sp>
        <p:nvSpPr>
          <p:cNvPr id="13" name="Oval 12"/>
          <p:cNvSpPr/>
          <p:nvPr/>
        </p:nvSpPr>
        <p:spPr>
          <a:xfrm>
            <a:off x="786384" y="345323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inspection, testing, measurement and the seven basic quality tools</a:t>
            </a:r>
          </a:p>
        </p:txBody>
      </p:sp>
      <p:sp>
        <p:nvSpPr>
          <p:cNvPr id="15" name="Oval 14"/>
          <p:cNvSpPr/>
          <p:nvPr/>
        </p:nvSpPr>
        <p:spPr>
          <a:xfrm>
            <a:off x="786384" y="394700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Key output: verified deliverables plus quality control measurements</a:t>
            </a:r>
          </a:p>
        </p:txBody>
      </p:sp>
      <p:sp>
        <p:nvSpPr>
          <p:cNvPr id="17" name="Oval 16"/>
          <p:cNvSpPr/>
          <p:nvPr/>
        </p:nvSpPr>
        <p:spPr>
          <a:xfrm>
            <a:off x="786384" y="4440783"/>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Nonconformance produces a defect repair change request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Validate Scope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External — is it the right thing?</a:t>
            </a:r>
          </a:p>
        </p:txBody>
      </p:sp>
      <p:sp>
        <p:nvSpPr>
          <p:cNvPr id="23" name="Oval 22"/>
          <p:cNvSpPr/>
          <p:nvPr/>
        </p:nvSpPr>
        <p:spPr>
          <a:xfrm>
            <a:off x="6451092"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Performed with the customer or sponsor, taking verified deliverables as input</a:t>
            </a:r>
          </a:p>
        </p:txBody>
      </p:sp>
      <p:sp>
        <p:nvSpPr>
          <p:cNvPr id="25" name="Oval 24"/>
          <p:cNvSpPr/>
          <p:nvPr/>
        </p:nvSpPr>
        <p:spPr>
          <a:xfrm>
            <a:off x="6451092"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Checks the deliverable against the agreed acceptance criteria</a:t>
            </a:r>
          </a:p>
        </p:txBody>
      </p:sp>
      <p:sp>
        <p:nvSpPr>
          <p:cNvPr id="27" name="Oval 26"/>
          <p:cNvSpPr/>
          <p:nvPr/>
        </p:nvSpPr>
        <p:spPr>
          <a:xfrm>
            <a:off x="6451092"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inspection, demonstration, walkthroughs, UAT and formal sign-off</a:t>
            </a:r>
          </a:p>
        </p:txBody>
      </p:sp>
      <p:sp>
        <p:nvSpPr>
          <p:cNvPr id="29" name="Oval 28"/>
          <p:cNvSpPr/>
          <p:nvPr/>
        </p:nvSpPr>
        <p:spPr>
          <a:xfrm>
            <a:off x="6451092"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Key output: accepted deliverables recorded as formal acceptance</a:t>
            </a:r>
          </a:p>
        </p:txBody>
      </p:sp>
      <p:sp>
        <p:nvSpPr>
          <p:cNvPr id="31" name="Oval 30"/>
          <p:cNvSpPr/>
          <p:nvPr/>
        </p:nvSpPr>
        <p:spPr>
          <a:xfrm>
            <a:off x="6451092"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Non-acceptance produces a change request, not a silent rework</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Sequence to remember: Control Quality produces verified deliverables, which become the input to Validate Scope, which produces accepted deliverables, which become the input to Close Project or Phase.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434</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Acceptance Criteria, Definition of Ready, Definition of Done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211019"/>
                <a:gridCol w="3216027"/>
                <a:gridCol w="2613022"/>
                <a:gridCol w="3015026"/>
              </a:tblGrid>
              <a:tr h="475488">
                <a:tc>
                  <a:txBody>
                    <a:bodyPr wrap="square" anchor="t"/>
                    <a:lstStyle/>
                    <a:p>
                      <a:pPr algn="l">
                        <a:lnSpc>
                          <a:spcPct val="100000"/>
                        </a:lnSpc>
                        <a:spcAft>
                          <a:spcPts val="0"/>
                        </a:spcAft>
                      </a:pPr>
                      <a:r>
                        <a:rPr sz="1150" b="1" i="0">
                          <a:solidFill>
                            <a:srgbClr val="FFFFFF"/>
                          </a:solidFill>
                          <a:latin typeface="Arial"/>
                        </a:rPr>
                        <a:t>Concept</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Scope of application</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Who owns it</a:t>
                      </a:r>
                    </a:p>
                  </a:txBody>
                  <a:tcPr anchor="ctr">
                    <a:solidFill>
                      <a:srgbClr val="F59E0B"/>
                    </a:solidFill>
                  </a:tcPr>
                </a:tc>
                <a:tc>
                  <a:txBody>
                    <a:bodyPr wrap="square" anchor="t"/>
                    <a:lstStyle/>
                    <a:p>
                      <a:pPr algn="l">
                        <a:lnSpc>
                          <a:spcPct val="100000"/>
                        </a:lnSpc>
                        <a:spcAft>
                          <a:spcPts val="0"/>
                        </a:spcAft>
                      </a:pPr>
                      <a:r>
                        <a:rPr sz="1150" b="1" i="0">
                          <a:solidFill>
                            <a:srgbClr val="FFFFFF"/>
                          </a:solidFill>
                          <a:latin typeface="Arial"/>
                        </a:rPr>
                        <a:t>What it prevents</a:t>
                      </a:r>
                    </a:p>
                  </a:txBody>
                  <a:tcPr anchor="ctr">
                    <a:solidFill>
                      <a:srgbClr val="F59E0B"/>
                    </a:solidFill>
                  </a:tcPr>
                </a:tc>
              </a:tr>
              <a:tr h="475488">
                <a:tc>
                  <a:txBody>
                    <a:bodyPr wrap="square" anchor="t"/>
                    <a:lstStyle/>
                    <a:p>
                      <a:pPr algn="l">
                        <a:lnSpc>
                          <a:spcPct val="110000"/>
                        </a:lnSpc>
                        <a:spcAft>
                          <a:spcPts val="0"/>
                        </a:spcAft>
                      </a:pPr>
                      <a:r>
                        <a:rPr sz="1050" b="1" i="0">
                          <a:solidFill>
                            <a:srgbClr val="161B26"/>
                          </a:solidFill>
                          <a:latin typeface="Arial"/>
                        </a:rPr>
                        <a:t>Acceptance criteria</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Specific to one requirement, user story or deliverable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Product Owner / customer, agreed with the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Arguing about 'finished' after the work is already built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Definition of Ready (DoR)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Applies to every item before it may enter an iteration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team, agreed with the Product Owner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Starting work on an item too vague to estimate or complete</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Definition of Done (DoD)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Applies to every increment the team produces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whole delivery team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Hidden work — untested, undocumented, undeployed 'done'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Requirements traceability matrix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Links every requirement to its deliverable, test and acceptance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Project manager / business analyst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Requirements silently dropped between plan and delivery</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FEF7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Acceptance criteria may legitimately be modified during the life cycle — but only through the change control process.</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435</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Scope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the status of the project and product scope and manage changes to the scope baseline — this is where scope creep is caught.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scope, requirements and change management plans; scope and performance measurement baselines</a:t>
            </a:r>
          </a:p>
        </p:txBody>
      </p:sp>
      <p:sp>
        <p:nvSpPr>
          <p:cNvPr id="13" name="Oval 12"/>
          <p:cNvSpPr/>
          <p:nvPr/>
        </p:nvSpPr>
        <p:spPr>
          <a:xfrm>
            <a:off x="749808" y="39140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64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requirements documentation, traceability matrix</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variance analysis comparing actual to baseline</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trend analysis of scope growth over time</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Inspection of the delivered scope against the WBS</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Requirements traceability review</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 (scope variance)</a:t>
            </a:r>
          </a:p>
        </p:txBody>
      </p:sp>
      <p:sp>
        <p:nvSpPr>
          <p:cNvPr id="37" name="Oval 36"/>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including corrective and preventive action</a:t>
            </a:r>
          </a:p>
        </p:txBody>
      </p:sp>
      <p:sp>
        <p:nvSpPr>
          <p:cNvPr id="39" name="Oval 38"/>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94151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scope baseline, schedule baseline, cost baseline</a:t>
            </a:r>
          </a:p>
        </p:txBody>
      </p:sp>
      <p:sp>
        <p:nvSpPr>
          <p:cNvPr id="41" name="Oval 40"/>
          <p:cNvSpPr/>
          <p:nvPr/>
        </p:nvSpPr>
        <p:spPr>
          <a:xfrm>
            <a:off x="8436864" y="4785510"/>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436</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T2 · DEVELOP AND MANAGE PROJECT SCOPE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Scope Creep vs Gold Plating</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Scope creep</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Uncontrolled expansion, usually customer-driven</a:t>
            </a:r>
          </a:p>
        </p:txBody>
      </p:sp>
      <p:sp>
        <p:nvSpPr>
          <p:cNvPr id="9" name="Oval 8"/>
          <p:cNvSpPr/>
          <p:nvPr/>
        </p:nvSpPr>
        <p:spPr>
          <a:xfrm>
            <a:off x="786384"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Requirements added without corresponding schedule, cost or resource change</a:t>
            </a:r>
          </a:p>
        </p:txBody>
      </p:sp>
      <p:sp>
        <p:nvSpPr>
          <p:cNvPr id="11" name="Oval 10"/>
          <p:cNvSpPr/>
          <p:nvPr/>
        </p:nvSpPr>
        <p:spPr>
          <a:xfrm>
            <a:off x="786384"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Each addition feels small — the cumulative effect destroys the baseline</a:t>
            </a:r>
          </a:p>
        </p:txBody>
      </p:sp>
      <p:sp>
        <p:nvSpPr>
          <p:cNvPr id="13" name="Oval 12"/>
          <p:cNvSpPr/>
          <p:nvPr/>
        </p:nvSpPr>
        <p:spPr>
          <a:xfrm>
            <a:off x="786384" y="345323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Root causes: weak scope baseline, no change control, eager-to-please PM</a:t>
            </a:r>
          </a:p>
        </p:txBody>
      </p:sp>
      <p:sp>
        <p:nvSpPr>
          <p:cNvPr id="15" name="Oval 14"/>
          <p:cNvSpPr/>
          <p:nvPr/>
        </p:nvSpPr>
        <p:spPr>
          <a:xfrm>
            <a:off x="786384" y="394700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Control: a documented scope baseline plus enforced integrated change control</a:t>
            </a:r>
          </a:p>
        </p:txBody>
      </p:sp>
      <p:sp>
        <p:nvSpPr>
          <p:cNvPr id="17" name="Oval 16"/>
          <p:cNvSpPr/>
          <p:nvPr/>
        </p:nvSpPr>
        <p:spPr>
          <a:xfrm>
            <a:off x="786384" y="4440783"/>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Detect it with trend analysis on requirement count and story point totals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Gold plating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Unrequested extras, usually team-driven</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team adds features the customer never asked for and will not pay for</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Consumes budget and introduces risk with zero measured business value</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Root causes: engineer enthusiasm, misread of what 'delighting the customer' means</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Control: Definition of Done tied strictly to acceptance criteria</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PMI's position is unambiguous — gold plating is never acceptable</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are scope control failures. The response is the same: bring it back to the baseline, and route any genuine addition through a change request with a full impact assessment.</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437</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T8 · EVALUATE EXTERNAL BUSINESS ENVIRONMENT CHANGES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the External Business Environment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cuts both ways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External change brings opportunities to add or extend value, not only threats to defend against.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Survey the environment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Track regulatory, technology, geopolitical and market changes on a defined cadence, not ad hoc.</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Stay vigilant for threats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competitor launch or a regulation can invalidate the business case even while delivery is green.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Update the risk register</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New external factors become new risks with new probability, impact and threshold values.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Reprioritise scope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 the impact on scope or backlog and reprioritise so the project still delivers the intended value.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structured tools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PESTLE, SWOT and horizon scanning give the scan discipline rather than relying on the PM's news feed.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438</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Schedule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the status of the project to update the schedule and manage changes to the schedule baseline. Determining the current status and influencing the factors that create schedule change are the core work.</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schedule management plan, schedule baseline, scope baseline, performance measurement baseline</a:t>
            </a:r>
          </a:p>
        </p:txBody>
      </p:sp>
      <p:sp>
        <p:nvSpPr>
          <p:cNvPr id="13" name="Oval 12"/>
          <p:cNvSpPr/>
          <p:nvPr/>
        </p:nvSpPr>
        <p:spPr>
          <a:xfrm>
            <a:off x="749808" y="39140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82264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project calendars, project schedule</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calendars and schedule data</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9" name="Oval 18"/>
          <p:cNvSpPr/>
          <p:nvPr/>
        </p:nvSpPr>
        <p:spPr>
          <a:xfrm>
            <a:off x="749808" y="53268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2353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earned value analysis, iteration burndown chart, performance reviews, trend analysis, variance analysis, what-if scenario analysis</a:t>
            </a:r>
          </a:p>
        </p:txBody>
      </p:sp>
      <p:sp>
        <p:nvSpPr>
          <p:cNvPr id="27" name="Oval 26"/>
          <p:cNvSpPr/>
          <p:nvPr/>
        </p:nvSpPr>
        <p:spPr>
          <a:xfrm>
            <a:off x="4593336" y="391408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82264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Critical path method</a:t>
            </a:r>
          </a:p>
        </p:txBody>
      </p:sp>
      <p:sp>
        <p:nvSpPr>
          <p:cNvPr id="29" name="Oval 28"/>
          <p:cNvSpPr/>
          <p:nvPr/>
        </p:nvSpPr>
        <p:spPr>
          <a:xfrm>
            <a:off x="4593336" y="424418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31" name="Oval 30"/>
          <p:cNvSpPr/>
          <p:nvPr/>
        </p:nvSpPr>
        <p:spPr>
          <a:xfrm>
            <a:off x="4593336" y="478551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69407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Resource optimisation</a:t>
            </a:r>
          </a:p>
        </p:txBody>
      </p:sp>
      <p:sp>
        <p:nvSpPr>
          <p:cNvPr id="33" name="Oval 32"/>
          <p:cNvSpPr/>
          <p:nvPr/>
        </p:nvSpPr>
        <p:spPr>
          <a:xfrm>
            <a:off x="4593336" y="511560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502416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Leads and lags</a:t>
            </a:r>
          </a:p>
        </p:txBody>
      </p:sp>
      <p:sp>
        <p:nvSpPr>
          <p:cNvPr id="35" name="Oval 34"/>
          <p:cNvSpPr/>
          <p:nvPr/>
        </p:nvSpPr>
        <p:spPr>
          <a:xfrm>
            <a:off x="4593336" y="544570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35426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compression: crashing and fast tracking</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 SV and SPI</a:t>
            </a:r>
          </a:p>
        </p:txBody>
      </p:sp>
      <p:sp>
        <p:nvSpPr>
          <p:cNvPr id="43" name="Oval 42"/>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Schedule forecasts</a:t>
            </a:r>
          </a:p>
        </p:txBody>
      </p:sp>
      <p:sp>
        <p:nvSpPr>
          <p:cNvPr id="45" name="Oval 44"/>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7" name="Oval 46"/>
          <p:cNvSpPr/>
          <p:nvPr/>
        </p:nvSpPr>
        <p:spPr>
          <a:xfrm>
            <a:off x="8436864" y="415183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06039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schedule baseline, cost baseline, performance measurement baseline</a:t>
            </a:r>
          </a:p>
        </p:txBody>
      </p:sp>
      <p:sp>
        <p:nvSpPr>
          <p:cNvPr id="49" name="Oval 48"/>
          <p:cNvSpPr/>
          <p:nvPr/>
        </p:nvSpPr>
        <p:spPr>
          <a:xfrm>
            <a:off x="8436864" y="490438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439</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T6 · PLAN AND MANAGE FINANCE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Earned Value Management</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EVM answers three questions with one integrated set of numbers: where should we be, where are we, and what did it cost?</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Planned Value (PV)</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authorised budget assigned to the work scheduled to be complete by now.</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Earned Value (EV)</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measure of work actually performed, expressed in the budget authorised for that work.</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Actual Cost (AC)</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The realised cost actually incurred for the work performed in the period measured.</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440</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EVM Variable Glossary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6" cy="4895241"/>
        </p:xfrm>
        <a:graphic>
          <a:graphicData uri="http://schemas.openxmlformats.org/drawingml/2006/table">
            <a:tbl>
              <a:tblPr firstRow="1" bandRow="1">
                <a:tableStyleId>{5C22544A-7EE6-4342-B048-85BDC9FD1C3A}</a:tableStyleId>
              </a:tblPr>
              <a:tblGrid>
                <a:gridCol w="1062990"/>
                <a:gridCol w="2551176"/>
                <a:gridCol w="5952744"/>
                <a:gridCol w="1488186"/>
              </a:tblGrid>
              <a:tr h="407936">
                <a:tc>
                  <a:txBody>
                    <a:bodyPr wrap="square" anchor="t"/>
                    <a:lstStyle/>
                    <a:p>
                      <a:pPr algn="l">
                        <a:lnSpc>
                          <a:spcPct val="100000"/>
                        </a:lnSpc>
                        <a:spcAft>
                          <a:spcPts val="0"/>
                        </a:spcAft>
                      </a:pPr>
                      <a:r>
                        <a:rPr sz="1150" b="1" i="0">
                          <a:solidFill>
                            <a:srgbClr val="FFFFFF"/>
                          </a:solidFill>
                          <a:latin typeface="Arial"/>
                        </a:rPr>
                        <a:t>Symbol</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Name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Meaning in plain language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Units</a:t>
                      </a:r>
                    </a:p>
                  </a:txBody>
                  <a:tcPr anchor="ctr">
                    <a:solidFill>
                      <a:srgbClr val="7C3AED"/>
                    </a:solidFill>
                  </a:tcPr>
                </a:tc>
              </a:tr>
              <a:tr h="407936">
                <a:tc>
                  <a:txBody>
                    <a:bodyPr wrap="square" anchor="t"/>
                    <a:lstStyle/>
                    <a:p>
                      <a:pPr algn="l">
                        <a:lnSpc>
                          <a:spcPct val="110000"/>
                        </a:lnSpc>
                        <a:spcAft>
                          <a:spcPts val="0"/>
                        </a:spcAft>
                      </a:pPr>
                      <a:r>
                        <a:rPr sz="1050" b="1" i="0">
                          <a:solidFill>
                            <a:srgbClr val="161B26"/>
                          </a:solidFill>
                          <a:latin typeface="Arial"/>
                        </a:rPr>
                        <a:t>PV</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Planned Value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value of work you planned to have finished by the measurement date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EV</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Earned Value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budgeted value of the work you actually finished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5F8FC"/>
                    </a:solidFill>
                  </a:tcPr>
                </a:tc>
              </a:tr>
              <a:tr h="407936">
                <a:tc>
                  <a:txBody>
                    <a:bodyPr wrap="square" anchor="t"/>
                    <a:lstStyle/>
                    <a:p>
                      <a:pPr algn="l">
                        <a:lnSpc>
                          <a:spcPct val="110000"/>
                        </a:lnSpc>
                        <a:spcAft>
                          <a:spcPts val="0"/>
                        </a:spcAft>
                      </a:pPr>
                      <a:r>
                        <a:rPr sz="1050" b="1" i="0">
                          <a:solidFill>
                            <a:srgbClr val="161B26"/>
                          </a:solidFill>
                          <a:latin typeface="Arial"/>
                        </a:rPr>
                        <a:t>AC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Actual Cost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What you actually spent to finish that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BAC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Budget at Completion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The total approved budget for the whole project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5F8FC"/>
                    </a:solidFill>
                  </a:tcPr>
                </a:tc>
              </a:tr>
              <a:tr h="407936">
                <a:tc>
                  <a:txBody>
                    <a:bodyPr wrap="square" anchor="t"/>
                    <a:lstStyle/>
                    <a:p>
                      <a:pPr algn="l">
                        <a:lnSpc>
                          <a:spcPct val="110000"/>
                        </a:lnSpc>
                        <a:spcAft>
                          <a:spcPts val="0"/>
                        </a:spcAft>
                      </a:pPr>
                      <a:r>
                        <a:rPr sz="1050" b="1" i="0">
                          <a:solidFill>
                            <a:srgbClr val="161B26"/>
                          </a:solidFill>
                          <a:latin typeface="Arial"/>
                        </a:rPr>
                        <a:t>CV</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 Variance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How much more or less you spent than the work was worth</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SV</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Schedule Variance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How much work you are ahead of or behind, valued in money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5F8FC"/>
                    </a:solidFill>
                  </a:tcPr>
                </a:tc>
              </a:tr>
              <a:tr h="407936">
                <a:tc>
                  <a:txBody>
                    <a:bodyPr wrap="square" anchor="t"/>
                    <a:lstStyle/>
                    <a:p>
                      <a:pPr algn="l">
                        <a:lnSpc>
                          <a:spcPct val="110000"/>
                        </a:lnSpc>
                        <a:spcAft>
                          <a:spcPts val="0"/>
                        </a:spcAft>
                      </a:pPr>
                      <a:r>
                        <a:rPr sz="1050" b="1" i="0">
                          <a:solidFill>
                            <a:srgbClr val="161B26"/>
                          </a:solidFill>
                          <a:latin typeface="Arial"/>
                        </a:rPr>
                        <a:t>CPI</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Cost Performance Index</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Value earned per dollar spent — efficiency of spend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Ratio</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SPI</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Schedule Performance Index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Rate of progress against the planned rate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Ratio</a:t>
                      </a:r>
                    </a:p>
                  </a:txBody>
                  <a:tcPr anchor="ctr">
                    <a:solidFill>
                      <a:srgbClr val="F5F8FC"/>
                    </a:solidFill>
                  </a:tcPr>
                </a:tc>
              </a:tr>
              <a:tr h="407936">
                <a:tc>
                  <a:txBody>
                    <a:bodyPr wrap="square" anchor="t"/>
                    <a:lstStyle/>
                    <a:p>
                      <a:pPr algn="l">
                        <a:lnSpc>
                          <a:spcPct val="110000"/>
                        </a:lnSpc>
                        <a:spcAft>
                          <a:spcPts val="0"/>
                        </a:spcAft>
                      </a:pPr>
                      <a:r>
                        <a:rPr sz="1050" b="1" i="0">
                          <a:solidFill>
                            <a:srgbClr val="161B26"/>
                          </a:solidFill>
                          <a:latin typeface="Arial"/>
                        </a:rPr>
                        <a:t>EAC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Estimate at Completion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Forecast total cost when the project finishes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r h="407936">
                <a:tc>
                  <a:txBody>
                    <a:bodyPr wrap="square" anchor="t"/>
                    <a:lstStyle/>
                    <a:p>
                      <a:pPr algn="l">
                        <a:lnSpc>
                          <a:spcPct val="110000"/>
                        </a:lnSpc>
                        <a:spcAft>
                          <a:spcPts val="0"/>
                        </a:spcAft>
                      </a:pPr>
                      <a:r>
                        <a:rPr sz="1050" b="1" i="0">
                          <a:solidFill>
                            <a:srgbClr val="161B26"/>
                          </a:solidFill>
                          <a:latin typeface="Arial"/>
                        </a:rPr>
                        <a:t>ETC</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Estimate to Complete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Forecast cost of the remaining work only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5F8FC"/>
                    </a:solidFill>
                  </a:tcPr>
                </a:tc>
              </a:tr>
              <a:tr h="407945">
                <a:tc>
                  <a:txBody>
                    <a:bodyPr wrap="square" anchor="t"/>
                    <a:lstStyle/>
                    <a:p>
                      <a:pPr algn="l">
                        <a:lnSpc>
                          <a:spcPct val="110000"/>
                        </a:lnSpc>
                        <a:spcAft>
                          <a:spcPts val="0"/>
                        </a:spcAft>
                      </a:pPr>
                      <a:r>
                        <a:rPr sz="1050" b="1" i="0">
                          <a:solidFill>
                            <a:srgbClr val="161B26"/>
                          </a:solidFill>
                          <a:latin typeface="Arial"/>
                        </a:rPr>
                        <a:t>VAC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Variance at Completion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Forecast overrun or underrun against BAC</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Currency</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441</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KEY FORMULAS · VARIANCE &amp; INDEX</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EVM Formulas — Variance and Index</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Variance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CV = EV - AC</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means you have spent more than the work was worth. Positive is good.</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Variance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SV = EV - PV</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means less work is done than planned. Reaches zero at project end.</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Performance Index</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CPI = EV / AC</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Above 1.0 is under budget; below 1.0 means you get less than a dollar per dollar.</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Performance Index</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SPI = EV / PV</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Above 1.0 is ahead of schedule; below 1.0 means work is arriving slower than planned.</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Percent Complete</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EV / BAC</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proportion of total authorised budget that has been earned so far.</a:t>
            </a:r>
          </a:p>
        </p:txBody>
      </p:sp>
      <p:sp>
        <p:nvSpPr>
          <p:cNvPr id="35" name="Rounded Rectangle 34"/>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Memory aid: every variance is EV minus something and every index is EV divided by something. If the answer is negative or below 1.0, it is bad.</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442</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KEY FORMULAS · FORECASTING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EVM Formulas — Forecasting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EAC — typical variance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EAC = BAC / CPI</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 when current cost performance is expected to continue for the rest of the project.</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EAC — atypical variance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EAC = AC + (BAC - EV)</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 when the variance was a one-off and remaining work will run at the budgeted rate.</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EAC — schedule constrained</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EAC = AC + (BAC-EV)/(CPI x SPI)</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 when the remaining work must absorb both the cost and the schedule performance.</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Estimate to Complete</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ETC = EAC - AC</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forecast cost of the work that still remains after money already spent.</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Variance at Completion</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VAC = BAC - EAC</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Forecast overrun (negative) or underrun (positive) measured at project completion.</a:t>
            </a:r>
          </a:p>
        </p:txBody>
      </p:sp>
      <p:sp>
        <p:nvSpPr>
          <p:cNvPr id="35" name="Rounded Rectangle 34"/>
          <p:cNvSpPr/>
          <p:nvPr/>
        </p:nvSpPr>
        <p:spPr>
          <a:xfrm>
            <a:off x="566928" y="5596128"/>
            <a:ext cx="11055096" cy="603504"/>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Read the question for the phrase that selects the formula: 'rate will continue' = BAC/CPI; 'atypical / one-off' = AC + BAC - EV; 'must meet the deadline too' = the CPI x SPI form.</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443</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KEY FORMULAS · TCPI</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EVM Formulas — To-Complete Performance Index</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91291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TCPI against BAC</a:t>
            </a:r>
          </a:p>
        </p:txBody>
      </p:sp>
      <p:sp>
        <p:nvSpPr>
          <p:cNvPr id="8" name="Rounded Rectangle 7"/>
          <p:cNvSpPr/>
          <p:nvPr/>
        </p:nvSpPr>
        <p:spPr>
          <a:xfrm>
            <a:off x="4133088" y="1577968"/>
            <a:ext cx="3246120" cy="6217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77968"/>
            <a:ext cx="3108960" cy="621792"/>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TCPI = (BAC-EV)/(BAC-AC)</a:t>
            </a:r>
          </a:p>
        </p:txBody>
      </p:sp>
      <p:sp>
        <p:nvSpPr>
          <p:cNvPr id="10" name="TextBox 9"/>
          <p:cNvSpPr txBox="1"/>
          <p:nvPr/>
        </p:nvSpPr>
        <p:spPr>
          <a:xfrm>
            <a:off x="7607808" y="150555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cost efficiency the remaining work must achieve to finish within the original budget.</a:t>
            </a:r>
          </a:p>
        </p:txBody>
      </p:sp>
      <p:sp>
        <p:nvSpPr>
          <p:cNvPr id="11" name="Rounded Rectangle 10"/>
          <p:cNvSpPr/>
          <p:nvPr/>
        </p:nvSpPr>
        <p:spPr>
          <a:xfrm>
            <a:off x="566928" y="247333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473337"/>
            <a:ext cx="59436" cy="91291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54648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TCPI against EAC</a:t>
            </a:r>
          </a:p>
        </p:txBody>
      </p:sp>
      <p:sp>
        <p:nvSpPr>
          <p:cNvPr id="14" name="Rounded Rectangle 13"/>
          <p:cNvSpPr/>
          <p:nvPr/>
        </p:nvSpPr>
        <p:spPr>
          <a:xfrm>
            <a:off x="4133088" y="2618898"/>
            <a:ext cx="3246120" cy="6217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18898"/>
            <a:ext cx="3108960" cy="621792"/>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TCPI = (BAC-EV)/(EAC-AC)</a:t>
            </a:r>
          </a:p>
        </p:txBody>
      </p:sp>
      <p:sp>
        <p:nvSpPr>
          <p:cNvPr id="16" name="TextBox 15"/>
          <p:cNvSpPr txBox="1"/>
          <p:nvPr/>
        </p:nvSpPr>
        <p:spPr>
          <a:xfrm>
            <a:off x="7607808" y="254648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Use once the original budget is no longer achievable and a new EAC has been approved.</a:t>
            </a:r>
          </a:p>
        </p:txBody>
      </p:sp>
      <p:sp>
        <p:nvSpPr>
          <p:cNvPr id="17" name="Rounded Rectangle 16"/>
          <p:cNvSpPr/>
          <p:nvPr/>
        </p:nvSpPr>
        <p:spPr>
          <a:xfrm>
            <a:off x="566928" y="351426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514267"/>
            <a:ext cx="59436" cy="91291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58741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Interpretation above 1.0</a:t>
            </a:r>
          </a:p>
        </p:txBody>
      </p:sp>
      <p:sp>
        <p:nvSpPr>
          <p:cNvPr id="20" name="Rounded Rectangle 19"/>
          <p:cNvSpPr/>
          <p:nvPr/>
        </p:nvSpPr>
        <p:spPr>
          <a:xfrm>
            <a:off x="4133088" y="3659828"/>
            <a:ext cx="3246120" cy="6217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659828"/>
            <a:ext cx="3108960" cy="621792"/>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TCPI &gt; 1.0</a:t>
            </a:r>
          </a:p>
        </p:txBody>
      </p:sp>
      <p:sp>
        <p:nvSpPr>
          <p:cNvPr id="22" name="TextBox 21"/>
          <p:cNvSpPr txBox="1"/>
          <p:nvPr/>
        </p:nvSpPr>
        <p:spPr>
          <a:xfrm>
            <a:off x="7607808" y="358741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You must perform better than you have been performing — the target is harder than the past.</a:t>
            </a:r>
          </a:p>
        </p:txBody>
      </p:sp>
      <p:sp>
        <p:nvSpPr>
          <p:cNvPr id="23" name="Rounded Rectangle 22"/>
          <p:cNvSpPr/>
          <p:nvPr/>
        </p:nvSpPr>
        <p:spPr>
          <a:xfrm>
            <a:off x="566928" y="4555197"/>
            <a:ext cx="11055096" cy="912914"/>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4555197"/>
            <a:ext cx="59436" cy="91291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628349"/>
            <a:ext cx="3200400" cy="766610"/>
          </a:xfrm>
          <a:prstGeom prst="rect">
            <a:avLst/>
          </a:prstGeom>
          <a:noFill/>
        </p:spPr>
        <p:txBody>
          <a:bodyPr wrap="square" anchor="ctr">
            <a:spAutoFit/>
          </a:bodyPr>
          <a:lstStyle/>
          <a:p>
            <a:pPr algn="l">
              <a:lnSpc>
                <a:spcPct val="104000"/>
              </a:lnSpc>
              <a:spcAft>
                <a:spcPts val="400"/>
              </a:spcAft>
            </a:pPr>
            <a:r>
              <a:rPr sz="1400" b="1" i="0">
                <a:solidFill>
                  <a:srgbClr val="161B26"/>
                </a:solidFill>
                <a:latin typeface="Arial"/>
              </a:rPr>
              <a:t>Interpretation below 1.0</a:t>
            </a:r>
          </a:p>
        </p:txBody>
      </p:sp>
      <p:sp>
        <p:nvSpPr>
          <p:cNvPr id="26" name="Rounded Rectangle 25"/>
          <p:cNvSpPr/>
          <p:nvPr/>
        </p:nvSpPr>
        <p:spPr>
          <a:xfrm>
            <a:off x="4133088" y="4700758"/>
            <a:ext cx="3246120" cy="6217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700758"/>
            <a:ext cx="3108960" cy="621792"/>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TCPI &lt; 1.0</a:t>
            </a:r>
          </a:p>
        </p:txBody>
      </p:sp>
      <p:sp>
        <p:nvSpPr>
          <p:cNvPr id="28" name="TextBox 27"/>
          <p:cNvSpPr txBox="1"/>
          <p:nvPr/>
        </p:nvSpPr>
        <p:spPr>
          <a:xfrm>
            <a:off x="7607808" y="4628349"/>
            <a:ext cx="3977639" cy="766610"/>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You may perform slightly worse than before and still hit the target — you have slack.</a:t>
            </a:r>
          </a:p>
        </p:txBody>
      </p:sp>
      <p:sp>
        <p:nvSpPr>
          <p:cNvPr id="29" name="Rounded Rectangle 28"/>
          <p:cNvSpPr/>
          <p:nvPr/>
        </p:nvSpPr>
        <p:spPr>
          <a:xfrm>
            <a:off x="566928" y="5596128"/>
            <a:ext cx="11055096" cy="603504"/>
          </a:xfrm>
          <a:prstGeom prst="roundRect">
            <a:avLst>
              <a:gd name="adj" fmla="val 10000"/>
            </a:avLst>
          </a:prstGeom>
          <a:solidFill>
            <a:srgbClr val="FCE8EC"/>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TCPI and CPI move in opposite directions. A CPI of 0.80 with plenty of work left implies a TCPI well above 1.0 — a warning that recovery is unrealistic.</a:t>
            </a:r>
          </a:p>
        </p:txBody>
      </p:sp>
      <p:sp>
        <p:nvSpPr>
          <p:cNvPr id="31" name="TextBox 3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2" name="TextBox 3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3" name="TextBox 3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444</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Interpreting the Indices — Above 1.0 vs Below 1.0</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CPI above 1.0</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Cost efficient. You earned more value than you spent. Confirm it is real progress, not under-reported costs.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CPI below 1.0</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Cost inefficient. Every dollar buys less than a dollar of value. Investigate rate, rework and scope leakage.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SPI above 1.0</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Ahead of plan. Check whether easy work was pulled forward, leaving the hard work still ahead.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SPI below 1.0</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Behind plan. Look at the critical path first — non-critical lateness may not delay the project at all.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CPI low, SPI high</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are buying speed with money — typically overtime or extra resources. Confirm the trade was authorised.</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CPI high, SPI low</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You are underspending because too little work is happening — usually a resource or blocker problem, not thrift.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445</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Worked Example — Ten Printer Drivers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155925"/>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The task</a:t>
            </a:r>
          </a:p>
        </p:txBody>
      </p:sp>
      <p:sp>
        <p:nvSpPr>
          <p:cNvPr id="8" name="TextBox 7"/>
          <p:cNvSpPr txBox="1"/>
          <p:nvPr/>
        </p:nvSpPr>
        <p:spPr>
          <a:xfrm>
            <a:off x="694944"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Develop and install ten printer drivers, one per week, over ten weeks.</a:t>
            </a:r>
          </a:p>
        </p:txBody>
      </p:sp>
      <p:sp>
        <p:nvSpPr>
          <p:cNvPr id="9" name="Pentagon 8"/>
          <p:cNvSpPr/>
          <p:nvPr/>
        </p:nvSpPr>
        <p:spPr>
          <a:xfrm>
            <a:off x="2429256" y="1816455"/>
            <a:ext cx="1743456" cy="2155925"/>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The budget</a:t>
            </a:r>
          </a:p>
        </p:txBody>
      </p:sp>
      <p:sp>
        <p:nvSpPr>
          <p:cNvPr id="12" name="TextBox 11"/>
          <p:cNvSpPr txBox="1"/>
          <p:nvPr/>
        </p:nvSpPr>
        <p:spPr>
          <a:xfrm>
            <a:off x="2557272"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BAC is $100,000 — exactly $10,000 per printer driver.</a:t>
            </a:r>
          </a:p>
        </p:txBody>
      </p:sp>
      <p:sp>
        <p:nvSpPr>
          <p:cNvPr id="13" name="Pentagon 12"/>
          <p:cNvSpPr/>
          <p:nvPr/>
        </p:nvSpPr>
        <p:spPr>
          <a:xfrm>
            <a:off x="4291584" y="1816455"/>
            <a:ext cx="1743456" cy="2155925"/>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Status at week 5</a:t>
            </a:r>
          </a:p>
        </p:txBody>
      </p:sp>
      <p:sp>
        <p:nvSpPr>
          <p:cNvPr id="16" name="TextBox 15"/>
          <p:cNvSpPr txBox="1"/>
          <p:nvPr/>
        </p:nvSpPr>
        <p:spPr>
          <a:xfrm>
            <a:off x="4419600"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Four drivers are developed and installed; $47,500 has been spent.</a:t>
            </a:r>
          </a:p>
        </p:txBody>
      </p:sp>
      <p:sp>
        <p:nvSpPr>
          <p:cNvPr id="17" name="Pentagon 16"/>
          <p:cNvSpPr/>
          <p:nvPr/>
        </p:nvSpPr>
        <p:spPr>
          <a:xfrm>
            <a:off x="6153912" y="1816455"/>
            <a:ext cx="1743456" cy="2155925"/>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PV = $50,000</a:t>
            </a:r>
          </a:p>
        </p:txBody>
      </p:sp>
      <p:sp>
        <p:nvSpPr>
          <p:cNvPr id="20" name="TextBox 19"/>
          <p:cNvSpPr txBox="1"/>
          <p:nvPr/>
        </p:nvSpPr>
        <p:spPr>
          <a:xfrm>
            <a:off x="6281928"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Five drivers were scheduled by week 5: 5 x $10,000 of planned value.</a:t>
            </a:r>
          </a:p>
        </p:txBody>
      </p:sp>
      <p:sp>
        <p:nvSpPr>
          <p:cNvPr id="21" name="Pentagon 20"/>
          <p:cNvSpPr/>
          <p:nvPr/>
        </p:nvSpPr>
        <p:spPr>
          <a:xfrm>
            <a:off x="8016240" y="1816455"/>
            <a:ext cx="1743456" cy="2155925"/>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EV = $40,000</a:t>
            </a:r>
          </a:p>
        </p:txBody>
      </p:sp>
      <p:sp>
        <p:nvSpPr>
          <p:cNvPr id="24" name="TextBox 23"/>
          <p:cNvSpPr txBox="1"/>
          <p:nvPr/>
        </p:nvSpPr>
        <p:spPr>
          <a:xfrm>
            <a:off x="8144256"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Four drivers are genuinely complete: 4 x $10,000 of earned value.</a:t>
            </a:r>
          </a:p>
        </p:txBody>
      </p:sp>
      <p:sp>
        <p:nvSpPr>
          <p:cNvPr id="25" name="Rounded Rectangle 24"/>
          <p:cNvSpPr/>
          <p:nvPr/>
        </p:nvSpPr>
        <p:spPr>
          <a:xfrm>
            <a:off x="9878568" y="1816455"/>
            <a:ext cx="1743456" cy="2155925"/>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AC = $47,500</a:t>
            </a:r>
          </a:p>
        </p:txBody>
      </p:sp>
      <p:sp>
        <p:nvSpPr>
          <p:cNvPr id="28" name="TextBox 27"/>
          <p:cNvSpPr txBox="1"/>
          <p:nvPr/>
        </p:nvSpPr>
        <p:spPr>
          <a:xfrm>
            <a:off x="10006584" y="2788918"/>
            <a:ext cx="1069848" cy="1110310"/>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actual cost incurred to date, taken straight from the ledger.</a:t>
            </a:r>
          </a:p>
        </p:txBody>
      </p:sp>
      <p:sp>
        <p:nvSpPr>
          <p:cNvPr id="29" name="Rounded Rectangle 28"/>
          <p:cNvSpPr/>
          <p:nvPr/>
        </p:nvSpPr>
        <p:spPr>
          <a:xfrm>
            <a:off x="566928" y="4191836"/>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191836"/>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283276"/>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Golden rule: EV is always the budgeted value of completed work — count the deliverables finished, then multiply by their budget. Never use actual cost to compute EV.</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446</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Worked Example — Running the Numbers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Variance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CV = 40,000-47,500 = -7,500</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$7,500 more was spent than the completed work was actually worth.</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Variance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SV = 40,000-50,000 = -10,000</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one full driver's worth of work — $10,000 — is behind schedule.</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Performance Index</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CPI = 40,000/47,500 = 0.84</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Only 84 cents of value is earned per dollar spent — a serious cost problem.</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Performance Index</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SPI = 40,000/50,000 = 0.80</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Work is arriving at 80% of the planned rate — four drivers where five were due.</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Estimate at Completion</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EAC = 100,000/0.84 = 118,750</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If this rate continues the project finishes at $118,750, not $100,000.</a:t>
            </a:r>
          </a:p>
        </p:txBody>
      </p:sp>
      <p:sp>
        <p:nvSpPr>
          <p:cNvPr id="35" name="Rounded Rectangle 34"/>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Follow through: ETC = 118,750 - 47,500 = $71,250 still to spend, and VAC = 100,000 - 118,750 = -$18,750, a forecast overrun of $18,750.</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447</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EVM S-Curve — PV, EV and AC Over Ten Weeks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PV is the straight planned baseline — $10K of value per week for ten weeks.</a:t>
            </a:r>
          </a:p>
        </p:txBody>
      </p:sp>
      <p:sp>
        <p:nvSpPr>
          <p:cNvPr id="11" name="Oval 10"/>
          <p:cNvSpPr/>
          <p:nvPr/>
        </p:nvSpPr>
        <p:spPr>
          <a:xfrm>
            <a:off x="8403336" y="287258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EV sits below PV, so the project is behind schedule (negative SV).</a:t>
            </a:r>
          </a:p>
        </p:txBody>
      </p:sp>
      <p:sp>
        <p:nvSpPr>
          <p:cNvPr id="13" name="Oval 12"/>
          <p:cNvSpPr/>
          <p:nvPr/>
        </p:nvSpPr>
        <p:spPr>
          <a:xfrm>
            <a:off x="8403336" y="361782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26383"/>
            <a:ext cx="2761488" cy="50292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AC sits above EV, so the project is over budget (negative CV).</a:t>
            </a:r>
          </a:p>
        </p:txBody>
      </p:sp>
      <p:sp>
        <p:nvSpPr>
          <p:cNvPr id="15" name="Oval 14"/>
          <p:cNvSpPr/>
          <p:nvPr/>
        </p:nvSpPr>
        <p:spPr>
          <a:xfrm>
            <a:off x="8403336" y="417560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084167"/>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gap between AC and EV widens each week — the trend, not the point, is the warning.</a:t>
            </a:r>
          </a:p>
        </p:txBody>
      </p:sp>
      <p:sp>
        <p:nvSpPr>
          <p:cNvPr id="17" name="Oval 16"/>
          <p:cNvSpPr/>
          <p:nvPr/>
        </p:nvSpPr>
        <p:spPr>
          <a:xfrm>
            <a:off x="8403336" y="492084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82940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Extrapolating AC at the current CPI gives an EAC of roughly $119K against a $100K BAC.</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448</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CPI and SPI Trend — Is the Project Recovering?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0B981"/>
                </a:solidFill>
                <a:latin typeface="Arial"/>
              </a:rPr>
              <a:t>WHAT IT TELLS YOU</a:t>
            </a:r>
          </a:p>
        </p:txBody>
      </p:sp>
      <p:sp>
        <p:nvSpPr>
          <p:cNvPr id="9" name="Oval 8"/>
          <p:cNvSpPr/>
          <p:nvPr/>
        </p:nvSpPr>
        <p:spPr>
          <a:xfrm>
            <a:off x="8403336" y="2127351"/>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83577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single index reading is a snapshot; the trend line tells you whether corrective action worked.</a:t>
            </a:r>
          </a:p>
        </p:txBody>
      </p:sp>
      <p:sp>
        <p:nvSpPr>
          <p:cNvPr id="11" name="Oval 10"/>
          <p:cNvSpPr/>
          <p:nvPr/>
        </p:nvSpPr>
        <p:spPr>
          <a:xfrm>
            <a:off x="8403336" y="3007738"/>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916298"/>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Both indices bottom out around week 5, the point at which corrective action was taken.</a:t>
            </a:r>
          </a:p>
        </p:txBody>
      </p:sp>
      <p:sp>
        <p:nvSpPr>
          <p:cNvPr id="13" name="Oval 12"/>
          <p:cNvSpPr/>
          <p:nvPr/>
        </p:nvSpPr>
        <p:spPr>
          <a:xfrm>
            <a:off x="8403336" y="3711185"/>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619745"/>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recovery from week 6 onward suggests the added resources are earning value.</a:t>
            </a:r>
          </a:p>
        </p:txBody>
      </p:sp>
      <p:sp>
        <p:nvSpPr>
          <p:cNvPr id="15" name="Oval 14"/>
          <p:cNvSpPr/>
          <p:nvPr/>
        </p:nvSpPr>
        <p:spPr>
          <a:xfrm>
            <a:off x="8403336" y="4414632"/>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323192"/>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Neither index has yet reached 1.0, so the project is still both late and over budget.</a:t>
            </a:r>
          </a:p>
        </p:txBody>
      </p:sp>
      <p:sp>
        <p:nvSpPr>
          <p:cNvPr id="17" name="Oval 16"/>
          <p:cNvSpPr/>
          <p:nvPr/>
        </p:nvSpPr>
        <p:spPr>
          <a:xfrm>
            <a:off x="8403336" y="5118079"/>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5026639"/>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Report the trend to the sponsor — 'improving but not recovered' is a defensible status.</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449</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EVM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 Earned Value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You are given AC and percent complete and asked for EV</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EV = BAC x percent complete. Actual cost never enters the earned value calculation.</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CPI is 0.9 and the question says the variance was atypical</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Use EAC = AC + (BAC - EV). The atypical wording rules out the BAC/CPI form.</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SPI is 0.85 but the project manager says the deadline is safe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Check the critical path. SPI aggregates all work, so non-critical lateness can leave the finish date intact.</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The question asks what to do about a negative CV of significant size</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50" b="0" i="0">
                <a:solidFill>
                  <a:srgbClr val="161B26"/>
                </a:solidFill>
                <a:latin typeface="Arial"/>
              </a:rPr>
              <a:t>Perform variance and root cause analysis first, then raise a change request for corrective action.</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450</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T8 · PLAN AND MANAGE SCHEDULE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Schedule Compression — Crashing vs Fast Tracking</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Crashing</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Buy time with money</a:t>
            </a:r>
          </a:p>
        </p:txBody>
      </p:sp>
      <p:sp>
        <p:nvSpPr>
          <p:cNvPr id="9" name="Oval 8"/>
          <p:cNvSpPr/>
          <p:nvPr/>
        </p:nvSpPr>
        <p:spPr>
          <a:xfrm>
            <a:off x="786384" y="2465679"/>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Shortens duration for the least incremental cost by adding resources</a:t>
            </a:r>
          </a:p>
        </p:txBody>
      </p:sp>
      <p:sp>
        <p:nvSpPr>
          <p:cNvPr id="11" name="Oval 10"/>
          <p:cNvSpPr/>
          <p:nvPr/>
        </p:nvSpPr>
        <p:spPr>
          <a:xfrm>
            <a:off x="786384" y="2959455"/>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actions: approve overtime, add staff, pay a supplier to expedite</a:t>
            </a:r>
          </a:p>
        </p:txBody>
      </p:sp>
      <p:sp>
        <p:nvSpPr>
          <p:cNvPr id="13" name="Oval 12"/>
          <p:cNvSpPr/>
          <p:nvPr/>
        </p:nvSpPr>
        <p:spPr>
          <a:xfrm>
            <a:off x="786384" y="345323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Works only on activities that lie on the critical path</a:t>
            </a:r>
          </a:p>
        </p:txBody>
      </p:sp>
      <p:sp>
        <p:nvSpPr>
          <p:cNvPr id="15" name="Oval 14"/>
          <p:cNvSpPr/>
          <p:nvPr/>
        </p:nvSpPr>
        <p:spPr>
          <a:xfrm>
            <a:off x="786384" y="3773271"/>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Always increases cost and may increase risk through onboarding and rework</a:t>
            </a:r>
          </a:p>
        </p:txBody>
      </p:sp>
      <p:sp>
        <p:nvSpPr>
          <p:cNvPr id="17" name="Oval 16"/>
          <p:cNvSpPr/>
          <p:nvPr/>
        </p:nvSpPr>
        <p:spPr>
          <a:xfrm>
            <a:off x="786384" y="4267047"/>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Does not always produce a viable alternative — some work cannot be parallelised</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Fast tracking</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Buy time with risk</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Performs activities or phases in parallel that were planned in sequence</a:t>
            </a:r>
          </a:p>
        </p:txBody>
      </p:sp>
      <p:sp>
        <p:nvSpPr>
          <p:cNvPr id="25" name="Oval 24"/>
          <p:cNvSpPr/>
          <p:nvPr/>
        </p:nvSpPr>
        <p:spPr>
          <a:xfrm>
            <a:off x="6451092"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Typical action: start construction before the design is fully approved</a:t>
            </a:r>
          </a:p>
        </p:txBody>
      </p:sp>
      <p:sp>
        <p:nvSpPr>
          <p:cNvPr id="27" name="Oval 26"/>
          <p:cNvSpPr/>
          <p:nvPr/>
        </p:nvSpPr>
        <p:spPr>
          <a:xfrm>
            <a:off x="6451092" y="345323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Costs nothing directly but consumes contingency through rework</a:t>
            </a:r>
          </a:p>
        </p:txBody>
      </p:sp>
      <p:sp>
        <p:nvSpPr>
          <p:cNvPr id="29" name="Oval 28"/>
          <p:cNvSpPr/>
          <p:nvPr/>
        </p:nvSpPr>
        <p:spPr>
          <a:xfrm>
            <a:off x="6451092" y="394700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May result in rework, increased risk and ultimately increased cost</a:t>
            </a:r>
          </a:p>
        </p:txBody>
      </p:sp>
      <p:sp>
        <p:nvSpPr>
          <p:cNvPr id="31" name="Oval 30"/>
          <p:cNvSpPr/>
          <p:nvPr/>
        </p:nvSpPr>
        <p:spPr>
          <a:xfrm>
            <a:off x="6451092" y="4440783"/>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Only applies where the dependency is discretionary, not mandatory</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techniques apply to the critical path only. Try fast tracking first if the budget is fixed and the dependencies are discretionary; crash first if the risk appetite is low and money is available.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451</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Costs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the status of the project to update project costs and manage changes to the cost baseline. Any increase over authorised funding requires a change request.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cost management plan, cost baseline, performance measurement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funding requirements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a:t>
            </a:r>
          </a:p>
        </p:txBody>
      </p:sp>
      <p:sp>
        <p:nvSpPr>
          <p:cNvPr id="27" name="Oval 26"/>
          <p:cNvSpPr/>
          <p:nvPr/>
        </p:nvSpPr>
        <p:spPr>
          <a:xfrm>
            <a:off x="4593336" y="328040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188969"/>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earned value analysis, variance analysis, trend analysis, reserve analysis</a:t>
            </a:r>
          </a:p>
        </p:txBody>
      </p:sp>
      <p:sp>
        <p:nvSpPr>
          <p:cNvPr id="29" name="Oval 28"/>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94152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To-complete performance index (TCPI)</a:t>
            </a:r>
          </a:p>
        </p:txBody>
      </p:sp>
      <p:sp>
        <p:nvSpPr>
          <p:cNvPr id="31" name="Oval 30"/>
          <p:cNvSpPr/>
          <p:nvPr/>
        </p:nvSpPr>
        <p:spPr>
          <a:xfrm>
            <a:off x="4593336" y="4363058"/>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271618"/>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 CV, CPI, EAC, VAC, TCPI</a:t>
            </a:r>
          </a:p>
        </p:txBody>
      </p:sp>
      <p:sp>
        <p:nvSpPr>
          <p:cNvPr id="39" name="Oval 38"/>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Cost forecasts (EAC and ETC)</a:t>
            </a:r>
          </a:p>
        </p:txBody>
      </p:sp>
      <p:sp>
        <p:nvSpPr>
          <p:cNvPr id="41" name="Oval 40"/>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3" name="Oval 42"/>
          <p:cNvSpPr/>
          <p:nvPr/>
        </p:nvSpPr>
        <p:spPr>
          <a:xfrm>
            <a:off x="8436864" y="415183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06039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cost baseline, performance measurement baseline</a:t>
            </a:r>
          </a:p>
        </p:txBody>
      </p:sp>
      <p:sp>
        <p:nvSpPr>
          <p:cNvPr id="45" name="Oval 44"/>
          <p:cNvSpPr/>
          <p:nvPr/>
        </p:nvSpPr>
        <p:spPr>
          <a:xfrm>
            <a:off x="8436864" y="490438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81294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basis of estimates, cost estimates, risk register</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452</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T6 · PLAN AND MANAGE FINANCE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Reserve Analysis in Control</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Contingency reserve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Funds and time set aside for identified risks — the 'known unknowns'. The PM controls and draws on it.</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Management reserve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Held for unidentified risk — the 'unknown unknowns'. Only management releases it, and it sits outside the baseline.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Burn rate check</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Compare reserve consumed against risk retired. Burning 60% of reserve at 20% complete is a red flag.</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the surplus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a risk passes without occurring, release its contingency back — do not silently absorb it as slack.</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baseline vs budget</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Cost baseline = estimates plus contingency reserve. Project budget = cost baseline plus management reserve.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Reserve in adaptive work</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Agile teams reserve capacity rather than money — a percentage of each sprint held for emergent 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453</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Quality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and record the results of executing quality activities to assess performance and ensure the project outputs are complete, correct and meet customer expectations.</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quality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lessons learned register, quality metrics, test and evaluation documents</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Approved change requests</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Deliverables</a:t>
            </a:r>
          </a:p>
        </p:txBody>
      </p:sp>
      <p:sp>
        <p:nvSpPr>
          <p:cNvPr id="19" name="Oval 18"/>
          <p:cNvSpPr/>
          <p:nvPr/>
        </p:nvSpPr>
        <p:spPr>
          <a:xfrm>
            <a:off x="749808" y="490438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21" name="Oval 20"/>
          <p:cNvSpPr/>
          <p:nvPr/>
        </p:nvSpPr>
        <p:spPr>
          <a:xfrm>
            <a:off x="749808" y="523448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14304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OPAs</a:t>
            </a:r>
          </a:p>
        </p:txBody>
      </p:sp>
      <p:sp>
        <p:nvSpPr>
          <p:cNvPr id="23" name="Chevron 22"/>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7" name="Oval 26"/>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gathering: checklists, check sheets, statistical sampling, questionnaires and surveys</a:t>
            </a:r>
          </a:p>
        </p:txBody>
      </p:sp>
      <p:sp>
        <p:nvSpPr>
          <p:cNvPr id="29" name="Oval 28"/>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611422"/>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performance reviews, root cause analysis</a:t>
            </a:r>
          </a:p>
        </p:txBody>
      </p:sp>
      <p:sp>
        <p:nvSpPr>
          <p:cNvPr id="31" name="Oval 30"/>
          <p:cNvSpPr/>
          <p:nvPr/>
        </p:nvSpPr>
        <p:spPr>
          <a:xfrm>
            <a:off x="4593336" y="4244186"/>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15274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Inspection and testing / product evaluations</a:t>
            </a:r>
          </a:p>
        </p:txBody>
      </p:sp>
      <p:sp>
        <p:nvSpPr>
          <p:cNvPr id="33" name="Oval 32"/>
          <p:cNvSpPr/>
          <p:nvPr/>
        </p:nvSpPr>
        <p:spPr>
          <a:xfrm>
            <a:off x="4593336" y="478551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94070"/>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cause-and-effect diagrams, control charts, histograms, scatter diagrams, Pareto charts</a:t>
            </a:r>
          </a:p>
        </p:txBody>
      </p:sp>
      <p:sp>
        <p:nvSpPr>
          <p:cNvPr id="35" name="Oval 34"/>
          <p:cNvSpPr/>
          <p:nvPr/>
        </p:nvSpPr>
        <p:spPr>
          <a:xfrm>
            <a:off x="4593336" y="574928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12792" y="565784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approved change request review, retrospectives</a:t>
            </a:r>
          </a:p>
        </p:txBody>
      </p:sp>
      <p:sp>
        <p:nvSpPr>
          <p:cNvPr id="37" name="Chevron 36"/>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41" name="Oval 40"/>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Quality control measurements</a:t>
            </a:r>
          </a:p>
        </p:txBody>
      </p:sp>
      <p:sp>
        <p:nvSpPr>
          <p:cNvPr id="43" name="Oval 42"/>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Verified deliverables</a:t>
            </a:r>
          </a:p>
        </p:txBody>
      </p:sp>
      <p:sp>
        <p:nvSpPr>
          <p:cNvPr id="45" name="Oval 44"/>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47" name="Oval 46"/>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(defect repair)</a:t>
            </a:r>
          </a:p>
        </p:txBody>
      </p:sp>
      <p:sp>
        <p:nvSpPr>
          <p:cNvPr id="49" name="Oval 48"/>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417926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51" name="Oval 50"/>
          <p:cNvSpPr/>
          <p:nvPr/>
        </p:nvSpPr>
        <p:spPr>
          <a:xfrm>
            <a:off x="8436864" y="460080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6320" y="450936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risk register, test documents</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454</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What Quality Control Does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Assess project approaches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Judge whether the way the work is being done can produce a conforming result at all.</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Evaluate deliverables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Inspect and test the product against its quality requirements before it reaches the customer.</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Review processes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Evaluate the quality of project activities and processes through structured reviews and audits.</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Detect and prevent</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Focus on both detecting defects that exist and preventing the causes that keep producing them.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Measure, do not guess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Quality control is quantitative — the seven basic tools turn opinion into evidence.</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Feed improvement</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defect analysed is a candidate process improvement, not simply a task to rework.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455</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Prevention vs Inspection — and the Cost of Quality</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Cost of conformance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Money spent to prevent failure</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Prevention costs: training, documented process, right equipment, time to do it right</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Appraisal costs: testing, destructive test loss, inspection and audit effort</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Spent proactively during the project, inside the approved budget</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PMI's position: prevention is preferred over inspection — quality is planned in</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dollar spent on prevention typically saves many dollars of failure cost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Cost of nonconformance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Money spent because of failure</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Internal failure costs: rework and scrap found before the customer sees it</a:t>
            </a:r>
          </a:p>
        </p:txBody>
      </p:sp>
      <p:sp>
        <p:nvSpPr>
          <p:cNvPr id="25" name="Oval 24"/>
          <p:cNvSpPr/>
          <p:nvPr/>
        </p:nvSpPr>
        <p:spPr>
          <a:xfrm>
            <a:off x="6451092"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External failure costs: liabilities, warranty work, lost business, reputation</a:t>
            </a:r>
          </a:p>
        </p:txBody>
      </p:sp>
      <p:sp>
        <p:nvSpPr>
          <p:cNvPr id="27" name="Oval 26"/>
          <p:cNvSpPr/>
          <p:nvPr/>
        </p:nvSpPr>
        <p:spPr>
          <a:xfrm>
            <a:off x="6451092" y="345323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Spent reactively, usually outside the plan and outside the contingency estimate</a:t>
            </a:r>
          </a:p>
        </p:txBody>
      </p:sp>
      <p:sp>
        <p:nvSpPr>
          <p:cNvPr id="29" name="Oval 28"/>
          <p:cNvSpPr/>
          <p:nvPr/>
        </p:nvSpPr>
        <p:spPr>
          <a:xfrm>
            <a:off x="6451092" y="394700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External failure is by far the most expensive category and the hardest to reverse</a:t>
            </a:r>
          </a:p>
        </p:txBody>
      </p:sp>
      <p:sp>
        <p:nvSpPr>
          <p:cNvPr id="31" name="Oval 30"/>
          <p:cNvSpPr/>
          <p:nvPr/>
        </p:nvSpPr>
        <p:spPr>
          <a:xfrm>
            <a:off x="6451092" y="4440783"/>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Rises exponentially the later in the life cycle the defect is discovered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Quality is planned in, not inspected in. Inspection keeps defects away from the customer but does nothing to stop the process producing them — that requires prevention and root cause analysis.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456</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Quality Audits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What it is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structured, independent review to determine whether project activities comply with organisational and project policies.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When it happens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May be scheduled at defined milestones or conducted ad hoc when performance triggers concern.</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policy</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Confirms the quality management policy is understood and genuinely applied, not merely published.</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Information and methods</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Examines how quality information is collected and which analytical methods are used on it.</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of quality</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Reviews whether prevention, appraisal and failure costs are tracked and are trending in the right direction.</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Process design</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Assesses whether the quality processes themselves are fit for the complexity and risk of this project.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457</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Seven Basic Quality Tools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3803904"/>
        </p:xfrm>
        <a:graphic>
          <a:graphicData uri="http://schemas.openxmlformats.org/drawingml/2006/table">
            <a:tbl>
              <a:tblPr firstRow="1" bandRow="1">
                <a:tableStyleId>{5C22544A-7EE6-4342-B048-85BDC9FD1C3A}</a:tableStyleId>
              </a:tblPr>
              <a:tblGrid>
                <a:gridCol w="2010017"/>
                <a:gridCol w="3216027"/>
                <a:gridCol w="3015026"/>
                <a:gridCol w="2814024"/>
              </a:tblGrid>
              <a:tr h="475488">
                <a:tc>
                  <a:txBody>
                    <a:bodyPr wrap="square" anchor="t"/>
                    <a:lstStyle/>
                    <a:p>
                      <a:pPr algn="l">
                        <a:lnSpc>
                          <a:spcPct val="100000"/>
                        </a:lnSpc>
                        <a:spcAft>
                          <a:spcPts val="0"/>
                        </a:spcAft>
                      </a:pPr>
                      <a:r>
                        <a:rPr sz="1150" b="1" i="0">
                          <a:solidFill>
                            <a:srgbClr val="FFFFFF"/>
                          </a:solidFill>
                          <a:latin typeface="Arial"/>
                        </a:rPr>
                        <a:t>Tool</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shows</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Use it when</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Key reading</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Check sheet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Tally of occurrences by category, collected at the point of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need to gather defect data consistently in the first place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Which category is being tallied most often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Histogram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Distribution and spread of a measured variable across bins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want to see the shape, centre and spread of the data</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Skew, outliers and whether the process is centred on target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Pareto chart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Ranked bar chart of defect categories with a cumulative line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must decide which few problems to attack first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80/20 rule — roughly 80% of effects from 20% of causes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Cause-and-effect (fishbone)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Candidate causes grouped into categories around one problem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need to explore why a defect keeps recurring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Which branch holds the most plausible root causes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Scatter diagram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Correlation between two variables plotted against each other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suspect one factor drives a quality defect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Direction and tightness of the relationship, not causation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Control chart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process plotted over time against mean, UCL and LCL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 must judge whether a process is stable and predictable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Points outside limits or non-random patterns within them</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Flowchart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sequence of steps and decision points in a process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You need to see where handoffs, loops and waste occur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Rework loops, unnecessary approvals and unclear ownership</a:t>
                      </a:r>
                    </a:p>
                  </a:txBody>
                  <a:tcPr anchor="ctr">
                    <a:solidFill>
                      <a:srgbClr val="FFFFFF"/>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458</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Control Quality Analysis Sequence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135693"/>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Collect</a:t>
            </a:r>
          </a:p>
        </p:txBody>
      </p:sp>
      <p:sp>
        <p:nvSpPr>
          <p:cNvPr id="8" name="TextBox 7"/>
          <p:cNvSpPr txBox="1"/>
          <p:nvPr/>
        </p:nvSpPr>
        <p:spPr>
          <a:xfrm>
            <a:off x="694944"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Use check sheets to gather defect data consistently at the source.</a:t>
            </a:r>
          </a:p>
        </p:txBody>
      </p:sp>
      <p:sp>
        <p:nvSpPr>
          <p:cNvPr id="9" name="Pentagon 8"/>
          <p:cNvSpPr/>
          <p:nvPr/>
        </p:nvSpPr>
        <p:spPr>
          <a:xfrm>
            <a:off x="2429256" y="1816455"/>
            <a:ext cx="1743456" cy="2135693"/>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Distribute</a:t>
            </a:r>
          </a:p>
        </p:txBody>
      </p:sp>
      <p:sp>
        <p:nvSpPr>
          <p:cNvPr id="12" name="TextBox 11"/>
          <p:cNvSpPr txBox="1"/>
          <p:nvPr/>
        </p:nvSpPr>
        <p:spPr>
          <a:xfrm>
            <a:off x="2557272"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Plot the data on a histogram to see spread, centre and outliers.</a:t>
            </a:r>
          </a:p>
        </p:txBody>
      </p:sp>
      <p:sp>
        <p:nvSpPr>
          <p:cNvPr id="13" name="Pentagon 12"/>
          <p:cNvSpPr/>
          <p:nvPr/>
        </p:nvSpPr>
        <p:spPr>
          <a:xfrm>
            <a:off x="4291584" y="1816455"/>
            <a:ext cx="1743456" cy="2135693"/>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Prioritise</a:t>
            </a:r>
          </a:p>
        </p:txBody>
      </p:sp>
      <p:sp>
        <p:nvSpPr>
          <p:cNvPr id="16" name="TextBox 15"/>
          <p:cNvSpPr txBox="1"/>
          <p:nvPr/>
        </p:nvSpPr>
        <p:spPr>
          <a:xfrm>
            <a:off x="4419600"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Build a Pareto chart to find the vital few categories driving the pain.</a:t>
            </a:r>
          </a:p>
        </p:txBody>
      </p:sp>
      <p:sp>
        <p:nvSpPr>
          <p:cNvPr id="17" name="Pentagon 16"/>
          <p:cNvSpPr/>
          <p:nvPr/>
        </p:nvSpPr>
        <p:spPr>
          <a:xfrm>
            <a:off x="6153912" y="1816455"/>
            <a:ext cx="1743456" cy="2135693"/>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Diagnose</a:t>
            </a:r>
          </a:p>
        </p:txBody>
      </p:sp>
      <p:sp>
        <p:nvSpPr>
          <p:cNvPr id="20" name="TextBox 19"/>
          <p:cNvSpPr txBox="1"/>
          <p:nvPr/>
        </p:nvSpPr>
        <p:spPr>
          <a:xfrm>
            <a:off x="6281928"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Run cause-and-effect analysis on the top categories to find root causes.</a:t>
            </a:r>
          </a:p>
        </p:txBody>
      </p:sp>
      <p:sp>
        <p:nvSpPr>
          <p:cNvPr id="21" name="Pentagon 20"/>
          <p:cNvSpPr/>
          <p:nvPr/>
        </p:nvSpPr>
        <p:spPr>
          <a:xfrm>
            <a:off x="8016240" y="1816455"/>
            <a:ext cx="1743456" cy="2135693"/>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Correlate</a:t>
            </a:r>
          </a:p>
        </p:txBody>
      </p:sp>
      <p:sp>
        <p:nvSpPr>
          <p:cNvPr id="24" name="TextBox 23"/>
          <p:cNvSpPr txBox="1"/>
          <p:nvPr/>
        </p:nvSpPr>
        <p:spPr>
          <a:xfrm>
            <a:off x="8144256"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Use a scatter diagram to test whether a suspected factor really drives the defect.</a:t>
            </a:r>
          </a:p>
        </p:txBody>
      </p:sp>
      <p:sp>
        <p:nvSpPr>
          <p:cNvPr id="25" name="Rounded Rectangle 24"/>
          <p:cNvSpPr/>
          <p:nvPr/>
        </p:nvSpPr>
        <p:spPr>
          <a:xfrm>
            <a:off x="9878568" y="1816455"/>
            <a:ext cx="1743456" cy="2135693"/>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392276"/>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Monitor</a:t>
            </a:r>
          </a:p>
        </p:txBody>
      </p:sp>
      <p:sp>
        <p:nvSpPr>
          <p:cNvPr id="28" name="TextBox 27"/>
          <p:cNvSpPr txBox="1"/>
          <p:nvPr/>
        </p:nvSpPr>
        <p:spPr>
          <a:xfrm>
            <a:off x="10006584" y="2592779"/>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Track the fixed process on a control chart to confirm the improvement holds.</a:t>
            </a:r>
          </a:p>
        </p:txBody>
      </p:sp>
      <p:sp>
        <p:nvSpPr>
          <p:cNvPr id="29" name="Rounded Rectangle 28"/>
          <p:cNvSpPr/>
          <p:nvPr/>
        </p:nvSpPr>
        <p:spPr>
          <a:xfrm>
            <a:off x="566928" y="4171604"/>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171604"/>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263044"/>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This sequence turns raw complaints into a defensible improvement case. Skipping straight to a solution without the Pareto and root cause steps is the most common quality mistake — and a common exam distractor.</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459</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Pareto Chart — Defect Categories on a Software Release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F59E0B"/>
                </a:solidFill>
                <a:latin typeface="Arial"/>
              </a:rPr>
              <a:t>WHAT IT TELLS YOU</a:t>
            </a:r>
          </a:p>
        </p:txBody>
      </p:sp>
      <p:sp>
        <p:nvSpPr>
          <p:cNvPr id="9" name="Oval 8"/>
          <p:cNvSpPr/>
          <p:nvPr/>
        </p:nvSpPr>
        <p:spPr>
          <a:xfrm>
            <a:off x="8403336" y="212735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two leading categories account for roughly 66% of all defects raised.</a:t>
            </a:r>
          </a:p>
        </p:txBody>
      </p:sp>
      <p:sp>
        <p:nvSpPr>
          <p:cNvPr id="11" name="Oval 10"/>
          <p:cNvSpPr/>
          <p:nvPr/>
        </p:nvSpPr>
        <p:spPr>
          <a:xfrm>
            <a:off x="8403336" y="2866186"/>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7474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80/20 rule says fix the vital few, not the trivial many — start left.</a:t>
            </a:r>
          </a:p>
        </p:txBody>
      </p:sp>
      <p:sp>
        <p:nvSpPr>
          <p:cNvPr id="13" name="Oval 12"/>
          <p:cNvSpPr/>
          <p:nvPr/>
        </p:nvSpPr>
        <p:spPr>
          <a:xfrm>
            <a:off x="8403336" y="360502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1358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Requirements gaps are an upstream failure; fixing them prevents downstream rework.</a:t>
            </a:r>
          </a:p>
        </p:txBody>
      </p:sp>
      <p:sp>
        <p:nvSpPr>
          <p:cNvPr id="15" name="Oval 14"/>
          <p:cNvSpPr/>
          <p:nvPr/>
        </p:nvSpPr>
        <p:spPr>
          <a:xfrm>
            <a:off x="8403336" y="4343856"/>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25241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long tail on the right rarely justifies dedicated corrective action.</a:t>
            </a:r>
          </a:p>
        </p:txBody>
      </p:sp>
      <p:sp>
        <p:nvSpPr>
          <p:cNvPr id="17" name="Oval 16"/>
          <p:cNvSpPr/>
          <p:nvPr/>
        </p:nvSpPr>
        <p:spPr>
          <a:xfrm>
            <a:off x="8403336" y="508269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99125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Rebuild the chart after the fix — the ranking should visibly change.</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460</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Histogram — Defect Resolution Time Distribution</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7C3AED"/>
                </a:solidFill>
                <a:latin typeface="Arial"/>
              </a:rPr>
              <a:t>WHAT IT TELLS YOU</a:t>
            </a:r>
          </a:p>
        </p:txBody>
      </p:sp>
      <p:sp>
        <p:nvSpPr>
          <p:cNvPr id="9" name="Oval 8"/>
          <p:cNvSpPr/>
          <p:nvPr/>
        </p:nvSpPr>
        <p:spPr>
          <a:xfrm>
            <a:off x="8403336" y="212735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histogram shows shape and spread; unlike Pareto it is not ranked by size.</a:t>
            </a:r>
          </a:p>
        </p:txBody>
      </p:sp>
      <p:sp>
        <p:nvSpPr>
          <p:cNvPr id="11" name="Oval 10"/>
          <p:cNvSpPr/>
          <p:nvPr/>
        </p:nvSpPr>
        <p:spPr>
          <a:xfrm>
            <a:off x="8403336" y="2866186"/>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7474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peak at 3-5 days is the typical resolution time for routine defects.</a:t>
            </a:r>
          </a:p>
        </p:txBody>
      </p:sp>
      <p:sp>
        <p:nvSpPr>
          <p:cNvPr id="13" name="Oval 12"/>
          <p:cNvSpPr/>
          <p:nvPr/>
        </p:nvSpPr>
        <p:spPr>
          <a:xfrm>
            <a:off x="8403336" y="360502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1358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second cluster at 15+ days is a warning of a distinct second population.</a:t>
            </a:r>
          </a:p>
        </p:txBody>
      </p:sp>
      <p:sp>
        <p:nvSpPr>
          <p:cNvPr id="15" name="Oval 14"/>
          <p:cNvSpPr/>
          <p:nvPr/>
        </p:nvSpPr>
        <p:spPr>
          <a:xfrm>
            <a:off x="8403336" y="4343856"/>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25241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That long tail is usually a different root cause — escalated or vendor-dependent items.</a:t>
            </a:r>
          </a:p>
        </p:txBody>
      </p:sp>
      <p:sp>
        <p:nvSpPr>
          <p:cNvPr id="17" name="Oval 16"/>
          <p:cNvSpPr/>
          <p:nvPr/>
        </p:nvSpPr>
        <p:spPr>
          <a:xfrm>
            <a:off x="8403336" y="5082691"/>
            <a:ext cx="128016" cy="1280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99125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Investigate the tail separately; averaging the two populations hides both problems.</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461</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Chart — Is the Process In Control?</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Control limits are set by the process itself (usually plus or minus three sigma).</a:t>
            </a:r>
          </a:p>
        </p:txBody>
      </p:sp>
      <p:sp>
        <p:nvSpPr>
          <p:cNvPr id="11" name="Oval 10"/>
          <p:cNvSpPr/>
          <p:nvPr/>
        </p:nvSpPr>
        <p:spPr>
          <a:xfrm>
            <a:off x="8403336" y="2830798"/>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39358"/>
            <a:ext cx="2761488" cy="83577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Specification limits come from the customer — a process can be in control and still fail spec.</a:t>
            </a:r>
          </a:p>
        </p:txBody>
      </p:sp>
      <p:sp>
        <p:nvSpPr>
          <p:cNvPr id="13" name="Oval 12"/>
          <p:cNvSpPr/>
          <p:nvPr/>
        </p:nvSpPr>
        <p:spPr>
          <a:xfrm>
            <a:off x="8403336" y="3711185"/>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619745"/>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Point 12 breaches the UCL: an assignable cause that must be investigated.</a:t>
            </a:r>
          </a:p>
        </p:txBody>
      </p:sp>
      <p:sp>
        <p:nvSpPr>
          <p:cNvPr id="15" name="Oval 14"/>
          <p:cNvSpPr/>
          <p:nvPr/>
        </p:nvSpPr>
        <p:spPr>
          <a:xfrm>
            <a:off x="8403336" y="4414632"/>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323192"/>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Points 5 to 11 rise for seven consecutive readings — the rule of seven flags a trend.</a:t>
            </a:r>
          </a:p>
        </p:txBody>
      </p:sp>
      <p:sp>
        <p:nvSpPr>
          <p:cNvPr id="17" name="Oval 16"/>
          <p:cNvSpPr/>
          <p:nvPr/>
        </p:nvSpPr>
        <p:spPr>
          <a:xfrm>
            <a:off x="8403336" y="5118079"/>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5026639"/>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process is out of control if a point breaches a limit OR shows a non-random pattern.</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462</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Common Cause vs Assignable (Special) Cause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Common cause variation</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noise the process always has</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Natural, random variation inherent in the way the process is designed</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points that fall randomly within the upper and lower control limits</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Present all the time — it is the process behaving exactly as built</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Reducing it requires redesigning the process, which is a management decision</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Reacting to individual common-cause points is 'tampering' and increases variation</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Assignable cause variation</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signal that something changed</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specific, identifiable event that is not part of normal process behaviour</a:t>
            </a:r>
          </a:p>
        </p:txBody>
      </p:sp>
      <p:sp>
        <p:nvSpPr>
          <p:cNvPr id="25" name="Oval 24"/>
          <p:cNvSpPr/>
          <p:nvPr/>
        </p:nvSpPr>
        <p:spPr>
          <a:xfrm>
            <a:off x="6451092" y="295945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a point outside the control limits or a non-random pattern within them</a:t>
            </a:r>
          </a:p>
        </p:txBody>
      </p:sp>
      <p:sp>
        <p:nvSpPr>
          <p:cNvPr id="27" name="Oval 26"/>
          <p:cNvSpPr/>
          <p:nvPr/>
        </p:nvSpPr>
        <p:spPr>
          <a:xfrm>
            <a:off x="6451092" y="345323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Examples: a new supplier batch, an untrained operator, a changed tool setting</a:t>
            </a:r>
          </a:p>
        </p:txBody>
      </p:sp>
      <p:sp>
        <p:nvSpPr>
          <p:cNvPr id="29" name="Oval 28"/>
          <p:cNvSpPr/>
          <p:nvPr/>
        </p:nvSpPr>
        <p:spPr>
          <a:xfrm>
            <a:off x="6451092" y="394700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Must be investigated and eliminated — this is where corrective action belongs</a:t>
            </a:r>
          </a:p>
        </p:txBody>
      </p:sp>
      <p:sp>
        <p:nvSpPr>
          <p:cNvPr id="31" name="Oval 30"/>
          <p:cNvSpPr/>
          <p:nvPr/>
        </p:nvSpPr>
        <p:spPr>
          <a:xfrm>
            <a:off x="6451092" y="4440783"/>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The rule of seven catches it even when every point is still inside the limits</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'a point outside the control limits', 'seven consecutive points rising', or 'a sudden shift' all mean assignable cause — investigate. Random scatter within limits means leave it alone.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463</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Scatter Diagram — Correlation Between Two Variables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06B6D4"/>
                </a:solidFill>
                <a:latin typeface="Arial"/>
              </a:rPr>
              <a:t>WHAT IT TELLS YOU</a:t>
            </a:r>
          </a:p>
        </p:txBody>
      </p:sp>
      <p:sp>
        <p:nvSpPr>
          <p:cNvPr id="9" name="Oval 8"/>
          <p:cNvSpPr/>
          <p:nvPr/>
        </p:nvSpPr>
        <p:spPr>
          <a:xfrm>
            <a:off x="8403336" y="2127351"/>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scatter diagram shows the relationship between two variables on two axes.</a:t>
            </a:r>
          </a:p>
        </p:txBody>
      </p:sp>
      <p:sp>
        <p:nvSpPr>
          <p:cNvPr id="11" name="Oval 10"/>
          <p:cNvSpPr/>
          <p:nvPr/>
        </p:nvSpPr>
        <p:spPr>
          <a:xfrm>
            <a:off x="8403336" y="2866186"/>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7474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Here defect count rises steadily with overtime hours — a positive correlation.</a:t>
            </a:r>
          </a:p>
        </p:txBody>
      </p:sp>
      <p:sp>
        <p:nvSpPr>
          <p:cNvPr id="13" name="Oval 12"/>
          <p:cNvSpPr/>
          <p:nvPr/>
        </p:nvSpPr>
        <p:spPr>
          <a:xfrm>
            <a:off x="8403336" y="3605021"/>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1358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Tight clustering along a line implies a strong relationship worth acting on.</a:t>
            </a:r>
          </a:p>
        </p:txBody>
      </p:sp>
      <p:sp>
        <p:nvSpPr>
          <p:cNvPr id="15" name="Oval 14"/>
          <p:cNvSpPr/>
          <p:nvPr/>
        </p:nvSpPr>
        <p:spPr>
          <a:xfrm>
            <a:off x="8403336" y="4343856"/>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25241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Correlation is not causation — confirm with root cause analysis before acting.</a:t>
            </a:r>
          </a:p>
        </p:txBody>
      </p:sp>
      <p:sp>
        <p:nvSpPr>
          <p:cNvPr id="17" name="Oval 16"/>
          <p:cNvSpPr/>
          <p:nvPr/>
        </p:nvSpPr>
        <p:spPr>
          <a:xfrm>
            <a:off x="8403336" y="5082691"/>
            <a:ext cx="128016" cy="12801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99125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Use it to test a hypothesis produced by a fishbone diagram, not to generate one.</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464</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T7 · PLAN AND OPTIMIZE QUALITY OF PRODUCTS/DELIVERABLES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Statistical Sampling and Inspection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Why sample</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Testing every unit is often impossible or destructive; a valid sample infers population quality at a fraction of the cost.</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Sample size and frequency</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Both are determined during Plan Quality Management and documented in the quality management plan.</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Attribute sampling</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result is binary — the unit conforms or it does not. Used for pass/fail inspection.</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Variable sampling</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result is measured on a continuous scale, which is what makes control charts possible.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Tolerance vs control limit</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Tolerance is the customer's acceptable range; control limits describe the process's own behaviour.</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Inspection outcome</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Inspection produces verified deliverables and, where the unit fails, a defect repair change request.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465</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T4 · PLAN AND MANAGE RESOURCES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Resources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ensure the physical resources assigned to the project are available as planned, and monitor planned versus actual utilisation, taking corrective action where they diverge.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 physical resource assignments, project schedule, resource breakdown structure, resource requirements, risk register</a:t>
            </a:r>
          </a:p>
        </p:txBody>
      </p:sp>
      <p:sp>
        <p:nvSpPr>
          <p:cNvPr id="15" name="Oval 14"/>
          <p:cNvSpPr/>
          <p:nvPr/>
        </p:nvSpPr>
        <p:spPr>
          <a:xfrm>
            <a:off x="749808" y="466663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57519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7" name="Oval 16"/>
          <p:cNvSpPr/>
          <p:nvPr/>
        </p:nvSpPr>
        <p:spPr>
          <a:xfrm>
            <a:off x="749808" y="499673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90529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a:t>
            </a:r>
          </a:p>
        </p:txBody>
      </p:sp>
      <p:sp>
        <p:nvSpPr>
          <p:cNvPr id="19" name="Oval 18"/>
          <p:cNvSpPr/>
          <p:nvPr/>
        </p:nvSpPr>
        <p:spPr>
          <a:xfrm>
            <a:off x="749808" y="53268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2353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alternatives analysis, cost-benefit analysis, performance reviews, trend analysis</a:t>
            </a:r>
          </a:p>
        </p:txBody>
      </p:sp>
      <p:sp>
        <p:nvSpPr>
          <p:cNvPr id="27" name="Oval 26"/>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61142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Problem solving</a:t>
            </a:r>
          </a:p>
        </p:txBody>
      </p:sp>
      <p:sp>
        <p:nvSpPr>
          <p:cNvPr id="29" name="Oval 28"/>
          <p:cNvSpPr/>
          <p:nvPr/>
        </p:nvSpPr>
        <p:spPr>
          <a:xfrm>
            <a:off x="4593336" y="4032960"/>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94152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negotiation, influencing</a:t>
            </a:r>
          </a:p>
        </p:txBody>
      </p:sp>
      <p:sp>
        <p:nvSpPr>
          <p:cNvPr id="31" name="Oval 30"/>
          <p:cNvSpPr/>
          <p:nvPr/>
        </p:nvSpPr>
        <p:spPr>
          <a:xfrm>
            <a:off x="4593336" y="4574284"/>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482844"/>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resource management plan, schedule baseline, cost baseline</a:t>
            </a:r>
          </a:p>
        </p:txBody>
      </p:sp>
      <p:sp>
        <p:nvSpPr>
          <p:cNvPr id="43" name="Oval 42"/>
          <p:cNvSpPr/>
          <p:nvPr/>
        </p:nvSpPr>
        <p:spPr>
          <a:xfrm>
            <a:off x="8436864" y="4363058"/>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271618"/>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issue log, lessons learned register, resource breakdown structure, risk register</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466</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PEOPLE T8 · PLAN AND MANAGE COMMUNICATION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Communications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ensure the information needs of the project and its stakeholders are met — the right information, to the right people, in the right format, at the right time.</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resource, communications and stakeholder engagement management plans</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 project communications</a:t>
            </a:r>
          </a:p>
        </p:txBody>
      </p:sp>
      <p:sp>
        <p:nvSpPr>
          <p:cNvPr id="15" name="Oval 14"/>
          <p:cNvSpPr/>
          <p:nvPr/>
        </p:nvSpPr>
        <p:spPr>
          <a:xfrm>
            <a:off x="749808" y="4455413"/>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36397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7" name="Oval 16"/>
          <p:cNvSpPr/>
          <p:nvPr/>
        </p:nvSpPr>
        <p:spPr>
          <a:xfrm>
            <a:off x="749808" y="47855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940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Enterprise environmental factors and OPAs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on communication effectiveness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information system (PMIS)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representation: stakeholder engagement assessment matrix</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Interpersonal and team skills: observation and conversation</a:t>
            </a:r>
          </a:p>
        </p:txBody>
      </p:sp>
      <p:sp>
        <p:nvSpPr>
          <p:cNvPr id="31" name="Oval 30"/>
          <p:cNvSpPr/>
          <p:nvPr/>
        </p:nvSpPr>
        <p:spPr>
          <a:xfrm>
            <a:off x="4593336" y="511560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5024167"/>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including retrospectives and status reviews</a:t>
            </a:r>
          </a:p>
        </p:txBody>
      </p:sp>
      <p:sp>
        <p:nvSpPr>
          <p:cNvPr id="33" name="Chevron 32"/>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7" name="Oval 36"/>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39" name="Oval 38"/>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1" name="Oval 40"/>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519067"/>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communications management plan, stakeholder engagement plan</a:t>
            </a:r>
          </a:p>
        </p:txBody>
      </p:sp>
      <p:sp>
        <p:nvSpPr>
          <p:cNvPr id="43" name="Oval 42"/>
          <p:cNvSpPr/>
          <p:nvPr/>
        </p:nvSpPr>
        <p:spPr>
          <a:xfrm>
            <a:off x="8436864" y="4363058"/>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271618"/>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issue log, lessons learned register, stakeholder register</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467</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Risks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monitor implementation of agreed risk responses, track identified risks, identify and analyse new risks, and evaluate risk process effectiveness throughout the project.</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risk management plan</a:t>
            </a:r>
          </a:p>
        </p:txBody>
      </p:sp>
      <p:sp>
        <p:nvSpPr>
          <p:cNvPr id="13" name="Oval 12"/>
          <p:cNvSpPr/>
          <p:nvPr/>
        </p:nvSpPr>
        <p:spPr>
          <a:xfrm>
            <a:off x="749808" y="349163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400195"/>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issue log, lessons learned register, risk register, risk report</a:t>
            </a:r>
          </a:p>
        </p:txBody>
      </p:sp>
      <p:sp>
        <p:nvSpPr>
          <p:cNvPr id="15" name="Oval 14"/>
          <p:cNvSpPr/>
          <p:nvPr/>
        </p:nvSpPr>
        <p:spPr>
          <a:xfrm>
            <a:off x="749808" y="424418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152746"/>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17" name="Oval 16"/>
          <p:cNvSpPr/>
          <p:nvPr/>
        </p:nvSpPr>
        <p:spPr>
          <a:xfrm>
            <a:off x="749808" y="4574284"/>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482844"/>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reports</a:t>
            </a:r>
          </a:p>
        </p:txBody>
      </p:sp>
      <p:sp>
        <p:nvSpPr>
          <p:cNvPr id="19" name="Chevron 18"/>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3" name="Oval 22"/>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technical performance analysis, reserve analysis</a:t>
            </a:r>
          </a:p>
        </p:txBody>
      </p:sp>
      <p:sp>
        <p:nvSpPr>
          <p:cNvPr id="25" name="Oval 24"/>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Audits: risk audits examining risk process effectiveness</a:t>
            </a:r>
          </a:p>
        </p:txBody>
      </p:sp>
      <p:sp>
        <p:nvSpPr>
          <p:cNvPr id="27" name="Oval 26"/>
          <p:cNvSpPr/>
          <p:nvPr/>
        </p:nvSpPr>
        <p:spPr>
          <a:xfrm>
            <a:off x="4593336" y="4032959"/>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94151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risk reviews as a standing agenda item</a:t>
            </a:r>
          </a:p>
        </p:txBody>
      </p:sp>
      <p:sp>
        <p:nvSpPr>
          <p:cNvPr id="29" name="Oval 28"/>
          <p:cNvSpPr/>
          <p:nvPr/>
        </p:nvSpPr>
        <p:spPr>
          <a:xfrm>
            <a:off x="4593336" y="457428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448284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Risk reassessment and reprioritisation</a:t>
            </a:r>
          </a:p>
        </p:txBody>
      </p:sp>
      <p:sp>
        <p:nvSpPr>
          <p:cNvPr id="31" name="Chevron 30"/>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5" name="Oval 34"/>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37" name="Oval 36"/>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56320" y="3188969"/>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 including corrective and preventive action</a:t>
            </a:r>
          </a:p>
        </p:txBody>
      </p:sp>
      <p:sp>
        <p:nvSpPr>
          <p:cNvPr id="39" name="Oval 38"/>
          <p:cNvSpPr/>
          <p:nvPr/>
        </p:nvSpPr>
        <p:spPr>
          <a:xfrm>
            <a:off x="8436864" y="382173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3730293"/>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a:t>
            </a:r>
          </a:p>
        </p:txBody>
      </p:sp>
      <p:sp>
        <p:nvSpPr>
          <p:cNvPr id="41" name="Oval 40"/>
          <p:cNvSpPr/>
          <p:nvPr/>
        </p:nvSpPr>
        <p:spPr>
          <a:xfrm>
            <a:off x="8436864" y="415183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406039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assumption log, issue log, lessons learned register, risk register, risk report</a:t>
            </a:r>
          </a:p>
        </p:txBody>
      </p:sp>
      <p:sp>
        <p:nvSpPr>
          <p:cNvPr id="43" name="Oval 42"/>
          <p:cNvSpPr/>
          <p:nvPr/>
        </p:nvSpPr>
        <p:spPr>
          <a:xfrm>
            <a:off x="8436864" y="4904382"/>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4812942"/>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a:t>
            </a:r>
          </a:p>
        </p:txBody>
      </p:sp>
      <p:sp>
        <p:nvSpPr>
          <p:cNvPr id="45" name="TextBox 4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6" name="TextBox 4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7" name="TextBox 4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468</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Monitor Risks — What You Are Actually Doing</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Enable decisions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Give decision-makers current information on overall risk exposure and on the individual risks that matter.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Track status continuously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Monitor each risk's status, probability and impact — all three change as the project moves.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new risks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New risks emerge from every change, every phase gate and every shift in the external environment.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Reassess current risks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Re-score existing risks; yesterday's low probability risk may now be nearly certain.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outdated risks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Retire risks whose window has passed and release their contingency reserve back to the project.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Improve the process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Risk audits ask whether the risk process itself is working, not just whether individual risks are managed.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469</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T4 · REMOVE IMPEDIMENTS AND MANAGE ISSUES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When a Risk Becomes an Issue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Risk</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future uncertain event</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not happened yet; described with a probability and an impact</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Lives in the risk register with an owner and an agreed response strategy</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Managed proactively — avoid, transfer, mitigate, accept, escalate</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Funded from the contingency reserve if it is an identified risk</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Language cue: 'may', 'could', 'if this occurs'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Issue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present certain condition</a:t>
            </a:r>
          </a:p>
        </p:txBody>
      </p:sp>
      <p:sp>
        <p:nvSpPr>
          <p:cNvPr id="23" name="Oval 22"/>
          <p:cNvSpPr/>
          <p:nvPr/>
        </p:nvSpPr>
        <p:spPr>
          <a:xfrm>
            <a:off x="6451092" y="246567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301752"/>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Has already happened and is affecting the project right now</a:t>
            </a:r>
          </a:p>
        </p:txBody>
      </p:sp>
      <p:sp>
        <p:nvSpPr>
          <p:cNvPr id="25" name="Oval 24"/>
          <p:cNvSpPr/>
          <p:nvPr/>
        </p:nvSpPr>
        <p:spPr>
          <a:xfrm>
            <a:off x="6451092" y="2785719"/>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68513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Lives in the issue log with an owner, an action and a target resolution date</a:t>
            </a:r>
          </a:p>
        </p:txBody>
      </p:sp>
      <p:sp>
        <p:nvSpPr>
          <p:cNvPr id="27" name="Oval 26"/>
          <p:cNvSpPr/>
          <p:nvPr/>
        </p:nvSpPr>
        <p:spPr>
          <a:xfrm>
            <a:off x="6451092" y="3279495"/>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17891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Managed reactively — resolve, escalate, or accept a workaround</a:t>
            </a:r>
          </a:p>
        </p:txBody>
      </p:sp>
      <p:sp>
        <p:nvSpPr>
          <p:cNvPr id="29" name="Oval 28"/>
          <p:cNvSpPr/>
          <p:nvPr/>
        </p:nvSpPr>
        <p:spPr>
          <a:xfrm>
            <a:off x="6451092" y="3773271"/>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67268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Consumes real budget and schedule, not contingency probability</a:t>
            </a:r>
          </a:p>
        </p:txBody>
      </p:sp>
      <p:sp>
        <p:nvSpPr>
          <p:cNvPr id="31" name="Oval 30"/>
          <p:cNvSpPr/>
          <p:nvPr/>
        </p:nvSpPr>
        <p:spPr>
          <a:xfrm>
            <a:off x="6451092" y="4267047"/>
            <a:ext cx="146304" cy="146304"/>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16646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Language cue: 'has occurred', 'is blocking', 'the team cannot proceed'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ECO Business Environment T4 explicitly requires you to recognise when a risk becomes an issue. The moment it occurs, move it from the risk register to the issue log — the response strategy becomes an action plan.</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470</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T4 · REMOVE IMPEDIMENTS AND MANAGE ISSUES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Issue and Impediment Resolution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Capture</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Log the issue with a clear statement of impact, owner and raise date.</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Evaluate impact</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Quantify the effect on schedule, cost, quality and the team's flow.</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Prioritise</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Rank against other impediments; highlight the ones blocking the critical path.</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Intervene</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Apply an intervention strategy within your authority to remove or minimise it.</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Escalate if needed</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Use the governance escalation path when the block is outside your control.</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Reassess</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Continually review open items to confirm blockers are actually being addressed.</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An impediment that stays open past its target date is itself a risk. Ageing reports on the issue log are one of the most useful leading indicators a project manager has.</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471</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BUSINESS ENV T4 · REMOVE IMPEDIMENTS AND MANAGE ISSUES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Prioritising Impediments — Impact vs Ability to Resolve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Escalate immediately</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High impact, outside your authority. Use the governance escalation path with a clear ask, a deadline and the consequence of inaction.</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Remove now</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High impact and within your control. Swarm the team on it today; this is the highest-value use of the project manager's time.</a:t>
            </a:r>
          </a:p>
        </p:txBody>
      </p:sp>
      <p:sp>
        <p:nvSpPr>
          <p:cNvPr id="11" name="Rounded Rectangle 10"/>
          <p:cNvSpPr/>
          <p:nvPr/>
        </p:nvSpPr>
        <p:spPr>
          <a:xfrm>
            <a:off x="2331720" y="3590391"/>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Monitor and log</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Low impact, outside your control. Keep it visible on the issue log and watch for it growing rather than spending effort now.</a:t>
            </a:r>
          </a:p>
        </p:txBody>
      </p:sp>
      <p:sp>
        <p:nvSpPr>
          <p:cNvPr id="14" name="Rounded Rectangle 13"/>
          <p:cNvSpPr/>
          <p:nvPr/>
        </p:nvSpPr>
        <p:spPr>
          <a:xfrm>
            <a:off x="4325112" y="3590391"/>
            <a:ext cx="1993392" cy="1993392"/>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1F6FEB"/>
                </a:solidFill>
                <a:latin typeface="Arial"/>
              </a:rPr>
              <a:t>Delegate and track</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Low impact and resolvable locally. Assign an owner and a due date; do not consume leadership attention on it.</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Ability to resolve within the team</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Impact on delivery</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Impediment removal is the project manager's and scrum master's signature servant-leadership act. Speed matters more than elegance.</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472</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Sustainability and Security Risk Monitoring (ECO 2026)</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IT security risk</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ECO explicitly names poor IT security as a risk register entry — monitor vulnerabilities, access and vendor posture.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Security response execution</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Executing the risk management plan includes delivering security risk responses, not merely logging them.</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Sustainability risk</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Environmental, energy and lifecycle impacts of the deliverable are now monitored risks with real thresholds.</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Regulatory drift</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Compliance obligations change mid-project; a control that was adequate at planning may not be at delivery.</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Compliance measurement</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Measure the extent to which the project is in compliance rather than assuming it is.</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Communicate risk status</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ECO requires you to communicate the status of a risk's impact — silence is not a risk response.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473</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T2 · PLAN AND MANAGE PROJECT COMPLIANCE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Manage Compliance During Control</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Test and validate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Validate deliverables against compliance requirements continuously and at every phase end, not only at closure.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approvers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Know which authorised stakeholders can sign a compliance acceptance before you need the signature.</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Remediate early</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Unresolved compliance issues cause timeline damage, cost overruns and increased risk exposure.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Early warning</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compliance review programme gives early warning of potential threats before an external auditor finds them.</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Capture variances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Structured checks let you capture variances and take action while remediation is still cheap.</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Analyse consequences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Document what noncompliance would actually cost — it is what unlocks the funding to fix it.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474</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T5 · PLAN AND MANAGE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Agile Consideration — Risk and Team in Control</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Risks as user stories</a:t>
            </a:r>
          </a:p>
        </p:txBody>
      </p:sp>
      <p:sp>
        <p:nvSpPr>
          <p:cNvPr id="10" name="TextBox 9"/>
          <p:cNvSpPr txBox="1"/>
          <p:nvPr/>
        </p:nvSpPr>
        <p:spPr>
          <a:xfrm>
            <a:off x="76809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Risks are raised as user stories carrying probability and impact ratings so they compete for capacity.</a:t>
            </a:r>
          </a:p>
        </p:txBody>
      </p:sp>
      <p:sp>
        <p:nvSpPr>
          <p:cNvPr id="11" name="Rounded Rectangle 10"/>
          <p:cNvSpPr/>
          <p:nvPr/>
        </p:nvSpPr>
        <p:spPr>
          <a:xfrm>
            <a:off x="433120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054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Prioritised in the backlog</a:t>
            </a:r>
          </a:p>
        </p:txBody>
      </p:sp>
      <p:sp>
        <p:nvSpPr>
          <p:cNvPr id="16" name="TextBox 15"/>
          <p:cNvSpPr txBox="1"/>
          <p:nvPr/>
        </p:nvSpPr>
        <p:spPr>
          <a:xfrm>
            <a:off x="453237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Risk stories are prioritised alongside value features — risk work becomes visible, funded work.</a:t>
            </a:r>
          </a:p>
        </p:txBody>
      </p:sp>
      <p:sp>
        <p:nvSpPr>
          <p:cNvPr id="17" name="Rounded Rectangle 16"/>
          <p:cNvSpPr/>
          <p:nvPr/>
        </p:nvSpPr>
        <p:spPr>
          <a:xfrm>
            <a:off x="809548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054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7999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Retrospective as risk review</a:t>
            </a:r>
          </a:p>
        </p:txBody>
      </p:sp>
      <p:sp>
        <p:nvSpPr>
          <p:cNvPr id="22" name="TextBox 21"/>
          <p:cNvSpPr txBox="1"/>
          <p:nvPr/>
        </p:nvSpPr>
        <p:spPr>
          <a:xfrm>
            <a:off x="829665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Each retrospective doubles as a risk reassessment for the coming iteration.</a:t>
            </a:r>
          </a:p>
        </p:txBody>
      </p:sp>
      <p:sp>
        <p:nvSpPr>
          <p:cNvPr id="23" name="Rounded Rectangle 22"/>
          <p:cNvSpPr/>
          <p:nvPr/>
        </p:nvSpPr>
        <p:spPr>
          <a:xfrm>
            <a:off x="56692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T-shaped teams</a:t>
            </a:r>
          </a:p>
        </p:txBody>
      </p:sp>
      <p:sp>
        <p:nvSpPr>
          <p:cNvPr id="28" name="TextBox 27"/>
          <p:cNvSpPr txBox="1"/>
          <p:nvPr/>
        </p:nvSpPr>
        <p:spPr>
          <a:xfrm>
            <a:off x="76809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Agile teams prefer dedicated, T-shaped members — broad capability with one deep specialism.</a:t>
            </a:r>
          </a:p>
        </p:txBody>
      </p:sp>
      <p:sp>
        <p:nvSpPr>
          <p:cNvPr id="29" name="Rounded Rectangle 28"/>
          <p:cNvSpPr/>
          <p:nvPr/>
        </p:nvSpPr>
        <p:spPr>
          <a:xfrm>
            <a:off x="433120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Skills over roles</a:t>
            </a:r>
          </a:p>
        </p:txBody>
      </p:sp>
      <p:sp>
        <p:nvSpPr>
          <p:cNvPr id="34" name="TextBox 33"/>
          <p:cNvSpPr txBox="1"/>
          <p:nvPr/>
        </p:nvSpPr>
        <p:spPr>
          <a:xfrm>
            <a:off x="453237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Specific job titles matter less than having every skill needed to complete the feature inside the team.</a:t>
            </a:r>
          </a:p>
        </p:txBody>
      </p:sp>
      <p:sp>
        <p:nvSpPr>
          <p:cNvPr id="35" name="Rounded Rectangle 34"/>
          <p:cNvSpPr/>
          <p:nvPr/>
        </p:nvSpPr>
        <p:spPr>
          <a:xfrm>
            <a:off x="809548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Osmotic communication</a:t>
            </a:r>
          </a:p>
        </p:txBody>
      </p:sp>
      <p:sp>
        <p:nvSpPr>
          <p:cNvPr id="40" name="TextBox 39"/>
          <p:cNvSpPr txBox="1"/>
          <p:nvPr/>
        </p:nvSpPr>
        <p:spPr>
          <a:xfrm>
            <a:off x="829665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Co-located teams learn quickly by osmosis; distributed teams must engineer that flow deliberately.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475</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Control Procurements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manage procurement relationships, monitor contract performance, make changes and corrections as appropriate, and close out contracts correctly.</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requirements, risk, procurement and change management plans; schedule baseline</a:t>
            </a:r>
          </a:p>
        </p:txBody>
      </p:sp>
      <p:sp>
        <p:nvSpPr>
          <p:cNvPr id="13" name="Oval 12"/>
          <p:cNvSpPr/>
          <p:nvPr/>
        </p:nvSpPr>
        <p:spPr>
          <a:xfrm>
            <a:off x="749808" y="370286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611422"/>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assumption log, lessons learned register, milestone list, quality reports, requirements documentation, risk register, stakeholder register</a:t>
            </a:r>
          </a:p>
        </p:txBody>
      </p:sp>
      <p:sp>
        <p:nvSpPr>
          <p:cNvPr id="15" name="Oval 14"/>
          <p:cNvSpPr/>
          <p:nvPr/>
        </p:nvSpPr>
        <p:spPr>
          <a:xfrm>
            <a:off x="749808" y="4877866"/>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786426"/>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Agreements and procurement documentation</a:t>
            </a:r>
          </a:p>
        </p:txBody>
      </p:sp>
      <p:sp>
        <p:nvSpPr>
          <p:cNvPr id="17" name="Oval 16"/>
          <p:cNvSpPr/>
          <p:nvPr/>
        </p:nvSpPr>
        <p:spPr>
          <a:xfrm>
            <a:off x="749808" y="5419190"/>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5327750"/>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Approved change requests</a:t>
            </a:r>
          </a:p>
        </p:txBody>
      </p:sp>
      <p:sp>
        <p:nvSpPr>
          <p:cNvPr id="19" name="Oval 18"/>
          <p:cNvSpPr/>
          <p:nvPr/>
        </p:nvSpPr>
        <p:spPr>
          <a:xfrm>
            <a:off x="749808" y="574928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657848"/>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data</a:t>
            </a:r>
          </a:p>
        </p:txBody>
      </p:sp>
      <p:sp>
        <p:nvSpPr>
          <p:cNvPr id="21" name="Chevron 20"/>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5" name="Oval 24"/>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12792"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in contract administration and claims</a:t>
            </a:r>
          </a:p>
        </p:txBody>
      </p:sp>
      <p:sp>
        <p:nvSpPr>
          <p:cNvPr id="27" name="Oval 26"/>
          <p:cNvSpPr/>
          <p:nvPr/>
        </p:nvSpPr>
        <p:spPr>
          <a:xfrm>
            <a:off x="4593336" y="349163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2792" y="340019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Claims administration</a:t>
            </a:r>
          </a:p>
        </p:txBody>
      </p:sp>
      <p:sp>
        <p:nvSpPr>
          <p:cNvPr id="29" name="Oval 28"/>
          <p:cNvSpPr/>
          <p:nvPr/>
        </p:nvSpPr>
        <p:spPr>
          <a:xfrm>
            <a:off x="4593336" y="382173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3730293"/>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performance reviews, earned value analysis, trend analysis</a:t>
            </a:r>
          </a:p>
        </p:txBody>
      </p:sp>
      <p:sp>
        <p:nvSpPr>
          <p:cNvPr id="31" name="Oval 30"/>
          <p:cNvSpPr/>
          <p:nvPr/>
        </p:nvSpPr>
        <p:spPr>
          <a:xfrm>
            <a:off x="4593336" y="4363057"/>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427161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Inspection and audits</a:t>
            </a:r>
          </a:p>
        </p:txBody>
      </p:sp>
      <p:sp>
        <p:nvSpPr>
          <p:cNvPr id="33" name="Oval 32"/>
          <p:cNvSpPr/>
          <p:nvPr/>
        </p:nvSpPr>
        <p:spPr>
          <a:xfrm>
            <a:off x="4593336" y="4693155"/>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60171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Procurement performance reviews</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Closed procurements</a:t>
            </a:r>
          </a:p>
        </p:txBody>
      </p:sp>
      <p:sp>
        <p:nvSpPr>
          <p:cNvPr id="41" name="Oval 40"/>
          <p:cNvSpPr/>
          <p:nvPr/>
        </p:nvSpPr>
        <p:spPr>
          <a:xfrm>
            <a:off x="8436864" y="328040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18896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Work performance information</a:t>
            </a:r>
          </a:p>
        </p:txBody>
      </p:sp>
      <p:sp>
        <p:nvSpPr>
          <p:cNvPr id="43" name="Oval 42"/>
          <p:cNvSpPr/>
          <p:nvPr/>
        </p:nvSpPr>
        <p:spPr>
          <a:xfrm>
            <a:off x="8436864" y="361050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519067"/>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Procurement documentation updates</a:t>
            </a:r>
          </a:p>
        </p:txBody>
      </p:sp>
      <p:sp>
        <p:nvSpPr>
          <p:cNvPr id="45" name="Oval 44"/>
          <p:cNvSpPr/>
          <p:nvPr/>
        </p:nvSpPr>
        <p:spPr>
          <a:xfrm>
            <a:off x="8436864" y="394060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3849165"/>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Change requests</a:t>
            </a:r>
          </a:p>
        </p:txBody>
      </p:sp>
      <p:sp>
        <p:nvSpPr>
          <p:cNvPr id="47" name="Oval 46"/>
          <p:cNvSpPr/>
          <p:nvPr/>
        </p:nvSpPr>
        <p:spPr>
          <a:xfrm>
            <a:off x="8436864" y="4270703"/>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56320" y="4179263"/>
            <a:ext cx="2782824" cy="844905"/>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management plan updates: risk management plan, procurement management plan, schedule and cost baselines</a:t>
            </a:r>
          </a:p>
        </p:txBody>
      </p:sp>
      <p:sp>
        <p:nvSpPr>
          <p:cNvPr id="49" name="Oval 48"/>
          <p:cNvSpPr/>
          <p:nvPr/>
        </p:nvSpPr>
        <p:spPr>
          <a:xfrm>
            <a:off x="8436864" y="5234480"/>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56320" y="5143040"/>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 updates and OPA updates</a:t>
            </a:r>
          </a:p>
        </p:txBody>
      </p:sp>
      <p:sp>
        <p:nvSpPr>
          <p:cNvPr id="51" name="TextBox 5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2" name="TextBox 5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3" name="TextBox 5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476</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Types of Contract Change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852928"/>
        </p:xfrm>
        <a:graphic>
          <a:graphicData uri="http://schemas.openxmlformats.org/drawingml/2006/table">
            <a:tbl>
              <a:tblPr firstRow="1" bandRow="1">
                <a:tableStyleId>{5C22544A-7EE6-4342-B048-85BDC9FD1C3A}</a:tableStyleId>
              </a:tblPr>
              <a:tblGrid>
                <a:gridCol w="1909516"/>
                <a:gridCol w="3216027"/>
                <a:gridCol w="2914525"/>
                <a:gridCol w="3015026"/>
              </a:tblGrid>
              <a:tr h="475488">
                <a:tc>
                  <a:txBody>
                    <a:bodyPr wrap="square" anchor="t"/>
                    <a:lstStyle/>
                    <a:p>
                      <a:pPr algn="l">
                        <a:lnSpc>
                          <a:spcPct val="100000"/>
                        </a:lnSpc>
                        <a:spcAft>
                          <a:spcPts val="0"/>
                        </a:spcAft>
                      </a:pPr>
                      <a:r>
                        <a:rPr sz="1150" b="1" i="0">
                          <a:solidFill>
                            <a:srgbClr val="FFFFFF"/>
                          </a:solidFill>
                          <a:latin typeface="Arial"/>
                        </a:rPr>
                        <a:t>Change type</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Definition</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Typical trigger</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Handling</a:t>
                      </a:r>
                    </a:p>
                  </a:txBody>
                  <a:tcPr anchor="ctr">
                    <a:solidFill>
                      <a:srgbClr val="7C3AED"/>
                    </a:solidFill>
                  </a:tcPr>
                </a:tc>
              </a:tr>
              <a:tr h="475488">
                <a:tc>
                  <a:txBody>
                    <a:bodyPr wrap="square" anchor="t"/>
                    <a:lstStyle/>
                    <a:p>
                      <a:pPr algn="l">
                        <a:lnSpc>
                          <a:spcPct val="110000"/>
                        </a:lnSpc>
                        <a:spcAft>
                          <a:spcPts val="0"/>
                        </a:spcAft>
                      </a:pPr>
                      <a:r>
                        <a:rPr sz="1050" b="1" i="0">
                          <a:solidFill>
                            <a:srgbClr val="161B26"/>
                          </a:solidFill>
                          <a:latin typeface="Arial"/>
                        </a:rPr>
                        <a:t>Administrative change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Non-substantive change, usually to the contract administration method</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New invoicing address, changed contract officer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Documented by the contracts function; no renegotiation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Contract modification</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Substantive change to the contract requirements or product requirements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Approved scope change affecting the vendor's deliverable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Formal, signed by both parties, priced before work starts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Supplemental agreement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An additional agreement related to the contract but negotiated separately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Extra work outside the original statement of work</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Negotiated as a separate instrument with its own terms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Constructive change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change made by the buyer through action or inaction, not by formal order</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Buyer directs extra work verbally, or delays an approval</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Frequently disputed; the source of most claims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Termination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Ending the contract before completion, for cause or for convenience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Vendor default, or the buyer no longer needs the deliverable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Follows the termination clause; settlement of costs incurred</a:t>
                      </a:r>
                    </a:p>
                  </a:txBody>
                  <a:tcPr anchor="ctr">
                    <a:solidFill>
                      <a:srgbClr val="FFFFFF"/>
                    </a:solidFill>
                  </a:tcPr>
                </a:tc>
              </a:tr>
            </a:tbl>
          </a:graphicData>
        </a:graphic>
      </p:graphicFrame>
      <p:sp>
        <p:nvSpPr>
          <p:cNvPr id="6" name="Rounded Rectangle 5"/>
          <p:cNvSpPr/>
          <p:nvPr/>
        </p:nvSpPr>
        <p:spPr>
          <a:xfrm>
            <a:off x="566928" y="4449927"/>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523079"/>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Constructive change is the exam's favourite: the buyer never issued a change order, but their behaviour effectively directed extra work — and they may still be liable for it.</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477</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Managing Disputes and Contract Problems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Warranty</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promise, explicit or implied, that goods or services will meet a standard covering reliability, fitness for use and safety.</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Waiver</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binding provision where one party forfeits a claim without the other becoming liable — waivers can be granted inadvertently.</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Breach of contract</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Failure to meet some or all obligations of a contract, which may entitle the other party to remedy or damages.</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 with the vendor first</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Most contract problems are solved commercially with the supplier before they become legal ones.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Work with your organisation</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Engage procurement, finance and functional departments; act within your documented threshold.</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Get expert help early</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Legal problems serious enough to cause project issues need specialist help before positions harden.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478</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Claims Administration and Dispute Escalation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Claim raised</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 contested change or potential constructive change is formally asserted.</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Document the facts</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Assemble the evidence: correspondence, records, inspection results.</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Negotiate</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Settlement through direct negotiation is always the preferred route.</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Mediation</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 neutral third party helps the parties reach their own agreement.</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Arbitration</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ADR method named in the contract; a neutral issues a binding decision.</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Litigation</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last resort — slow, public, expensive and relationship-ending.</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Claims usually arise from a lack of agreement on compensation for a change, or a lack of agreement that a change occurred at all. If unresolved, handle through the alternative dispute resolution method established in the contract.</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479</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Contract Change Control System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Purpose</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system specifically dedicated to controlling changes to contracts and the resulting product requirements.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Relationship to ICC</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May be a component of integrated change control or a separate organisational system, depending on the OPAs.</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Documentation</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Specifies exactly how a contract change is requested, priced, authorised and recorded.</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Dispute resolution</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Includes the dispute-resolution process and the ADR method that applies when the parties disagree.</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Approval levels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Defines who may sign a contract change at each value band — rarely the project manager alone.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Audit trail</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change instruction must be traceable to an authorised signature; verbal direction creates constructive change risk.</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480</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7C3AED"/>
                </a:solidFill>
                <a:latin typeface="Arial"/>
              </a:rPr>
              <a:t>ECO PROCESS T1 · DEVELOP AN INTEGRATED PROJECT MANAGEMENT PLAN AND PLAN DELIVERY</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Scaling agile</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One Scrum team is a delivery method. Many teams on one product is an organisational design problem.</a:t>
            </a:r>
          </a:p>
        </p:txBody>
      </p:sp>
      <p:sp>
        <p:nvSpPr>
          <p:cNvPr id="6" name="Rectangle 5"/>
          <p:cNvSpPr/>
          <p:nvPr/>
        </p:nvSpPr>
        <p:spPr>
          <a:xfrm>
            <a:off x="566928" y="4030218"/>
            <a:ext cx="21945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Coordination overhead</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Dependencies between teams grow faster than team count — coordination becomes the constraint.</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Shared definition of done</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Multiple teams must agree what 'done' and 'integrated' mean or the increment never assembles.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Value stream focus</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Scaling frameworks organise around products and value streams rather than functional silos.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481</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eXtreme Programming (XP)</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Five core values</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Communication, Simplicity, Feedback, Respect and Courage — the behavioural foundation the practices rest on.</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Four core activities</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Coding, Testing, Listening and Designing — the only activities XP considers essential to producing software.</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Whole team</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Everyone needed to do the work sits within the team, including the on-site customer representative.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Planning game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Planning Poker on user stories: the team estimates, high and low estimators explain, and the team re-estimates to consensus.</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Pair programming</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Two developers on one workstation — continuous review that spreads knowledge and catches defects at the keystroke.</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Test-driven development</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Write the failing test first, then the code that passes it, then refactor — quality is built in.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482</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Feature Driven Development (FDD)</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Feature teams</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Small teams dedicated to delivering one client-valued feature at a time, rather than one technical layer.</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Develop by feature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Work is decomposed into features small enough to be completed in about two weeks and demonstrated.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Individual class ownership</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One named owner is responsible for each group of code, giving clear accountability for quality.</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Domain object modelling</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Sequence and context diagrams describe how the code interacts before it is written.</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Inspections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Formal inspection of both the code and the result — FDD is more document-friendly than most agile methods.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Regular builds and CM</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Configuration management maintains versions of every change; regular builds merge to the main branch.</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483</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Crystal</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Technologies change techniques</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There is no one method — the right practices depend on the technology being used.</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Cultures change norms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works in one organisation's culture will not transplant unchanged into another.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Distances change communication</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Co-location changes what communication mechanisms are necessary and sufficient.</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Sized by team and criticality</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Crystal grades a project by team size and criticality — Clear, Yellow, Orange, Red.</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More governance when riskier</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Larger and riskier projects need more governance; small teams need very little.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Agile favours the small</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Because agile favours small teams, Crystal Clear and Crystal Yellow are the commonly used variants.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484</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Crystal Core Properties and Techniques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Frequent delivery</a:t>
            </a:r>
          </a:p>
        </p:txBody>
      </p:sp>
      <p:sp>
        <p:nvSpPr>
          <p:cNvPr id="10" name="TextBox 9"/>
          <p:cNvSpPr txBox="1"/>
          <p:nvPr/>
        </p:nvSpPr>
        <p:spPr>
          <a:xfrm>
            <a:off x="76809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Ship working software to real users regularly — the single most important property in Crystal.</a:t>
            </a:r>
          </a:p>
        </p:txBody>
      </p:sp>
      <p:sp>
        <p:nvSpPr>
          <p:cNvPr id="11" name="Rounded Rectangle 10"/>
          <p:cNvSpPr/>
          <p:nvPr/>
        </p:nvSpPr>
        <p:spPr>
          <a:xfrm>
            <a:off x="433120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60543"/>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Reflective improvement</a:t>
            </a:r>
          </a:p>
        </p:txBody>
      </p:sp>
      <p:sp>
        <p:nvSpPr>
          <p:cNvPr id="16" name="TextBox 15"/>
          <p:cNvSpPr txBox="1"/>
          <p:nvPr/>
        </p:nvSpPr>
        <p:spPr>
          <a:xfrm>
            <a:off x="453237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Reflection workshops — Crystal's name for the retrospective — adjust the method as you go.</a:t>
            </a:r>
          </a:p>
        </p:txBody>
      </p:sp>
      <p:sp>
        <p:nvSpPr>
          <p:cNvPr id="17" name="Rounded Rectangle 16"/>
          <p:cNvSpPr/>
          <p:nvPr/>
        </p:nvSpPr>
        <p:spPr>
          <a:xfrm>
            <a:off x="8095488" y="2060543"/>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60543"/>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279999"/>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61711"/>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communication</a:t>
            </a:r>
          </a:p>
        </p:txBody>
      </p:sp>
      <p:sp>
        <p:nvSpPr>
          <p:cNvPr id="22" name="TextBox 21"/>
          <p:cNvSpPr txBox="1"/>
          <p:nvPr/>
        </p:nvSpPr>
        <p:spPr>
          <a:xfrm>
            <a:off x="8296656" y="2682335"/>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Osmotic communication in a shared space, plus easy access to expert users when questions arise.</a:t>
            </a:r>
          </a:p>
        </p:txBody>
      </p:sp>
      <p:sp>
        <p:nvSpPr>
          <p:cNvPr id="23" name="Rounded Rectangle 22"/>
          <p:cNvSpPr/>
          <p:nvPr/>
        </p:nvSpPr>
        <p:spPr>
          <a:xfrm>
            <a:off x="56692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Personal safety and focus</a:t>
            </a:r>
          </a:p>
        </p:txBody>
      </p:sp>
      <p:sp>
        <p:nvSpPr>
          <p:cNvPr id="28" name="TextBox 27"/>
          <p:cNvSpPr txBox="1"/>
          <p:nvPr/>
        </p:nvSpPr>
        <p:spPr>
          <a:xfrm>
            <a:off x="76809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must be able to speak up without fear, and have protected time to concentrate.</a:t>
            </a:r>
          </a:p>
        </p:txBody>
      </p:sp>
      <p:sp>
        <p:nvSpPr>
          <p:cNvPr id="29" name="Rounded Rectangle 28"/>
          <p:cNvSpPr/>
          <p:nvPr/>
        </p:nvSpPr>
        <p:spPr>
          <a:xfrm>
            <a:off x="433120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Methodology shaping</a:t>
            </a:r>
          </a:p>
        </p:txBody>
      </p:sp>
      <p:sp>
        <p:nvSpPr>
          <p:cNvPr id="34" name="TextBox 33"/>
          <p:cNvSpPr txBox="1"/>
          <p:nvPr/>
        </p:nvSpPr>
        <p:spPr>
          <a:xfrm>
            <a:off x="4532376" y="4602403"/>
            <a:ext cx="3124200" cy="932516"/>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Deliberately tailor the method to this project and team rather than adopting a framework unmodified.</a:t>
            </a:r>
          </a:p>
        </p:txBody>
      </p:sp>
      <p:sp>
        <p:nvSpPr>
          <p:cNvPr id="35" name="Rounded Rectangle 34"/>
          <p:cNvSpPr/>
          <p:nvPr/>
        </p:nvSpPr>
        <p:spPr>
          <a:xfrm>
            <a:off x="8095488" y="3980611"/>
            <a:ext cx="352653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Blitz planning and Wideband Delphi</a:t>
            </a:r>
          </a:p>
        </p:txBody>
      </p:sp>
      <p:sp>
        <p:nvSpPr>
          <p:cNvPr id="40" name="TextBox 39"/>
          <p:cNvSpPr txBox="1"/>
          <p:nvPr/>
        </p:nvSpPr>
        <p:spPr>
          <a:xfrm>
            <a:off x="8296656" y="4840147"/>
            <a:ext cx="312420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Group planning and group estimation where outliers explain before re-estimating.</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485</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Dynamic Systems Development Method (DSDM)</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The inverted triangle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DSDM is where the alternate constraints triangle comes from: time and cost are fixed, scope is variable.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Focus on the business need</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decision is tested against whether it serves a real, agreed business need.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on firm foundations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incrementally, but only after enough foundation work to know the architecture is sound.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Never compromise quality</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Quality is fixed alongside time and cost — scope is the only variable DSDM allows you to flex.</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Timeboxing</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Short fixed iterations, plus timeboxed spikes for research or problem solving that would otherwise expand indefinitely.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MoSCoW prioritisation</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Must have, Should have, Could have, Won't have this time — the mechanism that makes scope flexible.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486</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Scaling Frameworks Compared</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2010017"/>
                <a:gridCol w="3015026"/>
                <a:gridCol w="3517530"/>
                <a:gridCol w="2512521"/>
              </a:tblGrid>
              <a:tr h="475488">
                <a:tc>
                  <a:txBody>
                    <a:bodyPr wrap="square" anchor="t"/>
                    <a:lstStyle/>
                    <a:p>
                      <a:pPr algn="l">
                        <a:lnSpc>
                          <a:spcPct val="100000"/>
                        </a:lnSpc>
                        <a:spcAft>
                          <a:spcPts val="0"/>
                        </a:spcAft>
                      </a:pPr>
                      <a:r>
                        <a:rPr sz="1150" b="1" i="0">
                          <a:solidFill>
                            <a:srgbClr val="FFFFFF"/>
                          </a:solidFill>
                          <a:latin typeface="Arial"/>
                        </a:rPr>
                        <a:t>Framework</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Core idea</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Coordination mechanism</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Best fit</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Scrum of Scrums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representative from each team attends a shared stand-up</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Program and ultimately portfolio Scrums report progress and cross-team blockers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 handful of teams on one product, minimal added structure</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LeSS (Large Scale Scrum)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Large Scale Scrum is Scrum — treat many teams as one team</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One Product Owner, one backlog, one sprint; transparency via Kanban and radiators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Several teams that can genuinely share a single product backlog</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SAFe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Organise around value streams — the products and services themselves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Agile Release Trains: teams of teams pulling in anyone needed to deliver value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Large enterprises needing portfolio-level funding and governance alignment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Disciplined Agile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decision framework rather than a prescribed method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Guided choices on lifecycle and practices per team context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Organisations with genuinely heterogeneous delivery contexts</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487</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 · DEVELOP AN INTEGRATED PROJECT MANAGEMENT PLAN AND PLAN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 vs SAFe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LeSS — Large Scale Scrum</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Descale the organisation</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Applies Scrum ways of working to programs and portfolios only when necessary</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Empirical process control: update and improve the process as you go</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Manages through transparency — Kanban boards and information radiators</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'More with LeSS': more ownership with fewer roles, more learning with less defined process</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Keeps one Product Owner and one product backlog across all teams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SAFe — Scaled Agile Framework</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Add structure to the enterprise</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Organises project teams around value streams — products or services, not functions</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Agile Release Trains are teams of teams, adding anyone needed to deliver the value</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Each value stream carries OKRs: written objectives and measurable key results</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Uses human-centred design and Lean portfolio management above the team level</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Prescriptive: defined roles, cadences and planning events at every level</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LeSS reduces organisational structure to let Scrum work at scale; SAFe adds structure to connect agile teams to enterprise funding and governance. Neither is 'more agile' — they solve different constraints.</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488</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T9 · EVALUATE PROJECT STATUS</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Iteration Burndown — Reading Adaptive Progress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F6FEB"/>
                </a:solidFill>
                <a:latin typeface="Arial"/>
              </a:rPr>
              <a:t>WHAT IT TELLS YOU</a:t>
            </a:r>
          </a:p>
        </p:txBody>
      </p:sp>
      <p:sp>
        <p:nvSpPr>
          <p:cNvPr id="9" name="Oval 8"/>
          <p:cNvSpPr/>
          <p:nvPr/>
        </p:nvSpPr>
        <p:spPr>
          <a:xfrm>
            <a:off x="8403336" y="212735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 burndown is the adaptive equivalent of an EVM S-curve — remaining work over time.</a:t>
            </a:r>
          </a:p>
        </p:txBody>
      </p:sp>
      <p:sp>
        <p:nvSpPr>
          <p:cNvPr id="11" name="Oval 10"/>
          <p:cNvSpPr/>
          <p:nvPr/>
        </p:nvSpPr>
        <p:spPr>
          <a:xfrm>
            <a:off x="8403336" y="287258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81147"/>
            <a:ext cx="2761488" cy="50292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flat stretch on days 2-4 signals a blocker, not slow work.</a:t>
            </a:r>
          </a:p>
        </p:txBody>
      </p:sp>
      <p:sp>
        <p:nvSpPr>
          <p:cNvPr id="13" name="Oval 12"/>
          <p:cNvSpPr/>
          <p:nvPr/>
        </p:nvSpPr>
        <p:spPr>
          <a:xfrm>
            <a:off x="8403336" y="3430371"/>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338931"/>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The steep drop from day 6 is typical of stories finishing in a batch at the end.</a:t>
            </a:r>
          </a:p>
        </p:txBody>
      </p:sp>
      <p:sp>
        <p:nvSpPr>
          <p:cNvPr id="15" name="Oval 14"/>
          <p:cNvSpPr/>
          <p:nvPr/>
        </p:nvSpPr>
        <p:spPr>
          <a:xfrm>
            <a:off x="8403336" y="4175607"/>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084167"/>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Ending above zero means committed scope was not completed — carry it to the next sprint.</a:t>
            </a:r>
          </a:p>
        </p:txBody>
      </p:sp>
      <p:sp>
        <p:nvSpPr>
          <p:cNvPr id="17" name="Oval 16"/>
          <p:cNvSpPr/>
          <p:nvPr/>
        </p:nvSpPr>
        <p:spPr>
          <a:xfrm>
            <a:off x="8403336" y="4920843"/>
            <a:ext cx="128016" cy="12801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829403"/>
            <a:ext cx="2761488" cy="69037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Trend across several sprints matters more than any one sprint's line.</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489</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CONTROL</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 Monitoring, Quality and Issues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team member reports a problem that is already affecting the schedule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It is an issue, not a risk. Record it in the issue log, assign an owner, and determine the impact before escalating.</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Seven consecutive control chart points fall above the mean, all inside the limits</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rule of seven signals an assignable cause. Investigate — do not wait for a point to breach the control limit.</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deliverable passed the team's testing but the customer refuses to sign</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Control Quality verified it, but Validate Scope has failed. Raise a change request and review the acceptance criteria with the customer.</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vendor performed extra work because you delayed an approval</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a constructive change. Assess the claim, document the facts, and negotiate before invoking the contract's ADR clause.</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490</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 · TOPIC 5</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5 Recap — Monitor and Control the Project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Data becomes decisions</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Work performance data becomes information becomes reports becomes change requests — that chain is the whole domain.</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EVM is one integrated system</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PV, EV and AC generate every variance, index and forecast. Learn EV first; everything else follows.</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Indices below 1.0 are bad</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CPI and SPI below 1.0 mean over budget and behind schedule. Trends matter more than single readings.</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Choose the right EAC</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'Rate continues' uses BAC/CPI. 'Atypical' uses AC+BAC-EV. 'Must hit the date' uses the CPI x SPI form.</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Every change is a request</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Nothing changes a baseline without integrated change control — and rejected changes are still logged.</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Corrective vs preventive</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Corrective fixes a variance that happened. Preventive stops one that is only forecast.</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Quality is planned in</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Prevention beats inspection. The seven basic tools turn defect opinion into a defensible improvement case.</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Control chart signals</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A breach of the limits or seven consecutive points one side means assignable cause — investigate it.</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Risk becomes issue</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The moment a risk occurs, move it to the issue log and switch from response strategy to resolution action.</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Scaling is organisational</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LeSS descales structure; SAFe adds it. Both exist to manage dependencies, not to make teams more agile.</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491</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5</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60543"/>
            <a:ext cx="540867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279999"/>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61711"/>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19. Kanban Board with WIP Limits and Lead/Cycle Time</a:t>
            </a:r>
          </a:p>
        </p:txBody>
      </p:sp>
      <p:sp>
        <p:nvSpPr>
          <p:cNvPr id="10" name="TextBox 9"/>
          <p:cNvSpPr txBox="1"/>
          <p:nvPr/>
        </p:nvSpPr>
        <p:spPr>
          <a:xfrm>
            <a:off x="768096" y="2920079"/>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T9 · LO5 · 20 min in class + 25 min self-study</a:t>
            </a:r>
          </a:p>
          <a:p>
            <a:pPr algn="l">
              <a:lnSpc>
                <a:spcPct val="118000"/>
              </a:lnSpc>
              <a:spcAft>
                <a:spcPts val="400"/>
              </a:spcAft>
            </a:pPr>
            <a:r>
              <a:rPr sz="1150" b="0" i="0">
                <a:solidFill>
                  <a:srgbClr val="5B6372"/>
                </a:solidFill>
                <a:latin typeface="Arial"/>
              </a:rPr>
              <a:t>Produces: Kanban board, Cycle time measurements</a:t>
            </a:r>
          </a:p>
        </p:txBody>
      </p:sp>
      <p:sp>
        <p:nvSpPr>
          <p:cNvPr id="11" name="Rounded Rectangle 10"/>
          <p:cNvSpPr/>
          <p:nvPr/>
        </p:nvSpPr>
        <p:spPr>
          <a:xfrm>
            <a:off x="6213348" y="2060543"/>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3348" y="2060543"/>
            <a:ext cx="540867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96228" y="2279999"/>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96228" y="2316575"/>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6780276" y="2261711"/>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20. Earned Value Management and Schedule Compression</a:t>
            </a:r>
          </a:p>
        </p:txBody>
      </p:sp>
      <p:sp>
        <p:nvSpPr>
          <p:cNvPr id="16" name="TextBox 15"/>
          <p:cNvSpPr txBox="1"/>
          <p:nvPr/>
        </p:nvSpPr>
        <p:spPr>
          <a:xfrm>
            <a:off x="6414516" y="2920079"/>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T9 · LO5 · 25 min in class + 35 min self-study</a:t>
            </a:r>
          </a:p>
          <a:p>
            <a:pPr algn="l">
              <a:lnSpc>
                <a:spcPct val="118000"/>
              </a:lnSpc>
              <a:spcAft>
                <a:spcPts val="400"/>
              </a:spcAft>
            </a:pPr>
            <a:r>
              <a:rPr sz="1150" b="0" i="0">
                <a:solidFill>
                  <a:srgbClr val="5B6372"/>
                </a:solidFill>
                <a:latin typeface="Arial"/>
              </a:rPr>
              <a:t>Produces: EVM calculation sheet, Forecast (EAC/ETC), Compression decision</a:t>
            </a:r>
          </a:p>
        </p:txBody>
      </p:sp>
      <p:sp>
        <p:nvSpPr>
          <p:cNvPr id="17" name="Rounded Rectangle 16"/>
          <p:cNvSpPr/>
          <p:nvPr/>
        </p:nvSpPr>
        <p:spPr>
          <a:xfrm>
            <a:off x="56692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980611"/>
            <a:ext cx="540867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42000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113385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21. Root Cause Analysis with 5 Whys, Fishbone and Pareto</a:t>
            </a:r>
          </a:p>
        </p:txBody>
      </p:sp>
      <p:sp>
        <p:nvSpPr>
          <p:cNvPr id="22" name="TextBox 21"/>
          <p:cNvSpPr txBox="1"/>
          <p:nvPr/>
        </p:nvSpPr>
        <p:spPr>
          <a:xfrm>
            <a:off x="76809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BE T4 · LO3 · 25 min in class + 35 min self-study</a:t>
            </a:r>
          </a:p>
          <a:p>
            <a:pPr algn="l">
              <a:lnSpc>
                <a:spcPct val="118000"/>
              </a:lnSpc>
              <a:spcAft>
                <a:spcPts val="400"/>
              </a:spcAft>
            </a:pPr>
            <a:r>
              <a:rPr sz="1150" b="0" i="0">
                <a:solidFill>
                  <a:srgbClr val="5B6372"/>
                </a:solidFill>
                <a:latin typeface="Arial"/>
              </a:rPr>
              <a:t>Produces: 5 Whys chain, Fishbone diagram, Pareto chart</a:t>
            </a:r>
          </a:p>
        </p:txBody>
      </p:sp>
      <p:sp>
        <p:nvSpPr>
          <p:cNvPr id="23" name="Rounded Rectangle 22"/>
          <p:cNvSpPr/>
          <p:nvPr/>
        </p:nvSpPr>
        <p:spPr>
          <a:xfrm>
            <a:off x="6213348" y="3980611"/>
            <a:ext cx="5408676" cy="168232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3348" y="3980611"/>
            <a:ext cx="540867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9622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622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6780276" y="4181779"/>
            <a:ext cx="467715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22. SPC Control Chart and Statistical Process Analysis</a:t>
            </a:r>
          </a:p>
        </p:txBody>
      </p:sp>
      <p:sp>
        <p:nvSpPr>
          <p:cNvPr id="28" name="TextBox 27"/>
          <p:cNvSpPr txBox="1"/>
          <p:nvPr/>
        </p:nvSpPr>
        <p:spPr>
          <a:xfrm>
            <a:off x="6414516" y="4840147"/>
            <a:ext cx="5006340" cy="694772"/>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T7 · LO5 · 30 min in class + 30 min self-study</a:t>
            </a:r>
          </a:p>
          <a:p>
            <a:pPr algn="l">
              <a:lnSpc>
                <a:spcPct val="118000"/>
              </a:lnSpc>
              <a:spcAft>
                <a:spcPts val="400"/>
              </a:spcAft>
            </a:pPr>
            <a:r>
              <a:rPr sz="1150" b="0" i="0">
                <a:solidFill>
                  <a:srgbClr val="5B6372"/>
                </a:solidFill>
                <a:latin typeface="Arial"/>
              </a:rPr>
              <a:t>Produces: Control chart, Stability verdict, Capability summary</a:t>
            </a:r>
          </a:p>
        </p:txBody>
      </p:sp>
      <p:sp>
        <p:nvSpPr>
          <p:cNvPr id="29" name="TextBox 2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0" name="TextBox 2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1" name="TextBox 3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492</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19. Kanban Board with WIP Limits and Lead/Cycle Time</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T9 · LO5. Produces Kanban board, Cycle time measurements.</a:t>
            </a:r>
          </a:p>
        </p:txBody>
      </p:sp>
      <p:sp>
        <p:nvSpPr>
          <p:cNvPr id="8" name="Rounded Rectangle 7"/>
          <p:cNvSpPr/>
          <p:nvPr/>
        </p:nvSpPr>
        <p:spPr>
          <a:xfrm>
            <a:off x="9692640" y="1560423"/>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Kanban tool and create columns matching Contoso's real workflow, including any waiting states.</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Populate the board with the current sprint's stories from Lab 10.</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Set explicit WIP limits per column based on team size, then observe what the limits block.</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the start and finish date of each item to measure lead time and cycle time.</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the bottleneck column — where work queues rather than flows — and propose a specific intervention.</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Little's Law to forecast delivery from your measured throughput rather than from optimism.</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Kanban board, Cycle time measurements</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Kanban Board</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alfredang.github.io/kanban/</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493</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20. Earned Value Management and Schedule Compression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T9 · LO5. Produces EVM calculation sheet, Forecast (EAC/ETC), Compression decision.</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Record the given Contoso data: BAC, and the PV, EV and AC at the reporting period.</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the variances: CV = EV − AC and SV = EV − PV, stating whether each is favourable.</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the indices: CPI = EV / AC and SPI = EV / PV, and interpret each against 1.0.</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Forecast the outcome: EAC = BAC / CPI, then ETC = EAC − AC and VAC = BAC − EAC.</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TCPI = (BAC − EV) / (BAC − AC) and state whether the required efficiency is realistically achievable.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Decide between crashing and fast tracking to recover, quantifying the added cost or the added risk of your choice.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EVM calculation sheet, Forecast (EAC/ETC), Compression decision</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Statistics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alfredang.github.io/novastats/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494</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21. Root Cause Analysis with 5 Whys, Fishbone and Pareto</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BE T4 · LO3. Produces 5 Whys chain, Fishbone diagram, Pareto chart.</a:t>
            </a:r>
          </a:p>
        </p:txBody>
      </p:sp>
      <p:sp>
        <p:nvSpPr>
          <p:cNvPr id="8" name="Rounded Rectangle 7"/>
          <p:cNvSpPr/>
          <p:nvPr/>
        </p:nvSpPr>
        <p:spPr>
          <a:xfrm>
            <a:off x="9692640" y="1560423"/>
            <a:ext cx="1828800" cy="457200"/>
          </a:xfrm>
          <a:prstGeom prst="roundRect">
            <a:avLst>
              <a:gd name="adj" fmla="val 1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Review the Contoso defect data and write the problem statement as a measurable gap, not an opinion.</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5 Whys tool and drill from the presenting symptom to a root cause you can actually act on.</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Fishbone tool and group candidate causes under people, process, technology, environment, materials and measurement.</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Open the Pareto tool, enter the defect counts by category and identify the vital few driving roughly 80% of the defects.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Compare what each tool surfaced — the three disagree, and the disagreement is the most useful output.</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Propose a countermeasure for the top two root causes, each with an owner, a date and a verification measure.</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5 Whys chain, Fishbone diagram, Pareto chart</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5 Whys + Fishbone Diagram</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alfredang.github.io/5whys/</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495</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22. SPC Control Chart and Statistical Process Analysis</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T7 · LO5. Produces Control chart, Stability verdict, Capability summary.</a:t>
            </a:r>
          </a:p>
        </p:txBody>
      </p:sp>
      <p:sp>
        <p:nvSpPr>
          <p:cNvPr id="8" name="Rounded Rectangle 7"/>
          <p:cNvSpPr/>
          <p:nvPr/>
        </p:nvSpPr>
        <p:spPr>
          <a:xfrm>
            <a:off x="9692640" y="1560423"/>
            <a:ext cx="1828800" cy="457200"/>
          </a:xfrm>
          <a:prstGeom prst="roundRect">
            <a:avLst>
              <a:gd name="adj" fmla="val 1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30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Enter the twenty process measurements into the SPC tool and plot them in time order.</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Calculate the process mean and the upper and lower control limits.</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Identify any point falling outside the control limits and investigate it as an assignable cause.</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Apply the rule of seven: seven consecutive points on one side of the mean signals a non-random shift even inside the limits.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Use the Statistics tool to compute mean, standard deviation and the distribution shape.</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State whether the process is in control, and separately whether it is acceptable — the two are different questions.</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Control chart, Stability verdict, Capability summary</a:t>
            </a:r>
          </a:p>
        </p:txBody>
      </p:sp>
      <p:sp>
        <p:nvSpPr>
          <p:cNvPr id="43" name="Rounded Rectangle 42"/>
          <p:cNvSpPr/>
          <p:nvPr/>
        </p:nvSpPr>
        <p:spPr>
          <a:xfrm>
            <a:off x="8412480" y="5303520"/>
            <a:ext cx="3209544" cy="93268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13648" y="5394960"/>
            <a:ext cx="2834640" cy="256032"/>
          </a:xfrm>
          <a:prstGeom prst="rect">
            <a:avLst/>
          </a:prstGeom>
          <a:noFill/>
        </p:spPr>
        <p:txBody>
          <a:bodyPr wrap="square" anchor="t">
            <a:spAutoFit/>
          </a:bodyPr>
          <a:lstStyle/>
          <a:p>
            <a:pPr algn="l">
              <a:lnSpc>
                <a:spcPct val="100000"/>
              </a:lnSpc>
              <a:spcAft>
                <a:spcPts val="400"/>
              </a:spcAft>
            </a:pPr>
            <a:r>
              <a:rPr sz="1000" b="1" i="0">
                <a:solidFill>
                  <a:srgbClr val="7C3AED"/>
                </a:solidFill>
                <a:latin typeface="Arial"/>
              </a:rPr>
              <a:t>TOOL</a:t>
            </a:r>
          </a:p>
        </p:txBody>
      </p:sp>
      <p:sp>
        <p:nvSpPr>
          <p:cNvPr id="45" name="TextBox 44"/>
          <p:cNvSpPr txBox="1"/>
          <p:nvPr/>
        </p:nvSpPr>
        <p:spPr>
          <a:xfrm>
            <a:off x="8613648" y="5632704"/>
            <a:ext cx="2834640" cy="256032"/>
          </a:xfrm>
          <a:prstGeom prst="rect">
            <a:avLst/>
          </a:prstGeom>
          <a:noFill/>
        </p:spPr>
        <p:txBody>
          <a:bodyPr wrap="square" anchor="t">
            <a:spAutoFit/>
          </a:bodyPr>
          <a:lstStyle/>
          <a:p>
            <a:pPr algn="l">
              <a:lnSpc>
                <a:spcPct val="100000"/>
              </a:lnSpc>
              <a:spcAft>
                <a:spcPts val="400"/>
              </a:spcAft>
            </a:pPr>
            <a:r>
              <a:rPr sz="1200" b="1" i="0">
                <a:solidFill>
                  <a:srgbClr val="161B26"/>
                </a:solidFill>
                <a:latin typeface="Arial"/>
              </a:rPr>
              <a:t>SPC / Control Chart + Statistics</a:t>
            </a:r>
          </a:p>
        </p:txBody>
      </p:sp>
      <p:sp>
        <p:nvSpPr>
          <p:cNvPr id="46" name="TextBox 45"/>
          <p:cNvSpPr txBox="1"/>
          <p:nvPr/>
        </p:nvSpPr>
        <p:spPr>
          <a:xfrm>
            <a:off x="8613648" y="5888736"/>
            <a:ext cx="2834640" cy="256032"/>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alfredang.github.io/novaspc/</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496</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60520" cy="6345936"/>
          </a:xfrm>
          <a:prstGeom prst="rect">
            <a:avLst/>
          </a:prstGeom>
          <a:solidFill>
            <a:srgbClr val="EFF4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60520" y="0"/>
            <a:ext cx="64008" cy="63459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3291840" cy="1371600"/>
          </a:xfrm>
          <a:prstGeom prst="rect">
            <a:avLst/>
          </a:prstGeom>
          <a:noFill/>
        </p:spPr>
        <p:txBody>
          <a:bodyPr wrap="square" anchor="t">
            <a:spAutoFit/>
          </a:bodyPr>
          <a:lstStyle/>
          <a:p>
            <a:pPr algn="l">
              <a:lnSpc>
                <a:spcPct val="100000"/>
              </a:lnSpc>
              <a:spcAft>
                <a:spcPts val="400"/>
              </a:spcAft>
            </a:pPr>
            <a:r>
              <a:rPr sz="9600" b="1" i="0">
                <a:solidFill>
                  <a:srgbClr val="1F6FEB"/>
                </a:solidFill>
                <a:latin typeface="Arial"/>
              </a:rPr>
              <a:t>06</a:t>
            </a:r>
          </a:p>
        </p:txBody>
      </p:sp>
      <p:sp>
        <p:nvSpPr>
          <p:cNvPr id="5" name="TextBox 4"/>
          <p:cNvSpPr txBox="1"/>
          <p:nvPr/>
        </p:nvSpPr>
        <p:spPr>
          <a:xfrm>
            <a:off x="603504" y="2788920"/>
            <a:ext cx="3200400" cy="365760"/>
          </a:xfrm>
          <a:prstGeom prst="rect">
            <a:avLst/>
          </a:prstGeom>
          <a:noFill/>
        </p:spPr>
        <p:txBody>
          <a:bodyPr wrap="square" anchor="t">
            <a:spAutoFit/>
          </a:bodyPr>
          <a:lstStyle/>
          <a:p>
            <a:pPr algn="l">
              <a:lnSpc>
                <a:spcPct val="100000"/>
              </a:lnSpc>
              <a:spcAft>
                <a:spcPts val="400"/>
              </a:spcAft>
            </a:pPr>
            <a:r>
              <a:rPr sz="1400" b="1" i="0">
                <a:solidFill>
                  <a:srgbClr val="1F6FEB"/>
                </a:solidFill>
                <a:latin typeface="Arial"/>
              </a:rPr>
              <a:t>TOPIC</a:t>
            </a:r>
          </a:p>
        </p:txBody>
      </p:sp>
      <p:sp>
        <p:nvSpPr>
          <p:cNvPr id="6" name="TextBox 5"/>
          <p:cNvSpPr txBox="1"/>
          <p:nvPr/>
        </p:nvSpPr>
        <p:spPr>
          <a:xfrm>
            <a:off x="566928" y="3127248"/>
            <a:ext cx="3291840" cy="2011680"/>
          </a:xfrm>
          <a:prstGeom prst="rect">
            <a:avLst/>
          </a:prstGeom>
          <a:noFill/>
        </p:spPr>
        <p:txBody>
          <a:bodyPr wrap="square" anchor="t">
            <a:spAutoFit/>
          </a:bodyPr>
          <a:lstStyle/>
          <a:p>
            <a:pPr algn="l">
              <a:lnSpc>
                <a:spcPct val="108000"/>
              </a:lnSpc>
              <a:spcAft>
                <a:spcPts val="400"/>
              </a:spcAft>
            </a:pPr>
            <a:r>
              <a:rPr sz="3000" b="1" i="0">
                <a:solidFill>
                  <a:srgbClr val="161B26"/>
                </a:solidFill>
                <a:latin typeface="Arial"/>
              </a:rPr>
              <a:t>Close the Project</a:t>
            </a:r>
          </a:p>
        </p:txBody>
      </p:sp>
      <p:sp>
        <p:nvSpPr>
          <p:cNvPr id="7" name="TextBox 6"/>
          <p:cNvSpPr txBox="1"/>
          <p:nvPr/>
        </p:nvSpPr>
        <p:spPr>
          <a:xfrm>
            <a:off x="4709160" y="1481328"/>
            <a:ext cx="6858000" cy="1325880"/>
          </a:xfrm>
          <a:prstGeom prst="rect">
            <a:avLst/>
          </a:prstGeom>
          <a:noFill/>
        </p:spPr>
        <p:txBody>
          <a:bodyPr wrap="square" anchor="t">
            <a:spAutoFit/>
          </a:bodyPr>
          <a:lstStyle/>
          <a:p>
            <a:pPr algn="l">
              <a:lnSpc>
                <a:spcPct val="122000"/>
              </a:lnSpc>
              <a:spcAft>
                <a:spcPts val="400"/>
              </a:spcAft>
            </a:pPr>
            <a:r>
              <a:rPr sz="1600" b="0" i="0">
                <a:solidFill>
                  <a:srgbClr val="5B6372"/>
                </a:solidFill>
                <a:latin typeface="Arial"/>
              </a:rPr>
              <a:t>Closure is a process, not an event. You obtain formal acceptance, transition the deliverable into operations, settle every contract and account, harvest the knowledge, and confirm the benefits the business case promised — then you turn to the exam itself.</a:t>
            </a:r>
          </a:p>
        </p:txBody>
      </p:sp>
      <p:sp>
        <p:nvSpPr>
          <p:cNvPr id="8" name="Oval 7"/>
          <p:cNvSpPr/>
          <p:nvPr/>
        </p:nvSpPr>
        <p:spPr>
          <a:xfrm>
            <a:off x="4709160" y="3044952"/>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307238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0" name="TextBox 9"/>
          <p:cNvSpPr txBox="1"/>
          <p:nvPr/>
        </p:nvSpPr>
        <p:spPr>
          <a:xfrm>
            <a:off x="5120640" y="302666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Close Project or Phase and the closure criteria</a:t>
            </a:r>
          </a:p>
        </p:txBody>
      </p:sp>
      <p:sp>
        <p:nvSpPr>
          <p:cNvPr id="11" name="Oval 10"/>
          <p:cNvSpPr/>
          <p:nvPr/>
        </p:nvSpPr>
        <p:spPr>
          <a:xfrm>
            <a:off x="4709160" y="3557016"/>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3584448"/>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3" name="TextBox 12"/>
          <p:cNvSpPr txBox="1"/>
          <p:nvPr/>
        </p:nvSpPr>
        <p:spPr>
          <a:xfrm>
            <a:off x="5120640" y="3538728"/>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Acceptance, transition and readiness for handover</a:t>
            </a:r>
          </a:p>
        </p:txBody>
      </p:sp>
      <p:sp>
        <p:nvSpPr>
          <p:cNvPr id="14" name="Oval 13"/>
          <p:cNvSpPr/>
          <p:nvPr/>
        </p:nvSpPr>
        <p:spPr>
          <a:xfrm>
            <a:off x="4709160" y="4069080"/>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4096512"/>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16" name="TextBox 15"/>
          <p:cNvSpPr txBox="1"/>
          <p:nvPr/>
        </p:nvSpPr>
        <p:spPr>
          <a:xfrm>
            <a:off x="5120640" y="4050792"/>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Contracts, procurement and financial closure</a:t>
            </a:r>
          </a:p>
        </p:txBody>
      </p:sp>
      <p:sp>
        <p:nvSpPr>
          <p:cNvPr id="17" name="Oval 16"/>
          <p:cNvSpPr/>
          <p:nvPr/>
        </p:nvSpPr>
        <p:spPr>
          <a:xfrm>
            <a:off x="4709160" y="4581144"/>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4608576"/>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19" name="TextBox 18"/>
          <p:cNvSpPr txBox="1"/>
          <p:nvPr/>
        </p:nvSpPr>
        <p:spPr>
          <a:xfrm>
            <a:off x="5120640" y="4562856"/>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Lessons learned, retrospectives and knowledge transfer</a:t>
            </a:r>
          </a:p>
        </p:txBody>
      </p:sp>
      <p:sp>
        <p:nvSpPr>
          <p:cNvPr id="20" name="Oval 19"/>
          <p:cNvSpPr/>
          <p:nvPr/>
        </p:nvSpPr>
        <p:spPr>
          <a:xfrm>
            <a:off x="4709160" y="5093208"/>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5120640"/>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22" name="TextBox 21"/>
          <p:cNvSpPr txBox="1"/>
          <p:nvPr/>
        </p:nvSpPr>
        <p:spPr>
          <a:xfrm>
            <a:off x="5120640" y="5074920"/>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Benefits realisation and confirming delivered value</a:t>
            </a:r>
          </a:p>
        </p:txBody>
      </p:sp>
      <p:sp>
        <p:nvSpPr>
          <p:cNvPr id="23" name="Oval 22"/>
          <p:cNvSpPr/>
          <p:nvPr/>
        </p:nvSpPr>
        <p:spPr>
          <a:xfrm>
            <a:off x="4709160" y="5605272"/>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5632704"/>
            <a:ext cx="22860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25" name="TextBox 24"/>
          <p:cNvSpPr txBox="1"/>
          <p:nvPr/>
        </p:nvSpPr>
        <p:spPr>
          <a:xfrm>
            <a:off x="5120640" y="5586984"/>
            <a:ext cx="6492240" cy="512064"/>
          </a:xfrm>
          <a:prstGeom prst="rect">
            <a:avLst/>
          </a:prstGeom>
          <a:noFill/>
        </p:spPr>
        <p:txBody>
          <a:bodyPr wrap="square" anchor="t">
            <a:spAutoFit/>
          </a:bodyPr>
          <a:lstStyle/>
          <a:p>
            <a:pPr algn="l">
              <a:lnSpc>
                <a:spcPct val="100000"/>
              </a:lnSpc>
              <a:spcAft>
                <a:spcPts val="400"/>
              </a:spcAft>
            </a:pPr>
            <a:r>
              <a:rPr sz="1500" b="0" i="0">
                <a:solidFill>
                  <a:srgbClr val="161B26"/>
                </a:solidFill>
                <a:latin typeface="Arial"/>
              </a:rPr>
              <a:t>PMP exam structure, question types and study strategy</a:t>
            </a:r>
          </a:p>
        </p:txBody>
      </p:sp>
      <p:sp>
        <p:nvSpPr>
          <p:cNvPr id="26" name="TextBox 2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7" name="TextBox 2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8" name="TextBox 2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497</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ECO PROCESS T10 · MANAGE PROJECT CLOSURE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Why closure matters</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A project that is not formally closed never stops consuming the organisation's money, attention and risk.</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Acceptance ends ambiguity</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Formal sign-off is the point at which 'nearly done' becomes contractually and legally done.</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Transition protects benefits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Value is realised in operations, not in delivery — a poor handover destroys the business case.</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Knowledge outlives the team</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Lessons learned move into the repository so the next project starts from your experience.</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498</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Three Threads of Closing</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Project or phase closure</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Complete every activity, obtain acceptance, settle contracts and accounts, release resources and archive.</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realisation</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Confirm the value the business case promised is being measured and delivered, and hand ownership of that measurement over.</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Knowledge transfer</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Move explicit and tacit knowledge from the team into the organisation before the team disbands.</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Phase gate closure</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Closing a phase uses the same process — acceptance, lessons learned, archive — before the next phase is authorised.</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Administrative closure</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Financial accounts closed, purchase orders settled, systems access revoked, facilities returned.</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Celebration and recognition</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Recognising the team's contribution is a genuine closure activity, not a nicety — it shapes future engagement.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499</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Close Project or Phase — ITTO</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56692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14703"/>
            <a:ext cx="10597896" cy="438912"/>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Purpose: finalise all activities for the project, phase or contract. This is the only process whose output is the formal, archived record that the project ever happened.</a:t>
            </a:r>
          </a:p>
        </p:txBody>
      </p:sp>
      <p:sp>
        <p:nvSpPr>
          <p:cNvPr id="8" name="Rounded Rectangle 7"/>
          <p:cNvSpPr/>
          <p:nvPr/>
        </p:nvSpPr>
        <p:spPr>
          <a:xfrm>
            <a:off x="566928"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63927"/>
            <a:ext cx="33680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INPUTS</a:t>
            </a:r>
          </a:p>
        </p:txBody>
      </p:sp>
      <p:sp>
        <p:nvSpPr>
          <p:cNvPr id="11" name="Oval 10"/>
          <p:cNvSpPr/>
          <p:nvPr/>
        </p:nvSpPr>
        <p:spPr>
          <a:xfrm>
            <a:off x="749808" y="295031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58871"/>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Project charter</a:t>
            </a:r>
          </a:p>
        </p:txBody>
      </p:sp>
      <p:sp>
        <p:nvSpPr>
          <p:cNvPr id="13" name="Oval 12"/>
          <p:cNvSpPr/>
          <p:nvPr/>
        </p:nvSpPr>
        <p:spPr>
          <a:xfrm>
            <a:off x="749808" y="3251605"/>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160165"/>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Project management plan (all components)</a:t>
            </a:r>
          </a:p>
        </p:txBody>
      </p:sp>
      <p:sp>
        <p:nvSpPr>
          <p:cNvPr id="15" name="Oval 14"/>
          <p:cNvSpPr/>
          <p:nvPr/>
        </p:nvSpPr>
        <p:spPr>
          <a:xfrm>
            <a:off x="749808" y="3552899"/>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3461459"/>
            <a:ext cx="2782824" cy="1094536"/>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Project documents: assumption log, basis of estimates, change log, issue log, lessons learned register, milestone list, project communications, quality control measurements, quality reports, requirements documentation, risk register, risk report</a:t>
            </a:r>
          </a:p>
        </p:txBody>
      </p:sp>
      <p:sp>
        <p:nvSpPr>
          <p:cNvPr id="17" name="Oval 16"/>
          <p:cNvSpPr/>
          <p:nvPr/>
        </p:nvSpPr>
        <p:spPr>
          <a:xfrm>
            <a:off x="749808" y="4766307"/>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674867"/>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Accepted deliverables</a:t>
            </a:r>
          </a:p>
        </p:txBody>
      </p:sp>
      <p:sp>
        <p:nvSpPr>
          <p:cNvPr id="19" name="Oval 18"/>
          <p:cNvSpPr/>
          <p:nvPr/>
        </p:nvSpPr>
        <p:spPr>
          <a:xfrm>
            <a:off x="749808" y="5067601"/>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976161"/>
            <a:ext cx="2782824" cy="364845"/>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Business documents: business case, benefits management plan</a:t>
            </a:r>
          </a:p>
        </p:txBody>
      </p:sp>
      <p:sp>
        <p:nvSpPr>
          <p:cNvPr id="21" name="Oval 20"/>
          <p:cNvSpPr/>
          <p:nvPr/>
        </p:nvSpPr>
        <p:spPr>
          <a:xfrm>
            <a:off x="749808" y="5551318"/>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459878"/>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Agreements and procurement documentation</a:t>
            </a:r>
          </a:p>
        </p:txBody>
      </p:sp>
      <p:sp>
        <p:nvSpPr>
          <p:cNvPr id="23" name="Oval 22"/>
          <p:cNvSpPr/>
          <p:nvPr/>
        </p:nvSpPr>
        <p:spPr>
          <a:xfrm>
            <a:off x="749808" y="5852612"/>
            <a:ext cx="118872" cy="118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5761172"/>
            <a:ext cx="2782824" cy="182422"/>
          </a:xfrm>
          <a:prstGeom prst="rect">
            <a:avLst/>
          </a:prstGeom>
          <a:noFill/>
        </p:spPr>
        <p:txBody>
          <a:bodyPr wrap="square" anchor="t">
            <a:spAutoFit/>
          </a:bodyPr>
          <a:lstStyle/>
          <a:p>
            <a:pPr algn="l">
              <a:lnSpc>
                <a:spcPct val="112000"/>
              </a:lnSpc>
              <a:spcAft>
                <a:spcPts val="400"/>
              </a:spcAft>
            </a:pPr>
            <a:r>
              <a:rPr sz="950" b="0" i="0">
                <a:solidFill>
                  <a:srgbClr val="161B26"/>
                </a:solidFill>
                <a:latin typeface="Arial"/>
              </a:rPr>
              <a:t>Organizational process assets</a:t>
            </a:r>
          </a:p>
        </p:txBody>
      </p:sp>
      <p:sp>
        <p:nvSpPr>
          <p:cNvPr id="25" name="Chevron 24"/>
          <p:cNvSpPr/>
          <p:nvPr/>
        </p:nvSpPr>
        <p:spPr>
          <a:xfrm>
            <a:off x="4026408" y="4117771"/>
            <a:ext cx="292608" cy="292608"/>
          </a:xfrm>
          <a:prstGeom prst="chevron">
            <a:avLst/>
          </a:prstGeom>
          <a:solidFill>
            <a:srgbClr val="BBD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410456"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10456" y="2163927"/>
            <a:ext cx="33680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5048"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TOOLS &amp; TECHNIQUES</a:t>
            </a:r>
          </a:p>
        </p:txBody>
      </p:sp>
      <p:sp>
        <p:nvSpPr>
          <p:cNvPr id="29" name="Oval 28"/>
          <p:cNvSpPr/>
          <p:nvPr/>
        </p:nvSpPr>
        <p:spPr>
          <a:xfrm>
            <a:off x="4593336" y="2950311"/>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2792" y="2858871"/>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Expert judgement in management control, audit, legal and procurement closure</a:t>
            </a:r>
          </a:p>
        </p:txBody>
      </p:sp>
      <p:sp>
        <p:nvSpPr>
          <p:cNvPr id="31" name="Oval 30"/>
          <p:cNvSpPr/>
          <p:nvPr/>
        </p:nvSpPr>
        <p:spPr>
          <a:xfrm>
            <a:off x="4593336" y="3702862"/>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12792" y="3611422"/>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Data analysis: document analysis, regression analysis, trend analysis, variance analysis</a:t>
            </a:r>
          </a:p>
        </p:txBody>
      </p:sp>
      <p:sp>
        <p:nvSpPr>
          <p:cNvPr id="33" name="Oval 32"/>
          <p:cNvSpPr/>
          <p:nvPr/>
        </p:nvSpPr>
        <p:spPr>
          <a:xfrm>
            <a:off x="4593336" y="4455413"/>
            <a:ext cx="118872" cy="118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12792" y="4363973"/>
            <a:ext cx="2782824" cy="633679"/>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Meetings: closeout reporting, lessons learned sessions, retrospectives, celebration</a:t>
            </a:r>
          </a:p>
        </p:txBody>
      </p:sp>
      <p:sp>
        <p:nvSpPr>
          <p:cNvPr id="35" name="Chevron 34"/>
          <p:cNvSpPr/>
          <p:nvPr/>
        </p:nvSpPr>
        <p:spPr>
          <a:xfrm>
            <a:off x="7869936" y="4117771"/>
            <a:ext cx="292608" cy="292608"/>
          </a:xfrm>
          <a:prstGeom prst="chevron">
            <a:avLst/>
          </a:prstGeom>
          <a:solidFill>
            <a:srgbClr val="D7C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53984" y="2163927"/>
            <a:ext cx="3368040" cy="4200297"/>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253984" y="2163927"/>
            <a:ext cx="3368040"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8576" y="2301087"/>
            <a:ext cx="3038856" cy="329184"/>
          </a:xfrm>
          <a:prstGeom prst="rect">
            <a:avLst/>
          </a:prstGeom>
          <a:noFill/>
        </p:spPr>
        <p:txBody>
          <a:bodyPr wrap="square" anchor="t">
            <a:spAutoFit/>
          </a:bodyPr>
          <a:lstStyle/>
          <a:p>
            <a:pPr algn="ctr">
              <a:lnSpc>
                <a:spcPct val="100000"/>
              </a:lnSpc>
              <a:spcAft>
                <a:spcPts val="400"/>
              </a:spcAft>
            </a:pPr>
            <a:r>
              <a:rPr sz="1250" b="1" i="0">
                <a:solidFill>
                  <a:srgbClr val="FFFFFF"/>
                </a:solidFill>
                <a:latin typeface="Arial"/>
              </a:rPr>
              <a:t>OUTPUTS</a:t>
            </a:r>
          </a:p>
        </p:txBody>
      </p:sp>
      <p:sp>
        <p:nvSpPr>
          <p:cNvPr id="39" name="Oval 38"/>
          <p:cNvSpPr/>
          <p:nvPr/>
        </p:nvSpPr>
        <p:spPr>
          <a:xfrm>
            <a:off x="8436864" y="2950311"/>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56320" y="2858871"/>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Project documents updates (lessons learned register finalised)</a:t>
            </a:r>
          </a:p>
        </p:txBody>
      </p:sp>
      <p:sp>
        <p:nvSpPr>
          <p:cNvPr id="41" name="Oval 40"/>
          <p:cNvSpPr/>
          <p:nvPr/>
        </p:nvSpPr>
        <p:spPr>
          <a:xfrm>
            <a:off x="8436864" y="3491635"/>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56320" y="3400195"/>
            <a:ext cx="2782824" cy="42245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Final product, service or result transition</a:t>
            </a:r>
          </a:p>
        </p:txBody>
      </p:sp>
      <p:sp>
        <p:nvSpPr>
          <p:cNvPr id="43" name="Oval 42"/>
          <p:cNvSpPr/>
          <p:nvPr/>
        </p:nvSpPr>
        <p:spPr>
          <a:xfrm>
            <a:off x="8436864" y="4032959"/>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656320" y="3941519"/>
            <a:ext cx="2782824" cy="211226"/>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Final report</a:t>
            </a:r>
          </a:p>
        </p:txBody>
      </p:sp>
      <p:sp>
        <p:nvSpPr>
          <p:cNvPr id="45" name="Oval 44"/>
          <p:cNvSpPr/>
          <p:nvPr/>
        </p:nvSpPr>
        <p:spPr>
          <a:xfrm>
            <a:off x="8436864" y="4363057"/>
            <a:ext cx="118872" cy="118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56320" y="4271617"/>
            <a:ext cx="2782824" cy="1056132"/>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Organizational process assets updates: project files, project or phase closure documents, historical information, lessons learned repository</a:t>
            </a:r>
          </a:p>
        </p:txBody>
      </p:sp>
      <p:sp>
        <p:nvSpPr>
          <p:cNvPr id="47" name="TextBox 4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8" name="TextBox 4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9" name="TextBox 4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500</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Project Closure vs Phase Closure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Project closure</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The whole endeavour ends</a:t>
            </a:r>
          </a:p>
        </p:txBody>
      </p:sp>
      <p:sp>
        <p:nvSpPr>
          <p:cNvPr id="9" name="Oval 8"/>
          <p:cNvSpPr/>
          <p:nvPr/>
        </p:nvSpPr>
        <p:spPr>
          <a:xfrm>
            <a:off x="786384" y="2465679"/>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Performed once, when all phases are complete or the project is terminated</a:t>
            </a:r>
          </a:p>
        </p:txBody>
      </p:sp>
      <p:sp>
        <p:nvSpPr>
          <p:cNvPr id="11" name="Oval 10"/>
          <p:cNvSpPr/>
          <p:nvPr/>
        </p:nvSpPr>
        <p:spPr>
          <a:xfrm>
            <a:off x="786384" y="2959455"/>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Releases all resources, closes all contracts and all financial accounts</a:t>
            </a:r>
          </a:p>
        </p:txBody>
      </p:sp>
      <p:sp>
        <p:nvSpPr>
          <p:cNvPr id="13" name="Oval 12"/>
          <p:cNvSpPr/>
          <p:nvPr/>
        </p:nvSpPr>
        <p:spPr>
          <a:xfrm>
            <a:off x="786384" y="3453231"/>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Transitions the final product, service or result to operations or the customer</a:t>
            </a:r>
          </a:p>
        </p:txBody>
      </p:sp>
      <p:sp>
        <p:nvSpPr>
          <p:cNvPr id="15" name="Oval 14"/>
          <p:cNvSpPr/>
          <p:nvPr/>
        </p:nvSpPr>
        <p:spPr>
          <a:xfrm>
            <a:off x="786384" y="3947007"/>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the final report summarising performance against every baseline</a:t>
            </a:r>
          </a:p>
        </p:txBody>
      </p:sp>
      <p:sp>
        <p:nvSpPr>
          <p:cNvPr id="17" name="Oval 16"/>
          <p:cNvSpPr/>
          <p:nvPr/>
        </p:nvSpPr>
        <p:spPr>
          <a:xfrm>
            <a:off x="786384" y="4440783"/>
            <a:ext cx="146304" cy="14630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Archives the complete project record into the organisational process assets</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Phase closure</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A gate between stages</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Performed at the end of each phase in a predictive or hybrid life cycle</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Confirms phase deliverables are accepted before the next phase is authorised</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Resources may be released, retained or reassigned depending on the next phase</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Produces a phase-end report and a go / no-go / hold recommendation</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Captures lessons learned while they are fresh, not at the very end</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Both use the same process. A phase gate is the cheapest place to kill a project that has lost its business case — which is precisely why governance defines phase-end criteria in advance.</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501</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Why Projects or Phases Close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Deliverables accepted</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Stakeholders accept deliverables against acceptance criteria established in the project management plan.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Criteria may evolve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Acceptance criteria can legitimately be modified during the life cycle — through change control, never informally.</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Traceability confirms completion</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requirements traceability matrix proves every requirement was completed and approved.</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Iteration assessment</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At the end of an iteration, team and stakeholders assess the product against their mutually agreed Definition of Done.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Phase gate reached</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phase's exit criteria are met and governance authorises moving to the next phase.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Termination</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business case has failed, funding is withdrawn, or the need has disappeared — closure still applies in full.</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502</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Close Project or Phase — the Activity Sequence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Confirm completion</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Verify all work in the scope baseline is complete and all deliverables verified.</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Obtain acceptance</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Secure formal, documented customer acceptance against the acceptance criteria.</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Transition</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Hand the product to operations or the customer with training and documentation.</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Close contracts</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Settle claims, finalise payments, close purchase orders and archive agreements.</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Close financials</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Notify enterprise functions, close accounts, and release remaining budget.</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Archive and release</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Archive all project information into OPAs and release the team and facilities.</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Conclude external obligations including legal, regulatory and contractual matters — transfer of liability and closure of all accounts in the financial system are frequently forgotten and frequently examined.</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503</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Acceptance of Deliverables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Acceptance criteria first</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Criteria are agreed at the start, in the requirements documentation and the scope baseline.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Verified before accepted</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Control Quality produces verified deliverables; Validate Scope converts them into accepted deliverables.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Formal and documented</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Acceptance must be written and signed by an authorised stakeholder — verbal approval is not acceptance.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Traceability matrix</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the requirements traceability matrix to prove every requirement reached completion and approval.</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Partial acceptance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Where some deliverables fail, accept what passes and raise change requests for the remainder — do not stall everything.</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Conditional acceptance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Acceptance with a punch list must carry named owners and dates, or the residual work is never done.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504</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Transition and Handover to Operations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Adoption drives benefits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Effective transitions enable end-user awareness, increasing adoption and therefore benefits realisation.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Training</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Users and operators need training on the new product or service before, not after, they depend on it.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Documentation</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Operating manuals, as-built documentation and troubleshooting guides transfer with the deliverable.</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Communication</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Sustained communication between the project team and the receiving organisation prevents the classic silent handover.</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Post-implementation support</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Agree the hypercare period, the support model and who pays for it, before the team disbands.</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Warranty and defect window</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Define the warranty period and the process for defects discovered after acceptance.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505</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Readiness for Transition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331720" y="1596999"/>
            <a:ext cx="1993392" cy="1993392"/>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478024"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F59E0B"/>
                </a:solidFill>
                <a:latin typeface="Arial"/>
              </a:rPr>
              <a:t>Delay the handover</a:t>
            </a:r>
          </a:p>
        </p:txBody>
      </p:sp>
      <p:sp>
        <p:nvSpPr>
          <p:cNvPr id="7" name="TextBox 6"/>
          <p:cNvSpPr txBox="1"/>
          <p:nvPr/>
        </p:nvSpPr>
        <p:spPr>
          <a:xfrm>
            <a:off x="2478024"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The product works but operations cannot run it. Invest in training, runbooks and support staffing before transitioning.</a:t>
            </a:r>
          </a:p>
        </p:txBody>
      </p:sp>
      <p:sp>
        <p:nvSpPr>
          <p:cNvPr id="8" name="Rounded Rectangle 7"/>
          <p:cNvSpPr/>
          <p:nvPr/>
        </p:nvSpPr>
        <p:spPr>
          <a:xfrm>
            <a:off x="4325112" y="1596999"/>
            <a:ext cx="1993392" cy="1993392"/>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71416" y="1725015"/>
            <a:ext cx="1700784" cy="504063"/>
          </a:xfrm>
          <a:prstGeom prst="rect">
            <a:avLst/>
          </a:prstGeom>
          <a:noFill/>
        </p:spPr>
        <p:txBody>
          <a:bodyPr wrap="square" anchor="t">
            <a:spAutoFit/>
          </a:bodyPr>
          <a:lstStyle/>
          <a:p>
            <a:pPr algn="l">
              <a:lnSpc>
                <a:spcPct val="105000"/>
              </a:lnSpc>
              <a:spcAft>
                <a:spcPts val="400"/>
              </a:spcAft>
            </a:pPr>
            <a:r>
              <a:rPr sz="1400" b="1" i="0">
                <a:solidFill>
                  <a:srgbClr val="10B981"/>
                </a:solidFill>
                <a:latin typeface="Arial"/>
              </a:rPr>
              <a:t>Transition now</a:t>
            </a:r>
          </a:p>
        </p:txBody>
      </p:sp>
      <p:sp>
        <p:nvSpPr>
          <p:cNvPr id="10" name="TextBox 9"/>
          <p:cNvSpPr txBox="1"/>
          <p:nvPr/>
        </p:nvSpPr>
        <p:spPr>
          <a:xfrm>
            <a:off x="4471416" y="2320518"/>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Product and operations are both ready. Execute the handover, start hypercare and begin measuring benefits.</a:t>
            </a:r>
          </a:p>
        </p:txBody>
      </p:sp>
      <p:sp>
        <p:nvSpPr>
          <p:cNvPr id="11" name="Rounded Rectangle 10"/>
          <p:cNvSpPr/>
          <p:nvPr/>
        </p:nvSpPr>
        <p:spPr>
          <a:xfrm>
            <a:off x="2331720" y="3590391"/>
            <a:ext cx="1993392" cy="199339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E11D48"/>
                </a:solidFill>
                <a:latin typeface="Arial"/>
              </a:rPr>
              <a:t>Not ready — hold</a:t>
            </a:r>
          </a:p>
        </p:txBody>
      </p:sp>
      <p:sp>
        <p:nvSpPr>
          <p:cNvPr id="13" name="TextBox 12"/>
          <p:cNvSpPr txBox="1"/>
          <p:nvPr/>
        </p:nvSpPr>
        <p:spPr>
          <a:xfrm>
            <a:off x="2478024"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Neither side is ready. Do not transition; a forced handover here converts a project problem into an operational crisis.</a:t>
            </a:r>
          </a:p>
        </p:txBody>
      </p:sp>
      <p:sp>
        <p:nvSpPr>
          <p:cNvPr id="14" name="Rounded Rectangle 13"/>
          <p:cNvSpPr/>
          <p:nvPr/>
        </p:nvSpPr>
        <p:spPr>
          <a:xfrm>
            <a:off x="4325112" y="3590391"/>
            <a:ext cx="1993392" cy="1993392"/>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71416" y="3718407"/>
            <a:ext cx="1700784" cy="504063"/>
          </a:xfrm>
          <a:prstGeom prst="rect">
            <a:avLst/>
          </a:prstGeom>
          <a:noFill/>
        </p:spPr>
        <p:txBody>
          <a:bodyPr wrap="square" anchor="t">
            <a:spAutoFit/>
          </a:bodyPr>
          <a:lstStyle/>
          <a:p>
            <a:pPr algn="l">
              <a:lnSpc>
                <a:spcPct val="105000"/>
              </a:lnSpc>
              <a:spcAft>
                <a:spcPts val="400"/>
              </a:spcAft>
            </a:pPr>
            <a:r>
              <a:rPr sz="1400" b="1" i="0">
                <a:solidFill>
                  <a:srgbClr val="7C3AED"/>
                </a:solidFill>
                <a:latin typeface="Arial"/>
              </a:rPr>
              <a:t>Fix defects first</a:t>
            </a:r>
          </a:p>
        </p:txBody>
      </p:sp>
      <p:sp>
        <p:nvSpPr>
          <p:cNvPr id="16" name="TextBox 15"/>
          <p:cNvSpPr txBox="1"/>
          <p:nvPr/>
        </p:nvSpPr>
        <p:spPr>
          <a:xfrm>
            <a:off x="4471416" y="4313910"/>
            <a:ext cx="1700784" cy="1160145"/>
          </a:xfrm>
          <a:prstGeom prst="rect">
            <a:avLst/>
          </a:prstGeom>
          <a:noFill/>
        </p:spPr>
        <p:txBody>
          <a:bodyPr wrap="square" anchor="t">
            <a:spAutoFit/>
          </a:bodyPr>
          <a:lstStyle/>
          <a:p>
            <a:pPr algn="l">
              <a:lnSpc>
                <a:spcPct val="118000"/>
              </a:lnSpc>
              <a:spcAft>
                <a:spcPts val="400"/>
              </a:spcAft>
            </a:pPr>
            <a:r>
              <a:rPr sz="900" b="0" i="0">
                <a:solidFill>
                  <a:srgbClr val="161B26"/>
                </a:solidFill>
                <a:latin typeface="Arial"/>
              </a:rPr>
              <a:t>Operations are prepared but the product fails acceptance. Complete defect repair and re-validate scope.</a:t>
            </a:r>
          </a:p>
        </p:txBody>
      </p:sp>
      <p:sp>
        <p:nvSpPr>
          <p:cNvPr id="17" name="TextBox 16"/>
          <p:cNvSpPr txBox="1"/>
          <p:nvPr/>
        </p:nvSpPr>
        <p:spPr>
          <a:xfrm>
            <a:off x="2331720" y="5675223"/>
            <a:ext cx="3986784" cy="292608"/>
          </a:xfrm>
          <a:prstGeom prst="rect">
            <a:avLst/>
          </a:prstGeom>
          <a:noFill/>
        </p:spPr>
        <p:txBody>
          <a:bodyPr wrap="square" anchor="t">
            <a:spAutoFit/>
          </a:bodyPr>
          <a:lstStyle/>
          <a:p>
            <a:pPr algn="ctr">
              <a:lnSpc>
                <a:spcPct val="100000"/>
              </a:lnSpc>
              <a:spcAft>
                <a:spcPts val="400"/>
              </a:spcAft>
            </a:pPr>
            <a:r>
              <a:rPr sz="1200" b="1" i="0">
                <a:solidFill>
                  <a:srgbClr val="5B6372"/>
                </a:solidFill>
                <a:latin typeface="Arial"/>
              </a:rPr>
              <a:t>Operational readiness of the receiving organisation</a:t>
            </a:r>
          </a:p>
        </p:txBody>
      </p:sp>
      <p:sp>
        <p:nvSpPr>
          <p:cNvPr id="18" name="TextBox 17"/>
          <p:cNvSpPr txBox="1"/>
          <p:nvPr/>
        </p:nvSpPr>
        <p:spPr>
          <a:xfrm>
            <a:off x="457201" y="3407511"/>
            <a:ext cx="1737360" cy="365760"/>
          </a:xfrm>
          <a:prstGeom prst="rect">
            <a:avLst/>
          </a:prstGeom>
          <a:noFill/>
        </p:spPr>
        <p:txBody>
          <a:bodyPr wrap="square" anchor="t">
            <a:spAutoFit/>
          </a:bodyPr>
          <a:lstStyle/>
          <a:p>
            <a:pPr algn="r">
              <a:lnSpc>
                <a:spcPct val="100000"/>
              </a:lnSpc>
              <a:spcAft>
                <a:spcPts val="400"/>
              </a:spcAft>
            </a:pPr>
            <a:r>
              <a:rPr sz="1200" b="1" i="0">
                <a:solidFill>
                  <a:srgbClr val="5B6372"/>
                </a:solidFill>
                <a:latin typeface="Arial"/>
              </a:rPr>
              <a:t>Product readiness of the deliverable</a:t>
            </a:r>
          </a:p>
        </p:txBody>
      </p:sp>
      <p:sp>
        <p:nvSpPr>
          <p:cNvPr id="19" name="Rounded Rectangle 18"/>
          <p:cNvSpPr/>
          <p:nvPr/>
        </p:nvSpPr>
        <p:spPr>
          <a:xfrm>
            <a:off x="6583680" y="1688439"/>
            <a:ext cx="5029200" cy="9144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4848" y="1798167"/>
            <a:ext cx="4663440" cy="731520"/>
          </a:xfrm>
          <a:prstGeom prst="rect">
            <a:avLst/>
          </a:prstGeom>
          <a:noFill/>
        </p:spPr>
        <p:txBody>
          <a:bodyPr wrap="square" anchor="t">
            <a:spAutoFit/>
          </a:bodyPr>
          <a:lstStyle/>
          <a:p>
            <a:pPr algn="l">
              <a:lnSpc>
                <a:spcPct val="120000"/>
              </a:lnSpc>
              <a:spcAft>
                <a:spcPts val="400"/>
              </a:spcAft>
            </a:pPr>
            <a:r>
              <a:rPr sz="1150" b="0" i="0">
                <a:solidFill>
                  <a:srgbClr val="161B26"/>
                </a:solidFill>
                <a:latin typeface="Arial"/>
              </a:rPr>
              <a:t>ECO Process T10 asks you to validate readiness for transition — to operations or the next phase. Readiness is two-sided.</a:t>
            </a:r>
          </a:p>
        </p:txBody>
      </p:sp>
      <p:sp>
        <p:nvSpPr>
          <p:cNvPr id="21" name="TextBox 2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2" name="TextBox 2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3" name="TextBox 2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506</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Contents of the Final Report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Summary-level description</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the project was, what it delivered, and the period over which it ran.</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objectives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scope objectives, the criteria used to evaluate them, and evidence that they were met.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objectives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Quality objectives, the criteria applied, and the actual quality achieved against them.</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Cost and schedule performance</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acceptable variance ranges, the actual variances, and the reason for each.</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and business case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Whether the intended benefits were achieved, and if not, when they are expected to be.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Risks, issues and recommendations</a:t>
            </a:r>
          </a:p>
        </p:txBody>
      </p:sp>
      <p:sp>
        <p:nvSpPr>
          <p:cNvPr id="40" name="TextBox 39"/>
          <p:cNvSpPr txBox="1"/>
          <p:nvPr/>
        </p:nvSpPr>
        <p:spPr>
          <a:xfrm>
            <a:off x="829665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Summary of how risks and issues were managed and what future projects should do differently.</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507</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Finalising Contracts and Procurement Documentation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Contract schedule and scope</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Collect, index and file the contractual schedule and the final agreed statement of work.</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Quality and cost performance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File the supplier's quality records and the cost performance data against the agreement.</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Change documentation</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contract change, modification and supplemental agreement is archived with its authorisation.</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Payment and financial records</a:t>
            </a:r>
          </a:p>
        </p:txBody>
      </p:sp>
      <p:sp>
        <p:nvSpPr>
          <p:cNvPr id="28" name="TextBox 27"/>
          <p:cNvSpPr txBox="1"/>
          <p:nvPr/>
        </p:nvSpPr>
        <p:spPr>
          <a:xfrm>
            <a:off x="76809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Payment records, invoices and financial documents complete the commercial audit trail.</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Inspection results</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Inspection and acceptance test results evidence that the supplier met the agreed standard.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As-built documentation</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'As-built' or 'as-developed' documents, manuals and troubleshooting and technical documentation.</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508</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T5 · PLAN AND MANAGE PROCUREMENT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Procurement Closure Sequence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331832"/>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Verify delivery</a:t>
            </a:r>
          </a:p>
        </p:txBody>
      </p:sp>
      <p:sp>
        <p:nvSpPr>
          <p:cNvPr id="8" name="TextBox 7"/>
          <p:cNvSpPr txBox="1"/>
          <p:nvPr/>
        </p:nvSpPr>
        <p:spPr>
          <a:xfrm>
            <a:off x="69494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Confirm all contracted work and deliverables have been received and inspected.</a:t>
            </a:r>
          </a:p>
        </p:txBody>
      </p:sp>
      <p:sp>
        <p:nvSpPr>
          <p:cNvPr id="9" name="Pentagon 8"/>
          <p:cNvSpPr/>
          <p:nvPr/>
        </p:nvSpPr>
        <p:spPr>
          <a:xfrm>
            <a:off x="2429256" y="1816455"/>
            <a:ext cx="1743456" cy="2331832"/>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Resolve claims</a:t>
            </a:r>
          </a:p>
        </p:txBody>
      </p:sp>
      <p:sp>
        <p:nvSpPr>
          <p:cNvPr id="12" name="TextBox 11"/>
          <p:cNvSpPr txBox="1"/>
          <p:nvPr/>
        </p:nvSpPr>
        <p:spPr>
          <a:xfrm>
            <a:off x="2557272"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Settle any open claims or disputes through negotiation or the contract's ADR method.</a:t>
            </a:r>
          </a:p>
        </p:txBody>
      </p:sp>
      <p:sp>
        <p:nvSpPr>
          <p:cNvPr id="13" name="Pentagon 12"/>
          <p:cNvSpPr/>
          <p:nvPr/>
        </p:nvSpPr>
        <p:spPr>
          <a:xfrm>
            <a:off x="4291584" y="1816455"/>
            <a:ext cx="1743456" cy="2331832"/>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Final payment</a:t>
            </a:r>
          </a:p>
        </p:txBody>
      </p:sp>
      <p:sp>
        <p:nvSpPr>
          <p:cNvPr id="16" name="TextBox 15"/>
          <p:cNvSpPr txBox="1"/>
          <p:nvPr/>
        </p:nvSpPr>
        <p:spPr>
          <a:xfrm>
            <a:off x="4419600"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Release final payment and retention once the acceptance conditions are satisfied.</a:t>
            </a:r>
          </a:p>
        </p:txBody>
      </p:sp>
      <p:sp>
        <p:nvSpPr>
          <p:cNvPr id="17" name="Pentagon 16"/>
          <p:cNvSpPr/>
          <p:nvPr/>
        </p:nvSpPr>
        <p:spPr>
          <a:xfrm>
            <a:off x="6153912" y="1816455"/>
            <a:ext cx="1743456" cy="2331832"/>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Formal notice</a:t>
            </a:r>
          </a:p>
        </p:txBody>
      </p:sp>
      <p:sp>
        <p:nvSpPr>
          <p:cNvPr id="20" name="TextBox 19"/>
          <p:cNvSpPr txBox="1"/>
          <p:nvPr/>
        </p:nvSpPr>
        <p:spPr>
          <a:xfrm>
            <a:off x="6281928"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Issue written notice of contract completion as required by the agreement.</a:t>
            </a:r>
          </a:p>
        </p:txBody>
      </p:sp>
      <p:sp>
        <p:nvSpPr>
          <p:cNvPr id="21" name="Pentagon 20"/>
          <p:cNvSpPr/>
          <p:nvPr/>
        </p:nvSpPr>
        <p:spPr>
          <a:xfrm>
            <a:off x="8016240" y="1816455"/>
            <a:ext cx="1743456" cy="2331832"/>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Archive</a:t>
            </a:r>
          </a:p>
        </p:txBody>
      </p:sp>
      <p:sp>
        <p:nvSpPr>
          <p:cNvPr id="24" name="TextBox 23"/>
          <p:cNvSpPr txBox="1"/>
          <p:nvPr/>
        </p:nvSpPr>
        <p:spPr>
          <a:xfrm>
            <a:off x="8144256"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Index and file the complete procurement file for audit and future reference.</a:t>
            </a:r>
          </a:p>
        </p:txBody>
      </p:sp>
      <p:sp>
        <p:nvSpPr>
          <p:cNvPr id="25" name="Rounded Rectangle 24"/>
          <p:cNvSpPr/>
          <p:nvPr/>
        </p:nvSpPr>
        <p:spPr>
          <a:xfrm>
            <a:off x="9878568" y="1816455"/>
            <a:ext cx="1743456" cy="2331832"/>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588415"/>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Evaluate the vendor</a:t>
            </a:r>
          </a:p>
        </p:txBody>
      </p:sp>
      <p:sp>
        <p:nvSpPr>
          <p:cNvPr id="28" name="TextBox 27"/>
          <p:cNvSpPr txBox="1"/>
          <p:nvPr/>
        </p:nvSpPr>
        <p:spPr>
          <a:xfrm>
            <a:off x="10006584" y="2788918"/>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Record supplier performance so future sourcing decisions are evidence-based.</a:t>
            </a:r>
          </a:p>
        </p:txBody>
      </p:sp>
      <p:sp>
        <p:nvSpPr>
          <p:cNvPr id="29" name="Rounded Rectangle 28"/>
          <p:cNvSpPr/>
          <p:nvPr/>
        </p:nvSpPr>
        <p:spPr>
          <a:xfrm>
            <a:off x="566928" y="4367743"/>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67743"/>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459183"/>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Early termination is a valid form of procurement closure. The termination clause defines the rights of both parties and the settlement of costs already incurred.</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509</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Releasing Resources and Updating OPAs</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people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Return team members to their functional units with a written performance summary and a genuine thank you.</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Release physical resources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Return equipment, facilities and licences; unclaimed assets keep costing the organisation.</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Close financial accounts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Close cost centres and purchase orders so no further charges can be booked to a finished project.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Revoke access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Remove system and data access — an open security question is a real compliance finding at audit.</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Update OPA templates</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Push improved templates, checklists and estimating data back into the organisational process assets.</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Update historical databases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Actual durations and costs make the next project's analogous and parametric estimates better.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510</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Lessons Learned Register vs Repository</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390388"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Lessons learned register</a:t>
            </a:r>
          </a:p>
        </p:txBody>
      </p:sp>
      <p:sp>
        <p:nvSpPr>
          <p:cNvPr id="8" name="TextBox 7"/>
          <p:cNvSpPr txBox="1"/>
          <p:nvPr/>
        </p:nvSpPr>
        <p:spPr>
          <a:xfrm>
            <a:off x="786384"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Live, project-level, updated continuously</a:t>
            </a:r>
          </a:p>
        </p:txBody>
      </p:sp>
      <p:sp>
        <p:nvSpPr>
          <p:cNvPr id="9" name="Oval 8"/>
          <p:cNvSpPr/>
          <p:nvPr/>
        </p:nvSpPr>
        <p:spPr>
          <a:xfrm>
            <a:off x="786384" y="2465679"/>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42416"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 project document created early and updated throughout the whole life cycle</a:t>
            </a:r>
          </a:p>
        </p:txBody>
      </p:sp>
      <p:sp>
        <p:nvSpPr>
          <p:cNvPr id="11" name="Oval 10"/>
          <p:cNvSpPr/>
          <p:nvPr/>
        </p:nvSpPr>
        <p:spPr>
          <a:xfrm>
            <a:off x="786384" y="2959455"/>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42416"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Captures the situation, the impact, and the recommendation as events happen</a:t>
            </a:r>
          </a:p>
        </p:txBody>
      </p:sp>
      <p:sp>
        <p:nvSpPr>
          <p:cNvPr id="13" name="Oval 12"/>
          <p:cNvSpPr/>
          <p:nvPr/>
        </p:nvSpPr>
        <p:spPr>
          <a:xfrm>
            <a:off x="786384" y="3453231"/>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Owned by the project manager and visible to the whole project team</a:t>
            </a:r>
          </a:p>
        </p:txBody>
      </p:sp>
      <p:sp>
        <p:nvSpPr>
          <p:cNvPr id="15" name="Oval 14"/>
          <p:cNvSpPr/>
          <p:nvPr/>
        </p:nvSpPr>
        <p:spPr>
          <a:xfrm>
            <a:off x="786384" y="3947007"/>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Feeds every phase gate review, retrospective and status conversation</a:t>
            </a:r>
          </a:p>
        </p:txBody>
      </p:sp>
      <p:sp>
        <p:nvSpPr>
          <p:cNvPr id="17" name="Oval 16"/>
          <p:cNvSpPr/>
          <p:nvPr/>
        </p:nvSpPr>
        <p:spPr>
          <a:xfrm>
            <a:off x="786384" y="4440783"/>
            <a:ext cx="146304" cy="14630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Its final state is an input to the closure process and the final report</a:t>
            </a:r>
          </a:p>
        </p:txBody>
      </p:sp>
      <p:sp>
        <p:nvSpPr>
          <p:cNvPr id="19" name="Rounded Rectangle 18"/>
          <p:cNvSpPr/>
          <p:nvPr/>
        </p:nvSpPr>
        <p:spPr>
          <a:xfrm>
            <a:off x="6231636" y="1432407"/>
            <a:ext cx="5390388" cy="398084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1636" y="1432407"/>
            <a:ext cx="5390388" cy="7863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1092" y="1542135"/>
            <a:ext cx="4951476" cy="329184"/>
          </a:xfrm>
          <a:prstGeom prst="rect">
            <a:avLst/>
          </a:prstGeom>
          <a:noFill/>
        </p:spPr>
        <p:txBody>
          <a:bodyPr wrap="square" anchor="t">
            <a:spAutoFit/>
          </a:bodyPr>
          <a:lstStyle/>
          <a:p>
            <a:pPr algn="l">
              <a:lnSpc>
                <a:spcPct val="100000"/>
              </a:lnSpc>
              <a:spcAft>
                <a:spcPts val="400"/>
              </a:spcAft>
            </a:pPr>
            <a:r>
              <a:rPr sz="1600" b="1" i="0">
                <a:solidFill>
                  <a:srgbClr val="FFFFFF"/>
                </a:solidFill>
                <a:latin typeface="Arial"/>
              </a:rPr>
              <a:t>Lessons learned repository</a:t>
            </a:r>
          </a:p>
        </p:txBody>
      </p:sp>
      <p:sp>
        <p:nvSpPr>
          <p:cNvPr id="22" name="TextBox 21"/>
          <p:cNvSpPr txBox="1"/>
          <p:nvPr/>
        </p:nvSpPr>
        <p:spPr>
          <a:xfrm>
            <a:off x="6451092" y="1889607"/>
            <a:ext cx="4951476" cy="274320"/>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Organisational, permanent, cross-project</a:t>
            </a:r>
          </a:p>
        </p:txBody>
      </p:sp>
      <p:sp>
        <p:nvSpPr>
          <p:cNvPr id="23" name="Oval 22"/>
          <p:cNvSpPr/>
          <p:nvPr/>
        </p:nvSpPr>
        <p:spPr>
          <a:xfrm>
            <a:off x="6451092" y="2465679"/>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7124" y="2365095"/>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An organisational process asset holding lessons from all completed projects</a:t>
            </a:r>
          </a:p>
        </p:txBody>
      </p:sp>
      <p:sp>
        <p:nvSpPr>
          <p:cNvPr id="25" name="Oval 24"/>
          <p:cNvSpPr/>
          <p:nvPr/>
        </p:nvSpPr>
        <p:spPr>
          <a:xfrm>
            <a:off x="6451092" y="2959455"/>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7124" y="2858871"/>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Updated at closure when the register's contents are transferred and indexed</a:t>
            </a:r>
          </a:p>
        </p:txBody>
      </p:sp>
      <p:sp>
        <p:nvSpPr>
          <p:cNvPr id="27" name="Oval 26"/>
          <p:cNvSpPr/>
          <p:nvPr/>
        </p:nvSpPr>
        <p:spPr>
          <a:xfrm>
            <a:off x="6451092" y="3453231"/>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07124" y="3352647"/>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Owned by the PMO, searchable by process, phase, risk category and domain</a:t>
            </a:r>
          </a:p>
        </p:txBody>
      </p:sp>
      <p:sp>
        <p:nvSpPr>
          <p:cNvPr id="29" name="Oval 28"/>
          <p:cNvSpPr/>
          <p:nvPr/>
        </p:nvSpPr>
        <p:spPr>
          <a:xfrm>
            <a:off x="6451092" y="3947007"/>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07124" y="3846423"/>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Consulted at the start of new projects to avoid repeating known mistakes</a:t>
            </a:r>
          </a:p>
        </p:txBody>
      </p:sp>
      <p:sp>
        <p:nvSpPr>
          <p:cNvPr id="31" name="Oval 30"/>
          <p:cNvSpPr/>
          <p:nvPr/>
        </p:nvSpPr>
        <p:spPr>
          <a:xfrm>
            <a:off x="6451092" y="4440783"/>
            <a:ext cx="146304" cy="14630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07124" y="4340199"/>
            <a:ext cx="4677156" cy="475488"/>
          </a:xfrm>
          <a:prstGeom prst="rect">
            <a:avLst/>
          </a:prstGeom>
          <a:noFill/>
        </p:spPr>
        <p:txBody>
          <a:bodyPr wrap="square" anchor="t">
            <a:spAutoFit/>
          </a:bodyPr>
          <a:lstStyle/>
          <a:p>
            <a:pPr algn="l">
              <a:lnSpc>
                <a:spcPct val="114000"/>
              </a:lnSpc>
              <a:spcAft>
                <a:spcPts val="400"/>
              </a:spcAft>
            </a:pPr>
            <a:r>
              <a:rPr sz="1200" b="0" i="0">
                <a:solidFill>
                  <a:srgbClr val="161B26"/>
                </a:solidFill>
                <a:latin typeface="Arial"/>
              </a:rPr>
              <a:t>Its value depends entirely on discipline at closure — the register is not enough</a:t>
            </a:r>
          </a:p>
        </p:txBody>
      </p:sp>
      <p:sp>
        <p:nvSpPr>
          <p:cNvPr id="33" name="Rounded Rectangle 32"/>
          <p:cNvSpPr/>
          <p:nvPr/>
        </p:nvSpPr>
        <p:spPr>
          <a:xfrm>
            <a:off x="566928" y="5559552"/>
            <a:ext cx="11055096" cy="65836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5559552"/>
            <a:ext cx="5943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6384" y="5632704"/>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Exam cue: 'during the project' or 'the team recorded' points to the register. 'For future projects' or 'the organisation' points to the repository.</a:t>
            </a:r>
          </a:p>
        </p:txBody>
      </p:sp>
      <p:sp>
        <p:nvSpPr>
          <p:cNvPr id="36" name="TextBox 3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7" name="TextBox 3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8" name="TextBox 3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511</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Finalising Lessons Learned for the Final Report</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Scope changes</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What changed, why it changed, and whether the change control process caught it early enough.</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Schedule impacts</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estimates proved wrong and what the estimating assumptions should have been.</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Risks and issues</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risks materialised, which responses worked, and which risks were never identified at all.</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Stakeholder relationships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engagement strategies built trust and which stakeholders were persistently misjudged.</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Vendor relationships</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Supplier performance, contract type fit, and what to negotiate differently next time.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Artifacts and recommendations</a:t>
            </a:r>
          </a:p>
        </p:txBody>
      </p:sp>
      <p:sp>
        <p:nvSpPr>
          <p:cNvPr id="40" name="TextBox 39"/>
          <p:cNvSpPr txBox="1"/>
          <p:nvPr/>
        </p:nvSpPr>
        <p:spPr>
          <a:xfrm>
            <a:off x="8296656" y="4840147"/>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Which artifacts earned their keep, and specific recommendations for comparable future projects.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512</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ECO BUSINESS ENV T6 · CONTINUOUS IMPROVEMENT</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Conducting the Project Retrospective</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Internalise learning</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goal is that the team internalises learning about both the work product and the process used to build it.</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Capture successes and challenges</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 what went well as deliberately as what went badly — repeatable success is a finding.</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Qualitative data</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How people felt — morale, safety, frustration — is real data and often explains the numbers.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Quantitative data</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Measurements: velocity, defect escape rate, cycle time, variance against baseline.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Root cause to action plan</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the data to find root causes, design countermeasures and build an action plan for next time.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Praise and motivate</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Praise, congratulate and motivate the team — closure is the last chance to reinforce what you want repeated.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513</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ECO PEOPLE T7 · HELP ENSURE KNOWLEDGE TRANSFER</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Knowledge Transfer Before the Team Disbands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Identify critical knowledge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Decide what knowledge is genuinely critical to operating and evolving the deliverable.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Gather it deliberately</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Interviews, documentation sprints and recorded walkthroughs capture what people carry in their heads.</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Foster the environment</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People share tacit knowledge when they trust the audience and have time set aside to do it.</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Explicit to the repository</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Codified knowledge goes into searchable, indexed assets with clear ownership after the project ends.</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Tacit through people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Pairing, shadowing and communities of practice are the only reliable transfer mechanisms for judgement.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Name the successor</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critical knowledge area needs a named operational owner before the last team member leaves.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514</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ECO PROCESS T3 · HELP ENSURE VALUE-BASED DELIVERY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Benefits Realisation and Confirming Value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outlive the project</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Most benefits are realised in operations, months after the project team has been released.</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Benefits management plan</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names each benefit, its metric, its target, its timeframe and its accountable owner.</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Verify the measurement system</a:t>
            </a:r>
          </a:p>
        </p:txBody>
      </p:sp>
      <p:sp>
        <p:nvSpPr>
          <p:cNvPr id="22" name="TextBox 21"/>
          <p:cNvSpPr txBox="1"/>
          <p:nvPr/>
        </p:nvSpPr>
        <p:spPr>
          <a:xfrm>
            <a:off x="829665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ECO Process T3 requires you to verify a system is actually in place to track the benefits.</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Hand over the measurement</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Transfer benefit tracking to a business owner with the authority and budget to act on the readings.</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Compare to the business case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Report actual against the promised business case — honestly, including where it fell short.</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Value in adaptive delivery</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Adaptive projects confirm value every increment, so closure confirms cumulative rather than deferred value.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515</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ECO PROCESS T10 · MANAGE PROJECT CLOSURE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Premature and Terminated Project Closure</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Termination is legitimate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Stopping a project whose business case has failed protects the organisation — it is not a personal failure.</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Common triggers</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Funding withdrawn, strategy changed, technology superseded, regulator intervened, or the benefit disappeared.</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Closure still applies fully</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Every closure activity is performed: acceptance of partial work, contract settlement, archiving, release.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Document the reason</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Record precisely why the project was terminated — this is among the most valuable lessons in the repository.</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Salvage the value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Completed components, research and built assets may be reusable elsewhere; identify them before archiving.</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Manage the team</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Termination hits morale hardest. Communicate early, honestly, and support each member's next assignment.</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516</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CLOSING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Traps — Closing</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customer has stopped responding and will not sign acceptance</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Follow the escalation path in the communications and governance plans; do not close the project without documented formal acceptance.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project is cancelled halfway through by the sponsor</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Perform Close Project or Phase in full — acceptance of partial work, contract closure, lessons learned and archiving all still apply.</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team member asks to move to a new project before closure is complete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Complete knowledge transfer and lessons learned capture before releasing them; resource release is a closure activity, not a favour.</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benefits will not be measurable for another twelve months</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Hand the benefits management plan and its measurement system to an accountable business owner; the project still closes.</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517</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 · CLOSING</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Closing Recap</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078992"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Accept before you close</a:t>
            </a:r>
          </a:p>
        </p:txBody>
      </p:sp>
      <p:sp>
        <p:nvSpPr>
          <p:cNvPr id="10" name="TextBox 9"/>
          <p:cNvSpPr txBox="1"/>
          <p:nvPr/>
        </p:nvSpPr>
        <p:spPr>
          <a:xfrm>
            <a:off x="1078992"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Formal, documented acceptance against agreed criteria is the gateway to every other closure activity.</a:t>
            </a:r>
          </a:p>
        </p:txBody>
      </p:sp>
      <p:sp>
        <p:nvSpPr>
          <p:cNvPr id="11" name="Rounded Rectangle 10"/>
          <p:cNvSpPr/>
          <p:nvPr/>
        </p:nvSpPr>
        <p:spPr>
          <a:xfrm>
            <a:off x="6204204" y="1432407"/>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716268" y="1542135"/>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Verified then accepted</a:t>
            </a:r>
          </a:p>
        </p:txBody>
      </p:sp>
      <p:sp>
        <p:nvSpPr>
          <p:cNvPr id="16" name="TextBox 15"/>
          <p:cNvSpPr txBox="1"/>
          <p:nvPr/>
        </p:nvSpPr>
        <p:spPr>
          <a:xfrm>
            <a:off x="6716268" y="1828799"/>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Control Quality verifies; Validate Scope accepts; Close Project archives. Learn that sequence.</a:t>
            </a:r>
          </a:p>
        </p:txBody>
      </p:sp>
      <p:sp>
        <p:nvSpPr>
          <p:cNvPr id="17" name="Rounded Rectangle 16"/>
          <p:cNvSpPr/>
          <p:nvPr/>
        </p:nvSpPr>
        <p:spPr>
          <a:xfrm>
            <a:off x="566928"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577235"/>
            <a:ext cx="50292" cy="10351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714395"/>
            <a:ext cx="29260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078992"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Transition is two-sided</a:t>
            </a:r>
          </a:p>
        </p:txBody>
      </p:sp>
      <p:sp>
        <p:nvSpPr>
          <p:cNvPr id="22" name="TextBox 21"/>
          <p:cNvSpPr txBox="1"/>
          <p:nvPr/>
        </p:nvSpPr>
        <p:spPr>
          <a:xfrm>
            <a:off x="1078992"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Readiness means the product works and operations can actually run it — check both.</a:t>
            </a:r>
          </a:p>
        </p:txBody>
      </p:sp>
      <p:sp>
        <p:nvSpPr>
          <p:cNvPr id="23" name="Rounded Rectangle 22"/>
          <p:cNvSpPr/>
          <p:nvPr/>
        </p:nvSpPr>
        <p:spPr>
          <a:xfrm>
            <a:off x="6204204" y="2577235"/>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577235"/>
            <a:ext cx="50292" cy="10351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714395"/>
            <a:ext cx="29260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714395"/>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716268" y="2686963"/>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Close every contract</a:t>
            </a:r>
          </a:p>
        </p:txBody>
      </p:sp>
      <p:sp>
        <p:nvSpPr>
          <p:cNvPr id="28" name="TextBox 27"/>
          <p:cNvSpPr txBox="1"/>
          <p:nvPr/>
        </p:nvSpPr>
        <p:spPr>
          <a:xfrm>
            <a:off x="6716268" y="2973627"/>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Claims settled, payments made, procurement file archived, vendor performance recorded.</a:t>
            </a:r>
          </a:p>
        </p:txBody>
      </p:sp>
      <p:sp>
        <p:nvSpPr>
          <p:cNvPr id="29" name="Rounded Rectangle 28"/>
          <p:cNvSpPr/>
          <p:nvPr/>
        </p:nvSpPr>
        <p:spPr>
          <a:xfrm>
            <a:off x="566928"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722063"/>
            <a:ext cx="50292" cy="103510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859223"/>
            <a:ext cx="29260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078992"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Register to repository</a:t>
            </a:r>
          </a:p>
        </p:txBody>
      </p:sp>
      <p:sp>
        <p:nvSpPr>
          <p:cNvPr id="34" name="TextBox 33"/>
          <p:cNvSpPr txBox="1"/>
          <p:nvPr/>
        </p:nvSpPr>
        <p:spPr>
          <a:xfrm>
            <a:off x="1078992"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The lessons learned register becomes part of the organisational lessons learned repository at closure.</a:t>
            </a:r>
          </a:p>
        </p:txBody>
      </p:sp>
      <p:sp>
        <p:nvSpPr>
          <p:cNvPr id="35" name="Rounded Rectangle 34"/>
          <p:cNvSpPr/>
          <p:nvPr/>
        </p:nvSpPr>
        <p:spPr>
          <a:xfrm>
            <a:off x="6204204" y="3722063"/>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722063"/>
            <a:ext cx="50292" cy="103510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859223"/>
            <a:ext cx="29260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859223"/>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16268" y="3831791"/>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Benefits need an owner</a:t>
            </a:r>
          </a:p>
        </p:txBody>
      </p:sp>
      <p:sp>
        <p:nvSpPr>
          <p:cNvPr id="40" name="TextBox 39"/>
          <p:cNvSpPr txBox="1"/>
          <p:nvPr/>
        </p:nvSpPr>
        <p:spPr>
          <a:xfrm>
            <a:off x="6716268" y="4118455"/>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Hand measurement to an accountable business owner — the project ends, the benefits do not.</a:t>
            </a:r>
          </a:p>
        </p:txBody>
      </p:sp>
      <p:sp>
        <p:nvSpPr>
          <p:cNvPr id="41" name="Rounded Rectangle 40"/>
          <p:cNvSpPr/>
          <p:nvPr/>
        </p:nvSpPr>
        <p:spPr>
          <a:xfrm>
            <a:off x="566928" y="4866891"/>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866891"/>
            <a:ext cx="50292" cy="10351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5004051"/>
            <a:ext cx="29260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5004051"/>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078992" y="4976619"/>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Termination closes fully</a:t>
            </a:r>
          </a:p>
        </p:txBody>
      </p:sp>
      <p:sp>
        <p:nvSpPr>
          <p:cNvPr id="46" name="TextBox 45"/>
          <p:cNvSpPr txBox="1"/>
          <p:nvPr/>
        </p:nvSpPr>
        <p:spPr>
          <a:xfrm>
            <a:off x="1078992" y="5263283"/>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A cancelled project runs the complete closure process, including documenting why it was stopped.</a:t>
            </a:r>
          </a:p>
        </p:txBody>
      </p:sp>
      <p:sp>
        <p:nvSpPr>
          <p:cNvPr id="47" name="Rounded Rectangle 46"/>
          <p:cNvSpPr/>
          <p:nvPr/>
        </p:nvSpPr>
        <p:spPr>
          <a:xfrm>
            <a:off x="6204204" y="4866891"/>
            <a:ext cx="5417820" cy="103510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866891"/>
            <a:ext cx="50292" cy="10351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5004051"/>
            <a:ext cx="29260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5004051"/>
            <a:ext cx="29260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716268" y="4976619"/>
            <a:ext cx="474116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Update the OPAs</a:t>
            </a:r>
          </a:p>
        </p:txBody>
      </p:sp>
      <p:sp>
        <p:nvSpPr>
          <p:cNvPr id="52" name="TextBox 51"/>
          <p:cNvSpPr txBox="1"/>
          <p:nvPr/>
        </p:nvSpPr>
        <p:spPr>
          <a:xfrm>
            <a:off x="6716268" y="5263283"/>
            <a:ext cx="4741164" cy="528980"/>
          </a:xfrm>
          <a:prstGeom prst="rect">
            <a:avLst/>
          </a:prstGeom>
          <a:noFill/>
        </p:spPr>
        <p:txBody>
          <a:bodyPr wrap="square" anchor="t">
            <a:spAutoFit/>
          </a:bodyPr>
          <a:lstStyle/>
          <a:p>
            <a:pPr algn="l">
              <a:lnSpc>
                <a:spcPct val="116000"/>
              </a:lnSpc>
              <a:spcAft>
                <a:spcPts val="400"/>
              </a:spcAft>
            </a:pPr>
            <a:r>
              <a:rPr sz="1100" b="0" i="0">
                <a:solidFill>
                  <a:srgbClr val="5B6372"/>
                </a:solidFill>
                <a:latin typeface="Arial"/>
              </a:rPr>
              <a:t>Templates, estimating data and historical records are the organisation's return on your experience.</a:t>
            </a:r>
          </a:p>
        </p:txBody>
      </p:sp>
      <p:sp>
        <p:nvSpPr>
          <p:cNvPr id="53" name="TextBox 5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54" name="TextBox 5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55" name="TextBox 5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518</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PMP EXAM PREPARATION</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PMP exam preparation</a:t>
            </a:r>
          </a:p>
        </p:txBody>
      </p:sp>
      <p:sp>
        <p:nvSpPr>
          <p:cNvPr id="5" name="TextBox 4"/>
          <p:cNvSpPr txBox="1"/>
          <p:nvPr/>
        </p:nvSpPr>
        <p:spPr>
          <a:xfrm>
            <a:off x="566928" y="1810512"/>
            <a:ext cx="10881360" cy="2036826"/>
          </a:xfrm>
          <a:prstGeom prst="rect">
            <a:avLst/>
          </a:prstGeom>
          <a:noFill/>
        </p:spPr>
        <p:txBody>
          <a:bodyPr wrap="square" anchor="t">
            <a:spAutoFit/>
          </a:bodyPr>
          <a:lstStyle/>
          <a:p>
            <a:pPr algn="l">
              <a:lnSpc>
                <a:spcPct val="110000"/>
              </a:lnSpc>
              <a:spcAft>
                <a:spcPts val="400"/>
              </a:spcAft>
            </a:pPr>
            <a:r>
              <a:rPr sz="3600" b="1" i="0">
                <a:solidFill>
                  <a:srgbClr val="161B26"/>
                </a:solidFill>
                <a:latin typeface="Arial"/>
              </a:rPr>
              <a:t>The exam does not test what you memorised. It tests what you would do next, in a situation described in four lines.</a:t>
            </a:r>
          </a:p>
        </p:txBody>
      </p:sp>
      <p:sp>
        <p:nvSpPr>
          <p:cNvPr id="6" name="Rectangle 5"/>
          <p:cNvSpPr/>
          <p:nvPr/>
        </p:nvSpPr>
        <p:spPr>
          <a:xfrm>
            <a:off x="566928" y="4030218"/>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Situational by design</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Most items describe a scenario and ask for the best next action, not a definition.</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Approach-agnostic</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Predictive, adaptive and hybrid appear throughout all three domains, not in separate sections.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Mindset over method</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PMI rewards the servant leader who investigates, communicates and follows the process.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519</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PMP Exam Structure — July 2026 Content Outline</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4108857"/>
        </p:xfrm>
        <a:graphic>
          <a:graphicData uri="http://schemas.openxmlformats.org/drawingml/2006/table">
            <a:tbl>
              <a:tblPr firstRow="1" bandRow="1">
                <a:tableStyleId>{5C22544A-7EE6-4342-B048-85BDC9FD1C3A}</a:tableStyleId>
              </a:tblPr>
              <a:tblGrid>
                <a:gridCol w="2211019"/>
                <a:gridCol w="3417029"/>
                <a:gridCol w="5427047"/>
              </a:tblGrid>
              <a:tr h="456539">
                <a:tc>
                  <a:txBody>
                    <a:bodyPr wrap="square" anchor="t"/>
                    <a:lstStyle/>
                    <a:p>
                      <a:pPr algn="l">
                        <a:lnSpc>
                          <a:spcPct val="100000"/>
                        </a:lnSpc>
                        <a:spcAft>
                          <a:spcPts val="0"/>
                        </a:spcAft>
                      </a:pPr>
                      <a:r>
                        <a:rPr sz="1150" b="1" i="0">
                          <a:solidFill>
                            <a:srgbClr val="FFFFFF"/>
                          </a:solidFill>
                          <a:latin typeface="Arial"/>
                        </a:rPr>
                        <a:t>Element</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Specification</a:t>
                      </a:r>
                    </a:p>
                  </a:txBody>
                  <a:tcPr anchor="ctr">
                    <a:solidFill>
                      <a:srgbClr val="7C3AED"/>
                    </a:solidFill>
                  </a:tcPr>
                </a:tc>
                <a:tc>
                  <a:txBody>
                    <a:bodyPr wrap="square" anchor="t"/>
                    <a:lstStyle/>
                    <a:p>
                      <a:pPr algn="l">
                        <a:lnSpc>
                          <a:spcPct val="100000"/>
                        </a:lnSpc>
                        <a:spcAft>
                          <a:spcPts val="0"/>
                        </a:spcAft>
                      </a:pPr>
                      <a:r>
                        <a:rPr sz="1150" b="1" i="0">
                          <a:solidFill>
                            <a:srgbClr val="FFFFFF"/>
                          </a:solidFill>
                          <a:latin typeface="Arial"/>
                        </a:rPr>
                        <a:t>What it means for you</a:t>
                      </a:r>
                    </a:p>
                  </a:txBody>
                  <a:tcPr anchor="ctr">
                    <a:solidFill>
                      <a:srgbClr val="7C3AED"/>
                    </a:solidFill>
                  </a:tcPr>
                </a:tc>
              </a:tr>
              <a:tr h="456539">
                <a:tc>
                  <a:txBody>
                    <a:bodyPr wrap="square" anchor="t"/>
                    <a:lstStyle/>
                    <a:p>
                      <a:pPr algn="l">
                        <a:lnSpc>
                          <a:spcPct val="110000"/>
                        </a:lnSpc>
                        <a:spcAft>
                          <a:spcPts val="0"/>
                        </a:spcAft>
                      </a:pPr>
                      <a:r>
                        <a:rPr sz="1050" b="1" i="0">
                          <a:solidFill>
                            <a:srgbClr val="161B26"/>
                          </a:solidFill>
                          <a:latin typeface="Arial"/>
                        </a:rPr>
                        <a:t>Total questions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180 questions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Every item is presented; you cannot tell which ones count</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Scored questions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170 scored items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Your result is calculated from these alone</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Pretest questions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10 unscored pretest items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Trialled for future forms — never leave one blank</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Time allowed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240 minutes (4 hours)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About 80 seconds per question including reading time</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Breaks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Two 10-minute breaks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Two 10-minute breaks — the first after the case-study section, the second midway through the independent questions.</a:t>
                      </a:r>
                    </a:p>
                  </a:txBody>
                  <a:tcPr anchor="ctr">
                    <a:solidFill>
                      <a:srgbClr val="FFFFFF"/>
                    </a:solidFill>
                  </a:tcPr>
                </a:tc>
              </a:tr>
              <a:tr h="456539">
                <a:tc>
                  <a:txBody>
                    <a:bodyPr wrap="square" anchor="t"/>
                    <a:lstStyle/>
                    <a:p>
                      <a:pPr algn="l">
                        <a:lnSpc>
                          <a:spcPct val="110000"/>
                        </a:lnSpc>
                        <a:spcAft>
                          <a:spcPts val="0"/>
                        </a:spcAft>
                      </a:pPr>
                      <a:r>
                        <a:rPr sz="1050" b="1" i="0">
                          <a:solidFill>
                            <a:srgbClr val="161B26"/>
                          </a:solidFill>
                          <a:latin typeface="Arial"/>
                        </a:rPr>
                        <a:t>Approach mix</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About 40% predictive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About 40% predictive; the remaining 60% split between adaptive/agile and hybrid.</a:t>
                      </a:r>
                    </a:p>
                  </a:txBody>
                  <a:tcPr anchor="ctr">
                    <a:solidFill>
                      <a:srgbClr val="F5F8FC"/>
                    </a:solidFill>
                  </a:tcPr>
                </a:tc>
              </a:tr>
              <a:tr h="456539">
                <a:tc>
                  <a:txBody>
                    <a:bodyPr wrap="square" anchor="t"/>
                    <a:lstStyle/>
                    <a:p>
                      <a:pPr algn="l">
                        <a:lnSpc>
                          <a:spcPct val="110000"/>
                        </a:lnSpc>
                        <a:spcAft>
                          <a:spcPts val="0"/>
                        </a:spcAft>
                      </a:pPr>
                      <a:r>
                        <a:rPr sz="1050" b="1" i="0">
                          <a:solidFill>
                            <a:srgbClr val="161B26"/>
                          </a:solidFill>
                          <a:latin typeface="Arial"/>
                        </a:rPr>
                        <a:t>Tutorial and survey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Outside the 240 minutes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tutorial and the closing survey do not consume exam time</a:t>
                      </a:r>
                    </a:p>
                  </a:txBody>
                  <a:tcPr anchor="ctr">
                    <a:solidFill>
                      <a:srgbClr val="FFFFFF"/>
                    </a:solidFill>
                  </a:tcPr>
                </a:tc>
              </a:tr>
              <a:tr h="456545">
                <a:tc>
                  <a:txBody>
                    <a:bodyPr wrap="square" anchor="t"/>
                    <a:lstStyle/>
                    <a:p>
                      <a:pPr algn="l">
                        <a:lnSpc>
                          <a:spcPct val="110000"/>
                        </a:lnSpc>
                        <a:spcAft>
                          <a:spcPts val="0"/>
                        </a:spcAft>
                      </a:pPr>
                      <a:r>
                        <a:rPr sz="1050" b="1" i="0">
                          <a:solidFill>
                            <a:srgbClr val="161B26"/>
                          </a:solidFill>
                          <a:latin typeface="Arial"/>
                        </a:rPr>
                        <a:t>Attempts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Up to three within the one-year eligibility period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After three attempts you must wait before reapplying</a:t>
                      </a:r>
                    </a:p>
                  </a:txBody>
                  <a:tcPr anchor="ctr">
                    <a:solidFill>
                      <a:srgbClr val="F5F8FC"/>
                    </a:solidFill>
                  </a:tcPr>
                </a:tc>
              </a:tr>
            </a:tbl>
          </a:graphicData>
        </a:graphic>
      </p:graphicFrame>
      <p:sp>
        <p:nvSpPr>
          <p:cNvPr id="6" name="Rounded Rectangle 5"/>
          <p:cNvSpPr/>
          <p:nvPr/>
        </p:nvSpPr>
        <p:spPr>
          <a:xfrm>
            <a:off x="566928" y="5705856"/>
            <a:ext cx="11055096" cy="566928"/>
          </a:xfrm>
          <a:prstGeom prst="roundRect">
            <a:avLst>
              <a:gd name="adj" fmla="val 10000"/>
            </a:avLst>
          </a:prstGeom>
          <a:solidFill>
            <a:srgbClr val="F4EF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5779008"/>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Once you review your responses and start a break, you cannot return to the questions in the section you have just completed.</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520</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Domain Weighting — Where the Questions Come From</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10B981"/>
                </a:solidFill>
                <a:latin typeface="Arial"/>
              </a:rPr>
              <a:t>WHAT IT TELLS YOU</a:t>
            </a:r>
          </a:p>
        </p:txBody>
      </p:sp>
      <p:sp>
        <p:nvSpPr>
          <p:cNvPr id="9" name="Oval 8"/>
          <p:cNvSpPr/>
          <p:nvPr/>
        </p:nvSpPr>
        <p:spPr>
          <a:xfrm>
            <a:off x="8403336" y="2127351"/>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Process at 41% is the largest single domain — roughly 70 of the 170 scored items.</a:t>
            </a:r>
          </a:p>
        </p:txBody>
      </p:sp>
      <p:sp>
        <p:nvSpPr>
          <p:cNvPr id="11" name="Oval 10"/>
          <p:cNvSpPr/>
          <p:nvPr/>
        </p:nvSpPr>
        <p:spPr>
          <a:xfrm>
            <a:off x="8403336" y="2830798"/>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39358"/>
            <a:ext cx="2761488" cy="83577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People at 33% means leadership and stakeholder items outnumber pure Business Environment items.</a:t>
            </a:r>
          </a:p>
        </p:txBody>
      </p:sp>
      <p:sp>
        <p:nvSpPr>
          <p:cNvPr id="13" name="Oval 12"/>
          <p:cNvSpPr/>
          <p:nvPr/>
        </p:nvSpPr>
        <p:spPr>
          <a:xfrm>
            <a:off x="8403336" y="3711185"/>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619745"/>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Business Environment at 26% covers governance, compliance, change, risk and improvement.</a:t>
            </a:r>
          </a:p>
        </p:txBody>
      </p:sp>
      <p:sp>
        <p:nvSpPr>
          <p:cNvPr id="15" name="Oval 14"/>
          <p:cNvSpPr/>
          <p:nvPr/>
        </p:nvSpPr>
        <p:spPr>
          <a:xfrm>
            <a:off x="8403336" y="4414632"/>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323192"/>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Weighting applies to items, not to study hours — weak areas deserve disproportionate time.</a:t>
            </a:r>
          </a:p>
        </p:txBody>
      </p:sp>
      <p:sp>
        <p:nvSpPr>
          <p:cNvPr id="17" name="Oval 16"/>
          <p:cNvSpPr/>
          <p:nvPr/>
        </p:nvSpPr>
        <p:spPr>
          <a:xfrm>
            <a:off x="8403336" y="5118079"/>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5026639"/>
            <a:ext cx="2761488" cy="658838"/>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Every domain contains predictive, adaptive and hybrid scenarios; none is 'the agile domain'.</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521</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Study Effort vs Domain Weight — Plan Your Revision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Chart 4"/>
          <p:cNvGraphicFramePr>
            <a:graphicFrameLocks noGrp="1"/>
          </p:cNvGraphicFramePr>
          <p:nvPr/>
        </p:nvGraphicFramePr>
        <p:xfrm>
          <a:off x="566928" y="1432407"/>
          <a:ext cx="7360920" cy="4443984"/>
        </p:xfrm>
        <a:graphic>
          <a:graphicData uri="http://schemas.openxmlformats.org/drawingml/2006/chart">
            <c:chart xmlns:c="http://schemas.openxmlformats.org/drawingml/2006/chart" r:id="rId2"/>
          </a:graphicData>
        </a:graphic>
      </p:graphicFrame>
      <p:sp>
        <p:nvSpPr>
          <p:cNvPr id="6" name="Rounded Rectangle 5"/>
          <p:cNvSpPr/>
          <p:nvPr/>
        </p:nvSpPr>
        <p:spPr>
          <a:xfrm>
            <a:off x="8183880" y="1432407"/>
            <a:ext cx="3438144" cy="4443984"/>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183880" y="1432407"/>
            <a:ext cx="3438144"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85048" y="1688439"/>
            <a:ext cx="3035808" cy="292608"/>
          </a:xfrm>
          <a:prstGeom prst="rect">
            <a:avLst/>
          </a:prstGeom>
          <a:noFill/>
        </p:spPr>
        <p:txBody>
          <a:bodyPr wrap="square" anchor="t">
            <a:spAutoFit/>
          </a:bodyPr>
          <a:lstStyle/>
          <a:p>
            <a:pPr algn="l">
              <a:lnSpc>
                <a:spcPct val="100000"/>
              </a:lnSpc>
              <a:spcAft>
                <a:spcPts val="400"/>
              </a:spcAft>
            </a:pPr>
            <a:r>
              <a:rPr sz="1050" b="1" i="0">
                <a:solidFill>
                  <a:srgbClr val="F59E0B"/>
                </a:solidFill>
                <a:latin typeface="Arial"/>
              </a:rPr>
              <a:t>WHAT IT TELLS YOU</a:t>
            </a:r>
          </a:p>
        </p:txBody>
      </p:sp>
      <p:sp>
        <p:nvSpPr>
          <p:cNvPr id="9" name="Oval 8"/>
          <p:cNvSpPr/>
          <p:nvPr/>
        </p:nvSpPr>
        <p:spPr>
          <a:xfrm>
            <a:off x="8403336" y="212735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41080" y="203591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Allocate revision roughly in proportion to domain weight, then adjust for your mock results.</a:t>
            </a:r>
          </a:p>
        </p:txBody>
      </p:sp>
      <p:sp>
        <p:nvSpPr>
          <p:cNvPr id="11" name="Oval 10"/>
          <p:cNvSpPr/>
          <p:nvPr/>
        </p:nvSpPr>
        <p:spPr>
          <a:xfrm>
            <a:off x="8403336" y="2866186"/>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41080" y="277474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Process carries the formulas and the process anatomy — it needs the most contact hours.</a:t>
            </a:r>
          </a:p>
        </p:txBody>
      </p:sp>
      <p:sp>
        <p:nvSpPr>
          <p:cNvPr id="13" name="Oval 12"/>
          <p:cNvSpPr/>
          <p:nvPr/>
        </p:nvSpPr>
        <p:spPr>
          <a:xfrm>
            <a:off x="8403336" y="360502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41080" y="351358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People is high weight and highly situational; practice questions beat re-reading notes.</a:t>
            </a:r>
          </a:p>
        </p:txBody>
      </p:sp>
      <p:sp>
        <p:nvSpPr>
          <p:cNvPr id="15" name="Oval 14"/>
          <p:cNvSpPr/>
          <p:nvPr/>
        </p:nvSpPr>
        <p:spPr>
          <a:xfrm>
            <a:off x="8403336" y="4343856"/>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4252416"/>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Business Environment is compact but dense in compliance and governance vocabulary.</a:t>
            </a:r>
          </a:p>
        </p:txBody>
      </p:sp>
      <p:sp>
        <p:nvSpPr>
          <p:cNvPr id="17" name="Oval 16"/>
          <p:cNvSpPr/>
          <p:nvPr/>
        </p:nvSpPr>
        <p:spPr>
          <a:xfrm>
            <a:off x="8403336" y="5082691"/>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41080" y="4991251"/>
            <a:ext cx="2761488" cy="685541"/>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Re-plan after every mock exam: the domain you scored worst on gets the next block.</a:t>
            </a:r>
          </a:p>
        </p:txBody>
      </p:sp>
      <p:sp>
        <p:nvSpPr>
          <p:cNvPr id="19" name="TextBox 18"/>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0" name="TextBox 19"/>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1" name="TextBox 20"/>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522</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Six Question Types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2211019"/>
                <a:gridCol w="5025043"/>
                <a:gridCol w="3819033"/>
              </a:tblGrid>
              <a:tr h="475488">
                <a:tc>
                  <a:txBody>
                    <a:bodyPr wrap="square" anchor="t"/>
                    <a:lstStyle/>
                    <a:p>
                      <a:pPr algn="l">
                        <a:lnSpc>
                          <a:spcPct val="100000"/>
                        </a:lnSpc>
                        <a:spcAft>
                          <a:spcPts val="0"/>
                        </a:spcAft>
                      </a:pPr>
                      <a:r>
                        <a:rPr sz="1150" b="1" i="0">
                          <a:solidFill>
                            <a:srgbClr val="FFFFFF"/>
                          </a:solidFill>
                          <a:latin typeface="Arial"/>
                        </a:rPr>
                        <a:t>Type</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How it works</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Strategy</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Multiple choice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One best answer from four options — the bulk of the exam.</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Eliminate two options first, then choose between the remaining pair using the PMI mindset.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Multiple response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More than one correct answer; the item tells you how many.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Read the stem for how many answers are required and select exactly that number.</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Matching</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Drag items from one column to match a second column.</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Do the pairs you are certain of first; the remaining items are constrained by elimination.</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Enhanced matching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Matching that includes an image or diagram for context.</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Study the image before reading the options — the diagram usually resolves the ambiguity.</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Graphic-based (NEW)</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Read a chart, graph, diagram or image, then answer from it.</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Extract the specific data point the question asks for; do not interpret the whole chart.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Case study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A scenario with supporting visuals, then a series of linked questions.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Read the full scenario once, then answer each linked question referring back to the exhibit.</a:t>
                      </a:r>
                    </a:p>
                  </a:txBody>
                  <a:tcPr anchor="ctr">
                    <a:solidFill>
                      <a:srgbClr val="F5F8FC"/>
                    </a:solidFill>
                  </a:tcPr>
                </a:tc>
              </a:tr>
            </a:tbl>
          </a:graphicData>
        </a:graphic>
      </p:graphicFrame>
      <p:sp>
        <p:nvSpPr>
          <p:cNvPr id="6" name="Rounded Rectangle 5"/>
          <p:cNvSpPr/>
          <p:nvPr/>
        </p:nvSpPr>
        <p:spPr>
          <a:xfrm>
            <a:off x="566928" y="4925415"/>
            <a:ext cx="11055096" cy="566928"/>
          </a:xfrm>
          <a:prstGeom prst="roundRect">
            <a:avLst>
              <a:gd name="adj" fmla="val 10000"/>
            </a:avLst>
          </a:prstGeom>
          <a:solidFill>
            <a:srgbClr val="FCECF0"/>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998567"/>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Graphic-based questions are NEW in the July 2026 outline — expect to read control charts, network diagrams, burndowns and EVM S-curves directly.</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523</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PMP Certification Eligibility</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4" cy="2377440"/>
        </p:xfrm>
        <a:graphic>
          <a:graphicData uri="http://schemas.openxmlformats.org/drawingml/2006/table">
            <a:tbl>
              <a:tblPr firstRow="1" bandRow="1">
                <a:tableStyleId>{5C22544A-7EE6-4342-B048-85BDC9FD1C3A}</a:tableStyleId>
              </a:tblPr>
              <a:tblGrid>
                <a:gridCol w="4020034"/>
                <a:gridCol w="4623040"/>
                <a:gridCol w="2412020"/>
              </a:tblGrid>
              <a:tr h="475488">
                <a:tc>
                  <a:txBody>
                    <a:bodyPr wrap="square" anchor="t"/>
                    <a:lstStyle/>
                    <a:p>
                      <a:pPr algn="l">
                        <a:lnSpc>
                          <a:spcPct val="100000"/>
                        </a:lnSpc>
                        <a:spcAft>
                          <a:spcPts val="0"/>
                        </a:spcAft>
                      </a:pPr>
                      <a:r>
                        <a:rPr sz="1150" b="1" i="0">
                          <a:solidFill>
                            <a:srgbClr val="FFFFFF"/>
                          </a:solidFill>
                          <a:latin typeface="Arial"/>
                        </a:rPr>
                        <a:t>Educational background</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Project management experience</a:t>
                      </a:r>
                    </a:p>
                  </a:txBody>
                  <a:tcPr anchor="ctr">
                    <a:solidFill>
                      <a:srgbClr val="06B6D4"/>
                    </a:solidFill>
                  </a:tcPr>
                </a:tc>
                <a:tc>
                  <a:txBody>
                    <a:bodyPr wrap="square" anchor="t"/>
                    <a:lstStyle/>
                    <a:p>
                      <a:pPr algn="l">
                        <a:lnSpc>
                          <a:spcPct val="100000"/>
                        </a:lnSpc>
                        <a:spcAft>
                          <a:spcPts val="0"/>
                        </a:spcAft>
                      </a:pPr>
                      <a:r>
                        <a:rPr sz="1150" b="1" i="0">
                          <a:solidFill>
                            <a:srgbClr val="FFFFFF"/>
                          </a:solidFill>
                          <a:latin typeface="Arial"/>
                        </a:rPr>
                        <a:t>Training</a:t>
                      </a:r>
                    </a:p>
                  </a:txBody>
                  <a:tcPr anchor="ctr">
                    <a:solidFill>
                      <a:srgbClr val="06B6D4"/>
                    </a:solidFill>
                  </a:tcPr>
                </a:tc>
              </a:tr>
              <a:tr h="475488">
                <a:tc>
                  <a:txBody>
                    <a:bodyPr wrap="square" anchor="t"/>
                    <a:lstStyle/>
                    <a:p>
                      <a:pPr algn="l">
                        <a:lnSpc>
                          <a:spcPct val="110000"/>
                        </a:lnSpc>
                        <a:spcAft>
                          <a:spcPts val="0"/>
                        </a:spcAft>
                      </a:pPr>
                      <a:r>
                        <a:rPr sz="1050" b="1" i="0">
                          <a:solidFill>
                            <a:srgbClr val="161B26"/>
                          </a:solidFill>
                          <a:latin typeface="Arial"/>
                        </a:rPr>
                        <a:t>Upper-secondary / secondary school completion (EQF Level 4 / ISCED 3-4)</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Minimum 60 months (5 years) of non-overlapping experience leading projects in the past 10 years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35 hours of commercial project management training</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Recognised associate-level, higher-certificate or advanced vocational programme (EQF Level 5 / ISCED 5)</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Minimum 48 months (4 years) of non-overlapping experience leading projects in the past 10 years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35 hours of commercial project management training</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Bachelor's degree or higher, or a qualification mapped to EQF Level 6 / ISCED 6</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Minimum 36 months (3 years) of non-overlapping experience leading projects in the past 10 years</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35 hours of commercial project management training</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Bachelor's or postgraduate degree from a PMI GAC-accredited programme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Minimum 24 months (2 years) of non-overlapping experience leading projects in the past 10 years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35 hours of commercial project management training</a:t>
                      </a:r>
                    </a:p>
                  </a:txBody>
                  <a:tcPr anchor="ctr">
                    <a:solidFill>
                      <a:srgbClr val="F5F8FC"/>
                    </a:solidFill>
                  </a:tcPr>
                </a:tc>
              </a:tr>
            </a:tbl>
          </a:graphicData>
        </a:graphic>
      </p:graphicFrame>
      <p:sp>
        <p:nvSpPr>
          <p:cNvPr id="6" name="Rounded Rectangle 5"/>
          <p:cNvSpPr/>
          <p:nvPr/>
        </p:nvSpPr>
        <p:spPr>
          <a:xfrm>
            <a:off x="566928" y="3974439"/>
            <a:ext cx="11055096" cy="566928"/>
          </a:xfrm>
          <a:prstGeom prst="roundRect">
            <a:avLst>
              <a:gd name="adj" fmla="val 10000"/>
            </a:avLst>
          </a:prstGeom>
          <a:solidFill>
            <a:srgbClr val="EBF9FB"/>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047591"/>
            <a:ext cx="10652760" cy="438912"/>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Experience must be in leading and directing projects, accrued within the last 10 years. Applications may be audited — keep contact details for verifiers.</a:t>
            </a:r>
          </a:p>
        </p:txBody>
      </p:sp>
      <p:sp>
        <p:nvSpPr>
          <p:cNvPr id="8" name="TextBox 7"/>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9" name="TextBox 8"/>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0" name="TextBox 9"/>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524</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How to Read a Situational Question</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527971"/>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Read the last line first</a:t>
            </a:r>
          </a:p>
        </p:txBody>
      </p:sp>
      <p:sp>
        <p:nvSpPr>
          <p:cNvPr id="8" name="TextBox 7"/>
          <p:cNvSpPr txBox="1"/>
          <p:nvPr/>
        </p:nvSpPr>
        <p:spPr>
          <a:xfrm>
            <a:off x="694944"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actual question is at the end; knowing it changes how you read the stem.</a:t>
            </a:r>
          </a:p>
        </p:txBody>
      </p:sp>
      <p:sp>
        <p:nvSpPr>
          <p:cNvPr id="9" name="Pentagon 8"/>
          <p:cNvSpPr/>
          <p:nvPr/>
        </p:nvSpPr>
        <p:spPr>
          <a:xfrm>
            <a:off x="2429256" y="1816455"/>
            <a:ext cx="1743456" cy="2527971"/>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Identify the process group</a:t>
            </a:r>
          </a:p>
        </p:txBody>
      </p:sp>
      <p:sp>
        <p:nvSpPr>
          <p:cNvPr id="12" name="TextBox 11"/>
          <p:cNvSpPr txBox="1"/>
          <p:nvPr/>
        </p:nvSpPr>
        <p:spPr>
          <a:xfrm>
            <a:off x="2557272"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Are you planning, executing, monitoring or closing? It narrows the answers.</a:t>
            </a:r>
          </a:p>
        </p:txBody>
      </p:sp>
      <p:sp>
        <p:nvSpPr>
          <p:cNvPr id="13" name="Pentagon 12"/>
          <p:cNvSpPr/>
          <p:nvPr/>
        </p:nvSpPr>
        <p:spPr>
          <a:xfrm>
            <a:off x="4291584" y="1816455"/>
            <a:ext cx="1743456" cy="2527971"/>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Find what already happened</a:t>
            </a:r>
          </a:p>
        </p:txBody>
      </p:sp>
      <p:sp>
        <p:nvSpPr>
          <p:cNvPr id="16" name="TextBox 15"/>
          <p:cNvSpPr txBox="1"/>
          <p:nvPr/>
        </p:nvSpPr>
        <p:spPr>
          <a:xfrm>
            <a:off x="4419600"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Past-tense facts tell you which steps are done and cannot be the answer.</a:t>
            </a:r>
          </a:p>
        </p:txBody>
      </p:sp>
      <p:sp>
        <p:nvSpPr>
          <p:cNvPr id="17" name="Pentagon 16"/>
          <p:cNvSpPr/>
          <p:nvPr/>
        </p:nvSpPr>
        <p:spPr>
          <a:xfrm>
            <a:off x="6153912" y="1816455"/>
            <a:ext cx="1743456" cy="2527971"/>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Spot the real problem</a:t>
            </a:r>
          </a:p>
        </p:txBody>
      </p:sp>
      <p:sp>
        <p:nvSpPr>
          <p:cNvPr id="20" name="TextBox 19"/>
          <p:cNvSpPr txBox="1"/>
          <p:nvPr/>
        </p:nvSpPr>
        <p:spPr>
          <a:xfrm>
            <a:off x="6281928"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scenario's noise is deliberate; name the single issue being asked about.</a:t>
            </a:r>
          </a:p>
        </p:txBody>
      </p:sp>
      <p:sp>
        <p:nvSpPr>
          <p:cNvPr id="21" name="Pentagon 20"/>
          <p:cNvSpPr/>
          <p:nvPr/>
        </p:nvSpPr>
        <p:spPr>
          <a:xfrm>
            <a:off x="8016240" y="1816455"/>
            <a:ext cx="1743456" cy="2527971"/>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Eliminate two options</a:t>
            </a:r>
          </a:p>
        </p:txBody>
      </p:sp>
      <p:sp>
        <p:nvSpPr>
          <p:cNvPr id="24" name="TextBox 23"/>
          <p:cNvSpPr txBox="1"/>
          <p:nvPr/>
        </p:nvSpPr>
        <p:spPr>
          <a:xfrm>
            <a:off x="8144256"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Remove anything reactive, blaming, escalating too early or bypassing process.</a:t>
            </a:r>
          </a:p>
        </p:txBody>
      </p:sp>
      <p:sp>
        <p:nvSpPr>
          <p:cNvPr id="25" name="Rounded Rectangle 24"/>
          <p:cNvSpPr/>
          <p:nvPr/>
        </p:nvSpPr>
        <p:spPr>
          <a:xfrm>
            <a:off x="9878568" y="1816455"/>
            <a:ext cx="1743456" cy="2527971"/>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Choose the PMI answer</a:t>
            </a:r>
          </a:p>
        </p:txBody>
      </p:sp>
      <p:sp>
        <p:nvSpPr>
          <p:cNvPr id="28" name="TextBox 27"/>
          <p:cNvSpPr txBox="1"/>
          <p:nvPr/>
        </p:nvSpPr>
        <p:spPr>
          <a:xfrm>
            <a:off x="10006584" y="2985057"/>
            <a:ext cx="1069848" cy="1286217"/>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Prefer investigating, communicating and following the documented process.</a:t>
            </a:r>
          </a:p>
        </p:txBody>
      </p:sp>
      <p:sp>
        <p:nvSpPr>
          <p:cNvPr id="29" name="Rounded Rectangle 28"/>
          <p:cNvSpPr/>
          <p:nvPr/>
        </p:nvSpPr>
        <p:spPr>
          <a:xfrm>
            <a:off x="566928" y="4563882"/>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563882"/>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4655322"/>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'Best', 'first', 'next' and 'most likely' are not decoration. 'First' usually means gather information; 'next' means the step after what was described; 'best' means the most complete and process-compliant option.</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525</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Common Distractor Patterns</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432407"/>
          <a:ext cx="11055095" cy="3328416"/>
        </p:xfrm>
        <a:graphic>
          <a:graphicData uri="http://schemas.openxmlformats.org/drawingml/2006/table">
            <a:tbl>
              <a:tblPr firstRow="1" bandRow="1">
                <a:tableStyleId>{5C22544A-7EE6-4342-B048-85BDC9FD1C3A}</a:tableStyleId>
              </a:tblPr>
              <a:tblGrid>
                <a:gridCol w="3015026"/>
                <a:gridCol w="3618031"/>
                <a:gridCol w="4422038"/>
              </a:tblGrid>
              <a:tr h="475488">
                <a:tc>
                  <a:txBody>
                    <a:bodyPr wrap="square" anchor="t"/>
                    <a:lstStyle/>
                    <a:p>
                      <a:pPr algn="l">
                        <a:lnSpc>
                          <a:spcPct val="100000"/>
                        </a:lnSpc>
                        <a:spcAft>
                          <a:spcPts val="0"/>
                        </a:spcAft>
                      </a:pPr>
                      <a:r>
                        <a:rPr sz="1150" b="1" i="0">
                          <a:solidFill>
                            <a:srgbClr val="FFFFFF"/>
                          </a:solidFill>
                          <a:latin typeface="Arial"/>
                        </a:rPr>
                        <a:t>Distractor</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Why it looks right</a:t>
                      </a:r>
                    </a:p>
                  </a:txBody>
                  <a:tcPr anchor="ctr">
                    <a:solidFill>
                      <a:srgbClr val="E11D48"/>
                    </a:solidFill>
                  </a:tcPr>
                </a:tc>
                <a:tc>
                  <a:txBody>
                    <a:bodyPr wrap="square" anchor="t"/>
                    <a:lstStyle/>
                    <a:p>
                      <a:pPr algn="l">
                        <a:lnSpc>
                          <a:spcPct val="100000"/>
                        </a:lnSpc>
                        <a:spcAft>
                          <a:spcPts val="0"/>
                        </a:spcAft>
                      </a:pPr>
                      <a:r>
                        <a:rPr sz="1150" b="1" i="0">
                          <a:solidFill>
                            <a:srgbClr val="FFFFFF"/>
                          </a:solidFill>
                          <a:latin typeface="Arial"/>
                        </a:rPr>
                        <a:t>Why it is wrong</a:t>
                      </a:r>
                    </a:p>
                  </a:txBody>
                  <a:tcPr anchor="ctr">
                    <a:solidFill>
                      <a:srgbClr val="E11D48"/>
                    </a:solidFill>
                  </a:tcPr>
                </a:tc>
              </a:tr>
              <a:tr h="475488">
                <a:tc>
                  <a:txBody>
                    <a:bodyPr wrap="square" anchor="t"/>
                    <a:lstStyle/>
                    <a:p>
                      <a:pPr algn="l">
                        <a:lnSpc>
                          <a:spcPct val="110000"/>
                        </a:lnSpc>
                        <a:spcAft>
                          <a:spcPts val="0"/>
                        </a:spcAft>
                      </a:pPr>
                      <a:r>
                        <a:rPr sz="1050" b="1" i="0">
                          <a:solidFill>
                            <a:srgbClr val="161B26"/>
                          </a:solidFill>
                          <a:latin typeface="Arial"/>
                        </a:rPr>
                        <a:t>Escalate to the sponsor immediately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Escalation is a real governance tool and sounds decisive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PMI expects you to gather facts and act within your authority first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Ask the team to work overtime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It appears to solve a schedule problem directly</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It ignores root cause, damages the team, and skips impact analysis</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Update the plan / baseline directly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The plan clearly needs to change</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Baselines change only through approved change requests</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Do nothing and continue monitoring</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Sometimes genuinely correct in risk acceptance scenarios</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Usually a trap when the scenario describes an active impact</a:t>
                      </a:r>
                    </a:p>
                  </a:txBody>
                  <a:tcPr anchor="ctr">
                    <a:solidFill>
                      <a:srgbClr val="F5F8FC"/>
                    </a:solidFill>
                  </a:tcPr>
                </a:tc>
              </a:tr>
              <a:tr h="475488">
                <a:tc>
                  <a:txBody>
                    <a:bodyPr wrap="square" anchor="t"/>
                    <a:lstStyle/>
                    <a:p>
                      <a:pPr algn="l">
                        <a:lnSpc>
                          <a:spcPct val="110000"/>
                        </a:lnSpc>
                        <a:spcAft>
                          <a:spcPts val="0"/>
                        </a:spcAft>
                      </a:pPr>
                      <a:r>
                        <a:rPr sz="1050" b="1" i="0">
                          <a:solidFill>
                            <a:srgbClr val="161B26"/>
                          </a:solidFill>
                          <a:latin typeface="Arial"/>
                        </a:rPr>
                        <a:t>Remove the team member</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It removes the visible symptom quickly</a:t>
                      </a:r>
                    </a:p>
                  </a:txBody>
                  <a:tcPr anchor="ctr">
                    <a:solidFill>
                      <a:srgbClr val="FFFFFF"/>
                    </a:solidFill>
                  </a:tcPr>
                </a:tc>
                <a:tc>
                  <a:txBody>
                    <a:bodyPr wrap="square" anchor="t"/>
                    <a:lstStyle/>
                    <a:p>
                      <a:pPr algn="l">
                        <a:lnSpc>
                          <a:spcPct val="110000"/>
                        </a:lnSpc>
                        <a:spcAft>
                          <a:spcPts val="0"/>
                        </a:spcAft>
                      </a:pPr>
                      <a:r>
                        <a:rPr sz="1050" b="0" i="0">
                          <a:solidFill>
                            <a:srgbClr val="5B6372"/>
                          </a:solidFill>
                          <a:latin typeface="Arial"/>
                        </a:rPr>
                        <a:t>Conflict and performance are addressed through coaching first</a:t>
                      </a:r>
                    </a:p>
                  </a:txBody>
                  <a:tcPr anchor="ctr">
                    <a:solidFill>
                      <a:srgbClr val="FFFFFF"/>
                    </a:solidFill>
                  </a:tcPr>
                </a:tc>
              </a:tr>
              <a:tr h="475488">
                <a:tc>
                  <a:txBody>
                    <a:bodyPr wrap="square" anchor="t"/>
                    <a:lstStyle/>
                    <a:p>
                      <a:pPr algn="l">
                        <a:lnSpc>
                          <a:spcPct val="110000"/>
                        </a:lnSpc>
                        <a:spcAft>
                          <a:spcPts val="0"/>
                        </a:spcAft>
                      </a:pPr>
                      <a:r>
                        <a:rPr sz="1050" b="1" i="0">
                          <a:solidFill>
                            <a:srgbClr val="161B26"/>
                          </a:solidFill>
                          <a:latin typeface="Arial"/>
                        </a:rPr>
                        <a:t>Add the change because the customer asked</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Customer satisfaction sounds like the PMI value</a:t>
                      </a:r>
                    </a:p>
                  </a:txBody>
                  <a:tcPr anchor="ctr">
                    <a:solidFill>
                      <a:srgbClr val="F5F8FC"/>
                    </a:solidFill>
                  </a:tcPr>
                </a:tc>
                <a:tc>
                  <a:txBody>
                    <a:bodyPr wrap="square" anchor="t"/>
                    <a:lstStyle/>
                    <a:p>
                      <a:pPr algn="l">
                        <a:lnSpc>
                          <a:spcPct val="110000"/>
                        </a:lnSpc>
                        <a:spcAft>
                          <a:spcPts val="0"/>
                        </a:spcAft>
                      </a:pPr>
                      <a:r>
                        <a:rPr sz="1050" b="0" i="0">
                          <a:solidFill>
                            <a:srgbClr val="5B6372"/>
                          </a:solidFill>
                          <a:latin typeface="Arial"/>
                        </a:rPr>
                        <a:t>Every scope change requires impact analysis and change control</a:t>
                      </a:r>
                    </a:p>
                  </a:txBody>
                  <a:tcPr anchor="ctr">
                    <a:solidFill>
                      <a:srgbClr val="F5F8FC"/>
                    </a:solidFill>
                  </a:tcPr>
                </a:tc>
              </a:tr>
            </a:tbl>
          </a:graphicData>
        </a:graphic>
      </p:graphicFrame>
      <p:sp>
        <p:nvSpPr>
          <p:cNvPr id="6" name="TextBox 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7" name="TextBox 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8" name="TextBox 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526</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FORMULA SHEET · EVM</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Formula Sheet Recap — Earned Value</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04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Variance</a:t>
            </a:r>
          </a:p>
        </p:txBody>
      </p:sp>
      <p:sp>
        <p:nvSpPr>
          <p:cNvPr id="8" name="Rounded Rectangle 7"/>
          <p:cNvSpPr/>
          <p:nvPr/>
        </p:nvSpPr>
        <p:spPr>
          <a:xfrm>
            <a:off x="4133088" y="1505559"/>
            <a:ext cx="3246120" cy="558424"/>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558424"/>
          </a:xfrm>
          <a:prstGeom prst="rect">
            <a:avLst/>
          </a:prstGeom>
          <a:noFill/>
        </p:spPr>
        <p:txBody>
          <a:bodyPr wrap="square" anchor="ctr">
            <a:spAutoFit/>
          </a:bodyPr>
          <a:lstStyle/>
          <a:p>
            <a:pPr algn="ctr">
              <a:lnSpc>
                <a:spcPct val="100000"/>
              </a:lnSpc>
              <a:spcAft>
                <a:spcPts val="400"/>
              </a:spcAft>
            </a:pPr>
            <a:r>
              <a:rPr sz="1500" b="1" i="0">
                <a:solidFill>
                  <a:srgbClr val="1F6FEB"/>
                </a:solidFill>
                <a:latin typeface="Arial"/>
              </a:rPr>
              <a:t>CV = EV - AC</a:t>
            </a:r>
          </a:p>
        </p:txBody>
      </p:sp>
      <p:sp>
        <p:nvSpPr>
          <p:cNvPr id="10" name="TextBox 9"/>
          <p:cNvSpPr txBox="1"/>
          <p:nvPr/>
        </p:nvSpPr>
        <p:spPr>
          <a:xfrm>
            <a:off x="7607808" y="1505559"/>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means over budget. Every variance is EV minus something.</a:t>
            </a:r>
          </a:p>
        </p:txBody>
      </p:sp>
      <p:sp>
        <p:nvSpPr>
          <p:cNvPr id="11" name="Rounded Rectangle 10"/>
          <p:cNvSpPr/>
          <p:nvPr/>
        </p:nvSpPr>
        <p:spPr>
          <a:xfrm>
            <a:off x="566928" y="2265151"/>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265151"/>
            <a:ext cx="59436" cy="704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338303"/>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Variance</a:t>
            </a:r>
          </a:p>
        </p:txBody>
      </p:sp>
      <p:sp>
        <p:nvSpPr>
          <p:cNvPr id="14" name="Rounded Rectangle 13"/>
          <p:cNvSpPr/>
          <p:nvPr/>
        </p:nvSpPr>
        <p:spPr>
          <a:xfrm>
            <a:off x="4133088" y="2338303"/>
            <a:ext cx="3246120" cy="558424"/>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338303"/>
            <a:ext cx="3108960" cy="558424"/>
          </a:xfrm>
          <a:prstGeom prst="rect">
            <a:avLst/>
          </a:prstGeom>
          <a:noFill/>
        </p:spPr>
        <p:txBody>
          <a:bodyPr wrap="square" anchor="ctr">
            <a:spAutoFit/>
          </a:bodyPr>
          <a:lstStyle/>
          <a:p>
            <a:pPr algn="ctr">
              <a:lnSpc>
                <a:spcPct val="100000"/>
              </a:lnSpc>
              <a:spcAft>
                <a:spcPts val="400"/>
              </a:spcAft>
            </a:pPr>
            <a:r>
              <a:rPr sz="1500" b="1" i="0">
                <a:solidFill>
                  <a:srgbClr val="10B981"/>
                </a:solidFill>
                <a:latin typeface="Arial"/>
              </a:rPr>
              <a:t>SV = EV - PV</a:t>
            </a:r>
          </a:p>
        </p:txBody>
      </p:sp>
      <p:sp>
        <p:nvSpPr>
          <p:cNvPr id="16" name="TextBox 15"/>
          <p:cNvSpPr txBox="1"/>
          <p:nvPr/>
        </p:nvSpPr>
        <p:spPr>
          <a:xfrm>
            <a:off x="7607808" y="2338303"/>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Negative means behind schedule. Always zero at project completion.</a:t>
            </a:r>
          </a:p>
        </p:txBody>
      </p:sp>
      <p:sp>
        <p:nvSpPr>
          <p:cNvPr id="17" name="Rounded Rectangle 16"/>
          <p:cNvSpPr/>
          <p:nvPr/>
        </p:nvSpPr>
        <p:spPr>
          <a:xfrm>
            <a:off x="566928" y="3097895"/>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097895"/>
            <a:ext cx="59436" cy="704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3171047"/>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Cost Performance Index</a:t>
            </a:r>
          </a:p>
        </p:txBody>
      </p:sp>
      <p:sp>
        <p:nvSpPr>
          <p:cNvPr id="20" name="Rounded Rectangle 19"/>
          <p:cNvSpPr/>
          <p:nvPr/>
        </p:nvSpPr>
        <p:spPr>
          <a:xfrm>
            <a:off x="4133088" y="3171047"/>
            <a:ext cx="3246120" cy="558424"/>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3171047"/>
            <a:ext cx="3108960" cy="558424"/>
          </a:xfrm>
          <a:prstGeom prst="rect">
            <a:avLst/>
          </a:prstGeom>
          <a:noFill/>
        </p:spPr>
        <p:txBody>
          <a:bodyPr wrap="square" anchor="ctr">
            <a:spAutoFit/>
          </a:bodyPr>
          <a:lstStyle/>
          <a:p>
            <a:pPr algn="ctr">
              <a:lnSpc>
                <a:spcPct val="100000"/>
              </a:lnSpc>
              <a:spcAft>
                <a:spcPts val="400"/>
              </a:spcAft>
            </a:pPr>
            <a:r>
              <a:rPr sz="1500" b="1" i="0">
                <a:solidFill>
                  <a:srgbClr val="7C3AED"/>
                </a:solidFill>
                <a:latin typeface="Arial"/>
              </a:rPr>
              <a:t>CPI = EV / AC</a:t>
            </a:r>
          </a:p>
        </p:txBody>
      </p:sp>
      <p:sp>
        <p:nvSpPr>
          <p:cNvPr id="22" name="TextBox 21"/>
          <p:cNvSpPr txBox="1"/>
          <p:nvPr/>
        </p:nvSpPr>
        <p:spPr>
          <a:xfrm>
            <a:off x="7607808" y="3171047"/>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Below 1.0 means you earn less than a dollar of value per dollar spent.</a:t>
            </a:r>
          </a:p>
        </p:txBody>
      </p:sp>
      <p:sp>
        <p:nvSpPr>
          <p:cNvPr id="23" name="Rounded Rectangle 22"/>
          <p:cNvSpPr/>
          <p:nvPr/>
        </p:nvSpPr>
        <p:spPr>
          <a:xfrm>
            <a:off x="566928" y="3930639"/>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30639"/>
            <a:ext cx="59436" cy="704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4003791"/>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Schedule Performance Index</a:t>
            </a:r>
          </a:p>
        </p:txBody>
      </p:sp>
      <p:sp>
        <p:nvSpPr>
          <p:cNvPr id="26" name="Rounded Rectangle 25"/>
          <p:cNvSpPr/>
          <p:nvPr/>
        </p:nvSpPr>
        <p:spPr>
          <a:xfrm>
            <a:off x="4133088" y="4003791"/>
            <a:ext cx="3246120" cy="558424"/>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4003791"/>
            <a:ext cx="3108960" cy="558424"/>
          </a:xfrm>
          <a:prstGeom prst="rect">
            <a:avLst/>
          </a:prstGeom>
          <a:noFill/>
        </p:spPr>
        <p:txBody>
          <a:bodyPr wrap="square" anchor="ctr">
            <a:spAutoFit/>
          </a:bodyPr>
          <a:lstStyle/>
          <a:p>
            <a:pPr algn="ctr">
              <a:lnSpc>
                <a:spcPct val="100000"/>
              </a:lnSpc>
              <a:spcAft>
                <a:spcPts val="400"/>
              </a:spcAft>
            </a:pPr>
            <a:r>
              <a:rPr sz="1500" b="1" i="0">
                <a:solidFill>
                  <a:srgbClr val="F59E0B"/>
                </a:solidFill>
                <a:latin typeface="Arial"/>
              </a:rPr>
              <a:t>SPI = EV / PV</a:t>
            </a:r>
          </a:p>
        </p:txBody>
      </p:sp>
      <p:sp>
        <p:nvSpPr>
          <p:cNvPr id="28" name="TextBox 27"/>
          <p:cNvSpPr txBox="1"/>
          <p:nvPr/>
        </p:nvSpPr>
        <p:spPr>
          <a:xfrm>
            <a:off x="7607808" y="4003791"/>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Below 1.0 means work is arriving slower than the plan assumed.</a:t>
            </a:r>
          </a:p>
        </p:txBody>
      </p:sp>
      <p:sp>
        <p:nvSpPr>
          <p:cNvPr id="29" name="Rounded Rectangle 28"/>
          <p:cNvSpPr/>
          <p:nvPr/>
        </p:nvSpPr>
        <p:spPr>
          <a:xfrm>
            <a:off x="566928" y="4763383"/>
            <a:ext cx="11055096" cy="704728"/>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763383"/>
            <a:ext cx="59436" cy="70472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836535"/>
            <a:ext cx="3200400" cy="558424"/>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Estimate at Completion</a:t>
            </a:r>
          </a:p>
        </p:txBody>
      </p:sp>
      <p:sp>
        <p:nvSpPr>
          <p:cNvPr id="32" name="Rounded Rectangle 31"/>
          <p:cNvSpPr/>
          <p:nvPr/>
        </p:nvSpPr>
        <p:spPr>
          <a:xfrm>
            <a:off x="4133088" y="4836535"/>
            <a:ext cx="3246120" cy="558424"/>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836535"/>
            <a:ext cx="3108960" cy="558424"/>
          </a:xfrm>
          <a:prstGeom prst="rect">
            <a:avLst/>
          </a:prstGeom>
          <a:noFill/>
        </p:spPr>
        <p:txBody>
          <a:bodyPr wrap="square" anchor="ctr">
            <a:spAutoFit/>
          </a:bodyPr>
          <a:lstStyle/>
          <a:p>
            <a:pPr algn="ctr">
              <a:lnSpc>
                <a:spcPct val="100000"/>
              </a:lnSpc>
              <a:spcAft>
                <a:spcPts val="400"/>
              </a:spcAft>
            </a:pPr>
            <a:r>
              <a:rPr sz="1500" b="1" i="0">
                <a:solidFill>
                  <a:srgbClr val="06B6D4"/>
                </a:solidFill>
                <a:latin typeface="Arial"/>
              </a:rPr>
              <a:t>EAC = BAC / CPI</a:t>
            </a:r>
          </a:p>
        </p:txBody>
      </p:sp>
      <p:sp>
        <p:nvSpPr>
          <p:cNvPr id="34" name="TextBox 33"/>
          <p:cNvSpPr txBox="1"/>
          <p:nvPr/>
        </p:nvSpPr>
        <p:spPr>
          <a:xfrm>
            <a:off x="7607808" y="4836535"/>
            <a:ext cx="3977639" cy="558424"/>
          </a:xfrm>
          <a:prstGeom prst="rect">
            <a:avLst/>
          </a:prstGeom>
          <a:noFill/>
        </p:spPr>
        <p:txBody>
          <a:bodyPr wrap="square" anchor="ctr">
            <a:spAutoFit/>
          </a:bodyPr>
          <a:lstStyle/>
          <a:p>
            <a:pPr algn="l">
              <a:lnSpc>
                <a:spcPct val="112000"/>
              </a:lnSpc>
              <a:spcAft>
                <a:spcPts val="400"/>
              </a:spcAft>
            </a:pPr>
            <a:r>
              <a:rPr sz="1150" b="0" i="0">
                <a:solidFill>
                  <a:srgbClr val="5B6372"/>
                </a:solidFill>
                <a:latin typeface="Arial"/>
              </a:rPr>
              <a:t>The default forecast when current cost performance is expected to continue.</a:t>
            </a:r>
          </a:p>
        </p:txBody>
      </p:sp>
      <p:sp>
        <p:nvSpPr>
          <p:cNvPr id="35" name="Rounded Rectangle 34"/>
          <p:cNvSpPr/>
          <p:nvPr/>
        </p:nvSpPr>
        <p:spPr>
          <a:xfrm>
            <a:off x="566928" y="5596128"/>
            <a:ext cx="11055096" cy="603504"/>
          </a:xfrm>
          <a:prstGeom prst="roundRect">
            <a:avLst>
              <a:gd name="adj" fmla="val 10000"/>
            </a:avLst>
          </a:prstGeom>
          <a:solidFill>
            <a:srgbClr val="FEF5E6"/>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Also carry: ETC = EAC - AC, VAC = BAC - EAC, and TCPI = (BAC - EV) / (BAC - AC).</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527</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FORMULA SHEET · ESTIMATING &amp; RISK</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Formula Sheet Recap — Estimating, Float and Risk</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62080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505559"/>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PERT triangular</a:t>
            </a:r>
          </a:p>
        </p:txBody>
      </p:sp>
      <p:sp>
        <p:nvSpPr>
          <p:cNvPr id="8" name="Rounded Rectangle 7"/>
          <p:cNvSpPr/>
          <p:nvPr/>
        </p:nvSpPr>
        <p:spPr>
          <a:xfrm>
            <a:off x="4133088" y="1505559"/>
            <a:ext cx="3246120" cy="474497"/>
          </a:xfrm>
          <a:prstGeom prst="roundRect">
            <a:avLst>
              <a:gd name="adj" fmla="val 10000"/>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1505559"/>
            <a:ext cx="3108960" cy="474497"/>
          </a:xfrm>
          <a:prstGeom prst="rect">
            <a:avLst/>
          </a:prstGeom>
          <a:noFill/>
        </p:spPr>
        <p:txBody>
          <a:bodyPr wrap="square" anchor="ctr">
            <a:spAutoFit/>
          </a:bodyPr>
          <a:lstStyle/>
          <a:p>
            <a:pPr algn="ctr">
              <a:lnSpc>
                <a:spcPct val="100000"/>
              </a:lnSpc>
              <a:spcAft>
                <a:spcPts val="400"/>
              </a:spcAft>
            </a:pPr>
            <a:r>
              <a:rPr sz="1300" b="1" i="0">
                <a:solidFill>
                  <a:srgbClr val="1F6FEB"/>
                </a:solidFill>
                <a:latin typeface="Arial"/>
              </a:rPr>
              <a:t>(O + M + P) / 3</a:t>
            </a:r>
          </a:p>
        </p:txBody>
      </p:sp>
      <p:sp>
        <p:nvSpPr>
          <p:cNvPr id="10" name="TextBox 9"/>
          <p:cNvSpPr txBox="1"/>
          <p:nvPr/>
        </p:nvSpPr>
        <p:spPr>
          <a:xfrm>
            <a:off x="7607808" y="1505559"/>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Simple average of optimistic, most likely and pessimistic estimates.</a:t>
            </a:r>
          </a:p>
        </p:txBody>
      </p:sp>
      <p:sp>
        <p:nvSpPr>
          <p:cNvPr id="11" name="Rounded Rectangle 10"/>
          <p:cNvSpPr/>
          <p:nvPr/>
        </p:nvSpPr>
        <p:spPr>
          <a:xfrm>
            <a:off x="566928" y="2126360"/>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126360"/>
            <a:ext cx="59436" cy="62080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199512"/>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PERT beta</a:t>
            </a:r>
          </a:p>
        </p:txBody>
      </p:sp>
      <p:sp>
        <p:nvSpPr>
          <p:cNvPr id="14" name="Rounded Rectangle 13"/>
          <p:cNvSpPr/>
          <p:nvPr/>
        </p:nvSpPr>
        <p:spPr>
          <a:xfrm>
            <a:off x="4133088" y="2199512"/>
            <a:ext cx="3246120" cy="474497"/>
          </a:xfrm>
          <a:prstGeom prst="roundRect">
            <a:avLst>
              <a:gd name="adj" fmla="val 10000"/>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199512"/>
            <a:ext cx="3108960" cy="474497"/>
          </a:xfrm>
          <a:prstGeom prst="rect">
            <a:avLst/>
          </a:prstGeom>
          <a:noFill/>
        </p:spPr>
        <p:txBody>
          <a:bodyPr wrap="square" anchor="ctr">
            <a:spAutoFit/>
          </a:bodyPr>
          <a:lstStyle/>
          <a:p>
            <a:pPr algn="ctr">
              <a:lnSpc>
                <a:spcPct val="100000"/>
              </a:lnSpc>
              <a:spcAft>
                <a:spcPts val="400"/>
              </a:spcAft>
            </a:pPr>
            <a:r>
              <a:rPr sz="1300" b="1" i="0">
                <a:solidFill>
                  <a:srgbClr val="10B981"/>
                </a:solidFill>
                <a:latin typeface="Arial"/>
              </a:rPr>
              <a:t>(O + 4M + P) / 6</a:t>
            </a:r>
          </a:p>
        </p:txBody>
      </p:sp>
      <p:sp>
        <p:nvSpPr>
          <p:cNvPr id="16" name="TextBox 15"/>
          <p:cNvSpPr txBox="1"/>
          <p:nvPr/>
        </p:nvSpPr>
        <p:spPr>
          <a:xfrm>
            <a:off x="7607808" y="2199512"/>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Weighted average giving the most likely estimate four times the weight.</a:t>
            </a:r>
          </a:p>
        </p:txBody>
      </p:sp>
      <p:sp>
        <p:nvSpPr>
          <p:cNvPr id="17" name="Rounded Rectangle 16"/>
          <p:cNvSpPr/>
          <p:nvPr/>
        </p:nvSpPr>
        <p:spPr>
          <a:xfrm>
            <a:off x="566928" y="2820314"/>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820314"/>
            <a:ext cx="59436" cy="62080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2893466"/>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PERT standard deviation</a:t>
            </a:r>
          </a:p>
        </p:txBody>
      </p:sp>
      <p:sp>
        <p:nvSpPr>
          <p:cNvPr id="20" name="Rounded Rectangle 19"/>
          <p:cNvSpPr/>
          <p:nvPr/>
        </p:nvSpPr>
        <p:spPr>
          <a:xfrm>
            <a:off x="4133088" y="2893466"/>
            <a:ext cx="3246120" cy="474497"/>
          </a:xfrm>
          <a:prstGeom prst="roundRect">
            <a:avLst>
              <a:gd name="adj" fmla="val 10000"/>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2893466"/>
            <a:ext cx="3108960" cy="474497"/>
          </a:xfrm>
          <a:prstGeom prst="rect">
            <a:avLst/>
          </a:prstGeom>
          <a:noFill/>
        </p:spPr>
        <p:txBody>
          <a:bodyPr wrap="square" anchor="ctr">
            <a:spAutoFit/>
          </a:bodyPr>
          <a:lstStyle/>
          <a:p>
            <a:pPr algn="ctr">
              <a:lnSpc>
                <a:spcPct val="100000"/>
              </a:lnSpc>
              <a:spcAft>
                <a:spcPts val="400"/>
              </a:spcAft>
            </a:pPr>
            <a:r>
              <a:rPr sz="1300" b="1" i="0">
                <a:solidFill>
                  <a:srgbClr val="7C3AED"/>
                </a:solidFill>
                <a:latin typeface="Arial"/>
              </a:rPr>
              <a:t>(P - O) / 6</a:t>
            </a:r>
          </a:p>
        </p:txBody>
      </p:sp>
      <p:sp>
        <p:nvSpPr>
          <p:cNvPr id="22" name="TextBox 21"/>
          <p:cNvSpPr txBox="1"/>
          <p:nvPr/>
        </p:nvSpPr>
        <p:spPr>
          <a:xfrm>
            <a:off x="7607808" y="2893466"/>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The spread of the estimate; a proxy for how uncertain the activity is.</a:t>
            </a:r>
          </a:p>
        </p:txBody>
      </p:sp>
      <p:sp>
        <p:nvSpPr>
          <p:cNvPr id="23" name="Rounded Rectangle 22"/>
          <p:cNvSpPr/>
          <p:nvPr/>
        </p:nvSpPr>
        <p:spPr>
          <a:xfrm>
            <a:off x="566928" y="3514267"/>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514267"/>
            <a:ext cx="59436" cy="62080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4672" y="3587419"/>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Total float</a:t>
            </a:r>
          </a:p>
        </p:txBody>
      </p:sp>
      <p:sp>
        <p:nvSpPr>
          <p:cNvPr id="26" name="Rounded Rectangle 25"/>
          <p:cNvSpPr/>
          <p:nvPr/>
        </p:nvSpPr>
        <p:spPr>
          <a:xfrm>
            <a:off x="4133088" y="3587419"/>
            <a:ext cx="3246120" cy="474497"/>
          </a:xfrm>
          <a:prstGeom prst="roundRect">
            <a:avLst>
              <a:gd name="adj" fmla="val 10000"/>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3587419"/>
            <a:ext cx="3108960" cy="474497"/>
          </a:xfrm>
          <a:prstGeom prst="rect">
            <a:avLst/>
          </a:prstGeom>
          <a:noFill/>
        </p:spPr>
        <p:txBody>
          <a:bodyPr wrap="square" anchor="ctr">
            <a:spAutoFit/>
          </a:bodyPr>
          <a:lstStyle/>
          <a:p>
            <a:pPr algn="ctr">
              <a:lnSpc>
                <a:spcPct val="100000"/>
              </a:lnSpc>
              <a:spcAft>
                <a:spcPts val="400"/>
              </a:spcAft>
            </a:pPr>
            <a:r>
              <a:rPr sz="1300" b="1" i="0">
                <a:solidFill>
                  <a:srgbClr val="F59E0B"/>
                </a:solidFill>
                <a:latin typeface="Arial"/>
              </a:rPr>
              <a:t>LS - ES  or  LF - EF</a:t>
            </a:r>
          </a:p>
        </p:txBody>
      </p:sp>
      <p:sp>
        <p:nvSpPr>
          <p:cNvPr id="28" name="TextBox 27"/>
          <p:cNvSpPr txBox="1"/>
          <p:nvPr/>
        </p:nvSpPr>
        <p:spPr>
          <a:xfrm>
            <a:off x="7607808" y="3587419"/>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Delay available without delaying project completion. Zero float = critical path.</a:t>
            </a:r>
          </a:p>
        </p:txBody>
      </p:sp>
      <p:sp>
        <p:nvSpPr>
          <p:cNvPr id="29" name="Rounded Rectangle 28"/>
          <p:cNvSpPr/>
          <p:nvPr/>
        </p:nvSpPr>
        <p:spPr>
          <a:xfrm>
            <a:off x="566928" y="4208221"/>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208221"/>
            <a:ext cx="59436" cy="620801"/>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281373"/>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Expected Monetary Value</a:t>
            </a:r>
          </a:p>
        </p:txBody>
      </p:sp>
      <p:sp>
        <p:nvSpPr>
          <p:cNvPr id="32" name="Rounded Rectangle 31"/>
          <p:cNvSpPr/>
          <p:nvPr/>
        </p:nvSpPr>
        <p:spPr>
          <a:xfrm>
            <a:off x="4133088" y="4281373"/>
            <a:ext cx="3246120" cy="474497"/>
          </a:xfrm>
          <a:prstGeom prst="roundRect">
            <a:avLst>
              <a:gd name="adj" fmla="val 10000"/>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4281373"/>
            <a:ext cx="3108960" cy="474497"/>
          </a:xfrm>
          <a:prstGeom prst="rect">
            <a:avLst/>
          </a:prstGeom>
          <a:noFill/>
        </p:spPr>
        <p:txBody>
          <a:bodyPr wrap="square" anchor="ctr">
            <a:spAutoFit/>
          </a:bodyPr>
          <a:lstStyle/>
          <a:p>
            <a:pPr algn="ctr">
              <a:lnSpc>
                <a:spcPct val="100000"/>
              </a:lnSpc>
              <a:spcAft>
                <a:spcPts val="400"/>
              </a:spcAft>
            </a:pPr>
            <a:r>
              <a:rPr sz="1300" b="1" i="0">
                <a:solidFill>
                  <a:srgbClr val="06B6D4"/>
                </a:solidFill>
                <a:latin typeface="Arial"/>
              </a:rPr>
              <a:t>EMV = Probability x Impact</a:t>
            </a:r>
          </a:p>
        </p:txBody>
      </p:sp>
      <p:sp>
        <p:nvSpPr>
          <p:cNvPr id="34" name="TextBox 33"/>
          <p:cNvSpPr txBox="1"/>
          <p:nvPr/>
        </p:nvSpPr>
        <p:spPr>
          <a:xfrm>
            <a:off x="7607808" y="4281373"/>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Sum the EMV of every branch to value a decision tree; threats are negative.</a:t>
            </a:r>
          </a:p>
        </p:txBody>
      </p:sp>
      <p:sp>
        <p:nvSpPr>
          <p:cNvPr id="35" name="Rounded Rectangle 34"/>
          <p:cNvSpPr/>
          <p:nvPr/>
        </p:nvSpPr>
        <p:spPr>
          <a:xfrm>
            <a:off x="566928" y="4902174"/>
            <a:ext cx="11055096" cy="620801"/>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902174"/>
            <a:ext cx="59436" cy="620801"/>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4975326"/>
            <a:ext cx="3200400" cy="474497"/>
          </a:xfrm>
          <a:prstGeom prst="rect">
            <a:avLst/>
          </a:prstGeom>
          <a:noFill/>
        </p:spPr>
        <p:txBody>
          <a:bodyPr wrap="square" anchor="ctr">
            <a:spAutoFit/>
          </a:bodyPr>
          <a:lstStyle/>
          <a:p>
            <a:pPr algn="l">
              <a:lnSpc>
                <a:spcPct val="104000"/>
              </a:lnSpc>
              <a:spcAft>
                <a:spcPts val="400"/>
              </a:spcAft>
            </a:pPr>
            <a:r>
              <a:rPr sz="1200" b="1" i="0">
                <a:solidFill>
                  <a:srgbClr val="161B26"/>
                </a:solidFill>
                <a:latin typeface="Arial"/>
              </a:rPr>
              <a:t>Communication channels</a:t>
            </a:r>
          </a:p>
        </p:txBody>
      </p:sp>
      <p:sp>
        <p:nvSpPr>
          <p:cNvPr id="38" name="Rounded Rectangle 37"/>
          <p:cNvSpPr/>
          <p:nvPr/>
        </p:nvSpPr>
        <p:spPr>
          <a:xfrm>
            <a:off x="4133088" y="4975326"/>
            <a:ext cx="3246120" cy="474497"/>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06240" y="4975326"/>
            <a:ext cx="3108960" cy="474497"/>
          </a:xfrm>
          <a:prstGeom prst="rect">
            <a:avLst/>
          </a:prstGeom>
          <a:noFill/>
        </p:spPr>
        <p:txBody>
          <a:bodyPr wrap="square" anchor="ctr">
            <a:spAutoFit/>
          </a:bodyPr>
          <a:lstStyle/>
          <a:p>
            <a:pPr algn="ctr">
              <a:lnSpc>
                <a:spcPct val="100000"/>
              </a:lnSpc>
              <a:spcAft>
                <a:spcPts val="400"/>
              </a:spcAft>
            </a:pPr>
            <a:r>
              <a:rPr sz="1300" b="1" i="0">
                <a:solidFill>
                  <a:srgbClr val="E11D48"/>
                </a:solidFill>
                <a:latin typeface="Arial"/>
              </a:rPr>
              <a:t>n(n-1) / 2</a:t>
            </a:r>
          </a:p>
        </p:txBody>
      </p:sp>
      <p:sp>
        <p:nvSpPr>
          <p:cNvPr id="40" name="TextBox 39"/>
          <p:cNvSpPr txBox="1"/>
          <p:nvPr/>
        </p:nvSpPr>
        <p:spPr>
          <a:xfrm>
            <a:off x="7607808" y="4975326"/>
            <a:ext cx="3977639" cy="474497"/>
          </a:xfrm>
          <a:prstGeom prst="rect">
            <a:avLst/>
          </a:prstGeom>
          <a:noFill/>
        </p:spPr>
        <p:txBody>
          <a:bodyPr wrap="square" anchor="ctr">
            <a:spAutoFit/>
          </a:bodyPr>
          <a:lstStyle/>
          <a:p>
            <a:pPr algn="l">
              <a:lnSpc>
                <a:spcPct val="112000"/>
              </a:lnSpc>
              <a:spcAft>
                <a:spcPts val="400"/>
              </a:spcAft>
            </a:pPr>
            <a:r>
              <a:rPr sz="1000" b="0" i="0">
                <a:solidFill>
                  <a:srgbClr val="5B6372"/>
                </a:solidFill>
                <a:latin typeface="Arial"/>
              </a:rPr>
              <a:t>Channels grow quadratically with people — the case for smaller teams.</a:t>
            </a:r>
          </a:p>
        </p:txBody>
      </p:sp>
      <p:sp>
        <p:nvSpPr>
          <p:cNvPr id="41" name="Rounded Rectangle 40"/>
          <p:cNvSpPr/>
          <p:nvPr/>
        </p:nvSpPr>
        <p:spPr>
          <a:xfrm>
            <a:off x="566928" y="5596128"/>
            <a:ext cx="11055096" cy="603504"/>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6384" y="5687568"/>
            <a:ext cx="10597896" cy="457200"/>
          </a:xfrm>
          <a:prstGeom prst="rect">
            <a:avLst/>
          </a:prstGeom>
          <a:noFill/>
        </p:spPr>
        <p:txBody>
          <a:bodyPr wrap="square" anchor="t">
            <a:spAutoFit/>
          </a:bodyPr>
          <a:lstStyle/>
          <a:p>
            <a:pPr algn="l">
              <a:lnSpc>
                <a:spcPct val="116000"/>
              </a:lnSpc>
              <a:spcAft>
                <a:spcPts val="400"/>
              </a:spcAft>
            </a:pPr>
            <a:r>
              <a:rPr sz="1150" b="0" i="0">
                <a:solidFill>
                  <a:srgbClr val="161B26"/>
                </a:solidFill>
                <a:latin typeface="Arial"/>
              </a:rPr>
              <a:t>Point of confusion to settle now: total float belongs to a path; free float is the delay available without delaying the very next activity.</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528</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Exam Day Strategy</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Pace deliberately</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180 questions in 240 minutes is about 80 seconds each. Check your position at every 45-question mark.</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Answer everything</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There is no penalty for a wrong answer, and 10 items do not count anyway — never leave a blank.</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Mark and move on</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If an item takes more than two minutes, choose your best option, flag it and move on.</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Use the breaks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 both 10-minute breaks even if you feel fine — fatigue damages accuracy far more than it damages speed.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Case study section first</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case-study section comes before the first break; read the exhibit carefully once rather than repeatedly.</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Trust your first instinct</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Change an answer only when you find a specific fact in the stem that you missed the first time.</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529</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PMI Mindset — the Tiebreaker on Every Item</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Be proactive</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Prevent problems rather than react to them; the answer that anticipates usually beats the answer that responds.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Gather facts first</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Understand the situation before acting, escalating or blaming — 'analyse the impact' is rarely wrong.</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Serve the team</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Remove impediments, empower and coach; do not command, punish or reassign as a first response.</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Follow the process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the documented change, risk, quality and escalation processes — never bypass governance for speed.</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Communicate directly</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Talk to the person concerned before involving their manager or the sponsor.</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Deliver value</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When options conflict, choose the one that protects the business value and the customer's real need.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530</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Your Study Plan After This Course</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2913735"/>
            <a:ext cx="11055096" cy="68580"/>
          </a:xfrm>
          <a:prstGeom prst="rect">
            <a:avLst/>
          </a:prstGeom>
          <a:solidFill>
            <a:srgbClr val="DD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87018" y="2758287"/>
            <a:ext cx="402336" cy="40233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8701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1</a:t>
            </a:r>
          </a:p>
        </p:txBody>
      </p:sp>
      <p:sp>
        <p:nvSpPr>
          <p:cNvPr id="8" name="TextBox 7"/>
          <p:cNvSpPr txBox="1"/>
          <p:nvPr/>
        </p:nvSpPr>
        <p:spPr>
          <a:xfrm>
            <a:off x="658368" y="1578711"/>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1</a:t>
            </a:r>
          </a:p>
        </p:txBody>
      </p:sp>
      <p:sp>
        <p:nvSpPr>
          <p:cNvPr id="9" name="TextBox 8"/>
          <p:cNvSpPr txBox="1"/>
          <p:nvPr/>
        </p:nvSpPr>
        <p:spPr>
          <a:xfrm>
            <a:off x="658368" y="1894893"/>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Consolidate notes; review every ITTO and the formula sheet from memory.</a:t>
            </a:r>
          </a:p>
        </p:txBody>
      </p:sp>
      <p:sp>
        <p:nvSpPr>
          <p:cNvPr id="10" name="Oval 9"/>
          <p:cNvSpPr/>
          <p:nvPr/>
        </p:nvSpPr>
        <p:spPr>
          <a:xfrm>
            <a:off x="3129534" y="2758287"/>
            <a:ext cx="402336" cy="40233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9534"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2</a:t>
            </a:r>
          </a:p>
        </p:txBody>
      </p:sp>
      <p:sp>
        <p:nvSpPr>
          <p:cNvPr id="12" name="TextBox 11"/>
          <p:cNvSpPr txBox="1"/>
          <p:nvPr/>
        </p:nvSpPr>
        <p:spPr>
          <a:xfrm>
            <a:off x="2500884"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2</a:t>
            </a:r>
          </a:p>
        </p:txBody>
      </p:sp>
      <p:sp>
        <p:nvSpPr>
          <p:cNvPr id="13" name="TextBox 12"/>
          <p:cNvSpPr txBox="1"/>
          <p:nvPr/>
        </p:nvSpPr>
        <p:spPr>
          <a:xfrm>
            <a:off x="2500884" y="3650541"/>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Complete the PMI Study Hall or equivalent domain quizzes; log weak areas.</a:t>
            </a:r>
          </a:p>
        </p:txBody>
      </p:sp>
      <p:sp>
        <p:nvSpPr>
          <p:cNvPr id="14" name="Oval 13"/>
          <p:cNvSpPr/>
          <p:nvPr/>
        </p:nvSpPr>
        <p:spPr>
          <a:xfrm>
            <a:off x="4972050" y="2758287"/>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2050"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3</a:t>
            </a:r>
          </a:p>
        </p:txBody>
      </p:sp>
      <p:sp>
        <p:nvSpPr>
          <p:cNvPr id="16" name="TextBox 15"/>
          <p:cNvSpPr txBox="1"/>
          <p:nvPr/>
        </p:nvSpPr>
        <p:spPr>
          <a:xfrm>
            <a:off x="4343400" y="1578711"/>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3</a:t>
            </a:r>
          </a:p>
        </p:txBody>
      </p:sp>
      <p:sp>
        <p:nvSpPr>
          <p:cNvPr id="17" name="TextBox 16"/>
          <p:cNvSpPr txBox="1"/>
          <p:nvPr/>
        </p:nvSpPr>
        <p:spPr>
          <a:xfrm>
            <a:off x="4343400" y="1894893"/>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First full 180-question timed mock; analyse every wrong answer's reason.</a:t>
            </a:r>
          </a:p>
        </p:txBody>
      </p:sp>
      <p:sp>
        <p:nvSpPr>
          <p:cNvPr id="18" name="Oval 17"/>
          <p:cNvSpPr/>
          <p:nvPr/>
        </p:nvSpPr>
        <p:spPr>
          <a:xfrm>
            <a:off x="6814566" y="2758287"/>
            <a:ext cx="402336" cy="40233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4566"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4</a:t>
            </a:r>
          </a:p>
        </p:txBody>
      </p:sp>
      <p:sp>
        <p:nvSpPr>
          <p:cNvPr id="20" name="TextBox 19"/>
          <p:cNvSpPr txBox="1"/>
          <p:nvPr/>
        </p:nvSpPr>
        <p:spPr>
          <a:xfrm>
            <a:off x="6185916"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4</a:t>
            </a:r>
          </a:p>
        </p:txBody>
      </p:sp>
      <p:sp>
        <p:nvSpPr>
          <p:cNvPr id="21" name="TextBox 20"/>
          <p:cNvSpPr txBox="1"/>
          <p:nvPr/>
        </p:nvSpPr>
        <p:spPr>
          <a:xfrm>
            <a:off x="6185916" y="3650541"/>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Targeted revision on the two weakest domains plus formula drills.</a:t>
            </a:r>
          </a:p>
        </p:txBody>
      </p:sp>
      <p:sp>
        <p:nvSpPr>
          <p:cNvPr id="22" name="Oval 21"/>
          <p:cNvSpPr/>
          <p:nvPr/>
        </p:nvSpPr>
        <p:spPr>
          <a:xfrm>
            <a:off x="8657082" y="2758287"/>
            <a:ext cx="402336" cy="40233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57082"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5</a:t>
            </a:r>
          </a:p>
        </p:txBody>
      </p:sp>
      <p:sp>
        <p:nvSpPr>
          <p:cNvPr id="24" name="TextBox 23"/>
          <p:cNvSpPr txBox="1"/>
          <p:nvPr/>
        </p:nvSpPr>
        <p:spPr>
          <a:xfrm>
            <a:off x="8028432" y="1696755"/>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5</a:t>
            </a:r>
          </a:p>
        </p:txBody>
      </p:sp>
      <p:sp>
        <p:nvSpPr>
          <p:cNvPr id="25" name="TextBox 24"/>
          <p:cNvSpPr txBox="1"/>
          <p:nvPr/>
        </p:nvSpPr>
        <p:spPr>
          <a:xfrm>
            <a:off x="8028432" y="2012937"/>
            <a:ext cx="1659636" cy="626478"/>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Second full timed mock; target above 70% in all three domains.</a:t>
            </a:r>
          </a:p>
        </p:txBody>
      </p:sp>
      <p:sp>
        <p:nvSpPr>
          <p:cNvPr id="26" name="Oval 25"/>
          <p:cNvSpPr/>
          <p:nvPr/>
        </p:nvSpPr>
        <p:spPr>
          <a:xfrm>
            <a:off x="10499598" y="2758287"/>
            <a:ext cx="402336" cy="40233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99598" y="2804007"/>
            <a:ext cx="402336" cy="329184"/>
          </a:xfrm>
          <a:prstGeom prst="rect">
            <a:avLst/>
          </a:prstGeom>
          <a:noFill/>
        </p:spPr>
        <p:txBody>
          <a:bodyPr wrap="square" anchor="t">
            <a:spAutoFit/>
          </a:bodyPr>
          <a:lstStyle/>
          <a:p>
            <a:pPr algn="ctr">
              <a:lnSpc>
                <a:spcPct val="100000"/>
              </a:lnSpc>
              <a:spcAft>
                <a:spcPts val="400"/>
              </a:spcAft>
            </a:pPr>
            <a:r>
              <a:rPr sz="1300" b="1" i="0">
                <a:solidFill>
                  <a:srgbClr val="FFFFFF"/>
                </a:solidFill>
                <a:latin typeface="Arial"/>
              </a:rPr>
              <a:t>6</a:t>
            </a:r>
          </a:p>
        </p:txBody>
      </p:sp>
      <p:sp>
        <p:nvSpPr>
          <p:cNvPr id="28" name="TextBox 27"/>
          <p:cNvSpPr txBox="1"/>
          <p:nvPr/>
        </p:nvSpPr>
        <p:spPr>
          <a:xfrm>
            <a:off x="9870948" y="3334359"/>
            <a:ext cx="1659636" cy="243030"/>
          </a:xfrm>
          <a:prstGeom prst="rect">
            <a:avLst/>
          </a:prstGeom>
          <a:noFill/>
        </p:spPr>
        <p:txBody>
          <a:bodyPr wrap="square" anchor="t">
            <a:spAutoFit/>
          </a:bodyPr>
          <a:lstStyle/>
          <a:p>
            <a:pPr algn="ctr">
              <a:lnSpc>
                <a:spcPct val="105000"/>
              </a:lnSpc>
              <a:spcAft>
                <a:spcPts val="400"/>
              </a:spcAft>
            </a:pPr>
            <a:r>
              <a:rPr sz="1350" b="1" i="0">
                <a:solidFill>
                  <a:srgbClr val="161B26"/>
                </a:solidFill>
                <a:latin typeface="Arial"/>
              </a:rPr>
              <a:t>Week 6</a:t>
            </a:r>
          </a:p>
        </p:txBody>
      </p:sp>
      <p:sp>
        <p:nvSpPr>
          <p:cNvPr id="29" name="TextBox 28"/>
          <p:cNvSpPr txBox="1"/>
          <p:nvPr/>
        </p:nvSpPr>
        <p:spPr>
          <a:xfrm>
            <a:off x="9870948" y="3650541"/>
            <a:ext cx="1659636" cy="835304"/>
          </a:xfrm>
          <a:prstGeom prst="rect">
            <a:avLst/>
          </a:prstGeom>
          <a:noFill/>
        </p:spPr>
        <p:txBody>
          <a:bodyPr wrap="square" anchor="t">
            <a:spAutoFit/>
          </a:bodyPr>
          <a:lstStyle/>
          <a:p>
            <a:pPr algn="ctr">
              <a:lnSpc>
                <a:spcPct val="116000"/>
              </a:lnSpc>
              <a:spcAft>
                <a:spcPts val="400"/>
              </a:spcAft>
            </a:pPr>
            <a:r>
              <a:rPr sz="1050" b="0" i="0">
                <a:solidFill>
                  <a:srgbClr val="5B6372"/>
                </a:solidFill>
                <a:latin typeface="Arial"/>
              </a:rPr>
              <a:t>Light review, sleep, and sit the exam — do not cram the final 48 hours.</a:t>
            </a:r>
          </a:p>
        </p:txBody>
      </p:sp>
      <p:sp>
        <p:nvSpPr>
          <p:cNvPr id="30" name="Rounded Rectangle 29"/>
          <p:cNvSpPr/>
          <p:nvPr/>
        </p:nvSpPr>
        <p:spPr>
          <a:xfrm>
            <a:off x="566928" y="5074920"/>
            <a:ext cx="11055096" cy="786384"/>
          </a:xfrm>
          <a:prstGeom prst="roundRect">
            <a:avLst>
              <a:gd name="adj" fmla="val 10000"/>
            </a:avLst>
          </a:prstGeom>
          <a:solidFill>
            <a:srgbClr val="EDF3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5074920"/>
            <a:ext cx="59436" cy="7863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175504"/>
            <a:ext cx="10597896" cy="585216"/>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Submit your PMI application early — it can take up to five business days to review, and audited applications take longer. Your one-year eligibility period starts when the application is approved.</a:t>
            </a:r>
          </a:p>
        </p:txBody>
      </p:sp>
      <p:sp>
        <p:nvSpPr>
          <p:cNvPr id="33" name="TextBox 3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4" name="TextBox 3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5" name="TextBox 3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531</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F59E0B"/>
                </a:solidFill>
                <a:latin typeface="Arial"/>
              </a:rPr>
              <a:t>PMP EXAM PREPARATION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The 35 PDUs and Maintaining Your Certification</a:t>
            </a:r>
          </a:p>
        </p:txBody>
      </p:sp>
      <p:sp>
        <p:nvSpPr>
          <p:cNvPr id="4" name="Rectangle 3"/>
          <p:cNvSpPr/>
          <p:nvPr/>
        </p:nvSpPr>
        <p:spPr>
          <a:xfrm>
            <a:off x="566928" y="1194663"/>
            <a:ext cx="822960" cy="5029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This course = 35 contact hours</a:t>
            </a:r>
          </a:p>
        </p:txBody>
      </p:sp>
      <p:sp>
        <p:nvSpPr>
          <p:cNvPr id="10" name="TextBox 9"/>
          <p:cNvSpPr txBox="1"/>
          <p:nvPr/>
        </p:nvSpPr>
        <p:spPr>
          <a:xfrm>
            <a:off x="76809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It satisfies PMI's requirement for 35 hours of commercial project management training.</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Keep your evidence</a:t>
            </a:r>
          </a:p>
        </p:txBody>
      </p:sp>
      <p:sp>
        <p:nvSpPr>
          <p:cNvPr id="16" name="TextBox 15"/>
          <p:cNvSpPr txBox="1"/>
          <p:nvPr/>
        </p:nvSpPr>
        <p:spPr>
          <a:xfrm>
            <a:off x="453237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Retain the certificate of completion and the course outline in case your application is audited.</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CCR cycle</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Once certified you must earn 60 PDUs every three years to maintain the PMP credential.</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Education PDUs</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Minimum 35 of the 60 must be education PDUs across the PMI Talent Triangle.</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Talent Triangle</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Ways of Working, Power Skills, and Business Acumen — at least 8 PDUs in each per cycle.</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Giving back PDUs</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Up to 25 PDUs may come from volunteering, creating content or working as a practitioner.</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532</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EXAM FOCUS · WHOLE COURSE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Final Exam Traps — Whole-Course Review</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110036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1578711"/>
            <a:ext cx="5120640" cy="274320"/>
          </a:xfrm>
          <a:prstGeom prst="roundRect">
            <a:avLst>
              <a:gd name="adj" fmla="val 10000"/>
            </a:avLst>
          </a:prstGeom>
          <a:solidFill>
            <a:srgbClr val="E4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1596999"/>
            <a:ext cx="4937760" cy="256032"/>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IF THE QUESTION SAYS</a:t>
            </a:r>
          </a:p>
        </p:txBody>
      </p:sp>
      <p:sp>
        <p:nvSpPr>
          <p:cNvPr id="9" name="TextBox 8"/>
          <p:cNvSpPr txBox="1"/>
          <p:nvPr/>
        </p:nvSpPr>
        <p:spPr>
          <a:xfrm>
            <a:off x="841248" y="1871319"/>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risk you identified has now occurred and is delaying the team</a:t>
            </a:r>
          </a:p>
        </p:txBody>
      </p:sp>
      <p:sp>
        <p:nvSpPr>
          <p:cNvPr id="10" name="Chevron 9"/>
          <p:cNvSpPr/>
          <p:nvPr/>
        </p:nvSpPr>
        <p:spPr>
          <a:xfrm>
            <a:off x="6327648" y="1578711"/>
            <a:ext cx="274320" cy="27432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21424" y="1596999"/>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12" name="TextBox 11"/>
          <p:cNvSpPr txBox="1"/>
          <p:nvPr/>
        </p:nvSpPr>
        <p:spPr>
          <a:xfrm>
            <a:off x="6821424" y="1871319"/>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It is now an issue. Move it to the issue log, implement the planned response, and reassess the remaining risk exposure.</a:t>
            </a:r>
          </a:p>
        </p:txBody>
      </p:sp>
      <p:sp>
        <p:nvSpPr>
          <p:cNvPr id="13" name="Rounded Rectangle 12"/>
          <p:cNvSpPr/>
          <p:nvPr/>
        </p:nvSpPr>
        <p:spPr>
          <a:xfrm>
            <a:off x="566928" y="2660789"/>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2660789"/>
            <a:ext cx="59436" cy="110036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2" y="2807093"/>
            <a:ext cx="5120640" cy="274320"/>
          </a:xfrm>
          <a:prstGeom prst="roundRect">
            <a:avLst>
              <a:gd name="adj" fmla="val 10000"/>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6112" y="2825381"/>
            <a:ext cx="493776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IF THE QUESTION SAYS</a:t>
            </a:r>
          </a:p>
        </p:txBody>
      </p:sp>
      <p:sp>
        <p:nvSpPr>
          <p:cNvPr id="17" name="TextBox 16"/>
          <p:cNvSpPr txBox="1"/>
          <p:nvPr/>
        </p:nvSpPr>
        <p:spPr>
          <a:xfrm>
            <a:off x="841248" y="3099701"/>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CPI is 0.85 and the sponsor asks whether you will finish within budget</a:t>
            </a:r>
          </a:p>
        </p:txBody>
      </p:sp>
      <p:sp>
        <p:nvSpPr>
          <p:cNvPr id="18" name="Chevron 17"/>
          <p:cNvSpPr/>
          <p:nvPr/>
        </p:nvSpPr>
        <p:spPr>
          <a:xfrm>
            <a:off x="6327648" y="2807093"/>
            <a:ext cx="274320" cy="27432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21424" y="2825381"/>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0" name="TextBox 19"/>
          <p:cNvSpPr txBox="1"/>
          <p:nvPr/>
        </p:nvSpPr>
        <p:spPr>
          <a:xfrm>
            <a:off x="6821424" y="3099701"/>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Calculate EAC. At BAC/CPI the forecast exceeds BAC, so report the forecast overrun and present recovery options.</a:t>
            </a:r>
          </a:p>
        </p:txBody>
      </p:sp>
      <p:sp>
        <p:nvSpPr>
          <p:cNvPr id="21" name="Rounded Rectangle 20"/>
          <p:cNvSpPr/>
          <p:nvPr/>
        </p:nvSpPr>
        <p:spPr>
          <a:xfrm>
            <a:off x="566928" y="3889171"/>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3889171"/>
            <a:ext cx="59436" cy="110036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4672" y="4035475"/>
            <a:ext cx="5120640" cy="274320"/>
          </a:xfrm>
          <a:prstGeom prst="roundRect">
            <a:avLst>
              <a:gd name="adj" fmla="val 10000"/>
            </a:avLst>
          </a:prstGeom>
          <a:solidFill>
            <a:srgbClr val="EFE7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 y="4053763"/>
            <a:ext cx="4937760" cy="256032"/>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IF THE QUESTION SAYS</a:t>
            </a:r>
          </a:p>
        </p:txBody>
      </p:sp>
      <p:sp>
        <p:nvSpPr>
          <p:cNvPr id="25" name="TextBox 24"/>
          <p:cNvSpPr txBox="1"/>
          <p:nvPr/>
        </p:nvSpPr>
        <p:spPr>
          <a:xfrm>
            <a:off x="841248" y="4328083"/>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A stakeholder was never identified and now objects to a delivered feature</a:t>
            </a:r>
          </a:p>
        </p:txBody>
      </p:sp>
      <p:sp>
        <p:nvSpPr>
          <p:cNvPr id="26" name="Chevron 25"/>
          <p:cNvSpPr/>
          <p:nvPr/>
        </p:nvSpPr>
        <p:spPr>
          <a:xfrm>
            <a:off x="6327648" y="4035475"/>
            <a:ext cx="274320" cy="27432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21424" y="4053763"/>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28" name="TextBox 27"/>
          <p:cNvSpPr txBox="1"/>
          <p:nvPr/>
        </p:nvSpPr>
        <p:spPr>
          <a:xfrm>
            <a:off x="6821424" y="4328083"/>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Update the stakeholder register, analyse their influence and interest, and revise the engagement plan before negotiating scope.</a:t>
            </a:r>
          </a:p>
        </p:txBody>
      </p:sp>
      <p:sp>
        <p:nvSpPr>
          <p:cNvPr id="29" name="Rounded Rectangle 28"/>
          <p:cNvSpPr/>
          <p:nvPr/>
        </p:nvSpPr>
        <p:spPr>
          <a:xfrm>
            <a:off x="566928" y="5117553"/>
            <a:ext cx="11055096" cy="1100366"/>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5117553"/>
            <a:ext cx="59436" cy="110036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04672" y="5263857"/>
            <a:ext cx="5120640" cy="274320"/>
          </a:xfrm>
          <a:prstGeom prst="roundRect">
            <a:avLst>
              <a:gd name="adj" fmla="val 10000"/>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96112" y="5282145"/>
            <a:ext cx="4937760" cy="256032"/>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IF THE QUESTION SAYS</a:t>
            </a:r>
          </a:p>
        </p:txBody>
      </p:sp>
      <p:sp>
        <p:nvSpPr>
          <p:cNvPr id="33" name="TextBox 32"/>
          <p:cNvSpPr txBox="1"/>
          <p:nvPr/>
        </p:nvSpPr>
        <p:spPr>
          <a:xfrm>
            <a:off x="841248" y="5556465"/>
            <a:ext cx="521208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The team wants to add a nice extra feature at no cost to the customer</a:t>
            </a:r>
          </a:p>
        </p:txBody>
      </p:sp>
      <p:sp>
        <p:nvSpPr>
          <p:cNvPr id="34" name="Chevron 33"/>
          <p:cNvSpPr/>
          <p:nvPr/>
        </p:nvSpPr>
        <p:spPr>
          <a:xfrm>
            <a:off x="6327648" y="5263857"/>
            <a:ext cx="274320" cy="27432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1424" y="5282145"/>
            <a:ext cx="4754880" cy="256032"/>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THE BEST ANSWER IS</a:t>
            </a:r>
          </a:p>
        </p:txBody>
      </p:sp>
      <p:sp>
        <p:nvSpPr>
          <p:cNvPr id="36" name="TextBox 35"/>
          <p:cNvSpPr txBox="1"/>
          <p:nvPr/>
        </p:nvSpPr>
        <p:spPr>
          <a:xfrm>
            <a:off x="6821424" y="5556465"/>
            <a:ext cx="4800600" cy="606590"/>
          </a:xfrm>
          <a:prstGeom prst="rect">
            <a:avLst/>
          </a:prstGeom>
          <a:noFill/>
        </p:spPr>
        <p:txBody>
          <a:bodyPr wrap="square" anchor="t">
            <a:spAutoFit/>
          </a:bodyPr>
          <a:lstStyle/>
          <a:p>
            <a:pPr algn="l">
              <a:lnSpc>
                <a:spcPct val="112000"/>
              </a:lnSpc>
              <a:spcAft>
                <a:spcPts val="400"/>
              </a:spcAft>
            </a:pPr>
            <a:r>
              <a:rPr sz="1100" b="0" i="0">
                <a:solidFill>
                  <a:srgbClr val="161B26"/>
                </a:solidFill>
                <a:latin typeface="Arial"/>
              </a:rPr>
              <a:t>That is gold plating. Deliver to the acceptance criteria; route any genuine addition through integrated change control.</a:t>
            </a:r>
          </a:p>
        </p:txBody>
      </p:sp>
      <p:sp>
        <p:nvSpPr>
          <p:cNvPr id="37" name="TextBox 36"/>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8" name="TextBox 37"/>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9" name="TextBox 38"/>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533</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RECAP · TOPIC 6</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Topic 6 Recap — Close the Project and Exam Readiness</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1569567"/>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a:t>
            </a:r>
          </a:p>
        </p:txBody>
      </p:sp>
      <p:sp>
        <p:nvSpPr>
          <p:cNvPr id="9" name="TextBox 8"/>
          <p:cNvSpPr txBox="1"/>
          <p:nvPr/>
        </p:nvSpPr>
        <p:spPr>
          <a:xfrm>
            <a:off x="1170432"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Closure is a process</a:t>
            </a:r>
          </a:p>
        </p:txBody>
      </p:sp>
      <p:sp>
        <p:nvSpPr>
          <p:cNvPr id="10" name="TextBox 9"/>
          <p:cNvSpPr txBox="1"/>
          <p:nvPr/>
        </p:nvSpPr>
        <p:spPr>
          <a:xfrm>
            <a:off x="1170432"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Acceptance, transition, contract and financial closure, archiving and release — performed in full, every time.</a:t>
            </a:r>
          </a:p>
        </p:txBody>
      </p:sp>
      <p:sp>
        <p:nvSpPr>
          <p:cNvPr id="11" name="Rounded Rectangle 10"/>
          <p:cNvSpPr/>
          <p:nvPr/>
        </p:nvSpPr>
        <p:spPr>
          <a:xfrm>
            <a:off x="6204204" y="1432407"/>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4204" y="1432407"/>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8796" y="1569567"/>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8796" y="1569567"/>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2</a:t>
            </a:r>
          </a:p>
        </p:txBody>
      </p:sp>
      <p:sp>
        <p:nvSpPr>
          <p:cNvPr id="15" name="TextBox 14"/>
          <p:cNvSpPr txBox="1"/>
          <p:nvPr/>
        </p:nvSpPr>
        <p:spPr>
          <a:xfrm>
            <a:off x="6807708" y="1542135"/>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Formal acceptance is required</a:t>
            </a:r>
          </a:p>
        </p:txBody>
      </p:sp>
      <p:sp>
        <p:nvSpPr>
          <p:cNvPr id="16" name="TextBox 15"/>
          <p:cNvSpPr txBox="1"/>
          <p:nvPr/>
        </p:nvSpPr>
        <p:spPr>
          <a:xfrm>
            <a:off x="6807708" y="1828799"/>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Written sign-off against agreed acceptance criteria is what makes a project complete.</a:t>
            </a:r>
          </a:p>
        </p:txBody>
      </p:sp>
      <p:sp>
        <p:nvSpPr>
          <p:cNvPr id="17" name="Rounded Rectangle 16"/>
          <p:cNvSpPr/>
          <p:nvPr/>
        </p:nvSpPr>
        <p:spPr>
          <a:xfrm>
            <a:off x="566928"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2411455"/>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2548615"/>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3</a:t>
            </a:r>
          </a:p>
        </p:txBody>
      </p:sp>
      <p:sp>
        <p:nvSpPr>
          <p:cNvPr id="21" name="TextBox 20"/>
          <p:cNvSpPr txBox="1"/>
          <p:nvPr/>
        </p:nvSpPr>
        <p:spPr>
          <a:xfrm>
            <a:off x="1170432"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Transition drives benefits</a:t>
            </a:r>
          </a:p>
        </p:txBody>
      </p:sp>
      <p:sp>
        <p:nvSpPr>
          <p:cNvPr id="22" name="TextBox 21"/>
          <p:cNvSpPr txBox="1"/>
          <p:nvPr/>
        </p:nvSpPr>
        <p:spPr>
          <a:xfrm>
            <a:off x="1170432"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Training, documentation and support determine adoption, and adoption determines value.</a:t>
            </a:r>
          </a:p>
        </p:txBody>
      </p:sp>
      <p:sp>
        <p:nvSpPr>
          <p:cNvPr id="23" name="Rounded Rectangle 22"/>
          <p:cNvSpPr/>
          <p:nvPr/>
        </p:nvSpPr>
        <p:spPr>
          <a:xfrm>
            <a:off x="6204204" y="2411455"/>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04204" y="2411455"/>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368796" y="2548615"/>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68796" y="2548615"/>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4</a:t>
            </a:r>
          </a:p>
        </p:txBody>
      </p:sp>
      <p:sp>
        <p:nvSpPr>
          <p:cNvPr id="27" name="TextBox 26"/>
          <p:cNvSpPr txBox="1"/>
          <p:nvPr/>
        </p:nvSpPr>
        <p:spPr>
          <a:xfrm>
            <a:off x="6807708" y="2521183"/>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Register becomes repository</a:t>
            </a:r>
          </a:p>
        </p:txBody>
      </p:sp>
      <p:sp>
        <p:nvSpPr>
          <p:cNvPr id="28" name="TextBox 27"/>
          <p:cNvSpPr txBox="1"/>
          <p:nvPr/>
        </p:nvSpPr>
        <p:spPr>
          <a:xfrm>
            <a:off x="6807708" y="2807847"/>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Lessons learned move from a project document into an organisational process asset at closure.</a:t>
            </a:r>
          </a:p>
        </p:txBody>
      </p:sp>
      <p:sp>
        <p:nvSpPr>
          <p:cNvPr id="29" name="Rounded Rectangle 28"/>
          <p:cNvSpPr/>
          <p:nvPr/>
        </p:nvSpPr>
        <p:spPr>
          <a:xfrm>
            <a:off x="566928"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3390503"/>
            <a:ext cx="50292" cy="8693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31520" y="3527663"/>
            <a:ext cx="384048" cy="292608"/>
          </a:xfrm>
          <a:prstGeom prst="roundRect">
            <a:avLst>
              <a:gd name="adj" fmla="val 50000"/>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5</a:t>
            </a:r>
          </a:p>
        </p:txBody>
      </p:sp>
      <p:sp>
        <p:nvSpPr>
          <p:cNvPr id="33" name="TextBox 32"/>
          <p:cNvSpPr txBox="1"/>
          <p:nvPr/>
        </p:nvSpPr>
        <p:spPr>
          <a:xfrm>
            <a:off x="1170432"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Retrospectives use both data types</a:t>
            </a:r>
          </a:p>
        </p:txBody>
      </p:sp>
      <p:sp>
        <p:nvSpPr>
          <p:cNvPr id="34" name="TextBox 33"/>
          <p:cNvSpPr txBox="1"/>
          <p:nvPr/>
        </p:nvSpPr>
        <p:spPr>
          <a:xfrm>
            <a:off x="1170432"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Qualitative feelings and quantitative measures together produce real root causes.</a:t>
            </a:r>
          </a:p>
        </p:txBody>
      </p:sp>
      <p:sp>
        <p:nvSpPr>
          <p:cNvPr id="35" name="Rounded Rectangle 34"/>
          <p:cNvSpPr/>
          <p:nvPr/>
        </p:nvSpPr>
        <p:spPr>
          <a:xfrm>
            <a:off x="6204204" y="3390503"/>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04204" y="3390503"/>
            <a:ext cx="50292" cy="86932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368796" y="3527663"/>
            <a:ext cx="384048" cy="292608"/>
          </a:xfrm>
          <a:prstGeom prst="roundRect">
            <a:avLst>
              <a:gd name="adj" fmla="val 50000"/>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68796" y="3527663"/>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807708" y="3500231"/>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Benefits need an accountable owner</a:t>
            </a:r>
          </a:p>
        </p:txBody>
      </p:sp>
      <p:sp>
        <p:nvSpPr>
          <p:cNvPr id="40" name="TextBox 39"/>
          <p:cNvSpPr txBox="1"/>
          <p:nvPr/>
        </p:nvSpPr>
        <p:spPr>
          <a:xfrm>
            <a:off x="6807708" y="3786895"/>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Hand over the measurement system; most benefits arrive after the team has gone.</a:t>
            </a:r>
          </a:p>
        </p:txBody>
      </p:sp>
      <p:sp>
        <p:nvSpPr>
          <p:cNvPr id="41" name="Rounded Rectangle 40"/>
          <p:cNvSpPr/>
          <p:nvPr/>
        </p:nvSpPr>
        <p:spPr>
          <a:xfrm>
            <a:off x="566928"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369551"/>
            <a:ext cx="50292" cy="869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731520" y="4506711"/>
            <a:ext cx="384048" cy="292608"/>
          </a:xfrm>
          <a:prstGeom prst="roundRect">
            <a:avLst>
              <a:gd name="adj" fmla="val 5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7</a:t>
            </a:r>
          </a:p>
        </p:txBody>
      </p:sp>
      <p:sp>
        <p:nvSpPr>
          <p:cNvPr id="45" name="TextBox 44"/>
          <p:cNvSpPr txBox="1"/>
          <p:nvPr/>
        </p:nvSpPr>
        <p:spPr>
          <a:xfrm>
            <a:off x="1170432"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Exam: 180 in 240 minutes</a:t>
            </a:r>
          </a:p>
        </p:txBody>
      </p:sp>
      <p:sp>
        <p:nvSpPr>
          <p:cNvPr id="46" name="TextBox 45"/>
          <p:cNvSpPr txBox="1"/>
          <p:nvPr/>
        </p:nvSpPr>
        <p:spPr>
          <a:xfrm>
            <a:off x="1170432"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170 scored plus 10 pretest items, with two 10-minute breaks and roughly 80 seconds per question.</a:t>
            </a:r>
          </a:p>
        </p:txBody>
      </p:sp>
      <p:sp>
        <p:nvSpPr>
          <p:cNvPr id="47" name="Rounded Rectangle 46"/>
          <p:cNvSpPr/>
          <p:nvPr/>
        </p:nvSpPr>
        <p:spPr>
          <a:xfrm>
            <a:off x="6204204" y="4369551"/>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04204" y="4369551"/>
            <a:ext cx="50292" cy="869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6368796" y="4506711"/>
            <a:ext cx="384048" cy="292608"/>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68796" y="4506711"/>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8</a:t>
            </a:r>
          </a:p>
        </p:txBody>
      </p:sp>
      <p:sp>
        <p:nvSpPr>
          <p:cNvPr id="51" name="TextBox 50"/>
          <p:cNvSpPr txBox="1"/>
          <p:nvPr/>
        </p:nvSpPr>
        <p:spPr>
          <a:xfrm>
            <a:off x="6807708" y="4479279"/>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Exam: 33 / 41 / 26</a:t>
            </a:r>
          </a:p>
        </p:txBody>
      </p:sp>
      <p:sp>
        <p:nvSpPr>
          <p:cNvPr id="52" name="TextBox 51"/>
          <p:cNvSpPr txBox="1"/>
          <p:nvPr/>
        </p:nvSpPr>
        <p:spPr>
          <a:xfrm>
            <a:off x="6807708" y="4765943"/>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People, Process and Business Environment weighting — with about 40% predictive and 60% adaptive or hybrid.</a:t>
            </a:r>
          </a:p>
        </p:txBody>
      </p:sp>
      <p:sp>
        <p:nvSpPr>
          <p:cNvPr id="53" name="Rounded Rectangle 52"/>
          <p:cNvSpPr/>
          <p:nvPr/>
        </p:nvSpPr>
        <p:spPr>
          <a:xfrm>
            <a:off x="566928"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66928" y="5348599"/>
            <a:ext cx="50292" cy="869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31520" y="5485759"/>
            <a:ext cx="384048" cy="29260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9</a:t>
            </a:r>
          </a:p>
        </p:txBody>
      </p:sp>
      <p:sp>
        <p:nvSpPr>
          <p:cNvPr id="57" name="TextBox 56"/>
          <p:cNvSpPr txBox="1"/>
          <p:nvPr/>
        </p:nvSpPr>
        <p:spPr>
          <a:xfrm>
            <a:off x="1170432"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Six question types</a:t>
            </a:r>
          </a:p>
        </p:txBody>
      </p:sp>
      <p:sp>
        <p:nvSpPr>
          <p:cNvPr id="58" name="TextBox 57"/>
          <p:cNvSpPr txBox="1"/>
          <p:nvPr/>
        </p:nvSpPr>
        <p:spPr>
          <a:xfrm>
            <a:off x="1170432"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Including the new graphic-based items and the case-study section that precedes the first break.</a:t>
            </a:r>
          </a:p>
        </p:txBody>
      </p:sp>
      <p:sp>
        <p:nvSpPr>
          <p:cNvPr id="59" name="Rounded Rectangle 58"/>
          <p:cNvSpPr/>
          <p:nvPr/>
        </p:nvSpPr>
        <p:spPr>
          <a:xfrm>
            <a:off x="6204204" y="5348599"/>
            <a:ext cx="5417820" cy="869320"/>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204204" y="5348599"/>
            <a:ext cx="50292" cy="869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6368796" y="5485759"/>
            <a:ext cx="384048" cy="292608"/>
          </a:xfrm>
          <a:prstGeom prst="roundRect">
            <a:avLst>
              <a:gd name="adj" fmla="val 50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68796" y="5485759"/>
            <a:ext cx="384048" cy="292608"/>
          </a:xfrm>
          <a:prstGeom prst="rect">
            <a:avLst/>
          </a:prstGeom>
          <a:noFill/>
        </p:spPr>
        <p:txBody>
          <a:bodyPr wrap="square" anchor="ctr">
            <a:spAutoFit/>
          </a:bodyPr>
          <a:lstStyle/>
          <a:p>
            <a:pPr algn="ctr">
              <a:lnSpc>
                <a:spcPct val="100000"/>
              </a:lnSpc>
              <a:spcAft>
                <a:spcPts val="400"/>
              </a:spcAft>
            </a:pPr>
            <a:r>
              <a:rPr sz="1100" b="1" i="0">
                <a:solidFill>
                  <a:srgbClr val="FFFFFF"/>
                </a:solidFill>
                <a:latin typeface="Arial"/>
              </a:rPr>
              <a:t>10</a:t>
            </a:r>
          </a:p>
        </p:txBody>
      </p:sp>
      <p:sp>
        <p:nvSpPr>
          <p:cNvPr id="63" name="TextBox 62"/>
          <p:cNvSpPr txBox="1"/>
          <p:nvPr/>
        </p:nvSpPr>
        <p:spPr>
          <a:xfrm>
            <a:off x="6807708" y="5458327"/>
            <a:ext cx="4649724" cy="231800"/>
          </a:xfrm>
          <a:prstGeom prst="rect">
            <a:avLst/>
          </a:prstGeom>
          <a:noFill/>
        </p:spPr>
        <p:txBody>
          <a:bodyPr wrap="square" anchor="t">
            <a:spAutoFit/>
          </a:bodyPr>
          <a:lstStyle/>
          <a:p>
            <a:pPr algn="l">
              <a:lnSpc>
                <a:spcPct val="104000"/>
              </a:lnSpc>
              <a:spcAft>
                <a:spcPts val="400"/>
              </a:spcAft>
            </a:pPr>
            <a:r>
              <a:rPr sz="1300" b="1" i="0">
                <a:solidFill>
                  <a:srgbClr val="161B26"/>
                </a:solidFill>
                <a:latin typeface="Arial"/>
              </a:rPr>
              <a:t>Answer with the PMI mindset</a:t>
            </a:r>
          </a:p>
        </p:txBody>
      </p:sp>
      <p:sp>
        <p:nvSpPr>
          <p:cNvPr id="64" name="TextBox 63"/>
          <p:cNvSpPr txBox="1"/>
          <p:nvPr/>
        </p:nvSpPr>
        <p:spPr>
          <a:xfrm>
            <a:off x="6807708" y="5744991"/>
            <a:ext cx="4649724" cy="363200"/>
          </a:xfrm>
          <a:prstGeom prst="rect">
            <a:avLst/>
          </a:prstGeom>
          <a:noFill/>
        </p:spPr>
        <p:txBody>
          <a:bodyPr wrap="square" anchor="t">
            <a:spAutoFit/>
          </a:bodyPr>
          <a:lstStyle/>
          <a:p>
            <a:pPr algn="l">
              <a:lnSpc>
                <a:spcPct val="116000"/>
              </a:lnSpc>
              <a:spcAft>
                <a:spcPts val="400"/>
              </a:spcAft>
            </a:pPr>
            <a:r>
              <a:rPr sz="900" b="0" i="0">
                <a:solidFill>
                  <a:srgbClr val="5B6372"/>
                </a:solidFill>
                <a:latin typeface="Arial"/>
              </a:rPr>
              <a:t>Investigate first, follow the process, serve the team, and protect the business value.</a:t>
            </a:r>
          </a:p>
        </p:txBody>
      </p:sp>
      <p:sp>
        <p:nvSpPr>
          <p:cNvPr id="65" name="TextBox 64"/>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66" name="TextBox 65"/>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67" name="TextBox 66"/>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534</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WHAT YOU WILL BUILD</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Hands-on Labs — Topic 6</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648260"/>
            <a:ext cx="3526536" cy="24269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648260"/>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867716"/>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90429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849428"/>
            <a:ext cx="2795016" cy="7863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23. Project Closure, Benefits Realisation and Lessons Learned</a:t>
            </a:r>
          </a:p>
        </p:txBody>
      </p:sp>
      <p:sp>
        <p:nvSpPr>
          <p:cNvPr id="10" name="TextBox 9"/>
          <p:cNvSpPr txBox="1"/>
          <p:nvPr/>
        </p:nvSpPr>
        <p:spPr>
          <a:xfrm>
            <a:off x="768096" y="3745540"/>
            <a:ext cx="3124200" cy="12016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Process T10, BE T6 · LO5 · 60 min in class</a:t>
            </a:r>
          </a:p>
          <a:p>
            <a:pPr algn="l">
              <a:lnSpc>
                <a:spcPct val="118000"/>
              </a:lnSpc>
              <a:spcAft>
                <a:spcPts val="400"/>
              </a:spcAft>
            </a:pPr>
            <a:r>
              <a:rPr sz="1150" b="0" i="0">
                <a:solidFill>
                  <a:srgbClr val="5B6372"/>
                </a:solidFill>
                <a:latin typeface="Arial"/>
              </a:rPr>
              <a:t>Produces: Closure checklist, Final report, Lessons learned register</a:t>
            </a:r>
          </a:p>
        </p:txBody>
      </p:sp>
      <p:sp>
        <p:nvSpPr>
          <p:cNvPr id="11" name="Rounded Rectangle 10"/>
          <p:cNvSpPr/>
          <p:nvPr/>
        </p:nvSpPr>
        <p:spPr>
          <a:xfrm>
            <a:off x="4331208" y="2648260"/>
            <a:ext cx="3526536" cy="24269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648260"/>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867716"/>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90429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849428"/>
            <a:ext cx="2795016" cy="786384"/>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Lab 24. Capstone: Consolidated Project Plan and Mock Exam</a:t>
            </a:r>
          </a:p>
        </p:txBody>
      </p:sp>
      <p:sp>
        <p:nvSpPr>
          <p:cNvPr id="16" name="TextBox 15"/>
          <p:cNvSpPr txBox="1"/>
          <p:nvPr/>
        </p:nvSpPr>
        <p:spPr>
          <a:xfrm>
            <a:off x="4532376" y="3745540"/>
            <a:ext cx="3124200" cy="120166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All domains · LO1-LO5 · 105 min in class + 15 min self-study</a:t>
            </a:r>
          </a:p>
          <a:p>
            <a:pPr algn="l">
              <a:lnSpc>
                <a:spcPct val="118000"/>
              </a:lnSpc>
              <a:spcAft>
                <a:spcPts val="400"/>
              </a:spcAft>
            </a:pPr>
            <a:r>
              <a:rPr sz="1150" b="0" i="0">
                <a:solidFill>
                  <a:srgbClr val="5B6372"/>
                </a:solidFill>
                <a:latin typeface="Arial"/>
              </a:rPr>
              <a:t>Produces: Consolidated project management plan, Mock exam score analysis by domain</a:t>
            </a:r>
          </a:p>
        </p:txBody>
      </p:sp>
      <p:sp>
        <p:nvSpPr>
          <p:cNvPr id="17" name="Rounded Rectangle 16"/>
          <p:cNvSpPr/>
          <p:nvPr/>
        </p:nvSpPr>
        <p:spPr>
          <a:xfrm>
            <a:off x="8095488" y="2648260"/>
            <a:ext cx="3526536" cy="242695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648260"/>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867716"/>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904292"/>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849428"/>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Everything you have built</a:t>
            </a:r>
          </a:p>
        </p:txBody>
      </p:sp>
      <p:sp>
        <p:nvSpPr>
          <p:cNvPr id="22" name="TextBox 21"/>
          <p:cNvSpPr txBox="1"/>
          <p:nvPr/>
        </p:nvSpPr>
        <p:spPr>
          <a:xfrm>
            <a:off x="8296656" y="3270052"/>
            <a:ext cx="3124200" cy="1677151"/>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These final labs consolidate the artifacts from Labs 01-22 into one integrated plan and an exam-readiness score.</a:t>
            </a:r>
          </a:p>
          <a:p>
            <a:pPr algn="l">
              <a:lnSpc>
                <a:spcPct val="118000"/>
              </a:lnSpc>
              <a:spcAft>
                <a:spcPts val="400"/>
              </a:spcAft>
            </a:pPr>
            <a:r>
              <a:rPr sz="1150" b="0" i="0">
                <a:solidFill>
                  <a:srgbClr val="5B6372"/>
                </a:solidFill>
                <a:latin typeface="Arial"/>
              </a:rPr>
              <a:t>Consolidates: Closure checklist, Consolidated project management plan, Final report, Lessons learned register</a:t>
            </a:r>
          </a:p>
        </p:txBody>
      </p:sp>
      <p:sp>
        <p:nvSpPr>
          <p:cNvPr id="23" name="TextBox 2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24" name="TextBox 2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25" name="TextBox 2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535</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HANDS-ON ACTIVITY</a:t>
            </a:r>
          </a:p>
        </p:txBody>
      </p:sp>
      <p:sp>
        <p:nvSpPr>
          <p:cNvPr id="3" name="TextBox 2"/>
          <p:cNvSpPr txBox="1"/>
          <p:nvPr/>
        </p:nvSpPr>
        <p:spPr>
          <a:xfrm>
            <a:off x="530352" y="658368"/>
            <a:ext cx="11155680" cy="962863"/>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23. Project Closure, Benefits Realisation and Lessons Learned</a:t>
            </a:r>
          </a:p>
        </p:txBody>
      </p:sp>
      <p:sp>
        <p:nvSpPr>
          <p:cNvPr id="4" name="Rectangle 3"/>
          <p:cNvSpPr/>
          <p:nvPr/>
        </p:nvSpPr>
        <p:spPr>
          <a:xfrm>
            <a:off x="566928" y="1676095"/>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913839"/>
            <a:ext cx="11055096" cy="713232"/>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913839"/>
            <a:ext cx="59436"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05279"/>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Process T10, BE T6 · LO5. Produces Closure checklist, Final report, Lessons learned register.</a:t>
            </a:r>
          </a:p>
        </p:txBody>
      </p:sp>
      <p:sp>
        <p:nvSpPr>
          <p:cNvPr id="8" name="Rounded Rectangle 7"/>
          <p:cNvSpPr/>
          <p:nvPr/>
        </p:nvSpPr>
        <p:spPr>
          <a:xfrm>
            <a:off x="9692640" y="2041855"/>
            <a:ext cx="1828800" cy="457200"/>
          </a:xfrm>
          <a:prstGeom prst="roundRect">
            <a:avLst>
              <a:gd name="adj" fmla="val 1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133295"/>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60 min in class</a:t>
            </a:r>
          </a:p>
        </p:txBody>
      </p:sp>
      <p:sp>
        <p:nvSpPr>
          <p:cNvPr id="10" name="Rounded Rectangle 9"/>
          <p:cNvSpPr/>
          <p:nvPr/>
        </p:nvSpPr>
        <p:spPr>
          <a:xfrm>
            <a:off x="56692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809951"/>
            <a:ext cx="50292" cy="67878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947111"/>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883103"/>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Verify every deliverable against the acceptance criteria agreed in the charter and scope statement.</a:t>
            </a:r>
          </a:p>
        </p:txBody>
      </p:sp>
      <p:sp>
        <p:nvSpPr>
          <p:cNvPr id="15" name="Rounded Rectangle 14"/>
          <p:cNvSpPr/>
          <p:nvPr/>
        </p:nvSpPr>
        <p:spPr>
          <a:xfrm>
            <a:off x="6213348" y="2809951"/>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809951"/>
            <a:ext cx="50292" cy="67878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947111"/>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983687"/>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883103"/>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Obtain and record formal stakeholder sign-off — informal agreement is not closure.</a:t>
            </a:r>
          </a:p>
        </p:txBody>
      </p:sp>
      <p:sp>
        <p:nvSpPr>
          <p:cNvPr id="20" name="Rounded Rectangle 19"/>
          <p:cNvSpPr/>
          <p:nvPr/>
        </p:nvSpPr>
        <p:spPr>
          <a:xfrm>
            <a:off x="56692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598468"/>
            <a:ext cx="50292" cy="67878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735628"/>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671620"/>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Confirm transition readiness: documentation, training and support arrangements for the receiving team.</a:t>
            </a:r>
          </a:p>
        </p:txBody>
      </p:sp>
      <p:sp>
        <p:nvSpPr>
          <p:cNvPr id="25" name="Rounded Rectangle 24"/>
          <p:cNvSpPr/>
          <p:nvPr/>
        </p:nvSpPr>
        <p:spPr>
          <a:xfrm>
            <a:off x="6213348" y="3598468"/>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598468"/>
            <a:ext cx="50292" cy="67878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735628"/>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772204"/>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671620"/>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Close all procurements, settle final payments and archive the contracts and financial records.</a:t>
            </a:r>
          </a:p>
        </p:txBody>
      </p:sp>
      <p:sp>
        <p:nvSpPr>
          <p:cNvPr id="30" name="Rounded Rectangle 29"/>
          <p:cNvSpPr/>
          <p:nvPr/>
        </p:nvSpPr>
        <p:spPr>
          <a:xfrm>
            <a:off x="56692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386986"/>
            <a:ext cx="50292" cy="678789"/>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524146"/>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460138"/>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Run the retrospective and write the lessons learned into the organisational repository, not just the project folder.</a:t>
            </a:r>
          </a:p>
        </p:txBody>
      </p:sp>
      <p:sp>
        <p:nvSpPr>
          <p:cNvPr id="35" name="Rounded Rectangle 34"/>
          <p:cNvSpPr/>
          <p:nvPr/>
        </p:nvSpPr>
        <p:spPr>
          <a:xfrm>
            <a:off x="6213348" y="4386986"/>
            <a:ext cx="5408676" cy="678789"/>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386986"/>
            <a:ext cx="50292" cy="678789"/>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524146"/>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560722"/>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460138"/>
            <a:ext cx="4713732" cy="532485"/>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Confirm the benefits measurement system is live and the benefits owner accepts accountability past project end.</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Closure checklist, Final report, Lessons learned register</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536</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HANDS-ON ACTIVITY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Lab 24. Capstone: Consolidated Project Plan and Mock Exam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23847"/>
            <a:ext cx="8321040" cy="548640"/>
          </a:xfrm>
          <a:prstGeom prst="rect">
            <a:avLst/>
          </a:prstGeom>
          <a:noFill/>
        </p:spPr>
        <p:txBody>
          <a:bodyPr wrap="square" anchor="t">
            <a:spAutoFit/>
          </a:bodyPr>
          <a:lstStyle/>
          <a:p>
            <a:pPr algn="l">
              <a:lnSpc>
                <a:spcPct val="118000"/>
              </a:lnSpc>
              <a:spcAft>
                <a:spcPts val="400"/>
              </a:spcAft>
            </a:pPr>
            <a:r>
              <a:rPr sz="1250" b="0" i="0">
                <a:solidFill>
                  <a:srgbClr val="161B26"/>
                </a:solidFill>
                <a:latin typeface="Arial"/>
              </a:rPr>
              <a:t>Case study: Contoso Training Portal Upgrade. All domains · LO1-LO5. Produces Consolidated project management plan, Mock exam score analysis by domain.</a:t>
            </a:r>
          </a:p>
        </p:txBody>
      </p:sp>
      <p:sp>
        <p:nvSpPr>
          <p:cNvPr id="8" name="Rounded Rectangle 7"/>
          <p:cNvSpPr/>
          <p:nvPr/>
        </p:nvSpPr>
        <p:spPr>
          <a:xfrm>
            <a:off x="9692640" y="1560423"/>
            <a:ext cx="1828800" cy="457200"/>
          </a:xfrm>
          <a:prstGeom prst="roundRect">
            <a:avLst>
              <a:gd name="adj" fmla="val 10000"/>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1651863"/>
            <a:ext cx="1828800" cy="292608"/>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105 min in class</a:t>
            </a:r>
          </a:p>
        </p:txBody>
      </p:sp>
      <p:sp>
        <p:nvSpPr>
          <p:cNvPr id="10" name="Rounded Rectangle 9"/>
          <p:cNvSpPr/>
          <p:nvPr/>
        </p:nvSpPr>
        <p:spPr>
          <a:xfrm>
            <a:off x="56692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328519"/>
            <a:ext cx="50292" cy="83926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2465679"/>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1</a:t>
            </a:r>
          </a:p>
        </p:txBody>
      </p:sp>
      <p:sp>
        <p:nvSpPr>
          <p:cNvPr id="14" name="TextBox 13"/>
          <p:cNvSpPr txBox="1"/>
          <p:nvPr/>
        </p:nvSpPr>
        <p:spPr>
          <a:xfrm>
            <a:off x="109728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Consolidate every artifact from Labs 01-23 into one integrated project management plan with a contents page.</a:t>
            </a:r>
          </a:p>
        </p:txBody>
      </p:sp>
      <p:sp>
        <p:nvSpPr>
          <p:cNvPr id="15" name="Rounded Rectangle 14"/>
          <p:cNvSpPr/>
          <p:nvPr/>
        </p:nvSpPr>
        <p:spPr>
          <a:xfrm>
            <a:off x="6213348" y="232851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3348" y="2328519"/>
            <a:ext cx="50292" cy="83926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2465679"/>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7940" y="250225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2</a:t>
            </a:r>
          </a:p>
        </p:txBody>
      </p:sp>
      <p:sp>
        <p:nvSpPr>
          <p:cNvPr id="19" name="TextBox 18"/>
          <p:cNvSpPr txBox="1"/>
          <p:nvPr/>
        </p:nvSpPr>
        <p:spPr>
          <a:xfrm>
            <a:off x="6743700" y="240167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Verify internal consistency: the WBS, schedule, budget, RACI and risk register must all describe the same project.</a:t>
            </a:r>
          </a:p>
        </p:txBody>
      </p:sp>
      <p:sp>
        <p:nvSpPr>
          <p:cNvPr id="20" name="Rounded Rectangle 19"/>
          <p:cNvSpPr/>
          <p:nvPr/>
        </p:nvSpPr>
        <p:spPr>
          <a:xfrm>
            <a:off x="56692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66928" y="3277514"/>
            <a:ext cx="50292" cy="83926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31520" y="341467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3</a:t>
            </a:r>
          </a:p>
        </p:txBody>
      </p:sp>
      <p:sp>
        <p:nvSpPr>
          <p:cNvPr id="24" name="TextBox 23"/>
          <p:cNvSpPr txBox="1"/>
          <p:nvPr/>
        </p:nvSpPr>
        <p:spPr>
          <a:xfrm>
            <a:off x="109728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Present the plan to the class as though to a steering committee, in ten minutes, defending your key trade-offs.</a:t>
            </a:r>
          </a:p>
        </p:txBody>
      </p:sp>
      <p:sp>
        <p:nvSpPr>
          <p:cNvPr id="25" name="Rounded Rectangle 24"/>
          <p:cNvSpPr/>
          <p:nvPr/>
        </p:nvSpPr>
        <p:spPr>
          <a:xfrm>
            <a:off x="6213348" y="3277514"/>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3348" y="3277514"/>
            <a:ext cx="50292" cy="83926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77940" y="3414674"/>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77940" y="3451250"/>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4</a:t>
            </a:r>
          </a:p>
        </p:txBody>
      </p:sp>
      <p:sp>
        <p:nvSpPr>
          <p:cNvPr id="29" name="TextBox 28"/>
          <p:cNvSpPr txBox="1"/>
          <p:nvPr/>
        </p:nvSpPr>
        <p:spPr>
          <a:xfrm>
            <a:off x="6743700" y="3350666"/>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Sit the full 180-question mock exam under timed conditions — 240 minutes, closed book, two breaks.</a:t>
            </a:r>
          </a:p>
        </p:txBody>
      </p:sp>
      <p:sp>
        <p:nvSpPr>
          <p:cNvPr id="30" name="Rounded Rectangle 29"/>
          <p:cNvSpPr/>
          <p:nvPr/>
        </p:nvSpPr>
        <p:spPr>
          <a:xfrm>
            <a:off x="56692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226509"/>
            <a:ext cx="50292" cy="839267"/>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31520" y="4363669"/>
            <a:ext cx="274320" cy="274320"/>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5</a:t>
            </a:r>
          </a:p>
        </p:txBody>
      </p:sp>
      <p:sp>
        <p:nvSpPr>
          <p:cNvPr id="34" name="TextBox 33"/>
          <p:cNvSpPr txBox="1"/>
          <p:nvPr/>
        </p:nvSpPr>
        <p:spPr>
          <a:xfrm>
            <a:off x="109728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Score the mock by ECO domain and compare against the 33/41/26 weighting to expose your weakest area.</a:t>
            </a:r>
          </a:p>
        </p:txBody>
      </p:sp>
      <p:sp>
        <p:nvSpPr>
          <p:cNvPr id="35" name="Rounded Rectangle 34"/>
          <p:cNvSpPr/>
          <p:nvPr/>
        </p:nvSpPr>
        <p:spPr>
          <a:xfrm>
            <a:off x="6213348" y="4226509"/>
            <a:ext cx="5408676" cy="839267"/>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13348" y="4226509"/>
            <a:ext cx="50292" cy="839267"/>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77940" y="4363669"/>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77940" y="4400245"/>
            <a:ext cx="274320" cy="237744"/>
          </a:xfrm>
          <a:prstGeom prst="rect">
            <a:avLst/>
          </a:prstGeom>
          <a:noFill/>
        </p:spPr>
        <p:txBody>
          <a:bodyPr wrap="square" anchor="t">
            <a:spAutoFit/>
          </a:bodyPr>
          <a:lstStyle/>
          <a:p>
            <a:pPr algn="ctr">
              <a:lnSpc>
                <a:spcPct val="100000"/>
              </a:lnSpc>
              <a:spcAft>
                <a:spcPts val="400"/>
              </a:spcAft>
            </a:pPr>
            <a:r>
              <a:rPr sz="1100" b="1" i="0">
                <a:solidFill>
                  <a:srgbClr val="FFFFFF"/>
                </a:solidFill>
                <a:latin typeface="Arial"/>
              </a:rPr>
              <a:t>6</a:t>
            </a:r>
          </a:p>
        </p:txBody>
      </p:sp>
      <p:sp>
        <p:nvSpPr>
          <p:cNvPr id="39" name="TextBox 38"/>
          <p:cNvSpPr txBox="1"/>
          <p:nvPr/>
        </p:nvSpPr>
        <p:spPr>
          <a:xfrm>
            <a:off x="6743700" y="4299661"/>
            <a:ext cx="4713732" cy="692963"/>
          </a:xfrm>
          <a:prstGeom prst="rect">
            <a:avLst/>
          </a:prstGeom>
          <a:noFill/>
        </p:spPr>
        <p:txBody>
          <a:bodyPr wrap="square" anchor="ctr">
            <a:spAutoFit/>
          </a:bodyPr>
          <a:lstStyle/>
          <a:p>
            <a:pPr algn="l">
              <a:lnSpc>
                <a:spcPct val="114000"/>
              </a:lnSpc>
              <a:spcAft>
                <a:spcPts val="400"/>
              </a:spcAft>
            </a:pPr>
            <a:r>
              <a:rPr sz="1150" b="0" i="0">
                <a:solidFill>
                  <a:srgbClr val="161B26"/>
                </a:solidFill>
                <a:latin typeface="Arial"/>
              </a:rPr>
              <a:t>Rewrite your Lab 01 study plan using the mock results, naming the specific topics to revisit before booking the exam.</a:t>
            </a:r>
          </a:p>
        </p:txBody>
      </p:sp>
      <p:sp>
        <p:nvSpPr>
          <p:cNvPr id="40" name="Rounded Rectangle 39"/>
          <p:cNvSpPr/>
          <p:nvPr/>
        </p:nvSpPr>
        <p:spPr>
          <a:xfrm>
            <a:off x="566928" y="5303520"/>
            <a:ext cx="7589520" cy="932688"/>
          </a:xfrm>
          <a:prstGeom prst="roundRect">
            <a:avLst>
              <a:gd name="adj" fmla="val 100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394960"/>
            <a:ext cx="7223760" cy="256032"/>
          </a:xfrm>
          <a:prstGeom prst="rect">
            <a:avLst/>
          </a:prstGeom>
          <a:noFill/>
        </p:spPr>
        <p:txBody>
          <a:bodyPr wrap="square" anchor="t">
            <a:spAutoFit/>
          </a:bodyPr>
          <a:lstStyle/>
          <a:p>
            <a:pPr algn="l">
              <a:lnSpc>
                <a:spcPct val="100000"/>
              </a:lnSpc>
              <a:spcAft>
                <a:spcPts val="400"/>
              </a:spcAft>
            </a:pPr>
            <a:r>
              <a:rPr sz="1000" b="1" i="0">
                <a:solidFill>
                  <a:srgbClr val="10B981"/>
                </a:solidFill>
                <a:latin typeface="Arial"/>
              </a:rPr>
              <a:t>DELIVERABLE</a:t>
            </a:r>
          </a:p>
        </p:txBody>
      </p:sp>
      <p:sp>
        <p:nvSpPr>
          <p:cNvPr id="42" name="TextBox 41"/>
          <p:cNvSpPr txBox="1"/>
          <p:nvPr/>
        </p:nvSpPr>
        <p:spPr>
          <a:xfrm>
            <a:off x="786384" y="5650992"/>
            <a:ext cx="7223760" cy="512064"/>
          </a:xfrm>
          <a:prstGeom prst="rect">
            <a:avLst/>
          </a:prstGeom>
          <a:noFill/>
        </p:spPr>
        <p:txBody>
          <a:bodyPr wrap="square" anchor="t">
            <a:spAutoFit/>
          </a:bodyPr>
          <a:lstStyle/>
          <a:p>
            <a:pPr algn="l">
              <a:lnSpc>
                <a:spcPct val="116000"/>
              </a:lnSpc>
              <a:spcAft>
                <a:spcPts val="400"/>
              </a:spcAft>
            </a:pPr>
            <a:r>
              <a:rPr sz="1200" b="0" i="0">
                <a:solidFill>
                  <a:srgbClr val="161B26"/>
                </a:solidFill>
                <a:latin typeface="Arial"/>
              </a:rPr>
              <a:t>Consolidated project management plan, Mock exam score analysis by domain</a:t>
            </a:r>
          </a:p>
        </p:txBody>
      </p:sp>
      <p:sp>
        <p:nvSpPr>
          <p:cNvPr id="43" name="TextBox 42"/>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4" name="TextBox 43"/>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5" name="TextBox 44"/>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537</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F6FEB"/>
                </a:solidFill>
                <a:latin typeface="Arial"/>
              </a:rPr>
              <a:t>EXAM SIMULATION</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Practice Exam</a:t>
            </a:r>
          </a:p>
        </p:txBody>
      </p:sp>
      <p:sp>
        <p:nvSpPr>
          <p:cNvPr id="4" name="Rectangle 3"/>
          <p:cNvSpPr/>
          <p:nvPr/>
        </p:nvSpPr>
        <p:spPr>
          <a:xfrm>
            <a:off x="566928" y="1194663"/>
            <a:ext cx="8229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432407"/>
            <a:ext cx="6949440" cy="4023360"/>
          </a:xfrm>
          <a:prstGeom prst="roundRect">
            <a:avLst>
              <a:gd name="adj" fmla="val 10000"/>
            </a:avLst>
          </a:prstGeom>
          <a:solidFill>
            <a:srgbClr val="FFFFFF"/>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432407"/>
            <a:ext cx="6949440" cy="475488"/>
          </a:xfrm>
          <a:prstGeom prst="rect">
            <a:avLst/>
          </a:prstGeom>
          <a:solidFill>
            <a:srgbClr val="161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606143"/>
            <a:ext cx="128016" cy="12801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50976" y="1606143"/>
            <a:ext cx="128016" cy="12801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70432" y="1606143"/>
            <a:ext cx="128016" cy="12801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72768" y="1551279"/>
            <a:ext cx="5669280" cy="237744"/>
          </a:xfrm>
          <a:prstGeom prst="roundRect">
            <a:avLst>
              <a:gd name="adj" fmla="val 10000"/>
            </a:avLst>
          </a:prstGeom>
          <a:solidFill>
            <a:srgbClr val="3A41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00784" y="1564995"/>
            <a:ext cx="5486400" cy="219456"/>
          </a:xfrm>
          <a:prstGeom prst="rect">
            <a:avLst/>
          </a:prstGeom>
          <a:noFill/>
        </p:spPr>
        <p:txBody>
          <a:bodyPr wrap="square" anchor="t">
            <a:spAutoFit/>
          </a:bodyPr>
          <a:lstStyle/>
          <a:p>
            <a:pPr algn="l">
              <a:lnSpc>
                <a:spcPct val="100000"/>
              </a:lnSpc>
              <a:spcAft>
                <a:spcPts val="400"/>
              </a:spcAft>
            </a:pPr>
            <a:r>
              <a:rPr sz="1050" b="0" i="0">
                <a:solidFill>
                  <a:srgbClr val="FFFFFF"/>
                </a:solidFill>
                <a:latin typeface="Arial"/>
              </a:rPr>
              <a:t>exams.tertiaryinfotech.com</a:t>
            </a:r>
          </a:p>
        </p:txBody>
      </p:sp>
      <p:sp>
        <p:nvSpPr>
          <p:cNvPr id="12" name="TextBox 11"/>
          <p:cNvSpPr txBox="1"/>
          <p:nvPr/>
        </p:nvSpPr>
        <p:spPr>
          <a:xfrm>
            <a:off x="877824" y="2218791"/>
            <a:ext cx="6309360" cy="402336"/>
          </a:xfrm>
          <a:prstGeom prst="rect">
            <a:avLst/>
          </a:prstGeom>
          <a:noFill/>
        </p:spPr>
        <p:txBody>
          <a:bodyPr wrap="square" anchor="t">
            <a:spAutoFit/>
          </a:bodyPr>
          <a:lstStyle/>
          <a:p>
            <a:pPr algn="l">
              <a:lnSpc>
                <a:spcPct val="100000"/>
              </a:lnSpc>
              <a:spcAft>
                <a:spcPts val="400"/>
              </a:spcAft>
            </a:pPr>
            <a:r>
              <a:rPr sz="2000" b="1" i="0">
                <a:solidFill>
                  <a:srgbClr val="161B26"/>
                </a:solidFill>
                <a:latin typeface="Arial"/>
              </a:rPr>
              <a:t>PMP Practice Examination</a:t>
            </a:r>
          </a:p>
        </p:txBody>
      </p:sp>
      <p:sp>
        <p:nvSpPr>
          <p:cNvPr id="13" name="TextBox 12"/>
          <p:cNvSpPr txBox="1"/>
          <p:nvPr/>
        </p:nvSpPr>
        <p:spPr>
          <a:xfrm>
            <a:off x="877824" y="2657703"/>
            <a:ext cx="6309360" cy="310896"/>
          </a:xfrm>
          <a:prstGeom prst="rect">
            <a:avLst/>
          </a:prstGeom>
          <a:noFill/>
        </p:spPr>
        <p:txBody>
          <a:bodyPr wrap="square" anchor="t">
            <a:spAutoFit/>
          </a:bodyPr>
          <a:lstStyle/>
          <a:p>
            <a:pPr algn="l">
              <a:lnSpc>
                <a:spcPct val="100000"/>
              </a:lnSpc>
              <a:spcAft>
                <a:spcPts val="400"/>
              </a:spcAft>
            </a:pPr>
            <a:r>
              <a:rPr sz="1250" b="0" i="0">
                <a:solidFill>
                  <a:srgbClr val="5B6372"/>
                </a:solidFill>
                <a:latin typeface="Arial"/>
              </a:rPr>
              <a:t>180 questions · 240 minutes · ECO 2026 weighting</a:t>
            </a:r>
          </a:p>
        </p:txBody>
      </p:sp>
      <p:sp>
        <p:nvSpPr>
          <p:cNvPr id="14" name="Rounded Rectangle 13"/>
          <p:cNvSpPr/>
          <p:nvPr/>
        </p:nvSpPr>
        <p:spPr>
          <a:xfrm>
            <a:off x="877824" y="3133191"/>
            <a:ext cx="6309360" cy="5669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42416" y="3279495"/>
            <a:ext cx="4206240" cy="292608"/>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People</a:t>
            </a:r>
          </a:p>
        </p:txBody>
      </p:sp>
      <p:sp>
        <p:nvSpPr>
          <p:cNvPr id="16" name="TextBox 15"/>
          <p:cNvSpPr txBox="1"/>
          <p:nvPr/>
        </p:nvSpPr>
        <p:spPr>
          <a:xfrm>
            <a:off x="5687568" y="3279495"/>
            <a:ext cx="1280160" cy="292608"/>
          </a:xfrm>
          <a:prstGeom prst="rect">
            <a:avLst/>
          </a:prstGeom>
          <a:noFill/>
        </p:spPr>
        <p:txBody>
          <a:bodyPr wrap="square" anchor="t">
            <a:spAutoFit/>
          </a:bodyPr>
          <a:lstStyle/>
          <a:p>
            <a:pPr algn="r">
              <a:lnSpc>
                <a:spcPct val="100000"/>
              </a:lnSpc>
              <a:spcAft>
                <a:spcPts val="400"/>
              </a:spcAft>
            </a:pPr>
            <a:r>
              <a:rPr sz="1250" b="1" i="0">
                <a:solidFill>
                  <a:srgbClr val="1F6FEB"/>
                </a:solidFill>
                <a:latin typeface="Arial"/>
              </a:rPr>
              <a:t>33%</a:t>
            </a:r>
          </a:p>
        </p:txBody>
      </p:sp>
      <p:sp>
        <p:nvSpPr>
          <p:cNvPr id="17" name="Rounded Rectangle 16"/>
          <p:cNvSpPr/>
          <p:nvPr/>
        </p:nvSpPr>
        <p:spPr>
          <a:xfrm>
            <a:off x="877824" y="3809847"/>
            <a:ext cx="6309360" cy="5669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3956151"/>
            <a:ext cx="4206240" cy="292608"/>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Process</a:t>
            </a:r>
          </a:p>
        </p:txBody>
      </p:sp>
      <p:sp>
        <p:nvSpPr>
          <p:cNvPr id="19" name="TextBox 18"/>
          <p:cNvSpPr txBox="1"/>
          <p:nvPr/>
        </p:nvSpPr>
        <p:spPr>
          <a:xfrm>
            <a:off x="5687568" y="3956151"/>
            <a:ext cx="1280160" cy="292608"/>
          </a:xfrm>
          <a:prstGeom prst="rect">
            <a:avLst/>
          </a:prstGeom>
          <a:noFill/>
        </p:spPr>
        <p:txBody>
          <a:bodyPr wrap="square" anchor="t">
            <a:spAutoFit/>
          </a:bodyPr>
          <a:lstStyle/>
          <a:p>
            <a:pPr algn="r">
              <a:lnSpc>
                <a:spcPct val="100000"/>
              </a:lnSpc>
              <a:spcAft>
                <a:spcPts val="400"/>
              </a:spcAft>
            </a:pPr>
            <a:r>
              <a:rPr sz="1250" b="1" i="0">
                <a:solidFill>
                  <a:srgbClr val="10B981"/>
                </a:solidFill>
                <a:latin typeface="Arial"/>
              </a:rPr>
              <a:t>41%</a:t>
            </a:r>
          </a:p>
        </p:txBody>
      </p:sp>
      <p:sp>
        <p:nvSpPr>
          <p:cNvPr id="20" name="Rounded Rectangle 19"/>
          <p:cNvSpPr/>
          <p:nvPr/>
        </p:nvSpPr>
        <p:spPr>
          <a:xfrm>
            <a:off x="877824" y="4486503"/>
            <a:ext cx="6309360" cy="5669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2416" y="4632807"/>
            <a:ext cx="4206240" cy="292608"/>
          </a:xfrm>
          <a:prstGeom prst="rect">
            <a:avLst/>
          </a:prstGeom>
          <a:noFill/>
        </p:spPr>
        <p:txBody>
          <a:bodyPr wrap="square" anchor="t">
            <a:spAutoFit/>
          </a:bodyPr>
          <a:lstStyle/>
          <a:p>
            <a:pPr algn="l">
              <a:lnSpc>
                <a:spcPct val="100000"/>
              </a:lnSpc>
              <a:spcAft>
                <a:spcPts val="400"/>
              </a:spcAft>
            </a:pPr>
            <a:r>
              <a:rPr sz="1250" b="1" i="0">
                <a:solidFill>
                  <a:srgbClr val="161B26"/>
                </a:solidFill>
                <a:latin typeface="Arial"/>
              </a:rPr>
              <a:t>Business Environment</a:t>
            </a:r>
          </a:p>
        </p:txBody>
      </p:sp>
      <p:sp>
        <p:nvSpPr>
          <p:cNvPr id="22" name="TextBox 21"/>
          <p:cNvSpPr txBox="1"/>
          <p:nvPr/>
        </p:nvSpPr>
        <p:spPr>
          <a:xfrm>
            <a:off x="5687568" y="4632807"/>
            <a:ext cx="1280160" cy="292608"/>
          </a:xfrm>
          <a:prstGeom prst="rect">
            <a:avLst/>
          </a:prstGeom>
          <a:noFill/>
        </p:spPr>
        <p:txBody>
          <a:bodyPr wrap="square" anchor="t">
            <a:spAutoFit/>
          </a:bodyPr>
          <a:lstStyle/>
          <a:p>
            <a:pPr algn="r">
              <a:lnSpc>
                <a:spcPct val="100000"/>
              </a:lnSpc>
              <a:spcAft>
                <a:spcPts val="400"/>
              </a:spcAft>
            </a:pPr>
            <a:r>
              <a:rPr sz="1250" b="1" i="0">
                <a:solidFill>
                  <a:srgbClr val="7C3AED"/>
                </a:solidFill>
                <a:latin typeface="Arial"/>
              </a:rPr>
              <a:t>26%</a:t>
            </a:r>
          </a:p>
        </p:txBody>
      </p:sp>
      <p:sp>
        <p:nvSpPr>
          <p:cNvPr id="23" name="Rounded Rectangle 22"/>
          <p:cNvSpPr/>
          <p:nvPr/>
        </p:nvSpPr>
        <p:spPr>
          <a:xfrm>
            <a:off x="7790688" y="1432407"/>
            <a:ext cx="3831336" cy="89611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90688" y="1432407"/>
            <a:ext cx="50292" cy="89611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91856" y="1505559"/>
            <a:ext cx="3465576" cy="274320"/>
          </a:xfrm>
          <a:prstGeom prst="rect">
            <a:avLst/>
          </a:prstGeom>
          <a:noFill/>
        </p:spPr>
        <p:txBody>
          <a:bodyPr wrap="square" anchor="t">
            <a:spAutoFit/>
          </a:bodyPr>
          <a:lstStyle/>
          <a:p>
            <a:pPr algn="l">
              <a:lnSpc>
                <a:spcPct val="100000"/>
              </a:lnSpc>
              <a:spcAft>
                <a:spcPts val="400"/>
              </a:spcAft>
            </a:pPr>
            <a:r>
              <a:rPr sz="1250" b="1" i="0">
                <a:solidFill>
                  <a:srgbClr val="1F6FEB"/>
                </a:solidFill>
                <a:latin typeface="Arial"/>
              </a:rPr>
              <a:t>Sit it under exam conditions</a:t>
            </a:r>
          </a:p>
        </p:txBody>
      </p:sp>
      <p:sp>
        <p:nvSpPr>
          <p:cNvPr id="26" name="TextBox 25"/>
          <p:cNvSpPr txBox="1"/>
          <p:nvPr/>
        </p:nvSpPr>
        <p:spPr>
          <a:xfrm>
            <a:off x="7991856" y="1798167"/>
            <a:ext cx="3465576" cy="457200"/>
          </a:xfrm>
          <a:prstGeom prst="rect">
            <a:avLst/>
          </a:prstGeom>
          <a:noFill/>
        </p:spPr>
        <p:txBody>
          <a:bodyPr wrap="square" anchor="t">
            <a:spAutoFit/>
          </a:bodyPr>
          <a:lstStyle/>
          <a:p>
            <a:pPr algn="l">
              <a:lnSpc>
                <a:spcPct val="116000"/>
              </a:lnSpc>
              <a:spcAft>
                <a:spcPts val="400"/>
              </a:spcAft>
            </a:pPr>
            <a:r>
              <a:rPr sz="1100" b="0" i="0">
                <a:solidFill>
                  <a:srgbClr val="161B26"/>
                </a:solidFill>
                <a:latin typeface="Arial"/>
              </a:rPr>
              <a:t>Four hours, no notes, no phone — the timing pressure is what you are actually practising.</a:t>
            </a:r>
          </a:p>
        </p:txBody>
      </p:sp>
      <p:sp>
        <p:nvSpPr>
          <p:cNvPr id="27" name="Rounded Rectangle 26"/>
          <p:cNvSpPr/>
          <p:nvPr/>
        </p:nvSpPr>
        <p:spPr>
          <a:xfrm>
            <a:off x="7790688" y="2474823"/>
            <a:ext cx="3831336" cy="89611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90688" y="2474823"/>
            <a:ext cx="50292" cy="8961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6" y="2547975"/>
            <a:ext cx="3465576" cy="274320"/>
          </a:xfrm>
          <a:prstGeom prst="rect">
            <a:avLst/>
          </a:prstGeom>
          <a:noFill/>
        </p:spPr>
        <p:txBody>
          <a:bodyPr wrap="square" anchor="t">
            <a:spAutoFit/>
          </a:bodyPr>
          <a:lstStyle/>
          <a:p>
            <a:pPr algn="l">
              <a:lnSpc>
                <a:spcPct val="100000"/>
              </a:lnSpc>
              <a:spcAft>
                <a:spcPts val="400"/>
              </a:spcAft>
            </a:pPr>
            <a:r>
              <a:rPr sz="1250" b="1" i="0">
                <a:solidFill>
                  <a:srgbClr val="10B981"/>
                </a:solidFill>
                <a:latin typeface="Arial"/>
              </a:rPr>
              <a:t>Review by domain, not by score</a:t>
            </a:r>
          </a:p>
        </p:txBody>
      </p:sp>
      <p:sp>
        <p:nvSpPr>
          <p:cNvPr id="30" name="TextBox 29"/>
          <p:cNvSpPr txBox="1"/>
          <p:nvPr/>
        </p:nvSpPr>
        <p:spPr>
          <a:xfrm>
            <a:off x="7991856" y="2840583"/>
            <a:ext cx="3465576" cy="457200"/>
          </a:xfrm>
          <a:prstGeom prst="rect">
            <a:avLst/>
          </a:prstGeom>
          <a:noFill/>
        </p:spPr>
        <p:txBody>
          <a:bodyPr wrap="square" anchor="t">
            <a:spAutoFit/>
          </a:bodyPr>
          <a:lstStyle/>
          <a:p>
            <a:pPr algn="l">
              <a:lnSpc>
                <a:spcPct val="116000"/>
              </a:lnSpc>
              <a:spcAft>
                <a:spcPts val="400"/>
              </a:spcAft>
            </a:pPr>
            <a:r>
              <a:rPr sz="1100" b="0" i="0">
                <a:solidFill>
                  <a:srgbClr val="161B26"/>
                </a:solidFill>
                <a:latin typeface="Arial"/>
              </a:rPr>
              <a:t>Your weakest domain tells you where the remaining study time should go.</a:t>
            </a:r>
          </a:p>
        </p:txBody>
      </p:sp>
      <p:sp>
        <p:nvSpPr>
          <p:cNvPr id="31" name="Rounded Rectangle 30"/>
          <p:cNvSpPr/>
          <p:nvPr/>
        </p:nvSpPr>
        <p:spPr>
          <a:xfrm>
            <a:off x="7790688" y="3517239"/>
            <a:ext cx="3831336" cy="89611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90688" y="3517239"/>
            <a:ext cx="50292" cy="89611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91856" y="3590391"/>
            <a:ext cx="3465576" cy="274320"/>
          </a:xfrm>
          <a:prstGeom prst="rect">
            <a:avLst/>
          </a:prstGeom>
          <a:noFill/>
        </p:spPr>
        <p:txBody>
          <a:bodyPr wrap="square" anchor="t">
            <a:spAutoFit/>
          </a:bodyPr>
          <a:lstStyle/>
          <a:p>
            <a:pPr algn="l">
              <a:lnSpc>
                <a:spcPct val="100000"/>
              </a:lnSpc>
              <a:spcAft>
                <a:spcPts val="400"/>
              </a:spcAft>
            </a:pPr>
            <a:r>
              <a:rPr sz="1250" b="1" i="0">
                <a:solidFill>
                  <a:srgbClr val="7C3AED"/>
                </a:solidFill>
                <a:latin typeface="Arial"/>
              </a:rPr>
              <a:t>Practise the new question types</a:t>
            </a:r>
          </a:p>
        </p:txBody>
      </p:sp>
      <p:sp>
        <p:nvSpPr>
          <p:cNvPr id="34" name="TextBox 33"/>
          <p:cNvSpPr txBox="1"/>
          <p:nvPr/>
        </p:nvSpPr>
        <p:spPr>
          <a:xfrm>
            <a:off x="7991856" y="3882999"/>
            <a:ext cx="3465576" cy="457200"/>
          </a:xfrm>
          <a:prstGeom prst="rect">
            <a:avLst/>
          </a:prstGeom>
          <a:noFill/>
        </p:spPr>
        <p:txBody>
          <a:bodyPr wrap="square" anchor="t">
            <a:spAutoFit/>
          </a:bodyPr>
          <a:lstStyle/>
          <a:p>
            <a:pPr algn="l">
              <a:lnSpc>
                <a:spcPct val="116000"/>
              </a:lnSpc>
              <a:spcAft>
                <a:spcPts val="400"/>
              </a:spcAft>
            </a:pPr>
            <a:r>
              <a:rPr sz="1100" b="0" i="0">
                <a:solidFill>
                  <a:srgbClr val="161B26"/>
                </a:solidFill>
                <a:latin typeface="Arial"/>
              </a:rPr>
              <a:t>Graphic-based and case-study items behave differently from plain multiple choice.</a:t>
            </a:r>
          </a:p>
        </p:txBody>
      </p:sp>
      <p:sp>
        <p:nvSpPr>
          <p:cNvPr id="35" name="Rounded Rectangle 34"/>
          <p:cNvSpPr/>
          <p:nvPr/>
        </p:nvSpPr>
        <p:spPr>
          <a:xfrm>
            <a:off x="7790688" y="4559655"/>
            <a:ext cx="3831336" cy="896112"/>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90688" y="4559655"/>
            <a:ext cx="50292" cy="89611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91856" y="4632807"/>
            <a:ext cx="3465576" cy="274320"/>
          </a:xfrm>
          <a:prstGeom prst="rect">
            <a:avLst/>
          </a:prstGeom>
          <a:noFill/>
        </p:spPr>
        <p:txBody>
          <a:bodyPr wrap="square" anchor="t">
            <a:spAutoFit/>
          </a:bodyPr>
          <a:lstStyle/>
          <a:p>
            <a:pPr algn="l">
              <a:lnSpc>
                <a:spcPct val="100000"/>
              </a:lnSpc>
              <a:spcAft>
                <a:spcPts val="400"/>
              </a:spcAft>
            </a:pPr>
            <a:r>
              <a:rPr sz="1250" b="1" i="0">
                <a:solidFill>
                  <a:srgbClr val="F59E0B"/>
                </a:solidFill>
                <a:latin typeface="Arial"/>
              </a:rPr>
              <a:t>Repeat until consistent</a:t>
            </a:r>
          </a:p>
        </p:txBody>
      </p:sp>
      <p:sp>
        <p:nvSpPr>
          <p:cNvPr id="38" name="TextBox 37"/>
          <p:cNvSpPr txBox="1"/>
          <p:nvPr/>
        </p:nvSpPr>
        <p:spPr>
          <a:xfrm>
            <a:off x="7991856" y="4925415"/>
            <a:ext cx="3465576" cy="457200"/>
          </a:xfrm>
          <a:prstGeom prst="rect">
            <a:avLst/>
          </a:prstGeom>
          <a:noFill/>
        </p:spPr>
        <p:txBody>
          <a:bodyPr wrap="square" anchor="t">
            <a:spAutoFit/>
          </a:bodyPr>
          <a:lstStyle/>
          <a:p>
            <a:pPr algn="l">
              <a:lnSpc>
                <a:spcPct val="116000"/>
              </a:lnSpc>
              <a:spcAft>
                <a:spcPts val="400"/>
              </a:spcAft>
            </a:pPr>
            <a:r>
              <a:rPr sz="1100" b="0" i="0">
                <a:solidFill>
                  <a:srgbClr val="161B26"/>
                </a:solidFill>
                <a:latin typeface="Arial"/>
              </a:rPr>
              <a:t>Aim for three full mocks at a stable pass standard before you book the real exam.</a:t>
            </a:r>
          </a:p>
        </p:txBody>
      </p:sp>
      <p:sp>
        <p:nvSpPr>
          <p:cNvPr id="39" name="Rounded Rectangle 38"/>
          <p:cNvSpPr/>
          <p:nvPr/>
        </p:nvSpPr>
        <p:spPr>
          <a:xfrm>
            <a:off x="566928" y="5577840"/>
            <a:ext cx="11055096" cy="713232"/>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5577840"/>
            <a:ext cx="59436"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5687568"/>
            <a:ext cx="10597896" cy="512064"/>
          </a:xfrm>
          <a:prstGeom prst="rect">
            <a:avLst/>
          </a:prstGeom>
          <a:noFill/>
        </p:spPr>
        <p:txBody>
          <a:bodyPr wrap="square" anchor="t">
            <a:spAutoFit/>
          </a:bodyPr>
          <a:lstStyle/>
          <a:p>
            <a:pPr algn="l">
              <a:lnSpc>
                <a:spcPct val="118000"/>
              </a:lnSpc>
              <a:spcAft>
                <a:spcPts val="400"/>
              </a:spcAft>
            </a:pPr>
            <a:r>
              <a:rPr sz="1200" b="0" i="0">
                <a:solidFill>
                  <a:srgbClr val="161B26"/>
                </a:solidFill>
                <a:latin typeface="Arial"/>
              </a:rPr>
              <a:t>Access the practice exams at exams.tertiaryinfotech.com using the credentials issued on Day 1. Your attempts and domain-level scores are saved to your learner record.</a:t>
            </a:r>
          </a:p>
        </p:txBody>
      </p:sp>
      <p:sp>
        <p:nvSpPr>
          <p:cNvPr id="42" name="TextBox 4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3" name="TextBox 4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4" name="TextBox 4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538</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10B981"/>
                </a:solidFill>
                <a:latin typeface="Arial"/>
              </a:rPr>
              <a:t>AFTER THE COURSE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Your Next 90 Days</a:t>
            </a:r>
          </a:p>
        </p:txBody>
      </p:sp>
      <p:sp>
        <p:nvSpPr>
          <p:cNvPr id="4" name="Rectangle 3"/>
          <p:cNvSpPr/>
          <p:nvPr/>
        </p:nvSpPr>
        <p:spPr>
          <a:xfrm>
            <a:off x="566928" y="1194663"/>
            <a:ext cx="822960" cy="502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5626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7571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Submit the PMI application</a:t>
            </a:r>
          </a:p>
        </p:txBody>
      </p:sp>
      <p:sp>
        <p:nvSpPr>
          <p:cNvPr id="10" name="TextBox 9"/>
          <p:cNvSpPr txBox="1"/>
          <p:nvPr/>
        </p:nvSpPr>
        <p:spPr>
          <a:xfrm>
            <a:off x="76809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Use this course for the 35 contact hours; document your project experience against the eligibility rules.</a:t>
            </a:r>
          </a:p>
        </p:txBody>
      </p:sp>
      <p:sp>
        <p:nvSpPr>
          <p:cNvPr id="11" name="Rounded Rectangle 10"/>
          <p:cNvSpPr/>
          <p:nvPr/>
        </p:nvSpPr>
        <p:spPr>
          <a:xfrm>
            <a:off x="433120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5626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7571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Build a study schedule</a:t>
            </a:r>
          </a:p>
        </p:txBody>
      </p:sp>
      <p:sp>
        <p:nvSpPr>
          <p:cNvPr id="16" name="TextBox 15"/>
          <p:cNvSpPr txBox="1"/>
          <p:nvPr/>
        </p:nvSpPr>
        <p:spPr>
          <a:xfrm>
            <a:off x="453237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Plan 8–10 weeks of study, weighting your time by the domain percentages: Process 41%, People 33%, Business Environment 26%.</a:t>
            </a:r>
          </a:p>
        </p:txBody>
      </p:sp>
      <p:sp>
        <p:nvSpPr>
          <p:cNvPr id="17" name="Rounded Rectangle 16"/>
          <p:cNvSpPr/>
          <p:nvPr/>
        </p:nvSpPr>
        <p:spPr>
          <a:xfrm>
            <a:off x="8095488" y="185626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5626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7571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11229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5742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Practise by question type</a:t>
            </a:r>
          </a:p>
        </p:txBody>
      </p:sp>
      <p:sp>
        <p:nvSpPr>
          <p:cNvPr id="22" name="TextBox 21"/>
          <p:cNvSpPr txBox="1"/>
          <p:nvPr/>
        </p:nvSpPr>
        <p:spPr>
          <a:xfrm>
            <a:off x="8296656" y="247805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Drill the new graphic-based and case-study formats, not just multiple choice.</a:t>
            </a:r>
          </a:p>
        </p:txBody>
      </p:sp>
      <p:sp>
        <p:nvSpPr>
          <p:cNvPr id="23" name="Rounded Rectangle 22"/>
          <p:cNvSpPr/>
          <p:nvPr/>
        </p:nvSpPr>
        <p:spPr>
          <a:xfrm>
            <a:off x="56692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Re-run the labs at work</a:t>
            </a:r>
          </a:p>
        </p:txBody>
      </p:sp>
      <p:sp>
        <p:nvSpPr>
          <p:cNvPr id="28" name="TextBox 27"/>
          <p:cNvSpPr txBox="1"/>
          <p:nvPr/>
        </p:nvSpPr>
        <p:spPr>
          <a:xfrm>
            <a:off x="76809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Apply the charter, WBS, EVM and control-chart labs to a live project to consolidate the learning.</a:t>
            </a:r>
          </a:p>
        </p:txBody>
      </p:sp>
      <p:sp>
        <p:nvSpPr>
          <p:cNvPr id="29" name="Rounded Rectangle 28"/>
          <p:cNvSpPr/>
          <p:nvPr/>
        </p:nvSpPr>
        <p:spPr>
          <a:xfrm>
            <a:off x="433120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Take full mock exams</a:t>
            </a:r>
          </a:p>
        </p:txBody>
      </p:sp>
      <p:sp>
        <p:nvSpPr>
          <p:cNvPr id="34" name="TextBox 33"/>
          <p:cNvSpPr txBox="1"/>
          <p:nvPr/>
        </p:nvSpPr>
        <p:spPr>
          <a:xfrm>
            <a:off x="453237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Sit at least three timed 180-question mocks under exam conditions before booking.</a:t>
            </a:r>
          </a:p>
        </p:txBody>
      </p:sp>
      <p:sp>
        <p:nvSpPr>
          <p:cNvPr id="35" name="Rounded Rectangle 34"/>
          <p:cNvSpPr/>
          <p:nvPr/>
        </p:nvSpPr>
        <p:spPr>
          <a:xfrm>
            <a:off x="8095488" y="3980611"/>
            <a:ext cx="3526536" cy="188660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Maintain your certification</a:t>
            </a:r>
          </a:p>
        </p:txBody>
      </p:sp>
      <p:sp>
        <p:nvSpPr>
          <p:cNvPr id="40" name="TextBox 39"/>
          <p:cNvSpPr txBox="1"/>
          <p:nvPr/>
        </p:nvSpPr>
        <p:spPr>
          <a:xfrm>
            <a:off x="8296656" y="4602403"/>
            <a:ext cx="3124200" cy="1136798"/>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CCR programme requires 60 PDUs every three years once you are certified.</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539</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7C3AED"/>
                </a:solidFill>
                <a:latin typeface="Arial"/>
              </a:rPr>
              <a:t>CONTINUE YOUR PATHWAY</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Recommended Courses</a:t>
            </a:r>
          </a:p>
        </p:txBody>
      </p:sp>
      <p:sp>
        <p:nvSpPr>
          <p:cNvPr id="4" name="Rectangle 3"/>
          <p:cNvSpPr/>
          <p:nvPr/>
        </p:nvSpPr>
        <p:spPr>
          <a:xfrm>
            <a:off x="566928" y="1194663"/>
            <a:ext cx="822960" cy="502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799511"/>
            <a:ext cx="3526536" cy="194335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799511"/>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18967"/>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555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006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WSQ — Fundamentals of Microsoft Project</a:t>
            </a:r>
          </a:p>
        </p:txBody>
      </p:sp>
      <p:sp>
        <p:nvSpPr>
          <p:cNvPr id="10" name="TextBox 9"/>
          <p:cNvSpPr txBox="1"/>
          <p:nvPr/>
        </p:nvSpPr>
        <p:spPr>
          <a:xfrm>
            <a:off x="768096" y="2659047"/>
            <a:ext cx="3124200" cy="95580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Build and control real schedules, baselines and resource plans in MS Project.</a:t>
            </a:r>
          </a:p>
        </p:txBody>
      </p:sp>
      <p:sp>
        <p:nvSpPr>
          <p:cNvPr id="11" name="Rounded Rectangle 10"/>
          <p:cNvSpPr/>
          <p:nvPr/>
        </p:nvSpPr>
        <p:spPr>
          <a:xfrm>
            <a:off x="4331208" y="1799511"/>
            <a:ext cx="3526536" cy="194335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799511"/>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18967"/>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555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006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WSQ — Effective Project Management for Small Projects</a:t>
            </a:r>
          </a:p>
        </p:txBody>
      </p:sp>
      <p:sp>
        <p:nvSpPr>
          <p:cNvPr id="16" name="TextBox 15"/>
          <p:cNvSpPr txBox="1"/>
          <p:nvPr/>
        </p:nvSpPr>
        <p:spPr>
          <a:xfrm>
            <a:off x="4532376" y="2659047"/>
            <a:ext cx="3124200" cy="95580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A lighter-weight toolkit for projects that do not warrant full PMP rigour.</a:t>
            </a:r>
          </a:p>
        </p:txBody>
      </p:sp>
      <p:sp>
        <p:nvSpPr>
          <p:cNvPr id="17" name="Rounded Rectangle 16"/>
          <p:cNvSpPr/>
          <p:nvPr/>
        </p:nvSpPr>
        <p:spPr>
          <a:xfrm>
            <a:off x="8095488" y="1799511"/>
            <a:ext cx="3526536" cy="194335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799511"/>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1896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555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006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WSQ — Certified Lean Six Sigma Green Belt</a:t>
            </a:r>
          </a:p>
        </p:txBody>
      </p:sp>
      <p:sp>
        <p:nvSpPr>
          <p:cNvPr id="22" name="TextBox 21"/>
          <p:cNvSpPr txBox="1"/>
          <p:nvPr/>
        </p:nvSpPr>
        <p:spPr>
          <a:xfrm>
            <a:off x="8296656" y="2659047"/>
            <a:ext cx="3124200" cy="95580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Go deeper on DMAIC, SPC and the statistical quality tools introduced here.</a:t>
            </a:r>
          </a:p>
        </p:txBody>
      </p:sp>
      <p:sp>
        <p:nvSpPr>
          <p:cNvPr id="23" name="Rounded Rectangle 22"/>
          <p:cNvSpPr/>
          <p:nvPr/>
        </p:nvSpPr>
        <p:spPr>
          <a:xfrm>
            <a:off x="566928" y="3980611"/>
            <a:ext cx="3526536" cy="194335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WSQ — Agile Project Management with Scrum</a:t>
            </a:r>
          </a:p>
        </p:txBody>
      </p:sp>
      <p:sp>
        <p:nvSpPr>
          <p:cNvPr id="28" name="TextBox 27"/>
          <p:cNvSpPr txBox="1"/>
          <p:nvPr/>
        </p:nvSpPr>
        <p:spPr>
          <a:xfrm>
            <a:off x="768096" y="4840147"/>
            <a:ext cx="3124200" cy="95580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Extend the adaptive content into full Scrum practice and certification.</a:t>
            </a:r>
          </a:p>
        </p:txBody>
      </p:sp>
      <p:sp>
        <p:nvSpPr>
          <p:cNvPr id="29" name="Rounded Rectangle 28"/>
          <p:cNvSpPr/>
          <p:nvPr/>
        </p:nvSpPr>
        <p:spPr>
          <a:xfrm>
            <a:off x="4331208" y="3980611"/>
            <a:ext cx="3526536" cy="194335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WSQ — Business Analysis Fundamentals</a:t>
            </a:r>
          </a:p>
        </p:txBody>
      </p:sp>
      <p:sp>
        <p:nvSpPr>
          <p:cNvPr id="34" name="TextBox 33"/>
          <p:cNvSpPr txBox="1"/>
          <p:nvPr/>
        </p:nvSpPr>
        <p:spPr>
          <a:xfrm>
            <a:off x="4532376" y="4840147"/>
            <a:ext cx="3124200" cy="95580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Strengthen requirements elicitation, traceability and stakeholder analysis.</a:t>
            </a:r>
          </a:p>
        </p:txBody>
      </p:sp>
      <p:sp>
        <p:nvSpPr>
          <p:cNvPr id="35" name="Rounded Rectangle 34"/>
          <p:cNvSpPr/>
          <p:nvPr/>
        </p:nvSpPr>
        <p:spPr>
          <a:xfrm>
            <a:off x="8095488" y="3980611"/>
            <a:ext cx="3526536" cy="1943356"/>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WSQ — Data Analytics for Managers</a:t>
            </a:r>
          </a:p>
        </p:txBody>
      </p:sp>
      <p:sp>
        <p:nvSpPr>
          <p:cNvPr id="40" name="TextBox 39"/>
          <p:cNvSpPr txBox="1"/>
          <p:nvPr/>
        </p:nvSpPr>
        <p:spPr>
          <a:xfrm>
            <a:off x="8296656" y="4840147"/>
            <a:ext cx="3124200" cy="955804"/>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Turn project and operational data into the metrics your governance board wants.</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540</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06B6D4"/>
                </a:solidFill>
                <a:latin typeface="Arial"/>
              </a:rPr>
              <a:t>WE ARE HERE TO HELP</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Support</a:t>
            </a:r>
          </a:p>
        </p:txBody>
      </p:sp>
      <p:sp>
        <p:nvSpPr>
          <p:cNvPr id="4" name="Rectangle 3"/>
          <p:cNvSpPr/>
          <p:nvPr/>
        </p:nvSpPr>
        <p:spPr>
          <a:xfrm>
            <a:off x="566928" y="1194663"/>
            <a:ext cx="822960" cy="502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2088919"/>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30837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Email</a:t>
            </a:r>
          </a:p>
        </p:txBody>
      </p:sp>
      <p:sp>
        <p:nvSpPr>
          <p:cNvPr id="10" name="TextBox 9"/>
          <p:cNvSpPr txBox="1"/>
          <p:nvPr/>
        </p:nvSpPr>
        <p:spPr>
          <a:xfrm>
            <a:off x="76809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enquiry@tertiaryinfotech.com — for course, certificate and funding queries.</a:t>
            </a:r>
          </a:p>
        </p:txBody>
      </p:sp>
      <p:sp>
        <p:nvSpPr>
          <p:cNvPr id="11" name="Rounded Rectangle 10"/>
          <p:cNvSpPr/>
          <p:nvPr/>
        </p:nvSpPr>
        <p:spPr>
          <a:xfrm>
            <a:off x="433120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2088919"/>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308375"/>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Telephone</a:t>
            </a:r>
          </a:p>
        </p:txBody>
      </p:sp>
      <p:sp>
        <p:nvSpPr>
          <p:cNvPr id="16" name="TextBox 15"/>
          <p:cNvSpPr txBox="1"/>
          <p:nvPr/>
        </p:nvSpPr>
        <p:spPr>
          <a:xfrm>
            <a:off x="453237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6100 0613 — office hours, Monday to Friday.</a:t>
            </a:r>
          </a:p>
        </p:txBody>
      </p:sp>
      <p:sp>
        <p:nvSpPr>
          <p:cNvPr id="17" name="Rounded Rectangle 16"/>
          <p:cNvSpPr/>
          <p:nvPr/>
        </p:nvSpPr>
        <p:spPr>
          <a:xfrm>
            <a:off x="8095488" y="2088919"/>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2088919"/>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308375"/>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344951"/>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290087"/>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LMS / TMS</a:t>
            </a:r>
          </a:p>
        </p:txBody>
      </p:sp>
      <p:sp>
        <p:nvSpPr>
          <p:cNvPr id="22" name="TextBox 21"/>
          <p:cNvSpPr txBox="1"/>
          <p:nvPr/>
        </p:nvSpPr>
        <p:spPr>
          <a:xfrm>
            <a:off x="8296656" y="2710711"/>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lms-tms.tertiaryinfotech.com — slides, learner guide, labs and your completion record.</a:t>
            </a:r>
          </a:p>
        </p:txBody>
      </p:sp>
      <p:sp>
        <p:nvSpPr>
          <p:cNvPr id="23" name="Rounded Rectangle 22"/>
          <p:cNvSpPr/>
          <p:nvPr/>
        </p:nvSpPr>
        <p:spPr>
          <a:xfrm>
            <a:off x="56692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Problem-solving tools</a:t>
            </a:r>
          </a:p>
        </p:txBody>
      </p:sp>
      <p:sp>
        <p:nvSpPr>
          <p:cNvPr id="28" name="TextBox 27"/>
          <p:cNvSpPr txBox="1"/>
          <p:nvPr/>
        </p:nvSpPr>
        <p:spPr>
          <a:xfrm>
            <a:off x="76809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The live 5 Whys, Fishbone, Pareto, SPC and Statistics tools stay available to you after the course.</a:t>
            </a:r>
          </a:p>
        </p:txBody>
      </p:sp>
      <p:sp>
        <p:nvSpPr>
          <p:cNvPr id="29" name="Rounded Rectangle 28"/>
          <p:cNvSpPr/>
          <p:nvPr/>
        </p:nvSpPr>
        <p:spPr>
          <a:xfrm>
            <a:off x="433120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Certificate</a:t>
            </a:r>
          </a:p>
        </p:txBody>
      </p:sp>
      <p:sp>
        <p:nvSpPr>
          <p:cNvPr id="34" name="TextBox 33"/>
          <p:cNvSpPr txBox="1"/>
          <p:nvPr/>
        </p:nvSpPr>
        <p:spPr>
          <a:xfrm>
            <a:off x="453237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Issued after attendance, assessment and TRAQOM survey requirements are met.</a:t>
            </a:r>
          </a:p>
        </p:txBody>
      </p:sp>
      <p:sp>
        <p:nvSpPr>
          <p:cNvPr id="35" name="Rounded Rectangle 34"/>
          <p:cNvSpPr/>
          <p:nvPr/>
        </p:nvSpPr>
        <p:spPr>
          <a:xfrm>
            <a:off x="8095488" y="3980611"/>
            <a:ext cx="3526536" cy="1653948"/>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Course materials</a:t>
            </a:r>
          </a:p>
        </p:txBody>
      </p:sp>
      <p:sp>
        <p:nvSpPr>
          <p:cNvPr id="40" name="TextBox 39"/>
          <p:cNvSpPr txBox="1"/>
          <p:nvPr/>
        </p:nvSpPr>
        <p:spPr>
          <a:xfrm>
            <a:off x="8296656" y="4602403"/>
            <a:ext cx="3124200" cy="904140"/>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Retain your copy — it is your reference for the PMI application and for the exam itself.</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541</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E11D48"/>
                </a:solidFill>
                <a:latin typeface="Arial"/>
              </a:rPr>
              <a:t>DAY 4</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Final Assessment</a:t>
            </a:r>
          </a:p>
        </p:txBody>
      </p:sp>
      <p:sp>
        <p:nvSpPr>
          <p:cNvPr id="5" name="TextBox 4"/>
          <p:cNvSpPr txBox="1"/>
          <p:nvPr/>
        </p:nvSpPr>
        <p:spPr>
          <a:xfrm>
            <a:off x="566928" y="1810512"/>
            <a:ext cx="10881360" cy="75438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Two instruments. One outcome: Competent.</a:t>
            </a:r>
          </a:p>
        </p:txBody>
      </p:sp>
      <p:sp>
        <p:nvSpPr>
          <p:cNvPr id="6" name="Rectangle 5"/>
          <p:cNvSpPr/>
          <p:nvPr/>
        </p:nvSpPr>
        <p:spPr>
          <a:xfrm>
            <a:off x="566928" y="2747772"/>
            <a:ext cx="21945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Written Assessment — 1 hour</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Five short-answer questions (K1–K5) across the ECO domains, processes and formulas. 3:30pm–4:30pm.</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Case Study — 2 hours</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One applied project scenario with five linked questions (A1–A8). 4:30pm–6:30pm.</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Result</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Competent or Not Yet Competent against all five learning outcomes.</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542</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WHAT HAPPENS ON DAY 4</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Assessment Flow</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entagon 4"/>
          <p:cNvSpPr/>
          <p:nvPr/>
        </p:nvSpPr>
        <p:spPr>
          <a:xfrm>
            <a:off x="566928" y="1816455"/>
            <a:ext cx="1743456" cy="2879787"/>
          </a:xfrm>
          <a:prstGeom prst="homePlate">
            <a:avLst/>
          </a:prstGeom>
          <a:solidFill>
            <a:srgbClr val="E4EDFC"/>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F6FEB"/>
                </a:solidFill>
                <a:latin typeface="Arial"/>
              </a:rPr>
              <a:t>STEP 1</a:t>
            </a:r>
          </a:p>
        </p:txBody>
      </p:sp>
      <p:sp>
        <p:nvSpPr>
          <p:cNvPr id="7" name="TextBox 6"/>
          <p:cNvSpPr txBox="1"/>
          <p:nvPr/>
        </p:nvSpPr>
        <p:spPr>
          <a:xfrm>
            <a:off x="69494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Briefing</a:t>
            </a:r>
          </a:p>
        </p:txBody>
      </p:sp>
      <p:sp>
        <p:nvSpPr>
          <p:cNvPr id="8" name="TextBox 7"/>
          <p:cNvSpPr txBox="1"/>
          <p:nvPr/>
        </p:nvSpPr>
        <p:spPr>
          <a:xfrm>
            <a:off x="694944" y="2985057"/>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The assessor explains the rules, timing and materials before any paper is distributed.</a:t>
            </a:r>
          </a:p>
        </p:txBody>
      </p:sp>
      <p:sp>
        <p:nvSpPr>
          <p:cNvPr id="9" name="Pentagon 8"/>
          <p:cNvSpPr/>
          <p:nvPr/>
        </p:nvSpPr>
        <p:spPr>
          <a:xfrm>
            <a:off x="2429256" y="1816455"/>
            <a:ext cx="1743456" cy="2879787"/>
          </a:xfrm>
          <a:prstGeom prst="homePlate">
            <a:avLst/>
          </a:prstGeom>
          <a:solidFill>
            <a:srgbClr val="E2F6EF"/>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57272" y="1917039"/>
            <a:ext cx="1069848" cy="201168"/>
          </a:xfrm>
          <a:prstGeom prst="rect">
            <a:avLst/>
          </a:prstGeom>
          <a:noFill/>
        </p:spPr>
        <p:txBody>
          <a:bodyPr wrap="square" anchor="t">
            <a:spAutoFit/>
          </a:bodyPr>
          <a:lstStyle/>
          <a:p>
            <a:pPr algn="l">
              <a:lnSpc>
                <a:spcPct val="100000"/>
              </a:lnSpc>
              <a:spcAft>
                <a:spcPts val="400"/>
              </a:spcAft>
            </a:pPr>
            <a:r>
              <a:rPr sz="900" b="1" i="0">
                <a:solidFill>
                  <a:srgbClr val="10B981"/>
                </a:solidFill>
                <a:latin typeface="Arial"/>
              </a:rPr>
              <a:t>STEP 2</a:t>
            </a:r>
          </a:p>
        </p:txBody>
      </p:sp>
      <p:sp>
        <p:nvSpPr>
          <p:cNvPr id="11" name="TextBox 10"/>
          <p:cNvSpPr txBox="1"/>
          <p:nvPr/>
        </p:nvSpPr>
        <p:spPr>
          <a:xfrm>
            <a:off x="2557272"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Written Assessment</a:t>
            </a:r>
          </a:p>
        </p:txBody>
      </p:sp>
      <p:sp>
        <p:nvSpPr>
          <p:cNvPr id="12" name="TextBox 11"/>
          <p:cNvSpPr txBox="1"/>
          <p:nvPr/>
        </p:nvSpPr>
        <p:spPr>
          <a:xfrm>
            <a:off x="2557272" y="2985057"/>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Short-answer questions covering the ECO domains, processes, formulas and terminology.</a:t>
            </a:r>
          </a:p>
        </p:txBody>
      </p:sp>
      <p:sp>
        <p:nvSpPr>
          <p:cNvPr id="13" name="Pentagon 12"/>
          <p:cNvSpPr/>
          <p:nvPr/>
        </p:nvSpPr>
        <p:spPr>
          <a:xfrm>
            <a:off x="4291584" y="1816455"/>
            <a:ext cx="1743456" cy="2879787"/>
          </a:xfrm>
          <a:prstGeom prst="homePlate">
            <a:avLst/>
          </a:prstGeom>
          <a:solidFill>
            <a:srgbClr val="EFE7FC"/>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19600" y="1917039"/>
            <a:ext cx="1069848" cy="201168"/>
          </a:xfrm>
          <a:prstGeom prst="rect">
            <a:avLst/>
          </a:prstGeom>
          <a:noFill/>
        </p:spPr>
        <p:txBody>
          <a:bodyPr wrap="square" anchor="t">
            <a:spAutoFit/>
          </a:bodyPr>
          <a:lstStyle/>
          <a:p>
            <a:pPr algn="l">
              <a:lnSpc>
                <a:spcPct val="100000"/>
              </a:lnSpc>
              <a:spcAft>
                <a:spcPts val="400"/>
              </a:spcAft>
            </a:pPr>
            <a:r>
              <a:rPr sz="900" b="1" i="0">
                <a:solidFill>
                  <a:srgbClr val="7C3AED"/>
                </a:solidFill>
                <a:latin typeface="Arial"/>
              </a:rPr>
              <a:t>STEP 3</a:t>
            </a:r>
          </a:p>
        </p:txBody>
      </p:sp>
      <p:sp>
        <p:nvSpPr>
          <p:cNvPr id="15" name="TextBox 14"/>
          <p:cNvSpPr txBox="1"/>
          <p:nvPr/>
        </p:nvSpPr>
        <p:spPr>
          <a:xfrm>
            <a:off x="4419600"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Case Study</a:t>
            </a:r>
          </a:p>
        </p:txBody>
      </p:sp>
      <p:sp>
        <p:nvSpPr>
          <p:cNvPr id="16" name="TextBox 15"/>
          <p:cNvSpPr txBox="1"/>
          <p:nvPr/>
        </p:nvSpPr>
        <p:spPr>
          <a:xfrm>
            <a:off x="4419600" y="2985057"/>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 project scenario with linked questions requiring applied judgement rather than recall.</a:t>
            </a:r>
          </a:p>
        </p:txBody>
      </p:sp>
      <p:sp>
        <p:nvSpPr>
          <p:cNvPr id="17" name="Pentagon 16"/>
          <p:cNvSpPr/>
          <p:nvPr/>
        </p:nvSpPr>
        <p:spPr>
          <a:xfrm>
            <a:off x="6153912" y="1816455"/>
            <a:ext cx="1743456" cy="2879787"/>
          </a:xfrm>
          <a:prstGeom prst="homePlate">
            <a:avLst/>
          </a:prstGeom>
          <a:solidFill>
            <a:srgbClr val="FDF3E1"/>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917039"/>
            <a:ext cx="1069848" cy="201168"/>
          </a:xfrm>
          <a:prstGeom prst="rect">
            <a:avLst/>
          </a:prstGeom>
          <a:noFill/>
        </p:spPr>
        <p:txBody>
          <a:bodyPr wrap="square" anchor="t">
            <a:spAutoFit/>
          </a:bodyPr>
          <a:lstStyle/>
          <a:p>
            <a:pPr algn="l">
              <a:lnSpc>
                <a:spcPct val="100000"/>
              </a:lnSpc>
              <a:spcAft>
                <a:spcPts val="400"/>
              </a:spcAft>
            </a:pPr>
            <a:r>
              <a:rPr sz="900" b="1" i="0">
                <a:solidFill>
                  <a:srgbClr val="F59E0B"/>
                </a:solidFill>
                <a:latin typeface="Arial"/>
              </a:rPr>
              <a:t>STEP 4</a:t>
            </a:r>
          </a:p>
        </p:txBody>
      </p:sp>
      <p:sp>
        <p:nvSpPr>
          <p:cNvPr id="19" name="TextBox 18"/>
          <p:cNvSpPr txBox="1"/>
          <p:nvPr/>
        </p:nvSpPr>
        <p:spPr>
          <a:xfrm>
            <a:off x="6281928"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Submission</a:t>
            </a:r>
          </a:p>
        </p:txBody>
      </p:sp>
      <p:sp>
        <p:nvSpPr>
          <p:cNvPr id="20" name="TextBox 19"/>
          <p:cNvSpPr txBox="1"/>
          <p:nvPr/>
        </p:nvSpPr>
        <p:spPr>
          <a:xfrm>
            <a:off x="6281928" y="2985057"/>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All question papers, answer scripts and rough working are handed back to the assessor.</a:t>
            </a:r>
          </a:p>
        </p:txBody>
      </p:sp>
      <p:sp>
        <p:nvSpPr>
          <p:cNvPr id="21" name="Pentagon 20"/>
          <p:cNvSpPr/>
          <p:nvPr/>
        </p:nvSpPr>
        <p:spPr>
          <a:xfrm>
            <a:off x="8016240" y="1816455"/>
            <a:ext cx="1743456" cy="2879787"/>
          </a:xfrm>
          <a:prstGeom prst="homePlate">
            <a:avLst/>
          </a:prstGeom>
          <a:solidFill>
            <a:srgbClr val="E1F6F9"/>
          </a:solidFill>
          <a:ln w="127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44256" y="1917039"/>
            <a:ext cx="1069848" cy="201168"/>
          </a:xfrm>
          <a:prstGeom prst="rect">
            <a:avLst/>
          </a:prstGeom>
          <a:noFill/>
        </p:spPr>
        <p:txBody>
          <a:bodyPr wrap="square" anchor="t">
            <a:spAutoFit/>
          </a:bodyPr>
          <a:lstStyle/>
          <a:p>
            <a:pPr algn="l">
              <a:lnSpc>
                <a:spcPct val="100000"/>
              </a:lnSpc>
              <a:spcAft>
                <a:spcPts val="400"/>
              </a:spcAft>
            </a:pPr>
            <a:r>
              <a:rPr sz="900" b="1" i="0">
                <a:solidFill>
                  <a:srgbClr val="06B6D4"/>
                </a:solidFill>
                <a:latin typeface="Arial"/>
              </a:rPr>
              <a:t>STEP 5</a:t>
            </a:r>
          </a:p>
        </p:txBody>
      </p:sp>
      <p:sp>
        <p:nvSpPr>
          <p:cNvPr id="23" name="TextBox 22"/>
          <p:cNvSpPr txBox="1"/>
          <p:nvPr/>
        </p:nvSpPr>
        <p:spPr>
          <a:xfrm>
            <a:off x="8144256"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Marking &amp; Outcome</a:t>
            </a:r>
          </a:p>
        </p:txBody>
      </p:sp>
      <p:sp>
        <p:nvSpPr>
          <p:cNvPr id="24" name="TextBox 23"/>
          <p:cNvSpPr txBox="1"/>
          <p:nvPr/>
        </p:nvSpPr>
        <p:spPr>
          <a:xfrm>
            <a:off x="8144256" y="2985057"/>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Scripts are marked against the LO criteria and you are graded Competent or Not Yet Competent.</a:t>
            </a:r>
          </a:p>
        </p:txBody>
      </p:sp>
      <p:sp>
        <p:nvSpPr>
          <p:cNvPr id="25" name="Rounded Rectangle 24"/>
          <p:cNvSpPr/>
          <p:nvPr/>
        </p:nvSpPr>
        <p:spPr>
          <a:xfrm>
            <a:off x="9878568" y="1816455"/>
            <a:ext cx="1743456" cy="2879787"/>
          </a:xfrm>
          <a:prstGeom prst="roundRect">
            <a:avLst>
              <a:gd name="adj" fmla="val 10000"/>
            </a:avLst>
          </a:prstGeom>
          <a:solidFill>
            <a:srgbClr val="FBE3E9"/>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06584" y="1917039"/>
            <a:ext cx="1069848" cy="201168"/>
          </a:xfrm>
          <a:prstGeom prst="rect">
            <a:avLst/>
          </a:prstGeom>
          <a:noFill/>
        </p:spPr>
        <p:txBody>
          <a:bodyPr wrap="square" anchor="t">
            <a:spAutoFit/>
          </a:bodyPr>
          <a:lstStyle/>
          <a:p>
            <a:pPr algn="l">
              <a:lnSpc>
                <a:spcPct val="100000"/>
              </a:lnSpc>
              <a:spcAft>
                <a:spcPts val="400"/>
              </a:spcAft>
            </a:pPr>
            <a:r>
              <a:rPr sz="900" b="1" i="0">
                <a:solidFill>
                  <a:srgbClr val="E11D48"/>
                </a:solidFill>
                <a:latin typeface="Arial"/>
              </a:rPr>
              <a:t>STEP 6</a:t>
            </a:r>
          </a:p>
        </p:txBody>
      </p:sp>
      <p:sp>
        <p:nvSpPr>
          <p:cNvPr id="27" name="TextBox 26"/>
          <p:cNvSpPr txBox="1"/>
          <p:nvPr/>
        </p:nvSpPr>
        <p:spPr>
          <a:xfrm>
            <a:off x="10006584" y="2127351"/>
            <a:ext cx="1069848" cy="784554"/>
          </a:xfrm>
          <a:prstGeom prst="rect">
            <a:avLst/>
          </a:prstGeom>
          <a:noFill/>
        </p:spPr>
        <p:txBody>
          <a:bodyPr wrap="square" anchor="t">
            <a:spAutoFit/>
          </a:bodyPr>
          <a:lstStyle/>
          <a:p>
            <a:pPr algn="l">
              <a:lnSpc>
                <a:spcPct val="104000"/>
              </a:lnSpc>
              <a:spcAft>
                <a:spcPts val="400"/>
              </a:spcAft>
            </a:pPr>
            <a:r>
              <a:rPr sz="1100" b="1" i="0">
                <a:solidFill>
                  <a:srgbClr val="161B26"/>
                </a:solidFill>
                <a:latin typeface="Arial"/>
              </a:rPr>
              <a:t>Feedback / Re-assessment</a:t>
            </a:r>
          </a:p>
        </p:txBody>
      </p:sp>
      <p:sp>
        <p:nvSpPr>
          <p:cNvPr id="28" name="TextBox 27"/>
          <p:cNvSpPr txBox="1"/>
          <p:nvPr/>
        </p:nvSpPr>
        <p:spPr>
          <a:xfrm>
            <a:off x="10006584" y="2985057"/>
            <a:ext cx="1069848" cy="1638033"/>
          </a:xfrm>
          <a:prstGeom prst="rect">
            <a:avLst/>
          </a:prstGeom>
          <a:noFill/>
        </p:spPr>
        <p:txBody>
          <a:bodyPr wrap="square" anchor="t">
            <a:spAutoFit/>
          </a:bodyPr>
          <a:lstStyle/>
          <a:p>
            <a:pPr algn="l">
              <a:lnSpc>
                <a:spcPct val="114000"/>
              </a:lnSpc>
              <a:spcAft>
                <a:spcPts val="400"/>
              </a:spcAft>
            </a:pPr>
            <a:r>
              <a:rPr sz="900" b="0" i="0">
                <a:solidFill>
                  <a:srgbClr val="5B6372"/>
                </a:solidFill>
                <a:latin typeface="Arial"/>
              </a:rPr>
              <a:t>Results are released with feedback; one re-assessment is offered where required.</a:t>
            </a:r>
          </a:p>
        </p:txBody>
      </p:sp>
      <p:sp>
        <p:nvSpPr>
          <p:cNvPr id="29" name="Rounded Rectangle 28"/>
          <p:cNvSpPr/>
          <p:nvPr/>
        </p:nvSpPr>
        <p:spPr>
          <a:xfrm>
            <a:off x="566928" y="4915698"/>
            <a:ext cx="11055096" cy="74980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915698"/>
            <a:ext cx="59436" cy="7863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86384" y="5007138"/>
            <a:ext cx="10597896" cy="621792"/>
          </a:xfrm>
          <a:prstGeom prst="rect">
            <a:avLst/>
          </a:prstGeom>
          <a:noFill/>
        </p:spPr>
        <p:txBody>
          <a:bodyPr wrap="square" anchor="t">
            <a:spAutoFit/>
          </a:bodyPr>
          <a:lstStyle/>
          <a:p>
            <a:pPr algn="l">
              <a:lnSpc>
                <a:spcPct val="120000"/>
              </a:lnSpc>
              <a:spcAft>
                <a:spcPts val="400"/>
              </a:spcAft>
            </a:pPr>
            <a:r>
              <a:rPr sz="1250" b="0" i="0">
                <a:solidFill>
                  <a:srgbClr val="161B26"/>
                </a:solidFill>
                <a:latin typeface="Arial"/>
              </a:rPr>
              <a:t>Digital attendance must be taken for the assessment session itself — it is a separate record from the AM and PM class scans.</a:t>
            </a:r>
          </a:p>
        </p:txBody>
      </p:sp>
      <p:sp>
        <p:nvSpPr>
          <p:cNvPr id="32" name="TextBox 31"/>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33" name="TextBox 32"/>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34" name="TextBox 33"/>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543</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0515600" cy="237744"/>
          </a:xfrm>
          <a:prstGeom prst="rect">
            <a:avLst/>
          </a:prstGeom>
          <a:noFill/>
        </p:spPr>
        <p:txBody>
          <a:bodyPr wrap="square" anchor="t">
            <a:spAutoFit/>
          </a:bodyPr>
          <a:lstStyle/>
          <a:p>
            <a:pPr algn="l">
              <a:lnSpc>
                <a:spcPct val="100000"/>
              </a:lnSpc>
              <a:spcAft>
                <a:spcPts val="400"/>
              </a:spcAft>
            </a:pPr>
            <a:r>
              <a:rPr sz="1200" b="1" i="0">
                <a:solidFill>
                  <a:srgbClr val="E11D48"/>
                </a:solidFill>
                <a:latin typeface="Arial"/>
              </a:rPr>
              <a:t>BEFORE YOU LEAVE</a:t>
            </a:r>
          </a:p>
        </p:txBody>
      </p:sp>
      <p:sp>
        <p:nvSpPr>
          <p:cNvPr id="3" name="TextBox 2"/>
          <p:cNvSpPr txBox="1"/>
          <p:nvPr/>
        </p:nvSpPr>
        <p:spPr>
          <a:xfrm>
            <a:off x="530352" y="658368"/>
            <a:ext cx="11155680" cy="481431"/>
          </a:xfrm>
          <a:prstGeom prst="rect">
            <a:avLst/>
          </a:prstGeom>
          <a:noFill/>
        </p:spPr>
        <p:txBody>
          <a:bodyPr wrap="square" anchor="t">
            <a:spAutoFit/>
          </a:bodyPr>
          <a:lstStyle/>
          <a:p>
            <a:pPr algn="l">
              <a:lnSpc>
                <a:spcPct val="104000"/>
              </a:lnSpc>
              <a:spcAft>
                <a:spcPts val="400"/>
              </a:spcAft>
            </a:pPr>
            <a:r>
              <a:rPr sz="2700" b="1" i="0">
                <a:solidFill>
                  <a:srgbClr val="161B26"/>
                </a:solidFill>
                <a:latin typeface="Arial"/>
              </a:rPr>
              <a:t>Digital Attendance &amp; TRAQOM Survey</a:t>
            </a:r>
          </a:p>
        </p:txBody>
      </p:sp>
      <p:sp>
        <p:nvSpPr>
          <p:cNvPr id="4" name="Rectangle 3"/>
          <p:cNvSpPr/>
          <p:nvPr/>
        </p:nvSpPr>
        <p:spPr>
          <a:xfrm>
            <a:off x="566928" y="1194663"/>
            <a:ext cx="822960" cy="50292"/>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827886"/>
            <a:ext cx="3526536" cy="685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204734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1</a:t>
            </a:r>
          </a:p>
        </p:txBody>
      </p:sp>
      <p:sp>
        <p:nvSpPr>
          <p:cNvPr id="9" name="TextBox 8"/>
          <p:cNvSpPr txBox="1"/>
          <p:nvPr/>
        </p:nvSpPr>
        <p:spPr>
          <a:xfrm>
            <a:off x="113385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Scan AM and PM, every day</a:t>
            </a:r>
          </a:p>
        </p:txBody>
      </p:sp>
      <p:sp>
        <p:nvSpPr>
          <p:cNvPr id="10" name="TextBox 9"/>
          <p:cNvSpPr txBox="1"/>
          <p:nvPr/>
        </p:nvSpPr>
        <p:spPr>
          <a:xfrm>
            <a:off x="76809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Digital attendance is taken twice daily. Both scans are required for each of the four days.</a:t>
            </a:r>
          </a:p>
        </p:txBody>
      </p:sp>
      <p:sp>
        <p:nvSpPr>
          <p:cNvPr id="11" name="Rounded Rectangle 10"/>
          <p:cNvSpPr/>
          <p:nvPr/>
        </p:nvSpPr>
        <p:spPr>
          <a:xfrm>
            <a:off x="433120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31208" y="1827886"/>
            <a:ext cx="3526536" cy="685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14088" y="204734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408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2</a:t>
            </a:r>
          </a:p>
        </p:txBody>
      </p:sp>
      <p:sp>
        <p:nvSpPr>
          <p:cNvPr id="15" name="TextBox 14"/>
          <p:cNvSpPr txBox="1"/>
          <p:nvPr/>
        </p:nvSpPr>
        <p:spPr>
          <a:xfrm>
            <a:off x="4898136" y="2029054"/>
            <a:ext cx="2795016" cy="548640"/>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Assessment attendance is separate</a:t>
            </a:r>
          </a:p>
        </p:txBody>
      </p:sp>
      <p:sp>
        <p:nvSpPr>
          <p:cNvPr id="16" name="TextBox 15"/>
          <p:cNvSpPr txBox="1"/>
          <p:nvPr/>
        </p:nvSpPr>
        <p:spPr>
          <a:xfrm>
            <a:off x="4532376" y="2687422"/>
            <a:ext cx="3124200" cy="927429"/>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Take attendance again for the assessment session on Day 4 — it is a distinct record.</a:t>
            </a:r>
          </a:p>
        </p:txBody>
      </p:sp>
      <p:sp>
        <p:nvSpPr>
          <p:cNvPr id="17" name="Rounded Rectangle 16"/>
          <p:cNvSpPr/>
          <p:nvPr/>
        </p:nvSpPr>
        <p:spPr>
          <a:xfrm>
            <a:off x="8095488" y="1827886"/>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5488" y="1827886"/>
            <a:ext cx="3526536" cy="685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78368" y="204734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8368" y="2083918"/>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3</a:t>
            </a:r>
          </a:p>
        </p:txBody>
      </p:sp>
      <p:sp>
        <p:nvSpPr>
          <p:cNvPr id="21" name="TextBox 20"/>
          <p:cNvSpPr txBox="1"/>
          <p:nvPr/>
        </p:nvSpPr>
        <p:spPr>
          <a:xfrm>
            <a:off x="8662416" y="2029054"/>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75% minimum for funding</a:t>
            </a:r>
          </a:p>
        </p:txBody>
      </p:sp>
      <p:sp>
        <p:nvSpPr>
          <p:cNvPr id="22" name="TextBox 21"/>
          <p:cNvSpPr txBox="1"/>
          <p:nvPr/>
        </p:nvSpPr>
        <p:spPr>
          <a:xfrm>
            <a:off x="8296656" y="2449678"/>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SSG funding is conditional on the attendance rate recorded in the digital attendance system.</a:t>
            </a:r>
          </a:p>
        </p:txBody>
      </p:sp>
      <p:sp>
        <p:nvSpPr>
          <p:cNvPr id="23" name="Rounded Rectangle 22"/>
          <p:cNvSpPr/>
          <p:nvPr/>
        </p:nvSpPr>
        <p:spPr>
          <a:xfrm>
            <a:off x="56692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3980611"/>
            <a:ext cx="3526536" cy="685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4200067"/>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4</a:t>
            </a:r>
          </a:p>
        </p:txBody>
      </p:sp>
      <p:sp>
        <p:nvSpPr>
          <p:cNvPr id="27" name="TextBox 26"/>
          <p:cNvSpPr txBox="1"/>
          <p:nvPr/>
        </p:nvSpPr>
        <p:spPr>
          <a:xfrm>
            <a:off x="113385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Scan with your own identity</a:t>
            </a:r>
          </a:p>
        </p:txBody>
      </p:sp>
      <p:sp>
        <p:nvSpPr>
          <p:cNvPr id="28" name="TextBox 27"/>
          <p:cNvSpPr txBox="1"/>
          <p:nvPr/>
        </p:nvSpPr>
        <p:spPr>
          <a:xfrm>
            <a:off x="76809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Proxy attendance voids funding for both the absent learner and the person who scanned.</a:t>
            </a:r>
          </a:p>
        </p:txBody>
      </p:sp>
      <p:sp>
        <p:nvSpPr>
          <p:cNvPr id="29" name="Rounded Rectangle 28"/>
          <p:cNvSpPr/>
          <p:nvPr/>
        </p:nvSpPr>
        <p:spPr>
          <a:xfrm>
            <a:off x="433120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31208" y="3980611"/>
            <a:ext cx="3526536" cy="685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14088" y="4200067"/>
            <a:ext cx="310896" cy="310896"/>
          </a:xfrm>
          <a:prstGeom prst="ellipse">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1408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5</a:t>
            </a:r>
          </a:p>
        </p:txBody>
      </p:sp>
      <p:sp>
        <p:nvSpPr>
          <p:cNvPr id="33" name="TextBox 32"/>
          <p:cNvSpPr txBox="1"/>
          <p:nvPr/>
        </p:nvSpPr>
        <p:spPr>
          <a:xfrm>
            <a:off x="489813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TRAQOM quality survey</a:t>
            </a:r>
          </a:p>
        </p:txBody>
      </p:sp>
      <p:sp>
        <p:nvSpPr>
          <p:cNvPr id="34" name="TextBox 33"/>
          <p:cNvSpPr txBox="1"/>
          <p:nvPr/>
        </p:nvSpPr>
        <p:spPr>
          <a:xfrm>
            <a:off x="453237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Mandatory at course end. Your certificate is released only after the survey is submitted.</a:t>
            </a:r>
          </a:p>
        </p:txBody>
      </p:sp>
      <p:sp>
        <p:nvSpPr>
          <p:cNvPr id="35" name="Rounded Rectangle 34"/>
          <p:cNvSpPr/>
          <p:nvPr/>
        </p:nvSpPr>
        <p:spPr>
          <a:xfrm>
            <a:off x="8095488" y="3980611"/>
            <a:ext cx="3526536" cy="1914981"/>
          </a:xfrm>
          <a:prstGeom prst="roundRect">
            <a:avLst>
              <a:gd name="adj" fmla="val 10000"/>
            </a:avLst>
          </a:prstGeom>
          <a:solidFill>
            <a:srgbClr val="F5F8FC"/>
          </a:solidFill>
          <a:ln w="12700">
            <a:solidFill>
              <a:srgbClr val="DD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095488" y="3980611"/>
            <a:ext cx="3526536" cy="68580"/>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78368" y="4200067"/>
            <a:ext cx="310896" cy="310896"/>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8368" y="4236643"/>
            <a:ext cx="310896" cy="274320"/>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Arial"/>
              </a:rPr>
              <a:t>6</a:t>
            </a:r>
          </a:p>
        </p:txBody>
      </p:sp>
      <p:sp>
        <p:nvSpPr>
          <p:cNvPr id="39" name="TextBox 38"/>
          <p:cNvSpPr txBox="1"/>
          <p:nvPr/>
        </p:nvSpPr>
        <p:spPr>
          <a:xfrm>
            <a:off x="8662416" y="4181779"/>
            <a:ext cx="2795016" cy="310896"/>
          </a:xfrm>
          <a:prstGeom prst="rect">
            <a:avLst/>
          </a:prstGeom>
          <a:noFill/>
        </p:spPr>
        <p:txBody>
          <a:bodyPr wrap="square" anchor="t">
            <a:spAutoFit/>
          </a:bodyPr>
          <a:lstStyle/>
          <a:p>
            <a:pPr algn="l">
              <a:lnSpc>
                <a:spcPct val="105000"/>
              </a:lnSpc>
              <a:spcAft>
                <a:spcPts val="400"/>
              </a:spcAft>
            </a:pPr>
            <a:r>
              <a:rPr sz="1450" b="1" i="0">
                <a:solidFill>
                  <a:srgbClr val="161B26"/>
                </a:solidFill>
                <a:latin typeface="Arial"/>
              </a:rPr>
              <a:t>Where to go</a:t>
            </a:r>
          </a:p>
        </p:txBody>
      </p:sp>
      <p:sp>
        <p:nvSpPr>
          <p:cNvPr id="40" name="TextBox 39"/>
          <p:cNvSpPr txBox="1"/>
          <p:nvPr/>
        </p:nvSpPr>
        <p:spPr>
          <a:xfrm>
            <a:off x="8296656" y="4602403"/>
            <a:ext cx="3124200" cy="1165173"/>
          </a:xfrm>
          <a:prstGeom prst="rect">
            <a:avLst/>
          </a:prstGeom>
          <a:noFill/>
        </p:spPr>
        <p:txBody>
          <a:bodyPr wrap="square" anchor="t">
            <a:spAutoFit/>
          </a:bodyPr>
          <a:lstStyle/>
          <a:p>
            <a:pPr algn="l">
              <a:lnSpc>
                <a:spcPct val="118000"/>
              </a:lnSpc>
              <a:spcAft>
                <a:spcPts val="400"/>
              </a:spcAft>
            </a:pPr>
            <a:r>
              <a:rPr sz="1150" b="0" i="0">
                <a:solidFill>
                  <a:srgbClr val="5B6372"/>
                </a:solidFill>
                <a:latin typeface="Arial"/>
              </a:rPr>
              <a:t>Both the attendance QR code and the TRAQOM link are issued by the trainer at lms-tms.tertiaryinfotech.com.</a:t>
            </a:r>
          </a:p>
        </p:txBody>
      </p:sp>
      <p:sp>
        <p:nvSpPr>
          <p:cNvPr id="41" name="TextBox 40"/>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42" name="TextBox 41"/>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43" name="TextBox 42"/>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544</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0881360" cy="292608"/>
          </a:xfrm>
          <a:prstGeom prst="rect">
            <a:avLst/>
          </a:prstGeom>
          <a:noFill/>
        </p:spPr>
        <p:txBody>
          <a:bodyPr wrap="square" anchor="t">
            <a:spAutoFit/>
          </a:bodyPr>
          <a:lstStyle/>
          <a:p>
            <a:pPr algn="l">
              <a:lnSpc>
                <a:spcPct val="100000"/>
              </a:lnSpc>
              <a:spcAft>
                <a:spcPts val="400"/>
              </a:spcAft>
            </a:pPr>
            <a:r>
              <a:rPr sz="1300" b="1" i="0">
                <a:solidFill>
                  <a:srgbClr val="1F6FEB"/>
                </a:solidFill>
                <a:latin typeface="Arial"/>
              </a:rPr>
              <a:t>END OF COURSE</a:t>
            </a:r>
          </a:p>
        </p:txBody>
      </p:sp>
      <p:sp>
        <p:nvSpPr>
          <p:cNvPr id="4" name="TextBox 3"/>
          <p:cNvSpPr txBox="1"/>
          <p:nvPr/>
        </p:nvSpPr>
        <p:spPr>
          <a:xfrm>
            <a:off x="566928" y="1389888"/>
            <a:ext cx="10881360" cy="475488"/>
          </a:xfrm>
          <a:prstGeom prst="rect">
            <a:avLst/>
          </a:prstGeom>
          <a:noFill/>
        </p:spPr>
        <p:txBody>
          <a:bodyPr wrap="square" anchor="t">
            <a:spAutoFit/>
          </a:bodyPr>
          <a:lstStyle/>
          <a:p>
            <a:pPr algn="l">
              <a:lnSpc>
                <a:spcPct val="100000"/>
              </a:lnSpc>
              <a:spcAft>
                <a:spcPts val="400"/>
              </a:spcAft>
            </a:pPr>
            <a:r>
              <a:rPr sz="2000" b="1" i="0">
                <a:solidFill>
                  <a:srgbClr val="5B6372"/>
                </a:solidFill>
                <a:latin typeface="Arial"/>
              </a:rPr>
              <a:t>Thank You</a:t>
            </a:r>
          </a:p>
        </p:txBody>
      </p:sp>
      <p:sp>
        <p:nvSpPr>
          <p:cNvPr id="5" name="TextBox 4"/>
          <p:cNvSpPr txBox="1"/>
          <p:nvPr/>
        </p:nvSpPr>
        <p:spPr>
          <a:xfrm>
            <a:off x="566928" y="1810512"/>
            <a:ext cx="10881360" cy="754380"/>
          </a:xfrm>
          <a:prstGeom prst="rect">
            <a:avLst/>
          </a:prstGeom>
          <a:noFill/>
        </p:spPr>
        <p:txBody>
          <a:bodyPr wrap="square" anchor="t">
            <a:spAutoFit/>
          </a:bodyPr>
          <a:lstStyle/>
          <a:p>
            <a:pPr algn="l">
              <a:lnSpc>
                <a:spcPct val="110000"/>
              </a:lnSpc>
              <a:spcAft>
                <a:spcPts val="400"/>
              </a:spcAft>
            </a:pPr>
            <a:r>
              <a:rPr sz="4000" b="1" i="0">
                <a:solidFill>
                  <a:srgbClr val="161B26"/>
                </a:solidFill>
                <a:latin typeface="Arial"/>
              </a:rPr>
              <a:t>Now go and pass the exam.</a:t>
            </a:r>
          </a:p>
        </p:txBody>
      </p:sp>
      <p:sp>
        <p:nvSpPr>
          <p:cNvPr id="6" name="Rectangle 5"/>
          <p:cNvSpPr/>
          <p:nvPr/>
        </p:nvSpPr>
        <p:spPr>
          <a:xfrm>
            <a:off x="566928" y="2747772"/>
            <a:ext cx="2194560" cy="502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4315968"/>
            <a:ext cx="3526536" cy="1481328"/>
          </a:xfrm>
          <a:prstGeom prst="roundRect">
            <a:avLst>
              <a:gd name="adj" fmla="val 10000"/>
            </a:avLst>
          </a:prstGeom>
          <a:solidFill>
            <a:srgbClr val="E8F0FD"/>
          </a:solidFill>
          <a:ln w="1270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F6FEB"/>
                </a:solidFill>
                <a:latin typeface="Arial"/>
              </a:rPr>
              <a:t>35 PDUs earned</a:t>
            </a:r>
          </a:p>
        </p:txBody>
      </p:sp>
      <p:sp>
        <p:nvSpPr>
          <p:cNvPr id="9" name="TextBox 8"/>
          <p:cNvSpPr txBox="1"/>
          <p:nvPr/>
        </p:nvSpPr>
        <p:spPr>
          <a:xfrm>
            <a:off x="74980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have the contact hours PMI requires for the application.</a:t>
            </a:r>
          </a:p>
        </p:txBody>
      </p:sp>
      <p:sp>
        <p:nvSpPr>
          <p:cNvPr id="10" name="Rounded Rectangle 9"/>
          <p:cNvSpPr/>
          <p:nvPr/>
        </p:nvSpPr>
        <p:spPr>
          <a:xfrm>
            <a:off x="4331208" y="4315968"/>
            <a:ext cx="3526536" cy="1481328"/>
          </a:xfrm>
          <a:prstGeom prst="roundRect">
            <a:avLst>
              <a:gd name="adj" fmla="val 10000"/>
            </a:avLst>
          </a:prstGeom>
          <a:solidFill>
            <a:srgbClr val="E7F8F2"/>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408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10B981"/>
                </a:solidFill>
                <a:latin typeface="Arial"/>
              </a:rPr>
              <a:t>24 labs completed</a:t>
            </a:r>
          </a:p>
        </p:txBody>
      </p:sp>
      <p:sp>
        <p:nvSpPr>
          <p:cNvPr id="12" name="TextBox 11"/>
          <p:cNvSpPr txBox="1"/>
          <p:nvPr/>
        </p:nvSpPr>
        <p:spPr>
          <a:xfrm>
            <a:off x="451408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You leave with a full set of working project artifacts.</a:t>
            </a:r>
          </a:p>
        </p:txBody>
      </p:sp>
      <p:sp>
        <p:nvSpPr>
          <p:cNvPr id="13" name="Rounded Rectangle 12"/>
          <p:cNvSpPr/>
          <p:nvPr/>
        </p:nvSpPr>
        <p:spPr>
          <a:xfrm>
            <a:off x="8095488" y="4315968"/>
            <a:ext cx="3526536" cy="1481328"/>
          </a:xfrm>
          <a:prstGeom prst="roundRect">
            <a:avLst>
              <a:gd name="adj" fmla="val 10000"/>
            </a:avLst>
          </a:prstGeom>
          <a:solidFill>
            <a:srgbClr val="F1EBFD"/>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8368" y="4443984"/>
            <a:ext cx="3160776" cy="365760"/>
          </a:xfrm>
          <a:prstGeom prst="rect">
            <a:avLst/>
          </a:prstGeom>
          <a:noFill/>
        </p:spPr>
        <p:txBody>
          <a:bodyPr wrap="square" anchor="t">
            <a:spAutoFit/>
          </a:bodyPr>
          <a:lstStyle/>
          <a:p>
            <a:pPr algn="l">
              <a:lnSpc>
                <a:spcPct val="104000"/>
              </a:lnSpc>
              <a:spcAft>
                <a:spcPts val="400"/>
              </a:spcAft>
            </a:pPr>
            <a:r>
              <a:rPr sz="1400" b="1" i="0">
                <a:solidFill>
                  <a:srgbClr val="7C3AED"/>
                </a:solidFill>
                <a:latin typeface="Arial"/>
              </a:rPr>
              <a:t>ECO 2026 covered</a:t>
            </a:r>
          </a:p>
        </p:txBody>
      </p:sp>
      <p:sp>
        <p:nvSpPr>
          <p:cNvPr id="15" name="TextBox 14"/>
          <p:cNvSpPr txBox="1"/>
          <p:nvPr/>
        </p:nvSpPr>
        <p:spPr>
          <a:xfrm>
            <a:off x="8278368" y="4864608"/>
            <a:ext cx="3160776" cy="841248"/>
          </a:xfrm>
          <a:prstGeom prst="rect">
            <a:avLst/>
          </a:prstGeom>
          <a:noFill/>
        </p:spPr>
        <p:txBody>
          <a:bodyPr wrap="square" anchor="t">
            <a:spAutoFit/>
          </a:bodyPr>
          <a:lstStyle/>
          <a:p>
            <a:pPr algn="l">
              <a:lnSpc>
                <a:spcPct val="118000"/>
              </a:lnSpc>
              <a:spcAft>
                <a:spcPts val="400"/>
              </a:spcAft>
            </a:pPr>
            <a:r>
              <a:rPr sz="1150" b="0" i="0">
                <a:solidFill>
                  <a:srgbClr val="161B26"/>
                </a:solidFill>
                <a:latin typeface="Arial"/>
              </a:rPr>
              <a:t>Every domain and task on the July 2026 outline has been taught.</a:t>
            </a:r>
          </a:p>
        </p:txBody>
      </p:sp>
      <p:sp>
        <p:nvSpPr>
          <p:cNvPr id="16" name="TextBox 15"/>
          <p:cNvSpPr txBox="1"/>
          <p:nvPr/>
        </p:nvSpPr>
        <p:spPr>
          <a:xfrm>
            <a:off x="411480" y="6419088"/>
            <a:ext cx="4754880" cy="292608"/>
          </a:xfrm>
          <a:prstGeom prst="rect">
            <a:avLst/>
          </a:prstGeom>
          <a:noFill/>
        </p:spPr>
        <p:txBody>
          <a:bodyPr wrap="square" anchor="t">
            <a:spAutoFit/>
          </a:bodyPr>
          <a:lstStyle/>
          <a:p>
            <a:pPr algn="l">
              <a:lnSpc>
                <a:spcPct val="100000"/>
              </a:lnSpc>
              <a:spcAft>
                <a:spcPts val="400"/>
              </a:spcAft>
            </a:pPr>
            <a:r>
              <a:rPr sz="850" b="0" i="0">
                <a:solidFill>
                  <a:srgbClr val="5B6372"/>
                </a:solidFill>
                <a:latin typeface="Arial"/>
              </a:rPr>
              <a:t>Project Management Professional (PMP) 35 PDU Training  |  TGS-2024045797</a:t>
            </a:r>
          </a:p>
        </p:txBody>
      </p:sp>
      <p:sp>
        <p:nvSpPr>
          <p:cNvPr id="17" name="TextBox 16"/>
          <p:cNvSpPr txBox="1"/>
          <p:nvPr/>
        </p:nvSpPr>
        <p:spPr>
          <a:xfrm>
            <a:off x="4572000" y="6419088"/>
            <a:ext cx="3108960" cy="292608"/>
          </a:xfrm>
          <a:prstGeom prst="rect">
            <a:avLst/>
          </a:prstGeom>
          <a:noFill/>
        </p:spPr>
        <p:txBody>
          <a:bodyPr wrap="square" anchor="t">
            <a:spAutoFit/>
          </a:bodyPr>
          <a:lstStyle/>
          <a:p>
            <a:pPr algn="ctr">
              <a:lnSpc>
                <a:spcPct val="100000"/>
              </a:lnSpc>
              <a:spcAft>
                <a:spcPts val="400"/>
              </a:spcAft>
            </a:pPr>
            <a:r>
              <a:rPr sz="850" b="0" i="0">
                <a:solidFill>
                  <a:srgbClr val="5B6372"/>
                </a:solidFill>
                <a:latin typeface="Arial"/>
              </a:rPr>
              <a:t>© 2026 Tertiary Infotech Academy Pte Ltd</a:t>
            </a:r>
          </a:p>
        </p:txBody>
      </p:sp>
      <p:sp>
        <p:nvSpPr>
          <p:cNvPr id="18" name="TextBox 17"/>
          <p:cNvSpPr txBox="1"/>
          <p:nvPr/>
        </p:nvSpPr>
        <p:spPr>
          <a:xfrm>
            <a:off x="11109960" y="6419088"/>
            <a:ext cx="685800" cy="292608"/>
          </a:xfrm>
          <a:prstGeom prst="rect">
            <a:avLst/>
          </a:prstGeom>
          <a:noFill/>
        </p:spPr>
        <p:txBody>
          <a:bodyPr wrap="square" anchor="t">
            <a:spAutoFit/>
          </a:bodyPr>
          <a:lstStyle/>
          <a:p>
            <a:pPr algn="r">
              <a:lnSpc>
                <a:spcPct val="100000"/>
              </a:lnSpc>
              <a:spcAft>
                <a:spcPts val="400"/>
              </a:spcAft>
            </a:pPr>
            <a:r>
              <a:rPr sz="850" b="0" i="0">
                <a:solidFill>
                  <a:srgbClr val="5B6372"/>
                </a:solidFill>
                <a:latin typeface="Arial"/>
              </a:rPr>
              <a:t>545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